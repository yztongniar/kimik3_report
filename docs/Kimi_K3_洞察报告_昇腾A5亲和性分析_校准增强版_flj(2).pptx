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99" r:id="rId8"/>
    <p:sldId id="262" r:id="rId9"/>
    <p:sldId id="263" r:id="rId10"/>
    <p:sldId id="264" r:id="rId11"/>
    <p:sldId id="265" r:id="rId12"/>
    <p:sldId id="266" r:id="rId13"/>
    <p:sldId id="267" r:id="rId14"/>
    <p:sldId id="300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5" r:id="rId42"/>
    <p:sldId id="296" r:id="rId43"/>
    <p:sldId id="297" r:id="rId44"/>
    <p:sldId id="298" r:id="rId45"/>
    <p:sldId id="294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1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A0377-26C7-4A85-9F61-26053D6ED7C9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62ED4-2B7C-4F48-8A25-15D84F02F3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595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962ED4-2B7C-4F48-8A25-15D84F02F3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321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Kimi K3 洞察报告</a:t>
            </a:r>
          </a:p>
          <a:p>
            <a:pPr algn="l"/>
            <a:r>
              <a:rPr sz="2200" b="0" i="0">
                <a:solidFill>
                  <a:srgbClr val="BFD0EE"/>
                </a:solidFill>
                <a:latin typeface="微软雅黑"/>
                <a:ea typeface="微软雅黑"/>
              </a:rPr>
              <a:t>深度图解版 · 暨昇腾 A5 超节点（Atlas 950 SuperPoD）亲和性分析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微软雅黑"/>
                <a:ea typeface="微软雅黑"/>
              </a:rPr>
              <a:t>模型效果 · 架构深度解析（含图解）· 训练算法 · Scaling Law · 数据 · 基础设施</a:t>
            </a:r>
          </a:p>
          <a:p>
            <a:pPr algn="l"/>
            <a:r>
              <a:rPr sz="1450" b="0" i="0">
                <a:solidFill>
                  <a:srgbClr val="FFFFFF"/>
                </a:solidFill>
                <a:latin typeface="微软雅黑"/>
                <a:ea typeface="微软雅黑"/>
              </a:rPr>
              <a:t>量化技术分析（复杂度/显存/通信/sizing）· 昇腾亲和性 · 适配工作与需求清单</a:t>
            </a:r>
          </a:p>
          <a:p>
            <a:pPr algn="l"/>
            <a:endParaRPr sz="1450" b="0" i="0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l"/>
            <a:r>
              <a:rPr sz="1100" b="0" i="0">
                <a:solidFill>
                  <a:srgbClr val="9FB4D8"/>
                </a:solidFill>
                <a:latin typeface="微软雅黑"/>
                <a:ea typeface="微软雅黑"/>
              </a:rPr>
              <a:t>依据：《Kimi K3 Technical Report》（Moonshot AI, 2026-07，47页全文）+ 开源权重 moonshotai/Kimi-K3（HF/ModelScope）</a:t>
            </a:r>
          </a:p>
          <a:p>
            <a:pPr algn="l"/>
            <a:r>
              <a:rPr sz="1100" b="0" i="0">
                <a:solidFill>
                  <a:srgbClr val="9FB4D8"/>
                </a:solidFill>
                <a:latin typeface="微软雅黑"/>
                <a:ea typeface="微软雅黑"/>
              </a:rPr>
              <a:t>2026 年 7 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CD790F-61CD-4EAC-A777-A8ECE6C54CDE}"/>
              </a:ext>
            </a:extLst>
          </p:cNvPr>
          <p:cNvSpPr txBox="1"/>
          <p:nvPr/>
        </p:nvSpPr>
        <p:spPr>
          <a:xfrm>
            <a:off x="901788" y="3058510"/>
            <a:ext cx="326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昇腾技术开发 冯良骏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338560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一、Kimi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K3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总览与模型效果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二、模型结构深度解析（含图解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）：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整体架构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KDA / Gated MLA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AttnRes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Stable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LatentMoE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MoonViT-V2</a:t>
            </a: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三、训练算法与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Scaling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Law：Per-Head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Muon / QAT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四阶段长上下文课程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2.5×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效率解读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四、数据方案与后训练体系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五、基础设施深度解析（含图解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）：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FlashKDA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KDA-CP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MoonEP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内存优化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Agentic RL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推理部署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六、量化技术分析：复杂度推导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KV cache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对比计算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通信量分析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训练与推理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sizing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估算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七、昇腾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A5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超节点规格、拓扑与软件栈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八、亲和性分析：有利因素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差距挑战</a:t>
            </a:r>
            <a:r>
              <a:rPr sz="1500" b="1" i="0" dirty="0">
                <a:solidFill>
                  <a:srgbClr val="262A33"/>
                </a:solidFill>
                <a:latin typeface="微软雅黑"/>
                <a:ea typeface="微软雅黑"/>
              </a:rPr>
              <a:t> /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算子级映射表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九、训练与推理适配工作、详细需求清单、路线图与风险</a:t>
            </a:r>
            <a:endParaRPr sz="15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500" b="1" i="0" dirty="0" err="1">
                <a:solidFill>
                  <a:srgbClr val="2E5EC4"/>
                </a:solidFill>
                <a:latin typeface="微软雅黑"/>
                <a:ea typeface="微软雅黑"/>
              </a:rPr>
              <a:t>十、基于昇腾</a:t>
            </a: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 950 </a:t>
            </a:r>
            <a:r>
              <a:rPr sz="1500" b="1" i="0" dirty="0" err="1">
                <a:solidFill>
                  <a:srgbClr val="2E5EC4"/>
                </a:solidFill>
                <a:latin typeface="微软雅黑"/>
                <a:ea typeface="微软雅黑"/>
              </a:rPr>
              <a:t>的训练并行方案（建议</a:t>
            </a: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）：</a:t>
            </a:r>
            <a:r>
              <a:rPr sz="1500" b="1" i="0" dirty="0" err="1">
                <a:solidFill>
                  <a:srgbClr val="2E5EC4"/>
                </a:solidFill>
                <a:latin typeface="微软雅黑"/>
                <a:ea typeface="微软雅黑"/>
              </a:rPr>
              <a:t>拓扑分层映射</a:t>
            </a: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 / </a:t>
            </a:r>
            <a:r>
              <a:rPr sz="1500" b="1" i="0" dirty="0" err="1">
                <a:solidFill>
                  <a:srgbClr val="2E5EC4"/>
                </a:solidFill>
                <a:latin typeface="微软雅黑"/>
                <a:ea typeface="微软雅黑"/>
              </a:rPr>
              <a:t>四阶段配置表</a:t>
            </a: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 / EP </a:t>
            </a:r>
            <a:r>
              <a:rPr sz="1500" b="1" i="0" dirty="0" err="1">
                <a:solidFill>
                  <a:srgbClr val="2E5EC4"/>
                </a:solidFill>
                <a:latin typeface="微软雅黑"/>
                <a:ea typeface="微软雅黑"/>
              </a:rPr>
              <a:t>双柜单元</a:t>
            </a: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 / PP </a:t>
            </a:r>
            <a:r>
              <a:rPr sz="1500" b="1" i="0" dirty="0" err="1">
                <a:solidFill>
                  <a:srgbClr val="2E5EC4"/>
                </a:solidFill>
                <a:latin typeface="微软雅黑"/>
                <a:ea typeface="微软雅黑"/>
              </a:rPr>
              <a:t>对齐与通信重叠</a:t>
            </a:r>
            <a:r>
              <a:rPr sz="1500" b="1" i="0" dirty="0">
                <a:solidFill>
                  <a:srgbClr val="2E5EC4"/>
                </a:solidFill>
                <a:latin typeface="微软雅黑"/>
                <a:ea typeface="微软雅黑"/>
              </a:rPr>
              <a:t> / </a:t>
            </a:r>
            <a:r>
              <a:rPr sz="1500" b="1" i="0" dirty="0" err="1">
                <a:solidFill>
                  <a:srgbClr val="2E5EC4"/>
                </a:solidFill>
                <a:latin typeface="微软雅黑"/>
                <a:ea typeface="微软雅黑"/>
              </a:rPr>
              <a:t>显存预算</a:t>
            </a:r>
            <a:endParaRPr sz="1500" b="1" i="0" dirty="0">
              <a:solidFill>
                <a:srgbClr val="2E5EC4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258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Kimi K3：全球首个开源 3T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级模型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—— 2.78T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总参数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/ 104.2B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激活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/ 1M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上下文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/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原生多模态</a:t>
            </a:r>
            <a:endParaRPr sz="13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 lvl="1">
              <a:spcAft>
                <a:spcPts val="300"/>
              </a:spcAft>
            </a:pPr>
            <a:r>
              <a:rPr sz="1200" b="1" i="0" dirty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200" b="0" i="0" dirty="0" err="1">
                <a:solidFill>
                  <a:srgbClr val="262A33"/>
                </a:solidFill>
                <a:latin typeface="微软雅黑"/>
                <a:ea typeface="微软雅黑"/>
              </a:rPr>
              <a:t>三轴架构创新：序列维</a:t>
            </a:r>
            <a:r>
              <a:rPr sz="1200" b="0" i="0" dirty="0">
                <a:solidFill>
                  <a:srgbClr val="262A33"/>
                </a:solidFill>
                <a:latin typeface="微软雅黑"/>
                <a:ea typeface="微软雅黑"/>
              </a:rPr>
              <a:t> Hybrid KDA–MLA（69+24，3:1）、</a:t>
            </a:r>
            <a:r>
              <a:rPr sz="1200" b="0" i="0" dirty="0" err="1">
                <a:solidFill>
                  <a:srgbClr val="262A33"/>
                </a:solidFill>
                <a:latin typeface="微软雅黑"/>
                <a:ea typeface="微软雅黑"/>
              </a:rPr>
              <a:t>深度维</a:t>
            </a:r>
            <a:r>
              <a:rPr sz="1200" b="0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0" i="0" dirty="0" err="1">
                <a:solidFill>
                  <a:srgbClr val="262A33"/>
                </a:solidFill>
                <a:latin typeface="微软雅黑"/>
                <a:ea typeface="微软雅黑"/>
              </a:rPr>
              <a:t>AttnRes、宽度维</a:t>
            </a:r>
            <a:r>
              <a:rPr sz="1200" b="0" i="0" dirty="0">
                <a:solidFill>
                  <a:srgbClr val="262A33"/>
                </a:solidFill>
                <a:latin typeface="微软雅黑"/>
                <a:ea typeface="微软雅黑"/>
              </a:rPr>
              <a:t> Stable LatentMoE（896 </a:t>
            </a:r>
            <a:r>
              <a:rPr sz="1200" b="0" i="0" dirty="0" err="1">
                <a:solidFill>
                  <a:srgbClr val="262A33"/>
                </a:solidFill>
                <a:latin typeface="微软雅黑"/>
                <a:ea typeface="微软雅黑"/>
              </a:rPr>
              <a:t>专家激活</a:t>
            </a:r>
            <a:r>
              <a:rPr sz="1200" b="0" i="0" dirty="0">
                <a:solidFill>
                  <a:srgbClr val="262A33"/>
                </a:solidFill>
                <a:latin typeface="微软雅黑"/>
                <a:ea typeface="微软雅黑"/>
              </a:rPr>
              <a:t> 16）</a:t>
            </a:r>
          </a:p>
          <a:p>
            <a:pPr>
              <a:spcAft>
                <a:spcPts val="500"/>
              </a:spcAft>
            </a:pPr>
            <a:r>
              <a:rPr sz="13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效果：整体仅次于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Claude Fable 5 与 GPT-5.6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Sol；ProgramBench、SWE-Marathon、BrowseComp、MCPMark、WebDev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Arena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等多项第一；编码成本仅为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Fable 5 的 38%</a:t>
            </a:r>
          </a:p>
          <a:p>
            <a:pPr>
              <a:spcAft>
                <a:spcPts val="500"/>
              </a:spcAft>
            </a:pPr>
            <a:r>
              <a:rPr sz="13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工程护城河：FlashKDA、KDA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Context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Parallelism（一次定长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all-gather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支持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 1M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训练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）、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MoonEP（E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/R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冗余专家完美均衡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）、AgentENV（5121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万个沙箱）均自研并部分开源</a:t>
            </a:r>
            <a:endParaRPr sz="13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3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3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昇腾亲和性核心结论</a:t>
            </a:r>
            <a:r>
              <a:rPr sz="1300" b="1" i="0" dirty="0">
                <a:solidFill>
                  <a:srgbClr val="262A33"/>
                </a:solidFill>
                <a:latin typeface="微软雅黑"/>
                <a:ea typeface="微软雅黑"/>
              </a:rPr>
              <a:t>：</a:t>
            </a:r>
          </a:p>
          <a:p>
            <a:pPr lvl="1">
              <a:spcAft>
                <a:spcPts val="300"/>
              </a:spcAft>
            </a:pPr>
            <a:r>
              <a:rPr sz="1200" b="1" i="0" dirty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精度路径完美匹配：K3 = MXFP4 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权重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+ MXFP8 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激活；昇腾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950 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是国内首款原生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MXFP4/MXFP8 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芯片，vLLM-Ascend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已商用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W4A8/W4A16 MXFP4</a:t>
            </a:r>
          </a:p>
          <a:p>
            <a:pPr lvl="1">
              <a:spcAft>
                <a:spcPts val="300"/>
              </a:spcAft>
            </a:pPr>
            <a:r>
              <a:rPr sz="1200" b="1" i="0" dirty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拓扑匹配：8192 卡 UB 全对等超节点（2TB/s/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卡）天然适配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896 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专家超大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EP 与 KCP </a:t>
            </a:r>
            <a:r>
              <a:rPr sz="1200" b="1" i="0" dirty="0" err="1">
                <a:solidFill>
                  <a:srgbClr val="1E7A3C"/>
                </a:solidFill>
                <a:latin typeface="微软雅黑"/>
                <a:ea typeface="微软雅黑"/>
              </a:rPr>
              <a:t>定长</a:t>
            </a:r>
            <a:r>
              <a:rPr sz="1200" b="1" i="0" dirty="0">
                <a:solidFill>
                  <a:srgbClr val="1E7A3C"/>
                </a:solidFill>
                <a:latin typeface="微软雅黑"/>
                <a:ea typeface="微软雅黑"/>
              </a:rPr>
              <a:t> all-gather</a:t>
            </a:r>
          </a:p>
          <a:p>
            <a:pPr lvl="1">
              <a:spcAft>
                <a:spcPts val="300"/>
              </a:spcAft>
            </a:pPr>
            <a:r>
              <a:rPr sz="1200" b="1" i="0" dirty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200" b="1" i="0" dirty="0" err="1">
                <a:solidFill>
                  <a:srgbClr val="B82E2E"/>
                </a:solidFill>
                <a:latin typeface="微软雅黑"/>
                <a:ea typeface="微软雅黑"/>
              </a:rPr>
              <a:t>主要缺口：KDA</a:t>
            </a:r>
            <a:r>
              <a:rPr sz="1200" b="1" i="0" dirty="0">
                <a:solidFill>
                  <a:srgbClr val="B82E2E"/>
                </a:solidFill>
                <a:latin typeface="微软雅黑"/>
                <a:ea typeface="微软雅黑"/>
              </a:rPr>
              <a:t>/</a:t>
            </a:r>
            <a:r>
              <a:rPr sz="1200" b="1" i="0" dirty="0" err="1">
                <a:solidFill>
                  <a:srgbClr val="B82E2E"/>
                </a:solidFill>
                <a:latin typeface="微软雅黑"/>
                <a:ea typeface="微软雅黑"/>
              </a:rPr>
              <a:t>AttnRes</a:t>
            </a:r>
            <a:r>
              <a:rPr sz="1200" b="1" i="0" dirty="0">
                <a:solidFill>
                  <a:srgbClr val="B82E2E"/>
                </a:solidFill>
                <a:latin typeface="微软雅黑"/>
                <a:ea typeface="微软雅黑"/>
              </a:rPr>
              <a:t>/</a:t>
            </a:r>
            <a:r>
              <a:rPr sz="1200" b="1" i="0" dirty="0" err="1">
                <a:solidFill>
                  <a:srgbClr val="B82E2E"/>
                </a:solidFill>
                <a:latin typeface="微软雅黑"/>
                <a:ea typeface="微软雅黑"/>
              </a:rPr>
              <a:t>SiTU</a:t>
            </a:r>
            <a:r>
              <a:rPr sz="1200" b="1" i="0" dirty="0">
                <a:solidFill>
                  <a:srgbClr val="B82E2E"/>
                </a:solidFill>
                <a:latin typeface="微软雅黑"/>
                <a:ea typeface="微软雅黑"/>
              </a:rPr>
              <a:t>/QB/Muon </a:t>
            </a:r>
            <a:r>
              <a:rPr sz="1200" b="1" i="0" dirty="0" err="1">
                <a:solidFill>
                  <a:srgbClr val="B82E2E"/>
                </a:solidFill>
                <a:latin typeface="微软雅黑"/>
                <a:ea typeface="微软雅黑"/>
              </a:rPr>
              <a:t>五类新算子</a:t>
            </a:r>
            <a:r>
              <a:rPr sz="1200" b="1" i="0" dirty="0">
                <a:solidFill>
                  <a:srgbClr val="B82E2E"/>
                </a:solidFill>
                <a:latin typeface="微软雅黑"/>
                <a:ea typeface="微软雅黑"/>
              </a:rPr>
              <a:t> NPU </a:t>
            </a:r>
            <a:r>
              <a:rPr sz="1200" b="1" i="0" dirty="0" err="1">
                <a:solidFill>
                  <a:srgbClr val="B82E2E"/>
                </a:solidFill>
                <a:latin typeface="微软雅黑"/>
                <a:ea typeface="微软雅黑"/>
              </a:rPr>
              <a:t>实现、KCP</a:t>
            </a:r>
            <a:r>
              <a:rPr sz="1200" b="1" i="0" dirty="0">
                <a:solidFill>
                  <a:srgbClr val="B82E2E"/>
                </a:solidFill>
                <a:latin typeface="微软雅黑"/>
                <a:ea typeface="微软雅黑"/>
              </a:rPr>
              <a:t>/</a:t>
            </a:r>
            <a:r>
              <a:rPr sz="1200" b="1" i="0" dirty="0" err="1">
                <a:solidFill>
                  <a:srgbClr val="B82E2E"/>
                </a:solidFill>
                <a:latin typeface="微软雅黑"/>
                <a:ea typeface="微软雅黑"/>
              </a:rPr>
              <a:t>MoonEP</a:t>
            </a:r>
            <a:r>
              <a:rPr sz="1200" b="1" i="0" dirty="0">
                <a:solidFill>
                  <a:srgbClr val="B82E2E"/>
                </a:solidFill>
                <a:latin typeface="微软雅黑"/>
                <a:ea typeface="微软雅黑"/>
              </a:rPr>
              <a:t> 的 UB </a:t>
            </a:r>
            <a:r>
              <a:rPr sz="1200" b="1" i="0" dirty="0" err="1">
                <a:solidFill>
                  <a:srgbClr val="B82E2E"/>
                </a:solidFill>
                <a:latin typeface="微软雅黑"/>
                <a:ea typeface="微软雅黑"/>
              </a:rPr>
              <a:t>移植</a:t>
            </a:r>
            <a:endParaRPr sz="1200" b="1" i="0" dirty="0">
              <a:solidFill>
                <a:srgbClr val="B82E2E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一、Kimi K3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发布 2026-07-16 ｜ 权重 2026-07-27 开源（moonshotai/Kimi-K3，HF + ModelScope，Modified MIT）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1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规格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总参数量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2.78T（稀疏 MoE）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全球首个开源 3T 级；K2 为 1.04T（↑167%）；路由专家参数约 2.72T（占 98%）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激活参数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104.2B / token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 token 激活 16/896 路由专家 + 2 共享专家；K2 为 32.6B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层结构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93 层 = 69 KDA + 24 Gated MLA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 block 3 KDA + 1 MLA，末端额外 1 MLA；1 dense + 1 MTP 层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上下文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1,048,576 tokens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全 MLA 层 NoPE，位置由 KDA 递归门控隐式编码，直接外推 1M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多模态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原生文本+图像+视频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MoonViT-V2（401M，27 层）从零 NTP 联合训练，无事后对齐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精度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权重 MXFP4 + 激活 MXFP8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MoE 专家权重 MXFP4（32/组，E8M0 缩放），SFT 起全程 QAT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词表 / 隐藏维 / 头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163,840 / 7,168 / 96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Latent MoE 维度 3584；kv_lora_rank 512；head_dim 128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来源：K3 技术报告 Table 1；ModelScope config.json（KimiK3ForConditionalGeneration / KimiLinearConfig，architectures=KimiLinearForCausalLM）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模型效果：公开基准对比（max 推理档）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★ = 该基准第一；K3 整体仅次于 Claude Fable 5 / GPT-5.6 Sol，领先其余所有参评模型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308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基准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Kimi K3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Fable 5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GPT-5.6 Sol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Opus 4.8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GPT-5.5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GLM-5.2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GPQA Diamond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93.5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92.6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94.1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91.0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93.5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91.2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HLE-Full（带工具）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56.0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63.0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58.0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57.9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52.2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Terminal-Bench 2.1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88.3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88.0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88.8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84.6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83.4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82.7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DeepSWE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67.5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70.0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73.0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59.0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67.0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46.2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ProgramBench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77.8 ★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76.8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77.6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71.9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70.8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63.7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SWE-Marathon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42.0 ★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35.0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39.0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40.0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14.0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13.0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FrontierSWE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81.2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86.6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71.3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66.7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64.9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67.3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BrowseComp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91.2 ★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88.0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90.4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84.3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84.4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MCPMark-Verified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94.5 ★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87.4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92.9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76.4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92.9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AutomationBench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30.8 ★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29.1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29.7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27.2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22.7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12.9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Harvey Lab-AA（法律）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94.6 ★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93.6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87.2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91.1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86.3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91.0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OmniDocBench（文档）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91.1 ★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89.8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85.8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87.9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89.4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Video-MME（带字幕）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90.0 ★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89.5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86.0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89.3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GDPval-AA v2（Elo）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1686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1747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1736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1593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1491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1510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来源：K3 技术报告 Table 2（2026-07）。第三方：AA Intelligence Index 57.1（580 模型第 4）；WebDev Arena 1678（第 1，首个登顶开源模型）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二、模型整体架构图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三轴扩展信息流：序列维（Hybrid KDA–MLA）× 深度维（AttnRes）× 宽度维（Stable LatentMoE）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896112"/>
            <a:ext cx="3474720" cy="292608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7B3FA0"/>
                </a:solidFill>
                <a:latin typeface="微软雅黑"/>
                <a:ea typeface="微软雅黑"/>
              </a:rPr>
              <a:t>AttnRes：每层检索 embedding + 全部前序 Block 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225296"/>
            <a:ext cx="5650992" cy="0"/>
          </a:xfrm>
          <a:prstGeom prst="line">
            <a:avLst/>
          </a:prstGeom>
          <a:ln w="1905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" y="1143000"/>
            <a:ext cx="1417320" cy="5486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文本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828800"/>
            <a:ext cx="1417320" cy="2743200"/>
          </a:xfrm>
          <a:prstGeom prst="roundRect">
            <a:avLst/>
          </a:prstGeom>
          <a:solidFill>
            <a:srgbClr val="D5F0F0"/>
          </a:solidFill>
          <a:ln w="1270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MoonViT-V2</a:t>
            </a:r>
          </a:p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视觉塔 401M</a:t>
            </a:r>
          </a:p>
          <a:p>
            <a:pPr algn="ctr"/>
            <a:endParaRPr sz="850" b="0">
              <a:solidFill>
                <a:srgbClr val="0E7C7C"/>
              </a:solidFill>
              <a:latin typeface="微软雅黑"/>
              <a:ea typeface="微软雅黑"/>
            </a:endParaRPr>
          </a:p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27 层 ViT</a:t>
            </a:r>
          </a:p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patch 14</a:t>
            </a:r>
          </a:p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时空分解</a:t>
            </a:r>
          </a:p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注意力</a:t>
            </a:r>
          </a:p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2×2 pixel</a:t>
            </a:r>
          </a:p>
          <a:p>
            <a:pPr algn="ctr"/>
            <a:r>
              <a:rPr sz="850" b="0">
                <a:solidFill>
                  <a:srgbClr val="0E7C7C"/>
                </a:solidFill>
                <a:latin typeface="微软雅黑"/>
                <a:ea typeface="微软雅黑"/>
              </a:rPr>
              <a:t>shuffle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709160"/>
            <a:ext cx="1417320" cy="64008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图像/视频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≤3584×3584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1417320"/>
            <a:ext cx="960120" cy="566928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C06A10"/>
                </a:solidFill>
                <a:latin typeface="微软雅黑"/>
                <a:ea typeface="微软雅黑"/>
              </a:rPr>
              <a:t>MLA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" y="205740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0512" y="269748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10512" y="333756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10512" y="3977639"/>
            <a:ext cx="960120" cy="566928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Latent</a:t>
            </a:r>
          </a:p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MoE×4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5811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Block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43784" y="1417320"/>
            <a:ext cx="960120" cy="566928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C06A10"/>
                </a:solidFill>
                <a:latin typeface="微软雅黑"/>
                <a:ea typeface="微软雅黑"/>
              </a:rPr>
              <a:t>MLA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43784" y="205740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43784" y="269748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43784" y="333756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43784" y="3977639"/>
            <a:ext cx="960120" cy="566928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Latent</a:t>
            </a:r>
          </a:p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MoE×4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3784" y="45811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Block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417320"/>
            <a:ext cx="960120" cy="566928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C06A10"/>
                </a:solidFill>
                <a:latin typeface="微软雅黑"/>
                <a:ea typeface="微软雅黑"/>
              </a:rPr>
              <a:t>MLA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77056" y="205740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77056" y="269748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77056" y="333756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77056" y="3977639"/>
            <a:ext cx="960120" cy="566928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Latent</a:t>
            </a:r>
          </a:p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MoE×4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056" y="45811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Block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10327" y="1417320"/>
            <a:ext cx="960120" cy="3127248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⋮</a:t>
            </a:r>
          </a:p>
          <a:p>
            <a:pPr algn="ctr"/>
            <a:endParaRPr sz="850" b="0">
              <a:solidFill>
                <a:srgbClr val="555B66"/>
              </a:solidFill>
              <a:latin typeface="微软雅黑"/>
              <a:ea typeface="微软雅黑"/>
            </a:endParaRP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Block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4~22</a:t>
            </a:r>
          </a:p>
          <a:p>
            <a:pPr algn="ctr"/>
            <a:endParaRPr sz="850" b="0">
              <a:solidFill>
                <a:srgbClr val="555B66"/>
              </a:solidFill>
              <a:latin typeface="微软雅黑"/>
              <a:ea typeface="微软雅黑"/>
            </a:endParaRP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结构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相同</a:t>
            </a:r>
          </a:p>
          <a:p>
            <a:pPr algn="ctr"/>
            <a:endParaRPr sz="850" b="0">
              <a:solidFill>
                <a:srgbClr val="555B66"/>
              </a:solidFill>
              <a:latin typeface="微软雅黑"/>
              <a:ea typeface="微软雅黑"/>
            </a:endParaRP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7" y="45811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… ×19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1417320"/>
            <a:ext cx="960120" cy="566928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C06A10"/>
                </a:solidFill>
                <a:latin typeface="微软雅黑"/>
                <a:ea typeface="微软雅黑"/>
              </a:rPr>
              <a:t>MLA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205740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269748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337560"/>
            <a:ext cx="960120" cy="56692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KDA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3977639"/>
            <a:ext cx="960120" cy="566928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Latent</a:t>
            </a:r>
          </a:p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MoE×4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5811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Block 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76871" y="1417320"/>
            <a:ext cx="960120" cy="566928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C06A10"/>
                </a:solidFill>
                <a:latin typeface="微软雅黑"/>
                <a:ea typeface="微软雅黑"/>
              </a:rPr>
              <a:t>MLA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6871" y="2057400"/>
            <a:ext cx="960120" cy="1207008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Latent</a:t>
            </a:r>
          </a:p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MoE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6871" y="3310128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末端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417320"/>
            <a:ext cx="3703320" cy="1691640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AttnRes 跨深度检索（8 块）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93 层独立划分为 8 个 AttnRes 块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（约 12 层/块，末块 9 层）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块内输出求和为块表示 bᵢ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后续每层以可学习伪查询检索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embedding b₀ + 全部前序 bᵢ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246120"/>
            <a:ext cx="3703320" cy="164592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结构核算（按开源 config 校准）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23 模式块 ×（3 KDA + 1 MLA）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= 92 层 + 末端 1 Gated MLA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= 93 层 = 69 KDA + 24 MLA ✓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每层各配 1 个 LatentMoE FFN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（93 个 MoE，各 896 专家）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65960" y="5257800"/>
            <a:ext cx="2743200" cy="64008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共享 Embedding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vocab 163,840 × d 7168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5257800"/>
            <a:ext cx="2743200" cy="64008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LM Head + MTP 层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（EAGLE-3 投机解码草稿）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6172200"/>
            <a:ext cx="201168" cy="146304"/>
          </a:xfrm>
          <a:prstGeom prst="rect">
            <a:avLst/>
          </a:prstGeom>
          <a:solidFill>
            <a:srgbClr val="D9E6F9"/>
          </a:solidFill>
          <a:ln w="9525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58568" y="613562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A"/>
                </a:solidFill>
                <a:latin typeface="微软雅黑"/>
                <a:ea typeface="微软雅黑"/>
              </a:rPr>
              <a:t>KDA 层 ×69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6172200"/>
            <a:ext cx="201168" cy="146304"/>
          </a:xfrm>
          <a:prstGeom prst="rect">
            <a:avLst/>
          </a:prstGeom>
          <a:solidFill>
            <a:srgbClr val="FCE4C8"/>
          </a:solidFill>
          <a:ln w="9525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36008" y="613562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A"/>
                </a:solidFill>
                <a:latin typeface="微软雅黑"/>
                <a:ea typeface="微软雅黑"/>
              </a:rPr>
              <a:t>Gated MLA 层 ×24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6172200"/>
            <a:ext cx="201168" cy="146304"/>
          </a:xfrm>
          <a:prstGeom prst="rect">
            <a:avLst/>
          </a:prstGeom>
          <a:solidFill>
            <a:srgbClr val="DDF0DD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13448" y="613562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A"/>
                </a:solidFill>
                <a:latin typeface="微软雅黑"/>
                <a:ea typeface="微软雅黑"/>
              </a:rPr>
              <a:t>Stable LatentMoE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6172200"/>
            <a:ext cx="201168" cy="146304"/>
          </a:xfrm>
          <a:prstGeom prst="rect">
            <a:avLst/>
          </a:prstGeom>
          <a:solidFill>
            <a:srgbClr val="F0E0F6"/>
          </a:solidFill>
          <a:ln w="9525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90888" y="6135624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A"/>
                </a:solidFill>
                <a:latin typeface="微软雅黑"/>
                <a:ea typeface="微软雅黑"/>
              </a:rPr>
              <a:t>AttnRes 跨块检索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647395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55B66"/>
                </a:solidFill>
                <a:latin typeface="微软雅黑"/>
                <a:ea typeface="微软雅黑"/>
              </a:rPr>
              <a:t>93 层 = 23 个模式块（每块 3 KDA + 1 Gated MLA，4 层各配 LatentMoE FFN）+ 末端 1 Gated MLA；AttnRes 将 93 层独立划分为 8 块（约 12 层/块），块表示供后续所有层按需检索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二、张量维度全流程图（按开源 config 校准）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B66"/>
                </a:solidFill>
                <a:latin typeface="微软雅黑"/>
                <a:ea typeface="微软雅黑"/>
              </a:rPr>
              <a:t>d=7168 / 96 头×128 / 93 层（69 KDA + 24 Gated MLA）/ 896 专家 latent 3584 / vocab 163,840 —— 取代早期估算版（84 层、d=8192 为发布前社区估值）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25880"/>
            <a:ext cx="5760720" cy="566928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输入 Token IDs [B, L]，L ≤ 1,048,576（图像/视频 patch → MoonViT-V2 + 2×2 shuffle + MLP 投影 → 拼入序列）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97880" y="1892807"/>
            <a:ext cx="0" cy="91441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0" y="1984248"/>
            <a:ext cx="5760720" cy="50292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Embedding 查表 W_E [163,840 × 7,168] → X₀ [B, L, 7168] BF16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487168"/>
            <a:ext cx="0" cy="91440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2578608"/>
            <a:ext cx="5760720" cy="84124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KDA 层 ×69：W_qkv → q/k/v [B, L, 96, 128]；逐通道 α 门 + β 写入；delta-rule 递推 S [96,128,128] 定长；全秩输出门 → [B, L, 7168]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97880" y="3419856"/>
            <a:ext cx="0" cy="91440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17520" y="3511296"/>
            <a:ext cx="5760720" cy="841248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C06A10"/>
                </a:solidFill>
                <a:latin typeface="微软雅黑"/>
                <a:ea typeface="微软雅黑"/>
              </a:rPr>
              <a:t>Gated MLA 层 ×24（NoPE）：c_kv = W_DKV·x [B, L, 512]（KV cache 仅 512 维）；c_q [B, L, 1536] → q [96,128]；输入依赖输出门 + FP32 输出修正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80" y="4352544"/>
            <a:ext cx="0" cy="91439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17520" y="4443983"/>
            <a:ext cx="5760720" cy="896112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LatentMoE ×93：W↓ [7168→3584] → Router Sigmoid Top-16/896（QB 偏置）→ 专家 SiTU-GLU [3584→3072→3584]（激活 16 + 2 全宽共享专家）→ RMSNorm → W↑ [3584→7168]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5340096"/>
            <a:ext cx="0" cy="91440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17520" y="5431536"/>
            <a:ext cx="5760720" cy="566928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Final RMSNorm → LM Head [7,168 × 163,840] → logits [B, L, 163,840]（MTP 层供 EAGLE-3 投机解码草稿）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1938528"/>
            <a:ext cx="2423160" cy="2670048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残差流主干道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X_l [B, L, 7168]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贯穿全部 93 层</a:t>
            </a:r>
          </a:p>
          <a:p>
            <a:pPr algn="ctr"/>
            <a:endParaRPr sz="850" b="0">
              <a:solidFill>
                <a:srgbClr val="7B3FA0"/>
              </a:solidFill>
              <a:latin typeface="微软雅黑"/>
              <a:ea typeface="微软雅黑"/>
            </a:endParaRP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KDA / MLA / MoE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均为旁路计算后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加回残差 ——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AttnRes 即挂接于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此（跨块检索）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325880"/>
            <a:ext cx="2834640" cy="173736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推理状态账本 / 序列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KDA：96×128×128×2B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×69 层 ≈ 217MB（定长）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MLA：512×2B×24 层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≈ 24.6KB/token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→ 1M 上下文 ≈ 25GB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200400"/>
            <a:ext cx="2834640" cy="173736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每 token 激活 104.2B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专家：16×33M×93 ≈ 48.9B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共享：2×66M×93 ≈ 12.3B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注意力+embedding ≈ 43B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（总参数 2.78T，其中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路由专家 2.72T = 98%）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5074920"/>
            <a:ext cx="2834640" cy="10058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校准来源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moonshotai/Kimi-K3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config.json（2026-07-27</a:t>
            </a:r>
          </a:p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权重开源后实测）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647395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55B66"/>
                </a:solidFill>
                <a:latin typeface="微软雅黑"/>
                <a:ea typeface="微软雅黑"/>
              </a:rPr>
              <a:t>与早期材料差异说明：v2 版 PDF 的 84 层（63+21）/ d=8192 / 64 头为权重发布前估算值；本页起全部以开源 config 的 93 层（69+24）/ d=7168 / 96 头为准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核心结构 ①：KDA 深度解析 —— 从 DeltaNet 到 KDA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11384280" cy="96012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42A52"/>
                </a:solidFill>
                <a:latin typeface="微软雅黑"/>
                <a:ea typeface="微软雅黑"/>
              </a:rPr>
              <a:t>S_t = ( I − β_t·k_t·k_tᵀ ) · Diag(α_t) · S_{t−1} + β_t·k_t·v_tᵀ          o_t = S_tᵀ·q_t</a:t>
            </a:r>
          </a:p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记忆操作三件套：先"选择性遗忘"（逐通道 α_t），再"精确擦除旧值"（−β_t·k_t·k_tᵀ 作用于 S），最后"写入新值"（+β_t·k_t·v_tᵀ）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11338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Delta rule 的含义：与线性注意力的"纯累加"不同，KDA 先计算旧记忆中 k_t 方向上的分量并擦除，再写入新 v_t —— 相当于对关联记忆做"定点更新"，有限状态的利用率大幅提高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逐通道遗忘门 Diag(α_t)：α_t∈(0,1)^dk 每个特征通道独立衰减（GDN/Mamba2 只有头级标量门）→ 可让"长期记忆通道"与"短期缓冲通道"共存于同一状态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与主流结构对比：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794760"/>
          <a:ext cx="113842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9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4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/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状态形式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更新规则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门控粒度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计算复杂度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代表模型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MHA/GQA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KV cache 随 N 增长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无损缓存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O(N²·d)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LLaMA / Qwen2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MLA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低秩 latent cache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无损缓存（压缩）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O(N²·d)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DeepSeek-V3 / K2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Mamba2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固定状态 S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标量门控衰减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头级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O(N·d²)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Falcon-Mamba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GDN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固定状态 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Delta rule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头级标量门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O(N·d²)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Qwen3-Next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固定状态 S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Delta rule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逐通道 Diag(α)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O(N·d²)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Kimi Linear / K3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复杂度：全注意力每 token 训练 FLOPs 随上下文 N 线性增长；KDA 与 N 无关（chunkwise 形式 chunk 内 O(C·d²) 并行、chunk 间状态串行传播）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KDA 单层数据流图解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对应开源实现：fla-org/flash-linear-attention（KDA ops）+ MoonshotAI/FlashKDA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3108960"/>
            <a:ext cx="822960" cy="64008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x_t</a:t>
            </a:r>
          </a:p>
          <a:p>
            <a:pPr algn="ctr"/>
            <a:r>
              <a:rPr sz="800" b="0" i="0">
                <a:solidFill>
                  <a:srgbClr val="555B66"/>
                </a:solidFill>
                <a:latin typeface="微软雅黑"/>
                <a:ea typeface="微软雅黑"/>
              </a:rPr>
              <a:t>(d=7168)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188720"/>
            <a:ext cx="2651760" cy="77724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q 路径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W_q → ShortConv(k=4)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→ Swish → L2Norm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43000" y="1572768"/>
            <a:ext cx="91440" cy="1856232"/>
          </a:xfrm>
          <a:prstGeom prst="line">
            <a:avLst/>
          </a:prstGeom>
          <a:ln w="1587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34440" y="2103120"/>
            <a:ext cx="2651760" cy="77724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k 路径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W_k → ShortConv(k=4)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→ Swish → L2Norm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143000" y="2487168"/>
            <a:ext cx="91440" cy="941832"/>
          </a:xfrm>
          <a:prstGeom prst="line">
            <a:avLst/>
          </a:prstGeom>
          <a:ln w="1587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34440" y="3017520"/>
            <a:ext cx="2651760" cy="77724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v 路径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W_v → ShortConv(k=4)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→ Swish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143000" y="3401568"/>
            <a:ext cx="91440" cy="27432"/>
          </a:xfrm>
          <a:prstGeom prst="line">
            <a:avLst/>
          </a:prstGeom>
          <a:ln w="1587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34440" y="3931920"/>
            <a:ext cx="2651760" cy="77724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β 写入强度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W_β → Sigmoid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(标量/头)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429000"/>
            <a:ext cx="91440" cy="886968"/>
          </a:xfrm>
          <a:prstGeom prst="line">
            <a:avLst/>
          </a:prstGeom>
          <a:ln w="1587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234440" y="4846320"/>
            <a:ext cx="2651760" cy="77724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α 遗忘门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W↑_αW↓_α x + b_α（低秩）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→ g=−5·Sigmoid(e^A·z)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3429000"/>
            <a:ext cx="91440" cy="1801368"/>
          </a:xfrm>
          <a:prstGeom prst="line">
            <a:avLst/>
          </a:prstGeom>
          <a:ln w="1587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1920240"/>
            <a:ext cx="3017520" cy="2651760"/>
          </a:xfrm>
          <a:prstGeom prst="round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Chunkwise 状态更新</a:t>
            </a:r>
          </a:p>
          <a:p>
            <a:pPr algn="ctr"/>
            <a:endParaRPr sz="1000" b="0" i="0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S_t = (I−βkkᵀ)Diag(α)S_{t−1}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        + β·k·vᵀ</a:t>
            </a:r>
          </a:p>
          <a:p>
            <a:pPr algn="ctr"/>
            <a:endParaRPr sz="850" b="0" i="0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chunk 内：UT transform 并行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chunk 间：状态串行传播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对角/非对角 tile 均走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Tensor Core（下界衰减保证）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86200" y="1572768"/>
            <a:ext cx="457200" cy="1673352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86200" y="2487168"/>
            <a:ext cx="457200" cy="758952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886200" y="3246120"/>
            <a:ext cx="457200" cy="155448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86200" y="3246120"/>
            <a:ext cx="457200" cy="1069848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86200" y="3246120"/>
            <a:ext cx="457200" cy="1984248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43400" y="5074920"/>
            <a:ext cx="3017520" cy="777240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7B3FA0"/>
                </a:solidFill>
                <a:latin typeface="微软雅黑"/>
                <a:ea typeface="微软雅黑"/>
              </a:rPr>
              <a:t>循环状态 S ∈ R^(dk×dv) = 128×128/头</a:t>
            </a:r>
          </a:p>
          <a:p>
            <a:pPr algn="ctr"/>
            <a:r>
              <a:rPr sz="800" b="0" i="0">
                <a:solidFill>
                  <a:srgbClr val="7B3FA0"/>
                </a:solidFill>
                <a:latin typeface="微软雅黑"/>
                <a:ea typeface="微软雅黑"/>
              </a:rPr>
              <a:t>96 头 × 69 层 ≈ 217MB/序列（定长，与 N 无关）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52160" y="4572000"/>
            <a:ext cx="0" cy="502920"/>
          </a:xfrm>
          <a:prstGeom prst="line">
            <a:avLst/>
          </a:prstGeom>
          <a:ln w="22225">
            <a:solidFill>
              <a:srgbClr val="7B3F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83680" y="4572000"/>
            <a:ext cx="0" cy="502920"/>
          </a:xfrm>
          <a:prstGeom prst="line">
            <a:avLst/>
          </a:prstGeom>
          <a:ln w="22225">
            <a:solidFill>
              <a:srgbClr val="7B3FA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818120" y="2377440"/>
            <a:ext cx="3566160" cy="155448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C06A10"/>
                </a:solidFill>
                <a:latin typeface="微软雅黑"/>
                <a:ea typeface="微软雅黑"/>
              </a:rPr>
              <a:t>全秩输出门（K3 改进②）</a:t>
            </a:r>
          </a:p>
          <a:p>
            <a:pPr algn="ctr"/>
            <a:endParaRPr sz="1000" b="0" i="0">
              <a:solidFill>
                <a:srgbClr val="C06A10"/>
              </a:solidFill>
              <a:latin typeface="微软雅黑"/>
              <a:ea typeface="微软雅黑"/>
            </a:endParaRPr>
          </a:p>
          <a:p>
            <a:pPr algn="ctr"/>
            <a:r>
              <a:rPr sz="850" b="0" i="0">
                <a:solidFill>
                  <a:srgbClr val="C06A10"/>
                </a:solidFill>
                <a:latin typeface="微软雅黑"/>
                <a:ea typeface="微软雅黑"/>
              </a:rPr>
              <a:t>y_t = W_o [ Sigmoid(W_g·x_t)</a:t>
            </a:r>
          </a:p>
          <a:p>
            <a:pPr algn="ctr"/>
            <a:r>
              <a:rPr sz="850" b="0" i="0">
                <a:solidFill>
                  <a:srgbClr val="C06A10"/>
                </a:solidFill>
                <a:latin typeface="微软雅黑"/>
                <a:ea typeface="微软雅黑"/>
              </a:rPr>
              <a:t>      ⊙ RMSNorm(õ_t) ]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360920" y="3154680"/>
            <a:ext cx="457200" cy="91440"/>
          </a:xfrm>
          <a:prstGeom prst="line">
            <a:avLst/>
          </a:prstGeom>
          <a:ln w="2222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818120" y="4297680"/>
            <a:ext cx="3566160" cy="68580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555B66"/>
                </a:solidFill>
                <a:latin typeface="微软雅黑"/>
                <a:ea typeface="微软雅黑"/>
              </a:rPr>
              <a:t>输出 y_t → LatentMoE FFN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01200" y="3931920"/>
            <a:ext cx="0" cy="365760"/>
          </a:xfrm>
          <a:prstGeom prst="line">
            <a:avLst/>
          </a:prstGeom>
          <a:ln w="19050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q/k/v/β/α 全部由输入动态生成（input-dependent）；α 为逐通道向量 —— 这是 KDA 区别于 GDN 头级标量门的核心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K3 对 KDA 的两项关键改进（含数值分析）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改进① 下界衰减（Lower-bounded decay）—— 既是数值技巧也是 kernel 性能关键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Kimi Linear 原版：g = −e^A·Softplus(z) ∈ (−∞, 0) → chunk 内累积衰减 Γ 的倒数 1/Γ 无上界，有限精度下溢出；对角 tile 被迫用低效的逐位置对计算（无法走 Tensor Core）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K3：g = g_min·Sigmoid(e^A·z)，g_min = −5 固定，A 为可学习 per-head log-scale（初始化 0）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1E7A3C"/>
                </a:solidFill>
                <a:latin typeface="微软雅黑"/>
                <a:ea typeface="微软雅黑"/>
              </a:rPr>
              <a:t>数值推导：α &gt; e⁻⁵ ≈ 6.7×10⁻³ → 16-token tile 内累积 log-decay ∈ (−80, 0) → 倒数缩放因子 &lt; e⁸⁰ ≈ 5.5×10³⁴，落在 BF16 动态范围（~3.4×10³⁸）内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效果：对角 + 非对角 tile 全部可用 Tensor Core 稠密 matmul，消除 chunkwise 实现的主要瓶颈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改进② 全秩输出门：y_t = W_o[ Sigmoid(W_g·x_t) ⊙ RMSNorm(õ_t) ]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Kimi Linear 为低秩门（省参数）；K3 改为输入依赖的全秩投影 W_g → 输出选择性与表达力更强，配合 head-wise RMSNorm 抑制 Attention Sink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对硬件的隐含要求（亲和性伏笔）：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C06A10"/>
                </a:solidFill>
                <a:latin typeface="微软雅黑"/>
                <a:ea typeface="微软雅黑"/>
              </a:rPr>
              <a:t>tile 内倒数缩放 e^80 量级 → NPU kernel 必须用 FP32 累加 + 谨慎的中间精度；CATLASS 实现需复刻该数值路径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C06A10"/>
                </a:solidFill>
                <a:latin typeface="微软雅黑"/>
                <a:ea typeface="微软雅黑"/>
              </a:rPr>
              <a:t>α 的低秩投影 W↑_αW↓_α + per-head scale A → 适合与衰减应用融合为单 kernel，避免多次 HBM 往返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D91FA2-F575-4955-85DB-F551E28F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76" y="4563394"/>
            <a:ext cx="5586651" cy="103651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76B77DB-8C55-4D8F-9E80-AE8E7EE04301}"/>
              </a:ext>
            </a:extLst>
          </p:cNvPr>
          <p:cNvSpPr txBox="1"/>
          <p:nvPr/>
        </p:nvSpPr>
        <p:spPr>
          <a:xfrm>
            <a:off x="1330610" y="5795404"/>
            <a:ext cx="273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Sigmoid</a:t>
            </a:r>
            <a:r>
              <a:rPr lang="zh-CN" altLang="en-US" dirty="0"/>
              <a:t>限制数值溢出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B7260D0-7F8A-4DE7-848B-0EB856B7D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647" y="4028557"/>
            <a:ext cx="4844743" cy="25094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核心结构 ①'：Gated MLA 与 NoPE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24 层全局注意力层：长上下文精确检索的"兜底"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MLA 基础（DeepSeek-V2 路线）：KV 压缩为低维 latent c_t = W_c·x_t（kv_lora_rank = 512）缓存，q 侧 q_lora_rank = 1536；推理时可吸收矩阵转为高效 MQA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K3 的三处改动：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全部 MLA 层 NoPE（无位置编码）：位置信息完全由 KDA 层的递归门控/衰减隐式提供 → 1M 外推无需 RoPE base 调整 / YaRN / 插值；MLA 层推理可直接退化 MQA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输入依赖全秩输出门：y_t = W_o[ Sigmoid(W_g·x_t) ⊙ õ_t ]（Gated MLA，与 KDA 输出门同构）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训练数值：注意力输出保持 FP32（修正 FlashAttention 有偏舍入误差），重设计 kernel 使 FP32 输出 tile 与 KV staging buffer 重叠 → 腾出 shared memory 加深 KV 流水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为什么 3:1 是甜点比例：KDA 层负责"便宜的长程混合"，MLA 层负责"精确的全局检索"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Kimi Linear 论文公平对比：3:1 混合在 RULER@128K 达 84.3，反超全 MLA 的 81.3；KV cache 降 75%，1M 解码吞吐 6.3×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MLA 占比再降 → 精确检索退化；再升 → 效率优势稀释（K3 沿用该比例并放大到 93 层）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1E7A3C"/>
                </a:solidFill>
                <a:latin typeface="微软雅黑"/>
                <a:ea typeface="微软雅黑"/>
              </a:rPr>
              <a:t>缓存账本（K3 实际配置）：MLA 24 层 × 512 维 × 2B = 24.6 KB/token；1M token = 24.6 GB/序列；KDA 状态定长 ~217MB → 全模型 1M 推理状态 ≈ 25 GB/序列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核心结构 ②：Attention Residuals 深度解析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把"跨时间注意力"迁移到"跨深度"——残差连接的注意力化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1051560" cy="50292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Embedding</a:t>
            </a:r>
          </a:p>
          <a:p>
            <a:pPr algn="ctr"/>
            <a:r>
              <a:rPr sz="750" b="0" i="0">
                <a:solidFill>
                  <a:srgbClr val="555B66"/>
                </a:solidFill>
                <a:latin typeface="微软雅黑"/>
                <a:ea typeface="微软雅黑"/>
              </a:rPr>
              <a:t>(b₀)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463040"/>
            <a:ext cx="1234440" cy="502920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>
                <a:solidFill>
                  <a:srgbClr val="7B3FA0"/>
                </a:solidFill>
                <a:latin typeface="微软雅黑"/>
                <a:ea typeface="微软雅黑"/>
              </a:rPr>
              <a:t>Block 1 输出</a:t>
            </a:r>
          </a:p>
          <a:p>
            <a:pPr algn="ctr"/>
            <a:r>
              <a:rPr sz="750" b="0" i="0">
                <a:solidFill>
                  <a:srgbClr val="7B3FA0"/>
                </a:solidFill>
                <a:latin typeface="微软雅黑"/>
                <a:ea typeface="微软雅黑"/>
              </a:rPr>
              <a:t>b_1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1234440" cy="502920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>
                <a:solidFill>
                  <a:srgbClr val="7B3FA0"/>
                </a:solidFill>
                <a:latin typeface="微软雅黑"/>
                <a:ea typeface="微软雅黑"/>
              </a:rPr>
              <a:t>Block 2 输出</a:t>
            </a:r>
          </a:p>
          <a:p>
            <a:pPr algn="ctr"/>
            <a:r>
              <a:rPr sz="750" b="0" i="0">
                <a:solidFill>
                  <a:srgbClr val="7B3FA0"/>
                </a:solidFill>
                <a:latin typeface="微软雅黑"/>
                <a:ea typeface="微软雅黑"/>
              </a:rPr>
              <a:t>b_2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463040"/>
            <a:ext cx="1234440" cy="502920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>
                <a:solidFill>
                  <a:srgbClr val="7B3FA0"/>
                </a:solidFill>
                <a:latin typeface="微软雅黑"/>
                <a:ea typeface="微软雅黑"/>
              </a:rPr>
              <a:t>Block 3 输出</a:t>
            </a:r>
          </a:p>
          <a:p>
            <a:pPr algn="ctr"/>
            <a:r>
              <a:rPr sz="750" b="0" i="0">
                <a:solidFill>
                  <a:srgbClr val="7B3FA0"/>
                </a:solidFill>
                <a:latin typeface="微软雅黑"/>
                <a:ea typeface="微软雅黑"/>
              </a:rPr>
              <a:t>b_3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1234440" cy="5029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0" i="0">
                <a:solidFill>
                  <a:srgbClr val="2E5EC4"/>
                </a:solidFill>
                <a:latin typeface="微软雅黑"/>
                <a:ea typeface="微软雅黑"/>
              </a:rPr>
              <a:t>当前层 l</a:t>
            </a:r>
          </a:p>
          <a:p>
            <a:pPr algn="ctr"/>
            <a:r>
              <a:rPr sz="750" b="0" i="0">
                <a:solidFill>
                  <a:srgbClr val="2E5EC4"/>
                </a:solidFill>
                <a:latin typeface="微软雅黑"/>
                <a:ea typeface="微软雅黑"/>
              </a:rPr>
              <a:t>（块内）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1965960"/>
            <a:ext cx="3886200" cy="685800"/>
          </a:xfrm>
          <a:prstGeom prst="line">
            <a:avLst/>
          </a:prstGeom>
          <a:ln w="15875">
            <a:solidFill>
              <a:srgbClr val="7B3F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1965960"/>
            <a:ext cx="2468880" cy="685800"/>
          </a:xfrm>
          <a:prstGeom prst="line">
            <a:avLst/>
          </a:prstGeom>
          <a:ln w="15875">
            <a:solidFill>
              <a:srgbClr val="7B3F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49240" y="1965960"/>
            <a:ext cx="1051560" cy="685800"/>
          </a:xfrm>
          <a:prstGeom prst="line">
            <a:avLst/>
          </a:prstGeom>
          <a:ln w="15875">
            <a:solidFill>
              <a:srgbClr val="7B3F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63040" y="1737360"/>
            <a:ext cx="4937760" cy="914400"/>
          </a:xfrm>
          <a:prstGeom prst="line">
            <a:avLst/>
          </a:prstGeom>
          <a:ln w="15875">
            <a:solidFill>
              <a:srgbClr val="7B3F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2697480"/>
            <a:ext cx="5120640" cy="8229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2E5EC4"/>
                </a:solidFill>
                <a:latin typeface="微软雅黑"/>
                <a:ea typeface="微软雅黑"/>
              </a:rPr>
              <a:t>h_l = Σᵢ α_{i→l}·vᵢ    α = softmax( w_lᵀ·RMSNorm(kᵢ) )</a:t>
            </a:r>
          </a:p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可学习伪查询 w_l；kᵢ=vᵢ=块表示（RMSNorm 防大幅值层主导）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9476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动机：标准残差把全部历史压缩进单一 h_l —— 与 RNN 同构的信息瓶颈；AttnRes 让每层"按需检索"全部前序表示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Block 化（关键工程决策）：Full AttnRes 算术 O(L²d) 可承受（L&lt;100），但内存/PP 通信 O(Ld) 不可承受 → 93 层分 8 块（约 12 层/块、末块 9 层，与 23 个 KDA/MLA 模式块相互独立），块内输出求和为块表示，仅对 ~9 个块级表示做注意力：O(Ld)→O(Nd)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消融结论：N≈8 块即可恢复大部分收益；块内第 i≥2 层还能看到本块部分和 b⁽ⁱ⁻¹⁾（online softmax 合并块间并行/块内串行结果）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系统协同：块表示在边界层生成一次、驻留 GPU、后续层共享；整体 checkpointing 使每层反向激活与标准残差相同；PP 用 cache-based 增量通信（只传新块、用完即释放）→ 显存达理论下界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对硬件的要求：AttnRes = 小型注意力（9 个 key）+ online softmax 合并 + 与前一个 TP all-reduce 的融合 —— NPU 需专用 fused kernel（见适配章节）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1ECFA8E-0466-4091-9F8A-6474A872B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47" y="5121107"/>
            <a:ext cx="3803573" cy="125683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8B6FFED-C37D-4B9A-B960-3BDADEC40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608" y="5074920"/>
            <a:ext cx="4093845" cy="12416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核心结构 ③：Stable LatentMoE 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896 路由专家（latent 宽 3584）激活 16 + 2 全宽共享专家；稀疏度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926080"/>
            <a:ext cx="868680" cy="64008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x ∈ R^d</a:t>
            </a:r>
          </a:p>
          <a:p>
            <a:pPr algn="ctr"/>
            <a:r>
              <a:rPr sz="800" b="0" i="0">
                <a:solidFill>
                  <a:srgbClr val="555B66"/>
                </a:solidFill>
                <a:latin typeface="微软雅黑"/>
                <a:ea typeface="微软雅黑"/>
              </a:rPr>
              <a:t>d=7168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1371600"/>
            <a:ext cx="2377440" cy="1051560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2E7D32"/>
                </a:solidFill>
                <a:latin typeface="微软雅黑"/>
                <a:ea typeface="微软雅黑"/>
              </a:rPr>
              <a:t>共享专家 ×2（全宽）</a:t>
            </a:r>
          </a:p>
          <a:p>
            <a:pPr algn="ctr"/>
            <a:r>
              <a:rPr sz="850" b="0" i="0">
                <a:solidFill>
                  <a:srgbClr val="2E7D32"/>
                </a:solidFill>
                <a:latin typeface="微软雅黑"/>
                <a:ea typeface="微软雅黑"/>
              </a:rPr>
              <a:t>E_shared: R^d → R^d</a:t>
            </a:r>
          </a:p>
          <a:p>
            <a:pPr algn="ctr"/>
            <a:r>
              <a:rPr sz="850" b="0" i="0">
                <a:solidFill>
                  <a:srgbClr val="2E7D32"/>
                </a:solidFill>
                <a:latin typeface="微软雅黑"/>
                <a:ea typeface="微软雅黑"/>
              </a:rPr>
              <a:t>每个 token 必经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926080"/>
            <a:ext cx="2377440" cy="77724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2E5EC4"/>
                </a:solidFill>
                <a:latin typeface="微软雅黑"/>
                <a:ea typeface="微软雅黑"/>
              </a:rPr>
              <a:t>W↓：R^d → R^ℓ</a:t>
            </a:r>
          </a:p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ℓ = 3584 = 0.5d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4206240"/>
            <a:ext cx="2377440" cy="914400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7B3FA0"/>
                </a:solidFill>
                <a:latin typeface="微软雅黑"/>
                <a:ea typeface="微软雅黑"/>
              </a:rPr>
              <a:t>Router（Sigmoid）</a:t>
            </a:r>
          </a:p>
          <a:p>
            <a:pPr algn="ctr"/>
            <a:r>
              <a:rPr sz="850" b="0" i="0">
                <a:solidFill>
                  <a:srgbClr val="7B3FA0"/>
                </a:solidFill>
                <a:latin typeface="微软雅黑"/>
                <a:ea typeface="微软雅黑"/>
              </a:rPr>
              <a:t>Top-16（s + b_QB）</a:t>
            </a:r>
          </a:p>
          <a:p>
            <a:pPr algn="ctr"/>
            <a:r>
              <a:rPr sz="850" b="0" i="0">
                <a:solidFill>
                  <a:srgbClr val="7B3FA0"/>
                </a:solidFill>
                <a:latin typeface="微软雅黑"/>
                <a:ea typeface="微软雅黑"/>
              </a:rPr>
              <a:t>QB 偏置分位数更新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3108960" cy="2377440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2E7D32"/>
                </a:solidFill>
                <a:latin typeface="微软雅黑"/>
                <a:ea typeface="微软雅黑"/>
              </a:rPr>
              <a:t>896 个路由专家</a:t>
            </a:r>
          </a:p>
          <a:p>
            <a:pPr algn="ctr"/>
            <a:r>
              <a:rPr sz="850" b="0" i="0">
                <a:solidFill>
                  <a:srgbClr val="2E7D32"/>
                </a:solidFill>
                <a:latin typeface="微软雅黑"/>
                <a:ea typeface="微软雅黑"/>
              </a:rPr>
              <a:t>（激活 16 个）</a:t>
            </a:r>
          </a:p>
          <a:p>
            <a:pPr algn="ctr"/>
            <a:endParaRPr sz="850" b="0" i="0">
              <a:solidFill>
                <a:srgbClr val="2E7D32"/>
              </a:solidFill>
              <a:latin typeface="微软雅黑"/>
              <a:ea typeface="微软雅黑"/>
            </a:endParaRPr>
          </a:p>
          <a:p>
            <a:pPr algn="ctr"/>
            <a:r>
              <a:rPr sz="850" b="0" i="0">
                <a:solidFill>
                  <a:srgbClr val="2E7D32"/>
                </a:solidFill>
                <a:latin typeface="微软雅黑"/>
                <a:ea typeface="微软雅黑"/>
              </a:rPr>
              <a:t>每专家 = SiTU-GLU FFN</a:t>
            </a:r>
          </a:p>
          <a:p>
            <a:pPr algn="ctr"/>
            <a:r>
              <a:rPr sz="850" b="0" i="0">
                <a:solidFill>
                  <a:srgbClr val="2E7D32"/>
                </a:solidFill>
                <a:latin typeface="微软雅黑"/>
                <a:ea typeface="微软雅黑"/>
              </a:rPr>
              <a:t>R^ℓ → R^ℓ，隐藏维 3072</a:t>
            </a:r>
          </a:p>
          <a:p>
            <a:pPr algn="ctr"/>
            <a:r>
              <a:rPr sz="850" b="0" i="0">
                <a:solidFill>
                  <a:srgbClr val="2E7D32"/>
                </a:solidFill>
                <a:latin typeface="微软雅黑"/>
                <a:ea typeface="微软雅黑"/>
              </a:rPr>
              <a:t>单专家 33M 参数</a:t>
            </a:r>
          </a:p>
          <a:p>
            <a:pPr algn="ctr"/>
            <a:r>
              <a:rPr sz="850" b="0" i="0">
                <a:solidFill>
                  <a:srgbClr val="2E7D32"/>
                </a:solidFill>
                <a:latin typeface="微软雅黑"/>
                <a:ea typeface="微软雅黑"/>
              </a:rPr>
              <a:t>全部专家 ≈ 2.72T（98% 参数）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108960" cy="109728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2E5EC4"/>
                </a:solidFill>
                <a:latin typeface="微软雅黑"/>
                <a:ea typeface="微软雅黑"/>
              </a:rPr>
              <a:t>加权聚合</a:t>
            </a:r>
          </a:p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u = Σ pᵢ·Eᵢ(W↓x)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429000"/>
            <a:ext cx="3108960" cy="109728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C06A10"/>
                </a:solidFill>
                <a:latin typeface="微软雅黑"/>
                <a:ea typeface="微软雅黑"/>
              </a:rPr>
              <a:t>RMSNorm(u) → W↑：R^ℓ → R^d</a:t>
            </a:r>
          </a:p>
          <a:p>
            <a:pPr algn="ctr"/>
            <a:r>
              <a:rPr sz="850" b="0" i="0">
                <a:solidFill>
                  <a:srgbClr val="C06A10"/>
                </a:solidFill>
                <a:latin typeface="微软雅黑"/>
                <a:ea typeface="微软雅黑"/>
              </a:rPr>
              <a:t>y = Σ E_shared(x) + W↑·RMSNorm(u)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88720" y="1874519"/>
            <a:ext cx="411480" cy="1371601"/>
          </a:xfrm>
          <a:prstGeom prst="line">
            <a:avLst/>
          </a:prstGeom>
          <a:ln w="19050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3246120"/>
            <a:ext cx="411480" cy="45720"/>
          </a:xfrm>
          <a:prstGeom prst="line">
            <a:avLst/>
          </a:prstGeom>
          <a:ln w="19050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977639" y="3108960"/>
            <a:ext cx="594361" cy="182880"/>
          </a:xfrm>
          <a:prstGeom prst="line">
            <a:avLst/>
          </a:prstGeom>
          <a:ln w="2222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977639" y="4389120"/>
            <a:ext cx="1143001" cy="274320"/>
          </a:xfrm>
          <a:prstGeom prst="line">
            <a:avLst/>
          </a:prstGeom>
          <a:ln w="19050">
            <a:solidFill>
              <a:srgbClr val="7B3F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80960" y="2651760"/>
            <a:ext cx="548640" cy="91440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84080" y="3108960"/>
            <a:ext cx="0" cy="320040"/>
          </a:xfrm>
          <a:prstGeom prst="line">
            <a:avLst/>
          </a:prstGeom>
          <a:ln w="19050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77639" y="1874519"/>
            <a:ext cx="4709161" cy="2148841"/>
          </a:xfrm>
          <a:prstGeom prst="line">
            <a:avLst/>
          </a:prstGeom>
          <a:ln w="19050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1480" y="5120640"/>
            <a:ext cx="3566160" cy="10515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1E7A3C"/>
                </a:solidFill>
                <a:latin typeface="微软雅黑"/>
                <a:ea typeface="微软雅黑"/>
              </a:rPr>
              <a:t>稳定化① Normalized LatentMoE</a:t>
            </a:r>
          </a:p>
          <a:p>
            <a:pPr algn="ctr"/>
            <a:r>
              <a:rPr sz="800" b="0" i="0">
                <a:solidFill>
                  <a:srgbClr val="1E7A3C"/>
                </a:solidFill>
                <a:latin typeface="微软雅黑"/>
                <a:ea typeface="微软雅黑"/>
              </a:rPr>
              <a:t>W↑ 前插 RMSNorm → 路由分支尺度脱敏</a:t>
            </a:r>
          </a:p>
          <a:p>
            <a:pPr algn="ctr"/>
            <a:r>
              <a:rPr sz="800" b="0" i="0">
                <a:solidFill>
                  <a:srgbClr val="1E7A3C"/>
                </a:solidFill>
                <a:latin typeface="微软雅黑"/>
                <a:ea typeface="微软雅黑"/>
              </a:rPr>
              <a:t>一致改善验证 loss 与下游基准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5120640"/>
            <a:ext cx="3566160" cy="10515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1E7A3C"/>
                </a:solidFill>
                <a:latin typeface="微软雅黑"/>
                <a:ea typeface="微软雅黑"/>
              </a:rPr>
              <a:t>稳定化② SiTU-GLU 有界激活</a:t>
            </a:r>
          </a:p>
          <a:p>
            <a:pPr algn="ctr"/>
            <a:r>
              <a:rPr sz="800" b="0" i="0">
                <a:solidFill>
                  <a:srgbClr val="1E7A3C"/>
                </a:solidFill>
                <a:latin typeface="微软雅黑"/>
                <a:ea typeface="微软雅黑"/>
              </a:rPr>
              <a:t>|f(x)| ≤ β₁β₂ = 100（β₁=4, β₂=25）</a:t>
            </a:r>
          </a:p>
          <a:p>
            <a:pPr algn="ctr"/>
            <a:r>
              <a:rPr sz="800" b="0" i="0">
                <a:solidFill>
                  <a:srgbClr val="1E7A3C"/>
                </a:solidFill>
                <a:latin typeface="微软雅黑"/>
                <a:ea typeface="微软雅黑"/>
              </a:rPr>
              <a:t>抑制激活爆炸 + 低精度溢出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5120640"/>
            <a:ext cx="3566160" cy="10515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1E7A3C"/>
                </a:solidFill>
                <a:latin typeface="微软雅黑"/>
                <a:ea typeface="微软雅黑"/>
              </a:rPr>
              <a:t>稳定化③ Quantile Balancing</a:t>
            </a:r>
          </a:p>
          <a:p>
            <a:pPr algn="ctr"/>
            <a:r>
              <a:rPr sz="800" b="0" i="0">
                <a:solidFill>
                  <a:srgbClr val="1E7A3C"/>
                </a:solidFill>
                <a:latin typeface="微软雅黑"/>
                <a:ea typeface="微软雅黑"/>
              </a:rPr>
              <a:t>896 专家无辅助损失均衡</a:t>
            </a:r>
          </a:p>
          <a:p>
            <a:pPr algn="ctr"/>
            <a:r>
              <a:rPr sz="800" b="0" i="0">
                <a:solidFill>
                  <a:srgbClr val="1E7A3C"/>
                </a:solidFill>
                <a:latin typeface="微软雅黑"/>
                <a:ea typeface="微软雅黑"/>
              </a:rPr>
              <a:t>直方图分位数，通信 &lt;1%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LatentMoE 的通信红利：dispatch/combine 在 latent 宽 ℓ=3584（而非 d=7168）上进行 → MoE all-to-all 流量直接减半（对 EP 部署意义重大）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26591"/>
            <a:ext cx="102412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zh-CN" sz="2100" b="1" i="0" dirty="0">
                <a:solidFill>
                  <a:srgbClr val="FFFFFF"/>
                </a:solidFill>
                <a:latin typeface="微软雅黑"/>
                <a:ea typeface="微软雅黑"/>
              </a:rPr>
              <a:t>Normalized </a:t>
            </a:r>
            <a:r>
              <a:rPr sz="2100" b="1" i="0" dirty="0" err="1">
                <a:solidFill>
                  <a:srgbClr val="FFFFFF"/>
                </a:solidFill>
                <a:latin typeface="微软雅黑"/>
                <a:ea typeface="微软雅黑"/>
              </a:rPr>
              <a:t>LatentMoE</a:t>
            </a:r>
            <a:r>
              <a:rPr sz="2100" b="1" i="0" dirty="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40D8B2F-F398-4927-9784-2E89CA06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6" y="1700574"/>
            <a:ext cx="5114925" cy="3810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06C6ED3-6E9B-43D8-BA4A-7524AC768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58" y="2924502"/>
            <a:ext cx="58293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09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SiTU-GLU：有界激活的设计动机与数学性质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84280" cy="82296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42A52"/>
                </a:solidFill>
                <a:latin typeface="微软雅黑"/>
                <a:ea typeface="微软雅黑"/>
              </a:rPr>
              <a:t>SiTU-GLU(x) = [ β₁·tanh(W_g·x/β₁) ⊙ Sigmoid(W_g·x) ] ⊙ [ β₂·tanh(W_u·x/β₂) ]，β₁=4（门分支）、β₂=25（上分支）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338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要解决的失效模式：LatentMoE 把 W↓、多分支专家 FFN、W↑ 连成近 4 个连续矩阵乘的链 —— 病态结构在 2.8T 规模下产生路由分支激活爆炸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数学性质：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1" i="0">
                <a:solidFill>
                  <a:srgbClr val="1E7A3C"/>
                </a:solidFill>
                <a:latin typeface="微软雅黑"/>
                <a:ea typeface="微软雅黑"/>
              </a:rPr>
              <a:t>有界性：‖SiTU-GLU(x)‖∞ ≤ β₁β₂ = 100 —— 激活幅值硬上界 → 抑制爆炸 + 防止 MXFP8/FP8 低精度路径溢出（与 QAT 协同）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原点附近一阶等价 SwiGLU：β·tanh(z/β) = z + O(z³/β²) → 小信号区行为不变，不改变已验证的优化景观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β→∞ 时逐点还原 SwiGLU；平滑 softcap（tanh）比硬截断保留非零梯度，训练行为更好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对比 Gemma2/3 的 logit softcapping 思路：K3 把 softcap 从"最终 logit"推进到"每个专家 FFN 内部"，是极端稀疏 MoE 稳定性的关键组件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C06A10"/>
                </a:solidFill>
                <a:latin typeface="微软雅黑"/>
                <a:ea typeface="微软雅黑"/>
              </a:rPr>
              <a:t>硬件映射注意点：tanh 与 sigmoid 都是逐元素超越函数 → NPU 上应与前后 GEMM 融合（epilogue），避免独立 kernel 的 HBM 往返；β₁/β₂ 为常量可编译期固化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6C19F03-5307-4D02-9394-0E1C14E17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55" y="4227580"/>
            <a:ext cx="8577033" cy="24475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3A5CB08-C5F9-4C65-8909-0DED64F58519}"/>
              </a:ext>
            </a:extLst>
          </p:cNvPr>
          <p:cNvSpPr txBox="1"/>
          <p:nvPr/>
        </p:nvSpPr>
        <p:spPr>
          <a:xfrm>
            <a:off x="9994812" y="5354600"/>
            <a:ext cx="202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增加大量</a:t>
            </a:r>
            <a:r>
              <a:rPr lang="en-US" altLang="zh-CN" dirty="0"/>
              <a:t>exp</a:t>
            </a:r>
            <a:r>
              <a:rPr lang="zh-CN" altLang="en-US" dirty="0"/>
              <a:t>指数运算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Quantile Balancing（QB）：896 专家的负载均衡数学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问题设定（auxiliary-loss-free 路由，DeepSeek-V3 路线）：score s=Sigmoid(W_r·x)，Top-k 用 s+b（b 为专家偏置），混合权重 p 不含 b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原版定步长符号更新 b ← b + γ·sign(目标负载 − 实际负载) 在 896 专家下失效：步长 γ 难以兼顾均衡速度与稳定性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QB 的核心思想：把偏置更新写成对偶问题的精确坐标下降 —— 一步跳到最优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m 个 token、n 个专家、每 token 选 k 个 → 专家目标负载 q = mk/n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用 Top-(k+1) 路由的第 (k+1) 名作为 token 侧 cutoff α；令 −b̂_j = margin(s_{:,j} − α) 的 (1−k/n) 分位数 → 恰好 q 个 margin 超过阈值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再去均值消除公共偏移：b ← b̂ − mean(b̂)·1；更新下一步生效（不用本批数据路由本批）；推理时偏置冻结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附录 C 给出其作为最大分数平衡分配（balanced assignment / b-matching 对偶）的完整推导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大规模工程实现 —— 直方图分位数估计：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全局 batch 的 margin 达数百万、跨 rank 与梯度累积步，精确分位数不可行 → 每专家维护 B=1000 bin 直方图，单次整数 all-reduce 汇总 bin 计数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通信量每层每步 nB 个整数（&lt;1% 通信预算）；误差 ≤ 几个 10⁻³；可加 EMA 平滑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1E7A3C"/>
                </a:solidFill>
                <a:latin typeface="微软雅黑"/>
                <a:ea typeface="微软雅黑"/>
              </a:rPr>
              <a:t>与 MoonEP 的分工：QB 在「路由层」让长期负载趋于均衡；MoonEP 在「执行层」用冗余专家保证每步严格均衡 —— 二者互补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7A083A-AD6D-4673-B4F3-6949DE9E2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796" y="4227195"/>
            <a:ext cx="4629150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架构演进：Kimi K2 → Kimi K3（技术报告 Table 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1138427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9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5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1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793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Kimi K2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Kimi K3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变化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层数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93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↑52%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总参数 / 激活参数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1.04T / 32.6B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2.78T / 104.2B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↑167% / ↑220%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隐藏维度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7,168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7,168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Latent MoE 维度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3,584（0.5×d）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新增（通信减半）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路由专家 / 每 token 激活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384 / 8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896 / 16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↑133% / ↑100%（稀疏度 56）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共享专家 / 专家隐藏维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 / 2,048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 / 3,072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翻倍 / ↑50%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注意力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61 层 MLA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69 KDA + 24 Gated MLA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混合线性注意力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激活函数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SwiGLU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SiTU-GLU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有界 softcap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训练上下文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128K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1M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8×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注意力头 / 词表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64 / 163,840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96 / 163,840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↑50% / 不变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MTP 层 / Dense 层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 / 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 / 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804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视觉塔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MoonViT-V2：401M，27 层，patch 14，12 头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原生多模态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MoonViT-V2 与原生多模态训练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原生多模态：文本/图像/视频共享同一骨干、同一 1M 上下文，从训练第一步起在同一 next-token prediction 目标下联合优化 —— 无事后模态对齐阶段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反常识结论：视觉塔完全从零训练（NTP），不用 SigLIP 等对比预训练初始化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动机是训练稳定性：SigLIP 初始化的 MoonViT-3D 梯度范数持续偏高且频繁尖峰；from-scratch 的 V2 全程低且平滑（图 6 消融）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视觉评测打平 → 大规模多模态 LM 下，对比预训练初始化并非必需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架构细节：27 层 / 401M 参数；RMSNorm、所有线性/注意力无 bias；patch 14；12 头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图像视频全共享参数：注意力分解为帧内空间 + 帧间时间两遍，时间池化压缩时间维 token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投影前 2×2 pixel-shuffle 下采样 → 视觉 token 数减 4× → 最高 3584×3584 像素输入在 1M 上下文内可承受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轻量 MLP projector 映射到 LLM 嵌入空间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训练系统配套：超大图像沿 patch 维切分到多设备（CP 扩展到视觉编码器，gather-KV 算注意力），CP 组内再细分消除负载不均、隐藏视觉编码器气泡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三、训练算法深度解析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Per-Head Muon 优化器（K2 Muon 的精细化）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Muon：对动量矩阵做 Newton–Schulz 正交化（M ← a·M + b·(MMᵀ)M + c·(MMᵀ)²M 迭代 5 步近似 UVᵀ）替代 Adam 的二阶矩缩放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Per-Head 变体：Q/K/V 投影按头切分动量、逐头独立 NS 正交化 → 避免大梯度头主导共享更新方向，各头更新尺度均衡；高窄 per-head 块上 NS 迭代更便宜（优化器开销反降）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配合 K2 的 weight-clipping 抑制注意力 logit 爆炸；weight decay = 0.1 全程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QAT（自 SFT 起全程，覆盖 SFT + RL + 草稿模型）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MoE 专家权重 MXFP4（32 元素/组共享 E8M0 缩放，minmax observer，对称量化）+ 激活 MXFP8；注意力投影/latent 投影/共享专家/路由器保持高精度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RL 的 rollout 与训练共用同一量化方案 → 训推零失配；开源权重即 MXFP4-pack-quantized（compressed-tensors 格式）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预训练数值工程：激活大规模 block-wise FP8 量化 + offload；MLA 训练输出 FP32 修正有偏舍入；KDA 下界衰减保证 BF16 安全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四阶段长上下文课程：8K → 64K（预训练）→ 256K → 1M（cooldown）；昂贵长序列计算集中在小部分预算内；NoPE 直接外推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Scaling Law 深度解读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2.5× scaling efficiency 的准确含义（核心技术论断）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在 held-out OOD 验证集上拟合 FLOPs–loss 曲线（图 7，FLOPs 10²⁰–10²¹）：K3 曲线相对 K2 曲线在横轴（FLOPs）方向平移约 2.5×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即：达到同一验证 loss，K3 所需算力 ≈ K2 的 1/2.5；等价于"免费"获得 2.5× 算力 —— 来源是架构+数据+训练配方合力，非单一改进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1" i="0">
                <a:solidFill>
                  <a:srgbClr val="C06A10"/>
                </a:solidFill>
                <a:latin typeface="微软雅黑"/>
                <a:ea typeface="微软雅黑"/>
              </a:rPr>
              <a:t>注意：拟合区间 10²⁰–10²¹ FLOPs 是小模型外推区，2.78T 全量训练点未在图中 —— 属于 scaling law 外推结论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架构改变最优训练 regime → 重新调优 batch size、学习率、TPP（tokens-per-parameter）、模型形状（具体数值未披露）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LR schedule 结论：cosine decay 一致优于 WSD（各自独立做 scaling 搜索的公平比较下）—— 反驳了"WSD 与 cosine 打平"的流行结论，关键在各自最优超参差异大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RL 维度 scaling（图 8）：RL FLOPs 扩大一致提升知识/推理/视觉/agent/编码能力，平均工具调用步数随 FLOPs 增长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含义：K3 同时拉满两条增长曲线 —— 预训练 3T 级 scale-up + test-time 1M RL scale-out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B82E2E"/>
                </a:solidFill>
                <a:latin typeface="微软雅黑"/>
                <a:ea typeface="微软雅黑"/>
              </a:rPr>
              <a:t>未披露项（对标复现时需注意）：预训练总 token 数、峰值 LR、batch size、TPP、训练硬件规模与 MFU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F06204-742A-4D9E-9912-813F8FB0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583" y="3675750"/>
            <a:ext cx="3812617" cy="28622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四、数据方案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预训练语料（§3.1，总量未披露）：四大文本域（Web/Code/Math/Knowledge）+ 大规模视觉语料（caption/图文交错/OCR/感知/视频/视觉编码）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三重过滤（规则+分类器+去重）；各域采样率由小模型消融确定；K2 式 rephrasing（风格/视角改写 + chunk 自回归 + 原文保真校验）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视觉数据：坐标监督双格式（绝对 + 归一化 [0,1]）；程序化多模态合成（代码-渲染配对：SVG/3D/网页/游戏/CAD）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长上下文数据工程（支撑 1M 的真正关键）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专门清洗：精确+模糊去重、视频帧感知哈希、分类器过滤、结构校验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0" i="0">
                <a:solidFill>
                  <a:srgbClr val="262A33"/>
                </a:solidFill>
                <a:latin typeface="微软雅黑"/>
                <a:ea typeface="微软雅黑"/>
              </a:rPr>
              <a:t>真长文档/视频上采样，防 cooldown 阶段被短序列淹没</a:t>
            </a:r>
          </a:p>
          <a:p>
            <a:pPr lvl="1">
              <a:spcAft>
                <a:spcPts val="300"/>
              </a:spcAft>
            </a:pPr>
            <a:r>
              <a:rPr sz="11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50" b="1" i="0">
                <a:solidFill>
                  <a:srgbClr val="1E7A3C"/>
                </a:solidFill>
                <a:latin typeface="微软雅黑"/>
                <a:ea typeface="微软雅黑"/>
              </a:rPr>
              <a:t>合成"全上下文依赖"任务：置换拼接多模态文档与子任务，答案散布整个 1M → 防注意力退化为局部模式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后训练数据：前代领域专精模型合成 agentic 轨迹 + 多阶段验证 + 人在环标注；知识图谱（自进化 DAG）引导任务合成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50" b="1" i="0">
                <a:solidFill>
                  <a:srgbClr val="262A33"/>
                </a:solidFill>
                <a:latin typeface="微软雅黑"/>
                <a:ea typeface="微软雅黑"/>
              </a:rPr>
              <a:t>SFT 模板：自研 XTML（think/response/tools 三通道；推理档以自然语言 option 注入，schema 预留 low/medium/high/max）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五、后训练体系：SFT → RL 九专家 → MOPD 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RL：3 域 × 3 档推理努力 {low, high, max} = 9 个专家模型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域：general tasks / general agents / coding agents；算法沿用 K2.5 + per-token 正则（容忍 partial rollout 的极端 off-policy）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Partial rollout：N×K 轨迹完成 λ 比例即暂停进入优化，未完轨迹下轮优先恢复 → 消除长尾 straggler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Reasoning Effort RL：预算 b0(x) 由冷启动模型估计，超 τ·b0(x) 奖励覆写 −1；先大 τ 训 max 档再退火出 high/low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Agentic GRM（不可验证任务）：judge 强制协议（读产物→生成 rubric→打分→记 scorepad）；超 σ·ℓ0 自动判负防冗长黑客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MOPD（多教师 on-policy 蒸馏）：9 专家合并为单一模型；逐 token 奖励 = clip(sg[log π_teacher/π_θ], ±Rmax)，无缝接入 RL 框架；更细粒度 top-k 蒸馏实测无收益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EAGLE-3 投机解码：MTP 层微调为草稿模型（目标冻结、展开 7 步、融合第 1/4/末 AttnRes 块特征、W_E3 初始化 [0 0 I]），直接优化接受率 LK loss = −log Σ min(p,q)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RL 环境：统一白盒 harness（可实例化 Kimi Code/Claude Code/Codex 等防过拟合单一 scaffold）；kernel 优化任务（CUDA/Triton/TileLang，BF16/FP8/FP4，近 roofline 趋满分）；mock 应用单次 rollout 数千工具调用、数百万 token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六、基础设施 ①：FlashKDA —— 设备内 kernel 协同设计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问题：KDA chunkwise 形式 = chunk 内并行（UT transform）+ chunk 间串行（状态传播）；naive 执行在串行段 SM 大面积空闲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FlashKDA（CUTLASS）：工作分解为 token-parallel 阶段 + head-parallel 递归，各自独立调度调优，chunk 内计算与跨 chunk 状态传播重叠（软件流水）→ 显著优于 Triton 参考实现；训练与推理 prefill 共用，作为 FLA 后端自动分发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82E2E"/>
                </a:solidFill>
                <a:latin typeface="微软雅黑"/>
                <a:ea typeface="微软雅黑"/>
              </a:rPr>
              <a:t>Naive：串行段 SM 空闲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188720" cy="41148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chunk0 并行段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200400"/>
            <a:ext cx="502920" cy="411480"/>
          </a:xfrm>
          <a:prstGeom prst="roundRect">
            <a:avLst/>
          </a:prstGeom>
          <a:solidFill>
            <a:srgbClr val="B8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>串行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00400"/>
            <a:ext cx="1188720" cy="41148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chunk1 并行段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200400"/>
            <a:ext cx="502920" cy="411480"/>
          </a:xfrm>
          <a:prstGeom prst="roundRect">
            <a:avLst/>
          </a:prstGeom>
          <a:solidFill>
            <a:srgbClr val="B8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>串行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200400"/>
            <a:ext cx="1188720" cy="41148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chunk2 并行段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00400"/>
            <a:ext cx="502920" cy="411480"/>
          </a:xfrm>
          <a:prstGeom prst="roundRect">
            <a:avLst/>
          </a:prstGeom>
          <a:solidFill>
            <a:srgbClr val="B8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>串行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00400"/>
            <a:ext cx="1188720" cy="41148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chunk3 并行段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200400"/>
            <a:ext cx="502920" cy="411480"/>
          </a:xfrm>
          <a:prstGeom prst="roundRect">
            <a:avLst/>
          </a:prstGeom>
          <a:solidFill>
            <a:srgbClr val="B8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</a:rPr>
              <a:t>串行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3C"/>
                </a:solidFill>
                <a:latin typeface="微软雅黑"/>
                <a:ea typeface="微软雅黑"/>
              </a:rPr>
              <a:t>FlashKDA：token-parallel 与 head-parallel 阶段重叠流水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463040" cy="38404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chunk0 并行段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4517136"/>
            <a:ext cx="1051560" cy="384048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7B3FA0"/>
                </a:solidFill>
                <a:latin typeface="微软雅黑"/>
                <a:ea typeface="微软雅黑"/>
              </a:rPr>
              <a:t>状态传播0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4114800"/>
            <a:ext cx="1463040" cy="38404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chunk1 并行段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4517136"/>
            <a:ext cx="1051560" cy="384048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7B3FA0"/>
                </a:solidFill>
                <a:latin typeface="微软雅黑"/>
                <a:ea typeface="微软雅黑"/>
              </a:rPr>
              <a:t>状态传播1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114800"/>
            <a:ext cx="1463040" cy="38404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chunk2 并行段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4517136"/>
            <a:ext cx="1051560" cy="384048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7B3FA0"/>
                </a:solidFill>
                <a:latin typeface="微软雅黑"/>
                <a:ea typeface="微软雅黑"/>
              </a:rPr>
              <a:t>状态传播2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4114800"/>
            <a:ext cx="1463040" cy="384048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2E5EC4"/>
                </a:solidFill>
                <a:latin typeface="微软雅黑"/>
                <a:ea typeface="微软雅黑"/>
              </a:rPr>
              <a:t>chunk3 并行段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517136"/>
            <a:ext cx="1051560" cy="384048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0" b="0" i="0">
                <a:solidFill>
                  <a:srgbClr val="7B3FA0"/>
                </a:solidFill>
                <a:latin typeface="微软雅黑"/>
                <a:ea typeface="微软雅黑"/>
              </a:rPr>
              <a:t>状态传播3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设备内 CP（长上下文 prefill 的补充）：纯 TP 只切 head、不缩短递归，超长序列 prefill 时单 rank 仅少量 head、多数 SM 空闲</a:t>
            </a:r>
          </a:p>
          <a:p>
            <a:pPr lvl="1">
              <a:spcAft>
                <a:spcPts val="300"/>
              </a:spcAft>
            </a:pPr>
            <a:r>
              <a:rPr sz="105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050" b="0" i="0">
                <a:solidFill>
                  <a:srgbClr val="262A33"/>
                </a:solidFill>
                <a:latin typeface="微软雅黑"/>
                <a:ea typeface="微软雅黑"/>
              </a:rPr>
              <a:t>关键观察：每个 segment 的状态转移可独立于入口状态求值、事后精确复合 → SM 级 CP planner 将序列切到单卡多 SM 并行求转移再合并；完全设备内、零跨设备通信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六、基础设施 ②：KDA Context Parallelism（KCP）图解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555B66"/>
                </a:solidFill>
                <a:highlight>
                  <a:srgbClr val="FFFF00"/>
                </a:highlight>
                <a:latin typeface="微软雅黑"/>
                <a:ea typeface="微软雅黑"/>
              </a:rPr>
              <a:t>1M token </a:t>
            </a:r>
            <a:r>
              <a:rPr sz="1100" b="0" i="0" dirty="0" err="1">
                <a:solidFill>
                  <a:srgbClr val="555B66"/>
                </a:solidFill>
                <a:highlight>
                  <a:srgbClr val="FFFF00"/>
                </a:highlight>
                <a:latin typeface="微软雅黑"/>
                <a:ea typeface="微软雅黑"/>
              </a:rPr>
              <a:t>训练对</a:t>
            </a:r>
            <a:r>
              <a:rPr sz="1100" b="0" i="0" dirty="0">
                <a:solidFill>
                  <a:srgbClr val="555B66"/>
                </a:solidFill>
                <a:highlight>
                  <a:srgbClr val="FFFF00"/>
                </a:highlight>
                <a:latin typeface="微软雅黑"/>
                <a:ea typeface="微软雅黑"/>
              </a:rPr>
              <a:t> KDA </a:t>
            </a:r>
            <a:r>
              <a:rPr sz="1100" b="0" i="0" dirty="0" err="1">
                <a:solidFill>
                  <a:srgbClr val="555B66"/>
                </a:solidFill>
                <a:highlight>
                  <a:srgbClr val="FFFF00"/>
                </a:highlight>
                <a:latin typeface="微软雅黑"/>
                <a:ea typeface="微软雅黑"/>
              </a:rPr>
              <a:t>层可行的关键；实现已合入</a:t>
            </a:r>
            <a:r>
              <a:rPr sz="1100" b="0" i="0" dirty="0">
                <a:solidFill>
                  <a:srgbClr val="555B66"/>
                </a:solidFill>
                <a:highlight>
                  <a:srgbClr val="FFFF00"/>
                </a:highlight>
                <a:latin typeface="微软雅黑"/>
                <a:ea typeface="微软雅黑"/>
              </a:rPr>
              <a:t> FLA PR #691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55B66"/>
                </a:solidFill>
                <a:latin typeface="微软雅黑"/>
                <a:ea typeface="微软雅黑"/>
              </a:rPr>
              <a:t>难点：delta rule 先用 M_t=(I−βkkᵀ)Diag(α) 作用于入口状态再写入 → 局部段效果依赖入口状态，不能像 vanilla 线性注意力那样各 rank 从 S=0 求和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06040" cy="91440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Rank 0（序列段 0）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本地计算：累积转移矩阵 M_i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+ 从零局部状态 S̃_i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286000"/>
            <a:ext cx="274320" cy="0"/>
          </a:xfrm>
          <a:prstGeom prst="line">
            <a:avLst/>
          </a:prstGeom>
          <a:ln w="19050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828800"/>
            <a:ext cx="2606040" cy="91440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Rank 1（序列段 1）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本地计算：累积转移矩阵 M_i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+ 从零局部状态 S̃_i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286000"/>
            <a:ext cx="274320" cy="0"/>
          </a:xfrm>
          <a:prstGeom prst="line">
            <a:avLst/>
          </a:prstGeom>
          <a:ln w="19050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1828800"/>
            <a:ext cx="2606040" cy="91440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Rank 2（序列段 2）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本地计算：累积转移矩阵 M_i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+ 从零局部状态 S̃_i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15400" y="2286000"/>
            <a:ext cx="274320" cy="0"/>
          </a:xfrm>
          <a:prstGeom prst="line">
            <a:avLst/>
          </a:prstGeom>
          <a:ln w="19050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89720" y="1828800"/>
            <a:ext cx="2606040" cy="91440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Rank 3（序列段 3）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本地计算：累积转移矩阵 M_i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+ 从零局部状态 S̃_i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063240"/>
            <a:ext cx="8321040" cy="731520"/>
          </a:xfrm>
          <a:prstGeom prst="round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一次固定大小 all-gather（M_i, S̃_i）—— 通信量与序列长度无关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微软雅黑"/>
                <a:ea typeface="微软雅黑"/>
              </a:rPr>
              <a:t>rank 级更新满足结合律 → prefix scan 恢复每个 rank 的精确入口状态：S ← M_i·S + S̃_i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2743200"/>
            <a:ext cx="548640" cy="320040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2743200"/>
            <a:ext cx="45720" cy="320040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132320" y="2743200"/>
            <a:ext cx="457200" cy="320040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509760" y="2743200"/>
            <a:ext cx="960120" cy="320040"/>
          </a:xfrm>
          <a:prstGeom prst="line">
            <a:avLst/>
          </a:prstGeom>
          <a:ln w="1587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411480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1E7A3C"/>
                </a:solidFill>
                <a:latin typeface="微软雅黑"/>
                <a:ea typeface="微软雅黑"/>
              </a:rPr>
              <a:t>通信量核算（K3 实际配置）：每 KDA 层每 rank 需交换 M（128×128）+ S̃（128×128）× 96 头 × 2B ≈ 6MB；69 层 ≈ 0.4GB/序列/轮 —— 定长，与序列长度无关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对比 softmax 注意力的 CP（ring attention）：需交换随序列增长的 KV block —— 1M 上下文下通信量差 2~3 个数量级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1E7A3C"/>
                </a:solidFill>
                <a:latin typeface="微软雅黑"/>
                <a:ea typeface="微软雅黑"/>
              </a:rPr>
              <a:t>对昇腾的映射：一次 all-gather 是最简单的集合通信模式，UB 2.0（2TB/s/卡）下 0.4GB 约 0.2ms 级 —— KCP 是对国产互联最友好的长上下文并行方案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六、基础设施 ③：MoonEP —— 完美均衡的专家并行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82E2E"/>
                </a:solidFill>
                <a:latin typeface="微软雅黑"/>
                <a:ea typeface="微软雅黑"/>
              </a:rPr>
              <a:t>传统 EP：rank 负载不均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39"/>
            <a:ext cx="914400" cy="1828800"/>
          </a:xfrm>
          <a:prstGeom prst="rect">
            <a:avLst/>
          </a:prstGeom>
          <a:solidFill>
            <a:srgbClr val="F3C1B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2743199"/>
            <a:ext cx="914400" cy="1005840"/>
          </a:xfrm>
          <a:prstGeom prst="rect">
            <a:avLst/>
          </a:prstGeom>
          <a:solidFill>
            <a:srgbClr val="F9E2C0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291839"/>
            <a:ext cx="914400" cy="457200"/>
          </a:xfrm>
          <a:prstGeom prst="rect">
            <a:avLst/>
          </a:prstGeom>
          <a:solidFill>
            <a:srgbClr val="F3C1B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40" y="2285999"/>
            <a:ext cx="914400" cy="1463040"/>
          </a:xfrm>
          <a:prstGeom prst="rect">
            <a:avLst/>
          </a:prstGeom>
          <a:solidFill>
            <a:srgbClr val="F9E2C0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4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7A3C"/>
                </a:solidFill>
                <a:latin typeface="微软雅黑"/>
                <a:ea typeface="微软雅黑"/>
              </a:rPr>
              <a:t>MoonEP：每 rank 恰 S×K token（完美均衡）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377439"/>
            <a:ext cx="914400" cy="1371600"/>
          </a:xfrm>
          <a:prstGeom prst="rect">
            <a:avLst/>
          </a:prstGeom>
          <a:solidFill>
            <a:srgbClr val="D5ECD5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377439"/>
            <a:ext cx="914400" cy="1371600"/>
          </a:xfrm>
          <a:prstGeom prst="rect">
            <a:avLst/>
          </a:prstGeom>
          <a:solidFill>
            <a:srgbClr val="D5ECD5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377439"/>
            <a:ext cx="914400" cy="1371600"/>
          </a:xfrm>
          <a:prstGeom prst="rect">
            <a:avLst/>
          </a:prstGeom>
          <a:solidFill>
            <a:srgbClr val="D5ECD5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377439"/>
            <a:ext cx="914400" cy="1371600"/>
          </a:xfrm>
          <a:prstGeom prst="rect">
            <a:avLst/>
          </a:prstGeom>
          <a:solidFill>
            <a:srgbClr val="D5ECD5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555B66"/>
                </a:solidFill>
                <a:latin typeface="微软雅黑"/>
                <a:ea typeface="微软雅黑"/>
              </a:rPr>
              <a:t>Rank3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011680"/>
            <a:ext cx="1737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06A10"/>
                </a:solidFill>
                <a:latin typeface="微软雅黑"/>
                <a:ea typeface="微软雅黑"/>
              </a:rPr>
              <a:t>冗余专家槽
≤ E/R 个/rank
（E=896）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11338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三定理支撑：每 rank 预留 ≤ E/R 个冗余专家槽即可保证均衡方案恒存在（附录 E 定理 1，且界基本紧致）→ 训练永不因负载失衡中断（对比 ECHO/UltraEP 预设 cap、无可行解时训练被迫停止）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Online planning：离线 ILP 求精确解作参照 → GPU planning kernel 近优、开销可忽略、始终满足 E/R 上界；前向按当前 micro-batch 路由输出规划冗余专家并预取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Zero-copy + 静态形状：planning kernel 预计算 token 目的地，通信 buffer 视图直接交计算；buffer 固定 S×K（DeepEP 最坏 S×K×R）；所有层计算形状静态已知 → sync-free，消除逐层 host 同步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配套：workload-aware expert-GEMM 调度器（解析代价模型 + 离线 autotuning）；shared expert GEMM 独立 stream 重叠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六、基础设施 ④：内存高效训练（2.8T 规模的显存账本）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并行策略总览：PP（virtual stages）+ EP + ZeRO-1 DP + Pipeline ZeRO-2 梯度分片 + CP（KCP）；dispatch/combine all-to-all 与计算全重叠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统一激活管理器：重计算 / FP8 量化 / offload / remote-offload 均为可插拔"存储策略"，张量粒度自由组合、注解声明、与模型代码解耦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K3 实际配置：大多数激活 block-wise FP8 量化 + offload/remote-offload；逐元素算子配重计算（函数粒度，支持跨层）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Memory-efficient MoE（受 SonicMoE 启发）：重写 permuted probs 梯度消除对前向 output 的反向依赖；group GEMM 前向只存 dispatch 输入、反向重算（通信与部分反向重叠，近乎零代价）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Block AttnRes：块表示边界层生成一次驻留 GPU + 整体 checkpointing → 每层反向激活与标准残差相同；PP cache-based 增量通信达显存理论下界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跨 PP rank 激活均衡：interleaved 1F1B 下 warmup 激活分布不均 → 用 Mooncake Transfer Engine remote-offload 到其他 PP rank 显存防 OOM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P2P Muon 正交化：NS 迭代需完整参数矩阵；改 naive all-gather 为每 rank 仅 P2P 取回本地参数分片，按 model-chunk 粒度流水隐藏通信 → 消除全参数 buffer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Pipeline ZeRO-2：梯度跨 DP 分片、分片存 CPU；GPU 仅保留 double grad buffer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六、基础设施 ⑤：百万 token Agentic RL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规模控制：co-located RL + partial rollout → 单个 1M-context K3 RL 实验控制在几百块 GPU 内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External KV cache pool（写回式）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活跃 decode block 留 GPU；空闲 prefix 仅在被逐出时写回 CPU DRAM 池、复用前预取；KDA 状态与 MLA KV 生命周期对齐一起 offload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腾 DRAM：训练迭代结束将权重+优化器状态 offload 到 NVMe；rollout 结束释放池；auto-throttling 按 KV 利用率动态控流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reference 模型借用策略模型 FP32 梯度 buffer 物化（gradient-buffer 复用）；每 GPU 仅 2 个 VPP chunk 梯度 buffer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AgentENV（microVM 沙箱，Firecracker，已开源 github.com/kvcache-ai/AgentENV）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动机：容器下 agent 引发多次 kernel panic/死锁 → microVM 提供更高隔离与保真（可挂盘/跑容器/起 VM）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增量 checkpoint/resume 仅存脏页：133ms / 49ms；Pause/Resume（agent 等推理时间占沙箱生命周期高达 98%）、Fork（无副作用 reward judging）、Snapshot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高密度：OverlayBD + 自研 ublk + P2P 传输 → 数万沙箱亚秒级启动；COW 内存超配比最高 6.5×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规模：K3 训练与评估全程共创建 51,219,741 个沙箱、1,505,678 个镜像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六、基础设施 ⑥：推理部署与 KDA-Aware 前缀缓存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42A52"/>
                </a:solidFill>
                <a:latin typeface="微软雅黑"/>
                <a:ea typeface="微软雅黑"/>
              </a:rPr>
              <a:t>缓存粒度解耦：hash 块 512 token（细）× 物理块 6144 token（粗）；KDA checkpoint 只存于稀疏 hash 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45720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物理块 0（6144 token = 12 × 512 hash 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402336" cy="36576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630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202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774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34640" y="2286000"/>
            <a:ext cx="402336" cy="36576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918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490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062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634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2064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2286000"/>
            <a:ext cx="402336" cy="36576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5486400" cy="45720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物理块 1（6144 token = 12 × 512 hash 块）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286000"/>
            <a:ext cx="402336" cy="36576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751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895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03920" y="2286000"/>
            <a:ext cx="402336" cy="36576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611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183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8755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3327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789920" y="2286000"/>
            <a:ext cx="402336" cy="36576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247120" y="2286000"/>
            <a:ext cx="402336" cy="36576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2697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橙色 = KDA 状态快照边界（checkpoint 只读、写时复制）｜ 例：前 2800 token 匹配 → 在 B=2560=5×512 处命中，复用 5 个 MLA hash 块 + KDA checkpoint，[0,B) 零重算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200400"/>
            <a:ext cx="11338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统一页池：KDA 定长状态与 MLA 分页 KV 打包进同一分页块池（统一页字节大小、共享分配/引用计数/驱逐）；PD 分离 TP 度不同时 re-layout 在传输路径完成、GPU 零重排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1E7A3C"/>
                </a:solidFill>
                <a:latin typeface="微软雅黑"/>
                <a:ea typeface="微软雅黑"/>
              </a:rPr>
              <a:t>效果：任意共享前缀可在任意 512-token 边界复用（与全注意力模型同等通用性）；典型 coding 请求 400K 前缀仅需 4K 增量 prefill；命中 vs miss 成本差数个数量级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KDA 解码 + MTP 投机解码：拒绝 draft 时状态不可回滚 → 只缓存 draft token 投影输入、片上重建被接受 token 状态；replay/bonus/下一 draft 共享单 fused kernel，验证延迟亚线性</a:t>
            </a:r>
          </a:p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262A33"/>
                </a:solidFill>
                <a:latin typeface="微软雅黑"/>
                <a:ea typeface="微软雅黑"/>
              </a:rPr>
              <a:t>集群调度：cache-aware 亲和（一致性哈希绑定主+备双集群）；budget-based 准入（流量 &lt;2K~1M 跨三个数量级，按类别独立预算隔离 SLO）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七、量化技术分析 ①：1M 上下文推理状态账本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自研测算（基于开源 config 与技术报告参数），假设 BF16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 / 结构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 token 缓存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1M token 状态/序列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相对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GQA-8 全注意力（61 层，128 维头）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2(K,V)×8×128×2B×61 ≈ 250 KB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≈ 250 GB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10×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DeepSeek-V3 式 MLA（61 层，512+64 维）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61×576×2B ≈ 70 KB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C06A10"/>
                          </a:solidFill>
                          <a:latin typeface="微软雅黑"/>
                          <a:ea typeface="微软雅黑"/>
                        </a:rPr>
                        <a:t>≈ 70 GB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2.8×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Kimi K3：24 MLA × 512 维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24×512×2B ≈ 24.6 KB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24.6 GB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1×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Kimi K3：69 KDA 层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0（与长度无关）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固定 ~217 MB/序列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≈0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Kimi K3 合计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24.6 KB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≈ 25 GB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1×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86200"/>
            <a:ext cx="11338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权重显存账本：路由专家 2.72T × (0.5B + 1/32B scale) ≈ 1.45TB（MXFP4）；非专家 ~32B × 2B ≈ 64GB（BF16）→ 合计 ≈ 1.51TB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昇腾 950DT（约 140GB HBM/卡）：仅权重最少 ~12 卡；计入 KV 与并发，单实例建议 32–64 卡（官方建议 64+ 卡超节点配置）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1E7A3C"/>
                </a:solidFill>
                <a:latin typeface="微软雅黑"/>
                <a:ea typeface="微软雅黑"/>
              </a:rPr>
              <a:t>单实例并发估算（64 卡 ≈ 8.96TB HBM）：扣除权重 1.51TB 与激活/workspace，KV 预算 ~7TB → 约 280 个 1M 全长序列并发，或数千个常规长度会话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KDA 的结构性红利：状态与序列长度无关 → 上下文越长相对优势越大；且定长状态便于超节点统一内存编址下的分发与分层缓存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七、量化技术分析 ②：通信量核算与昇腾 UB 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自研测算（基于开源 config 参数），评估 K3 通信模式对互联的真实需求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通信模式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每次通信量（K3 配置）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频率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UB 2.0（2TB/s/卡）时延量级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亲和性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KCP all-gather（KDA 长上下文并行）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≈ 6MB/层/rank（M+S̃，96头×128×128×2×2B）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每序列每轮 1 次（定长）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≈ 3µs/层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MoE dispatch+combine（latent ℓ=3584）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≈ 228KB/token/层（16专家×7KB×2 向）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 token 每层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≈ 0.1µs/token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PP P2P（含 AttnRes 块增量）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d=7168 hidden：14KB/token/边界 + 块表示增量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 micro-batch 每边界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µs 级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QB 直方图 all-reduce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nB=896×1000 int ≈ 3.6MB/层/步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每步每层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µs 级（&lt;1% 预算）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Muon P2P 参数分片取回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按 model-chunk 粒度流水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每步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可隐藏于计算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ZeRO-2 梯度分片 reduce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取决于 DP 域与梯度分片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每步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超节点内可承受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7A1E"/>
                          </a:solidFill>
                          <a:latin typeface="微软雅黑"/>
                          <a:ea typeface="微软雅黑"/>
                        </a:rPr>
                        <a:t>★★★☆☆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3484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结论：K3 的通信模式以「定长 all-gather + latent 域 all-to-all + P2P」为主，单次量小、模式规整 —— 恰是 UB 全对等拓扑（亚微秒 RTT）的最佳工况；LatentMoE 把 all-to-all 载荷直接减半是隐藏红利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1E7A3C"/>
                </a:solidFill>
                <a:latin typeface="微软雅黑"/>
                <a:ea typeface="微软雅黑"/>
              </a:rPr>
              <a:t>对比 softmax 长上下文 CP（ring attention 交换随 N 增长的 KV block）：1M 下通信量差 2~3 个数量级 —— KCP 是对国产互联最友好的 1M 训练并行方案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七、量化技术分析 ③：训练/推理 sizing 估算（自研测算）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基于官方参数 + 合理假设的粗略估算，用于量级判断；报告未披露真实训练配置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训练侧（预训练 2.78T MoE）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训练 FLOPs/token ≈ 6 × 104.2B（激活参数）≈ 0.63 TFLOP（dense 等价口径，不含重计算/视觉塔/长上下文溢价，实际 1.2~1.5×）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假设 tokens = 20T（2.78T 模型常见 TPP≈7~15 的中性假设）→ 总训练算力 ≈ 1.5×10²⁵ FLOPs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C06A10"/>
                </a:solidFill>
                <a:latin typeface="微软雅黑"/>
                <a:ea typeface="微软雅黑"/>
              </a:rPr>
              <a:t>Atlas 950 SuperPoD 满配 8192 卡 FP8 8 EFLOPS，按 MFU 30~40% → 有效 2.4~3.2 EFLOPS → 训练周期 ≈ 54~72 天（量级估算，仅供规划参考）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并行映射建议（详见第十一章）：EP=128（7 专家/卡 + 冗余槽 ≤E/R=7，双柜 128 卡恰为 896 专家基本单元）；PP=8 对齐 8 个 AttnRes 块边界；KCP 随上下文阶段启用（64K+）；DP/ZeRO 填满 8192 卡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推理侧（单实例）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权重 1.51TB → 950DT 最少 12 卡；建议 64 卡/实例：KV 预算 ~7TB → ~280 个 1M 全长并发 或 数千常规会话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C06A10"/>
                </a:solidFill>
                <a:latin typeface="微软雅黑"/>
                <a:ea typeface="微软雅黑"/>
              </a:rPr>
              <a:t>Decode 带宽账本：每 token 需读取 非专家 BF16 ~64GB + 激活专家 MXFP4 ~26GB ≈ 90GB → 64 卡聚合 HBM 带宽（假设 ~4TB/s/卡）理论上限 ~2,800 token/s，工程折算 30~50% → ~900~1,400 token/s/实例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B82E2E"/>
                </a:solidFill>
                <a:latin typeface="微软雅黑"/>
                <a:ea typeface="微软雅黑"/>
              </a:rPr>
              <a:t>估算的不确定性来源：950DT 单卡 HBM 带宽未公开、K3 真实 TPP 未披露、MFU 取决于 KDA/MoonEP kernel 成熟度 —— 数字用于量级规划而非承诺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八、昇腾 A5 超节点：规格与灵衢 UB 拓扑图解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Atlas 950 SuperPoD：2025-09 发布，950DT（训练型）2026Q4 量产，950PR（推理型）已可用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560320" cy="155448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计算柜 1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64 × 950DT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柜内铜缆 1D/2D FullMesh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560320" cy="155448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50" b="0" i="0">
                <a:solidFill>
                  <a:srgbClr val="2E5EC4"/>
                </a:solidFill>
                <a:latin typeface="微软雅黑"/>
                <a:ea typeface="微软雅黑"/>
              </a:rPr>
              <a:t>计算柜 2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64 × 950DT</a:t>
            </a:r>
          </a:p>
          <a:p>
            <a:pPr algn="ctr"/>
            <a:r>
              <a:rPr sz="800" b="0" i="0">
                <a:solidFill>
                  <a:srgbClr val="2E5EC4"/>
                </a:solidFill>
                <a:latin typeface="微软雅黑"/>
                <a:ea typeface="微软雅黑"/>
              </a:rPr>
              <a:t>柜内铜缆 1D/2D FullMesh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2286000" cy="1097280"/>
          </a:xfrm>
          <a:prstGeom prst="round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UB Switch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微软雅黑"/>
                <a:ea typeface="微软雅黑"/>
              </a:rPr>
              <a:t>（一层 Clos）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103120"/>
            <a:ext cx="3383280" cy="0"/>
          </a:xfrm>
          <a:prstGeom prst="line">
            <a:avLst/>
          </a:prstGeom>
          <a:ln w="2222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2103120"/>
            <a:ext cx="548640" cy="228600"/>
          </a:xfrm>
          <a:prstGeom prst="line">
            <a:avLst/>
          </a:prstGeom>
          <a:ln w="22225">
            <a:solidFill>
              <a:srgbClr val="2E5E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1554480"/>
            <a:ext cx="2651760" cy="1097280"/>
          </a:xfrm>
          <a:prstGeom prst="roundRect">
            <a:avLst/>
          </a:prstGeom>
          <a:solidFill>
            <a:srgbClr val="D5F0F0"/>
          </a:solidFill>
          <a:ln w="12700">
            <a:solidFill>
              <a:srgbClr val="0E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00" b="0" i="0">
                <a:solidFill>
                  <a:srgbClr val="0E7C7C"/>
                </a:solidFill>
                <a:latin typeface="微软雅黑"/>
                <a:ea typeface="微软雅黑"/>
              </a:rPr>
              <a:t>OCS 全光互联</a:t>
            </a:r>
          </a:p>
          <a:p>
            <a:pPr algn="ctr"/>
            <a:r>
              <a:rPr sz="850" b="0" i="0">
                <a:solidFill>
                  <a:srgbClr val="0E7C7C"/>
                </a:solidFill>
                <a:latin typeface="微软雅黑"/>
                <a:ea typeface="微软雅黑"/>
              </a:rPr>
              <a:t>（跨域大规模扩展）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2103120"/>
            <a:ext cx="457200" cy="0"/>
          </a:xfrm>
          <a:prstGeom prst="line">
            <a:avLst/>
          </a:prstGeom>
          <a:ln w="22225">
            <a:solidFill>
              <a:srgbClr val="0E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" y="3063240"/>
          <a:ext cx="1138427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Atlas 950 SuperPoD（满配）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与 K3 需求的关联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算卡规模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8,192 × 昇腾 950DT（128 计算柜 + 32 互联柜）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单域承载 896 专家超大 EP + 万卡级训练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算力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FP8 8 EFLOPS / FP4 16 EFLOPS（单卡约 1/2 PFLOPS）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匹配 K3 MXFP8 训练 / MXFP4 推理精度路径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内存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1,152 TB 统一 HBM（~140GB/卡）全局统一编址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K3 权重 ~1.5TB → 数十卡装载；四级池化利好 KV 分层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互联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灵衢 UB 2.0：16.3 PB/s 总带宽，单卡 2 TB/s，RTT 亚微秒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全对等拓扑适配 all-to-all / all-gather / P2P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芯片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第三代达芬奇；原生 MXFP4/MXFP8/HiF8；Cube-Vector 融合；FA 支持 MXFP8/MXFP4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国内首款原生微缩放芯片，与 K3 QAT 方案一一对应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中间规模（WAIC 展示）：1024 卡 = FP8 1 EFLOPS、256TB 全局内存；上层 Atlas 950 SuperCluster：64 个 SuperPoD、52 万+ 卡、FP4 1 ZFLOPS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八、昇腾软件栈现状与 K3 就绪度分层图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绿色=已就绪 ｜ 黄色=有基础需扩展 ｜ 红色=空白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621792"/>
          </a:xfrm>
          <a:prstGeom prst="roundRect">
            <a:avLst/>
          </a:prstGeom>
          <a:solidFill>
            <a:srgbClr val="D5ECD5"/>
          </a:solidFill>
          <a:ln w="1270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0" i="0">
                <a:solidFill>
                  <a:srgbClr val="1E7A3C"/>
                </a:solidFill>
                <a:latin typeface="微软雅黑"/>
                <a:ea typeface="微软雅黑"/>
              </a:rPr>
              <a:t>硬件：昇腾 950PR（推理，已上市）/ 950DT（训练，2026Q4）—— 原生 MXFP4/MXFP8/HiF8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67128"/>
            <a:ext cx="11064240" cy="621792"/>
          </a:xfrm>
          <a:prstGeom prst="roundRect">
            <a:avLst/>
          </a:prstGeom>
          <a:solidFill>
            <a:srgbClr val="D5ECD5"/>
          </a:solidFill>
          <a:ln w="12700">
            <a:solidFill>
              <a:srgbClr val="1E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0" i="0">
                <a:solidFill>
                  <a:srgbClr val="1E7A3C"/>
                </a:solidFill>
                <a:latin typeface="微软雅黑"/>
                <a:ea typeface="微软雅黑"/>
              </a:rPr>
              <a:t>CANN 8.5+ / CATLASS：MX 缩放 GEMM（LoadData2DMX）、FA MXFP8/MXFP4、Cube-Vector 融合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16936"/>
            <a:ext cx="11064240" cy="621792"/>
          </a:xfrm>
          <a:prstGeom prst="roundRect">
            <a:avLst/>
          </a:prstGeom>
          <a:solidFill>
            <a:srgbClr val="F9EFC9"/>
          </a:solidFill>
          <a:ln w="12700">
            <a:solidFill>
              <a:srgbClr val="B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0" i="0">
                <a:solidFill>
                  <a:srgbClr val="B87A1E"/>
                </a:solidFill>
                <a:latin typeface="微软雅黑"/>
                <a:ea typeface="微软雅黑"/>
              </a:rPr>
              <a:t>推理引擎：vLLM-Ascend（950 上 W4A8 MXFP4 v0.21、W4A16 + all-gather EP MXFP4 v0.23）｜ SGLang-NPU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11064240" cy="621792"/>
          </a:xfrm>
          <a:prstGeom prst="roundRect">
            <a:avLst/>
          </a:prstGeom>
          <a:solidFill>
            <a:srgbClr val="F9EFC9"/>
          </a:solidFill>
          <a:ln w="12700">
            <a:solidFill>
              <a:srgbClr val="B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0" i="0">
                <a:solidFill>
                  <a:srgbClr val="B87A1E"/>
                </a:solidFill>
                <a:latin typeface="微软雅黑"/>
                <a:ea typeface="微软雅黑"/>
              </a:rPr>
              <a:t>线性注意力算子：fla-org [npu] 后端（triton-ascend，含 KDA ops）｜ sgl-kernel-npu FLA Gated Delta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16552"/>
            <a:ext cx="11064240" cy="621792"/>
          </a:xfrm>
          <a:prstGeom prst="roundRect">
            <a:avLst/>
          </a:prstGeom>
          <a:solidFill>
            <a:srgbClr val="F9EFC9"/>
          </a:solidFill>
          <a:ln w="12700">
            <a:solidFill>
              <a:srgbClr val="B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0" i="0">
                <a:solidFill>
                  <a:srgbClr val="B87A1E"/>
                </a:solidFill>
                <a:latin typeface="微软雅黑"/>
                <a:ea typeface="微软雅黑"/>
              </a:rPr>
              <a:t>训练框架：MindSpeed/Megatron GDN chunkwise kernel（chunk_delta_h/chunk_o/wy_fast）｜ DeepEP-Ascend（A3 all-to-all）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66360"/>
            <a:ext cx="11064240" cy="621792"/>
          </a:xfrm>
          <a:prstGeom prst="roundRect">
            <a:avLst/>
          </a:prstGeom>
          <a:solidFill>
            <a:srgbClr val="F6D5D5"/>
          </a:solidFill>
          <a:ln w="12700">
            <a:solidFill>
              <a:srgbClr val="B8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0" i="0">
                <a:solidFill>
                  <a:srgbClr val="B82E2E"/>
                </a:solidFill>
                <a:latin typeface="微软雅黑"/>
                <a:ea typeface="微软雅黑"/>
              </a:rPr>
              <a:t>K3 模型支持：KimiK3 modeling / KDA-CP / MoonEP / AttnRes / QB / Muon / 混合前缀缓存 —— 全部空白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150" b="1" i="0">
                <a:solidFill>
                  <a:srgbClr val="1E7A3C"/>
                </a:solidFill>
                <a:latin typeface="微软雅黑"/>
                <a:ea typeface="微软雅黑"/>
              </a:rPr>
              <a:t>复用路径判断：GDN → KDA 是"增量改造"（逐通道门 + 下界衰减 + 全秩输出门），MindSpeed 已有 GDN 精度对齐版本组合（torch 2.9 + MindSpeed 0.16 + fla 0.4.2 + triton-ascend 3.2.1）可作起点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八、亲和性矩阵：K3 技术点 × 昇腾 A5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1138427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9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7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K3 技术点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昇腾 A5 对应能力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亲和度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需补工作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MXFP4 权重 + MXFP8 激活（QAT）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950 原生微缩放 + vLLM-Ascend W4A8/W4A16 MXFP4 已商用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权重格式转换验证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896 专家超大 EP（64+ 卡推荐）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8192 卡单超节点；A3 已验证单域 384 卡全专家并行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EP=448/896 映射调优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KCP 定长 all-gather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UB 2.0 全对等 2TB/s/卡、亚微秒 RTT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HCCL 移植（FLA PR #691）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LatentMoE all-to-all（ℓ=3584 减半）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DeepEP-Ascend（A3 全互联 all-to-all，FP8/BF16）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★★★★☆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演进到 MoonEP 静态形状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 定长状态 + 分层 KV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统一内存编址 + HBM/DDR/SSD 四级池化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状态页池 + 外部 KV pool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block-wise FP8 激活训练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950 原生 FP8/MXFP8 + Cube-Vector 融合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★★★★☆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量化算子对齐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 chunkwise kernel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GDN kernel 已有（MindSpeed/sgl-kernel-npu），KDA 为增量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7A1E"/>
                          </a:solidFill>
                          <a:latin typeface="微软雅黑"/>
                          <a:ea typeface="微软雅黑"/>
                        </a:rPr>
                        <a:t>★★★☆☆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FlashKDA 级 CATLASS 重写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Muon / QB / SiTU / AttnRes 新算子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无现成实现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★★☆☆☆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Ascend C 全新开发（fwd+bwd）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AgentENV / Mooncake RL infra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面向 x86+CUDA 生态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★★☆☆☆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昇腾端移植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总体判断：K3 是迄今与昇腾 950 精度路线最匹配的前沿模型；瓶颈集中在算子与系统软件，而非硬件能力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八、差距与挑战（按依赖深度排序）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2259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① KDA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kernel：FlashKDA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为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CUTLASS（NVIDIA）实现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→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昇腾需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CATLASS/Ascend C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重写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chunkwise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fwd+bwd，且须复刻下界衰减数值路径（e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⁸⁰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缩放的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FP32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中间精度）与全秩输出门；Triton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参考实现性能不可接受</a:t>
            </a:r>
            <a:endParaRPr sz="12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2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②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新算子矩阵：SiTU-GLU（tanh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softcap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融合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）、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AttnRes（跨块伪查询注意力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+ online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softmax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+ all-reduce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融合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）、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QB（直方图分位数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+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整数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all-reduce）、Per-Head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Muon（逐头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NS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迭代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）——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均需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fwd+bwd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训练级实现</a:t>
            </a:r>
            <a:endParaRPr sz="12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2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③ KCP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移植：prefix-scan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复合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+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定长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all-gather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需基于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HCCL/UB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实现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——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没有它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1M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训练不可行（但通信模式简单，难度中等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）</a:t>
            </a:r>
          </a:p>
          <a:p>
            <a:pPr>
              <a:spcAft>
                <a:spcPts val="500"/>
              </a:spcAft>
            </a:pPr>
            <a:r>
              <a:rPr sz="12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④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MoonEP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on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UB：online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planning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kernel、E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/R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冗余专家槽、zero-copy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permute/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unpermute；DeepEP-Ascend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是最近起点但缺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perfect-balance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与静态形状</a:t>
            </a:r>
            <a:endParaRPr sz="12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2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⑤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训练框架：Megatron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/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MindSpeed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仅有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GDN 模型；modeling_kimi_k3（KimiK3ForConditionalGeneration）需适配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torch_npu；PP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(VP)+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EP+CP+ZeRO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组合在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2.8T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规模未验证</a:t>
            </a:r>
            <a:endParaRPr sz="1200" b="1" i="0" dirty="0">
              <a:solidFill>
                <a:srgbClr val="262A33"/>
              </a:solidFill>
              <a:latin typeface="微软雅黑"/>
              <a:ea typeface="微软雅黑"/>
            </a:endParaRPr>
          </a:p>
          <a:p>
            <a:pPr>
              <a:spcAft>
                <a:spcPts val="500"/>
              </a:spcAft>
            </a:pPr>
            <a:r>
              <a:rPr sz="1200" b="1" i="0" dirty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⑥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推理引擎：vLLM-Ascend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/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SGLang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-NPU 无 KimiK3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支持；KDA-aware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前缀缓存（统一页池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+ 512 hash +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状态快照</a:t>
            </a:r>
            <a:r>
              <a:rPr sz="1200" b="1" i="0" dirty="0">
                <a:solidFill>
                  <a:srgbClr val="262A33"/>
                </a:solidFill>
                <a:latin typeface="微软雅黑"/>
                <a:ea typeface="微软雅黑"/>
              </a:rPr>
              <a:t> + 跨 TP </a:t>
            </a:r>
            <a:r>
              <a:rPr sz="1200" b="1" i="0" dirty="0" err="1">
                <a:solidFill>
                  <a:srgbClr val="262A33"/>
                </a:solidFill>
                <a:latin typeface="微软雅黑"/>
                <a:ea typeface="微软雅黑"/>
              </a:rPr>
              <a:t>re-layout）需全新实现</a:t>
            </a:r>
            <a:endParaRPr sz="1200" b="1" i="0" dirty="0">
              <a:solidFill>
                <a:srgbClr val="262A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九、K3 算子 → 昇腾实现路径映射表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微软雅黑"/>
                <a:ea typeface="微软雅黑"/>
              </a:rPr>
              <a:t>训练级需求 = fwd + bwd；推理级 = fwd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84276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4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574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K3 算子/机制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GPU 侧参考实现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昇腾实现路径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训练/推理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工作量预估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 chunkwise（下界衰减+全秩门）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FlashKDA（CUTLASS）/ FLA Triton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CATLASS 重写；先 triton-ascend 跑通语义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训练+推理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6~9 人月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 解码 + MTP 状态 replay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Moonshot fused kernel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Ascend C 单 fused kernel（conv+门+递归+输出门）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推理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3~4 人月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Gated MLA（NoPE+输出门+FP32 输出）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改造版 FlashAttention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基于 CANN FA（MXFP8）扩展输出门与 FP32 路径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训练+推理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2~3 人月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AttnRes（块间注意力+online softmax）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报告自研 kernel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Ascend C；prefill SP 拆分 + decode 融入 all-reduce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训练+推理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2~3 人月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SiTU-GLU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PyTorch 复合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GEMM epilogue 融合（tanh/sigmoid 查表或多项式）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训练+推理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E7A3C"/>
                          </a:solidFill>
                          <a:latin typeface="微软雅黑"/>
                          <a:ea typeface="微软雅黑"/>
                        </a:rPr>
                        <a:t>0.5~1 人月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Quantile Balancing 直方图分位数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报告自研 kernel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Ascend C 直方图 + HCCL 整数 all-reduce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1~2 人月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Per-Head Muon（NS 迭代）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K2 Muon 变体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Cube 核 batch 小矩阵 NS（128×C 高窄块）+ P2P 取回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2~3 人月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KCP（定长 all-gather + prefix scan）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FLA PR #691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HCCL all-gather + 轻量复合算子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1~2 人月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MoonEP（planning + zero-copy）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Moonshot 自研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基于 DeepEP-Ascend 演进（planning kernel + E/R 槽）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4~6 人月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KDA-aware 前缀缓存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Moonshot 自研（vLLM 插件）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vLLM-Ascend 缓存子系统改造（统一页池+快照）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推理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4~6 人月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工作量为一阶估算（含精度验证），实际取决于团队昇腾 kernel 经验；合计约 26~39 人月，可 6~9 个月内以 4~6 人核心团队完成 P0/P1 项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九、昇腾上 K3 训练：优化与适配工作（P0–P3）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P0 算子层（CANN/CATLASS/Ascend C）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KDA chunkwise fwd/bwd（下界衰减/全秩门/short-conv/L2Norm；对角非对角 tile 全走 Cube 核）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SiTU-GLU epilogue 融合、AttnRes fused、Gated MLA（NoPE+输出门+FP32 修正）、QB 直方图、Per-Head Muon NS、block-wise FP8 量化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P1 通信与并行（HCCL/UB + MindSpeed/Megatron）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KCP（prefix-scan + 定长 all-gather）；MoonEP on UB（planning + 冗余槽 + zero-copy dispatch/combine，基于 DeepEP-Ascend 演进）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P2P Muon 参数分片取回；PP cache-based AttnRes 增量通信；PP(VP)+EP+CP+ZeRO-1/ZeRO-2 组合在 2.8T 规模调优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P2 框架与内存：torch_npu 适配 modeling_kimi_k3；MindSpeed 新增 KimiLinear 模型；统一激活管理（重计算 + FP8 激活 + DDR/NVMe offload）；Mooncake Transfer Engine 移植（跨 PP rank 激活均衡）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P3 数值验证：BF16 动态范围（e⁸⁰ 缩放）边界测试；与 GPU 基线逐层 loss/梯度对齐（复用 swift GDN 精度对齐版本组合方法论）；MXFP4 QAT 语义对齐（E8M0/32 组/minmax）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九、昇腾上 K3 推理：优化与适配工作（P0–P3）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P0 引擎接入（vLLM-Ascend / SGLang-NPU）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KimiK3ForConditionalGeneration 模型支持（复用 v0.21+ W4A8 MXFP4 / v0.23 all-gather EP MXFP4 低精度分发路径）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KDA 解码 fused kernel + MTP 投机解码状态 replay（缓存投影输入、片上重建）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WarpDecode 式 MXFP4 反量化 group GEMM（离线权重布局置换）；SiTU/AttnRes/Gated MLA 推理算子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P1 缓存系统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KDA-aware 前缀缓存：KDA 状态与 MLA KV 统一页池、512-token hash 细粒度匹配、稀疏边界状态快照（写时复制）、PD 分离跨 TP re-layout 在传输路径完成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262A33"/>
                </a:solidFill>
                <a:latin typeface="微软雅黑"/>
                <a:ea typeface="微软雅黑"/>
              </a:rPr>
              <a:t>外部 KV pool：HBM→DDR→SSD 四级分层（对齐 950 统一编址与池化）；1M 序列 ~25GB 状态的分层驻留策略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P2 部署拓扑：EP 64+ 卡超节点实例（权重 12 卡起步，KV/并发建议 64 卡）；PD 分离；cache-aware 亲和 + budget-based 准入调度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P3 验证：与 GPU 基线逐层数值对齐（W4A8 vs W4A16 MXFP4 精度评估）；1M 长上下文端到端吞吐/TTFT/TPOT 基准报告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十、详细需求清单（分层 × 优先级 × 验收标准）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1138427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3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793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需求项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 / 验收标准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T="25400" marB="25400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硬件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昇腾 950DT 训练集群（≥1024 卡）+ 950PR 推理池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训练侧 2026Q4 量产后到位；推理侧先行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CANN/算子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 chunkwise fwd/bwd（CATLASS）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对齐 FlashKDA 语义（下界衰减/全秩门）；性能 ≥ Triton 参考 3×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CANN/算子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SiTU-GLU / AttnRes / Gated MLA / Muon-NS / QB 直方图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与 PyTorch 参考逐元素对齐（相对误差 &lt;1e-3）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CANN/算子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block-wise FP8 量化 + MXFP4/MXFP8 GEMM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复用 CATLASS MX 缩放接口（LoadData2DMX）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通信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KCP all-gather（HCCL）+ MoonEP on UB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KCP 通信定长；MoonEP 静态形状 S×K buffer、E/R 冗余槽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7A1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训练框架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MindSpeed/Megatron KimiLinear 模型 + 并行组合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torch_npu 适配；PP(VP)+EP+CP+ZeRO 2.8T 规模跑通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7A1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训练框架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统一激活管理 + NVMe 训练状态 offload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FP8 激活 + 重计算 + DDR/NVMe offload；支持 co-located RL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7A1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推理引擎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vLLM-Ascend / SGLang-NPU KimiK3 支持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W4A8 MXFP4 端到端；KDA 解码 + MTP replay；EP 64 卡部署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推理引擎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KDA-aware 前缀缓存 + 四级 KV pool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任意 512-token 边界命中；PD 分离零重排 re-layout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7A1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集群调度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cache-aware 亲和 + budget-based 准入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会话级亲和（主+备双集群）；长短请求 SLO 隔离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793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RL infra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AgentENV / Mooncake 昇腾移植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microVM 沙箱 + Transfer Engine；1M RL 数百卡规模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555B66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T="12700" marB="12700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80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数值对齐与基准套件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62A33"/>
                          </a:solidFill>
                          <a:latin typeface="微软雅黑"/>
                          <a:ea typeface="微软雅黑"/>
                        </a:rPr>
                        <a:t>GDN→KDA 精度对齐组合；1M 端到端吞吐/TTFT/TPOT 报告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B82E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十、路线图与风险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57600" cy="685800"/>
          </a:xfrm>
          <a:prstGeom prst="round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阶段 0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微软雅黑"/>
                <a:ea typeface="微软雅黑"/>
              </a:rPr>
              <a:t>现在→2026Q3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57600" cy="160020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50" b="0" i="0">
                <a:solidFill>
                  <a:srgbClr val="2E5EC4"/>
                </a:solidFill>
                <a:latin typeface="微软雅黑"/>
                <a:ea typeface="微软雅黑"/>
              </a:rPr>
              <a:t>910C/A3 + 950PR</a:t>
            </a:r>
          </a:p>
          <a:p>
            <a:pPr algn="ctr"/>
            <a:r>
              <a:rPr sz="900" b="0" i="0">
                <a:solidFill>
                  <a:srgbClr val="2E5EC4"/>
                </a:solidFill>
                <a:latin typeface="微软雅黑"/>
                <a:ea typeface="微软雅黑"/>
              </a:rPr>
              <a:t>模型 torch_npu 适配</a:t>
            </a:r>
          </a:p>
          <a:p>
            <a:pPr algn="ctr"/>
            <a:r>
              <a:rPr sz="900" b="0" i="0">
                <a:solidFill>
                  <a:srgbClr val="2E5EC4"/>
                </a:solidFill>
                <a:latin typeface="微软雅黑"/>
                <a:ea typeface="微软雅黑"/>
              </a:rPr>
              <a:t>Triton KDA 跑通小模型</a:t>
            </a:r>
          </a:p>
          <a:p>
            <a:pPr algn="ctr"/>
            <a:r>
              <a:rPr sz="900" b="0" i="0">
                <a:solidFill>
                  <a:srgbClr val="2E5EC4"/>
                </a:solidFill>
                <a:latin typeface="微软雅黑"/>
                <a:ea typeface="微软雅黑"/>
              </a:rPr>
              <a:t>推理接入 + MXFP4 验证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1755648"/>
            <a:ext cx="320039" cy="0"/>
          </a:xfrm>
          <a:prstGeom prst="line">
            <a:avLst/>
          </a:prstGeom>
          <a:ln w="2857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39" y="1417320"/>
            <a:ext cx="3657600" cy="685800"/>
          </a:xfrm>
          <a:prstGeom prst="roundRect">
            <a:avLst/>
          </a:prstGeom>
          <a:solidFill>
            <a:srgbClr val="C0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阶段 1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微软雅黑"/>
                <a:ea typeface="微软雅黑"/>
              </a:rPr>
              <a:t>2026Q4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39" y="2194560"/>
            <a:ext cx="3657600" cy="160020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50" b="0" i="0">
                <a:solidFill>
                  <a:srgbClr val="C06A10"/>
                </a:solidFill>
                <a:latin typeface="微软雅黑"/>
                <a:ea typeface="微软雅黑"/>
              </a:rPr>
              <a:t>950DT 到卡</a:t>
            </a:r>
          </a:p>
          <a:p>
            <a:pPr algn="ctr"/>
            <a:r>
              <a:rPr sz="900" b="0" i="0">
                <a:solidFill>
                  <a:srgbClr val="C06A10"/>
                </a:solidFill>
                <a:latin typeface="微软雅黑"/>
                <a:ea typeface="微软雅黑"/>
              </a:rPr>
              <a:t>FlashKDA-CATLASS / KCP</a:t>
            </a:r>
          </a:p>
          <a:p>
            <a:pPr algn="ctr"/>
            <a:r>
              <a:rPr sz="900" b="0" i="0">
                <a:solidFill>
                  <a:srgbClr val="C06A10"/>
                </a:solidFill>
                <a:latin typeface="微软雅黑"/>
                <a:ea typeface="微软雅黑"/>
              </a:rPr>
              <a:t>MoonEP on UB / Muon / QB</a:t>
            </a:r>
          </a:p>
          <a:p>
            <a:pPr algn="ctr"/>
            <a:r>
              <a:rPr sz="900" b="0" i="0">
                <a:solidFill>
                  <a:srgbClr val="C06A10"/>
                </a:solidFill>
                <a:latin typeface="微软雅黑"/>
                <a:ea typeface="微软雅黑"/>
              </a:rPr>
              <a:t>48B 级训练复现验证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92439" y="1755648"/>
            <a:ext cx="320039" cy="0"/>
          </a:xfrm>
          <a:prstGeom prst="line">
            <a:avLst/>
          </a:prstGeom>
          <a:ln w="28575">
            <a:solidFill>
              <a:srgbClr val="55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78" y="1417320"/>
            <a:ext cx="3657600" cy="685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阶段 2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微软雅黑"/>
                <a:ea typeface="微软雅黑"/>
              </a:rPr>
              <a:t>2027H1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8" y="2194560"/>
            <a:ext cx="3657600" cy="1600200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50" b="0" i="0">
                <a:solidFill>
                  <a:srgbClr val="2E7D32"/>
                </a:solidFill>
                <a:latin typeface="微软雅黑"/>
                <a:ea typeface="微软雅黑"/>
              </a:rPr>
              <a:t>8192 卡超节点</a:t>
            </a:r>
          </a:p>
          <a:p>
            <a:pPr algn="ctr"/>
            <a:r>
              <a:rPr sz="900" b="0" i="0">
                <a:solidFill>
                  <a:srgbClr val="2E7D32"/>
                </a:solidFill>
                <a:latin typeface="微软雅黑"/>
                <a:ea typeface="微软雅黑"/>
              </a:rPr>
              <a:t>2.8T 全量训练/续训</a:t>
            </a:r>
          </a:p>
          <a:p>
            <a:pPr algn="ctr"/>
            <a:r>
              <a:rPr sz="900" b="0" i="0">
                <a:solidFill>
                  <a:srgbClr val="2E7D32"/>
                </a:solidFill>
                <a:latin typeface="微软雅黑"/>
                <a:ea typeface="微软雅黑"/>
              </a:rPr>
              <a:t>1M agentic RL 移植</a:t>
            </a:r>
          </a:p>
          <a:p>
            <a:pPr algn="ctr"/>
            <a:r>
              <a:rPr sz="900" b="0" i="0">
                <a:solidFill>
                  <a:srgbClr val="2E7D32"/>
                </a:solidFill>
                <a:latin typeface="微软雅黑"/>
                <a:ea typeface="微软雅黑"/>
              </a:rPr>
              <a:t>社区上游共建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1338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关键风险与对策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B82E2E"/>
                </a:solidFill>
                <a:latin typeface="微软雅黑"/>
                <a:ea typeface="微软雅黑"/>
              </a:rPr>
              <a:t>硬件节奏：950DT 量产（2026Q4）是训练侧硬约束 → 预研全部前置到 950PR/A3，接口按 CATLASS 抽象隔离硬件差异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B82E2E"/>
                </a:solidFill>
                <a:latin typeface="微软雅黑"/>
                <a:ea typeface="微软雅黑"/>
              </a:rPr>
              <a:t>算子工作量：KDA+AttnRes+Muon+QB 训练级实现与精度验证是最大工作量项（合计约 26~39 人月）→ 优先 P0，GDN→KDA 增量改造降风险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B82E2E"/>
                </a:solidFill>
                <a:latin typeface="微软雅黑"/>
                <a:ea typeface="微软雅黑"/>
              </a:rPr>
              <a:t>生态依赖：KCP（FLA PR #691）、MoonEP、AgentENV 均为 Moonshot 新项目 → 尽早 fork 并建立上游同步机制</a:t>
            </a:r>
          </a:p>
          <a:p>
            <a:pPr lvl="1">
              <a:spcAft>
                <a:spcPts val="300"/>
              </a:spcAft>
            </a:pPr>
            <a:r>
              <a:rPr sz="1100" b="1" i="0">
                <a:solidFill>
                  <a:srgbClr val="555B66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B82E2E"/>
                </a:solidFill>
                <a:latin typeface="微软雅黑"/>
                <a:ea typeface="微软雅黑"/>
              </a:rPr>
              <a:t>精度风险：MXFP4 QAT 配方复现需严格对齐量化语义（E8M0、32 组、minmax）→ 先 PTQ 部署验证，再考虑 QAT 训练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十一、基于昇腾 950 的 K3 训练并行方案：总览与拓扑分层映射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B66"/>
                </a:solidFill>
                <a:latin typeface="微软雅黑"/>
                <a:ea typeface="微软雅黑"/>
              </a:rPr>
              <a:t>设计原则：高频通信全部留在灵衢 UB 2.0 域内，并行轴与 8192 卡超节点拓扑一一对齐（建议方案，基于公开规格自研测算）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48920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2A52"/>
                </a:solidFill>
                <a:latin typeface="微软雅黑"/>
                <a:ea typeface="微软雅黑"/>
              </a:rPr>
              <a:t>■ 五条设计原则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① TP=1：8192 卡 UB 全对等域内无需张量并行；注意力头不切分，与 Per-Head Muon 逐头正交化天然解耦（NS 迭代全在卡内）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② EP 全域内化：EP=128 为基本单元 —— 双柜 128 卡恰好驻留全部 896 专家（7/卡）；all-to-all 不出 UB 域；8192 卡 = 64 个 EP 副本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③ PP=8 对齐 AttnRes 块边界：块表示在 stage 边界生成一次、驻留 HBM；cache-based 增量 P2P 达通信/显存理论下界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④ KCP 替代 ring attention：KDA 长上下文并行通信定长（~0.4GB/序列/轮），与序列长度无关 —— 对国产互联最友好的 1M 方案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</a:rPr>
              <a:t>⑤ 静态状态全分片：ZeRO-1（DP 域）+ Pipeline ZeRO-2（梯度）+ EP/PP 天然切分 → 单卡约 45GB，仅为 144GB HBM 的 1/3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前提：950DT 到卡（2026Q4）+ 第八/九章算子适配（FlashKDA-CATLASS、MoonEP on UB、KCP/HCCL）就绪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371600"/>
            <a:ext cx="6263640" cy="91440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OCS 全光互联（跨 SuperPoD scale-out）</a:t>
            </a:r>
          </a:p>
          <a:p>
            <a:pPr algn="ctr"/>
            <a:r>
              <a:rPr sz="900" b="0">
                <a:solidFill>
                  <a:srgbClr val="555B66"/>
                </a:solidFill>
                <a:latin typeface="微软雅黑"/>
                <a:ea typeface="微软雅黑"/>
              </a:rPr>
              <a:t>DP/ZeRO 梯度同步、checkpoint 广播｜低频大流量，分层聚合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395728"/>
            <a:ext cx="6263640" cy="11887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灵衢 UB 2.0 域 · 8192 卡全对等 · 2TB/s/卡 · RTT 亚微秒</a:t>
            </a:r>
          </a:p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EP all-to-all（latent 3584 载荷减半）/ KCP 定长 all-gather</a:t>
            </a:r>
          </a:p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PP P2P / QB 整数 all-reduce —— 高频通信全部域内完成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3694176"/>
            <a:ext cx="6263640" cy="1005840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7D32"/>
                </a:solidFill>
                <a:latin typeface="微软雅黑"/>
                <a:ea typeface="微软雅黑"/>
              </a:rPr>
              <a:t>计算柜 64 × 950DT · 柜内铜缆 1D/2D FullMesh</a:t>
            </a:r>
          </a:p>
          <a:p>
            <a:pPr algn="ctr"/>
            <a:r>
              <a:rPr sz="900" b="0">
                <a:solidFill>
                  <a:srgbClr val="2E7D32"/>
                </a:solidFill>
                <a:latin typeface="微软雅黑"/>
                <a:ea typeface="微软雅黑"/>
              </a:rPr>
              <a:t>EP 亲和放置单元：双柜 = 128 卡 = 896 专家 ×1 副本（7+7 槽/卡）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4809744"/>
            <a:ext cx="6263640" cy="1005840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C06A10"/>
                </a:solidFill>
                <a:latin typeface="微软雅黑"/>
                <a:ea typeface="微软雅黑"/>
              </a:rPr>
              <a:t>单卡 950DT · FP8 1 PFLOPS / 144GB HiZQ / 4TB/s</a:t>
            </a:r>
          </a:p>
          <a:p>
            <a:pPr algn="ctr"/>
            <a:r>
              <a:rPr sz="900" b="0">
                <a:solidFill>
                  <a:srgbClr val="C06A10"/>
                </a:solidFill>
                <a:latin typeface="微软雅黑"/>
                <a:ea typeface="微软雅黑"/>
              </a:rPr>
              <a:t>FlashKDA-CATLASS · SiTU epilogue 融合 · Muon-NS Cube 批处理 · MXFP8 训练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59368" y="2286000"/>
            <a:ext cx="0" cy="109728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59368" y="3584448"/>
            <a:ext cx="0" cy="109728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59368" y="4700016"/>
            <a:ext cx="0" cy="109728"/>
          </a:xfrm>
          <a:prstGeom prst="line">
            <a:avLst/>
          </a:prstGeom>
          <a:ln w="19050">
            <a:solidFill>
              <a:srgbClr val="555B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" y="647395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55B66"/>
                </a:solidFill>
                <a:latin typeface="微软雅黑"/>
                <a:ea typeface="微软雅黑"/>
              </a:rPr>
              <a:t>并行轴 → 拓扑层级映射：DP×ZeRO → 跨域（分层聚合）｜EP / KCP / PP / QB → UB 域内｜专家亲和 → 双柜单元｜算子融合 → 单卡 Cube/Vector 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十一、四阶段训练并行配置表与单卡显存预算（8192 卡满配）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B66"/>
                </a:solidFill>
                <a:latin typeface="微软雅黑"/>
                <a:ea typeface="微软雅黑"/>
              </a:rPr>
              <a:t>PP×CP×DP = 8192（TP=1）；EP=128 在 DP 内成组；长上下文阶段仅调 CP/DP —— 重配置成本最低（建议方案，自研测算）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7160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训练阶段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TP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PP (VPP)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CP (KCP)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EP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DP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序列/rank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要点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8K 预训练主力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 (2~4)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1024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EP 双柜单元 ×64 副本；all-to-all 全隐藏于 1F1B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64K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 (2~4)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128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512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32K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启用 KCP：定长 all-gather 替代 ring attention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256K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 (2~4)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256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64K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激活 FP8 存储 + 重计算强度上调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1M cooldown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 (2~4)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128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128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128K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KCP ≈0.4GB/序列/轮，UB 下约 0.2ms 级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931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2A52"/>
                </a:solidFill>
                <a:latin typeface="微软雅黑"/>
                <a:ea typeface="微软雅黑"/>
              </a:rPr>
              <a:t>单卡显存预算（8K 阶段，BF16 权重 + ZeRO-1/2 分片，测算值）—— 合计 ≈45~55GB / 144GB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257800"/>
            <a:ext cx="11338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静态状态全集群 ≈33.6TB：BF16 权重 5.6 + 梯度 5.6 + FP32 master 11.2 + Muon 动量 11.2（AdamW 需 22.4，Muon 省一半）；ZeRO-1/2 + EP/PP 分片后单卡仅约 1/300。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算力口径：C ≈ 6 × 104.2B × 20T tokens ≈ 1.5×10²⁵ FLOPs（未披露项为假设）；8192 卡 FP8 8 EFLOPS × MFU 35~42% → 有效 2.8~3.4 EFLOPS → 一轮预训练 ≈ 30~45 天量级。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647395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55B66"/>
                </a:solidFill>
                <a:latin typeface="微软雅黑"/>
                <a:ea typeface="微软雅黑"/>
              </a:rPr>
              <a:t>显存余量是 950DT（144GB）相对 H800（80GB）的代际红利：K3 全量训练无需 CPU offload 主状态，offload 仅用于激活与 co-located RL 的权重/优化器暂存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97680"/>
            <a:ext cx="822960" cy="77724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权重驻留</a:t>
            </a:r>
          </a:p>
          <a:p>
            <a:pPr algn="ctr"/>
            <a:r>
              <a:rPr sz="850" b="0">
                <a:solidFill>
                  <a:srgbClr val="2E5EC4"/>
                </a:solidFill>
                <a:latin typeface="微软雅黑"/>
                <a:ea typeface="微软雅黑"/>
              </a:rPr>
              <a:t>13.5GB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4297680"/>
            <a:ext cx="609600" cy="777240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状态/缓存</a:t>
            </a:r>
          </a:p>
          <a:p>
            <a:pPr algn="ctr"/>
            <a:r>
              <a:rPr sz="850" b="0">
                <a:solidFill>
                  <a:srgbClr val="2E7D32"/>
                </a:solidFill>
                <a:latin typeface="微软雅黑"/>
                <a:ea typeface="微软雅黑"/>
              </a:rPr>
              <a:t>~10GB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4040" y="4297680"/>
            <a:ext cx="1524000" cy="777240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激活（FP8+重计算）</a:t>
            </a:r>
          </a:p>
          <a:p>
            <a:pPr algn="ctr"/>
            <a:r>
              <a:rPr sz="850" b="0">
                <a:solidFill>
                  <a:srgbClr val="7B3FA0"/>
                </a:solidFill>
                <a:latin typeface="微软雅黑"/>
                <a:ea typeface="微软雅黑"/>
              </a:rPr>
              <a:t>20~30GB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8040" y="4297680"/>
            <a:ext cx="5821680" cy="7772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空闲 ≈95GB → 放大 micro-batch / 关闭激活 offload，MFU 可再升 3~5 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093208"/>
            <a:ext cx="11338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B66"/>
                </a:solidFill>
                <a:latin typeface="微软雅黑"/>
                <a:ea typeface="微软雅黑"/>
              </a:rPr>
              <a:t>注：权重驻留 = 非专家 8GB（PP 分片）+ 专家 5.5GB（7 专家/卡）；状态/缓存 = 优化器+master ~3GB + 梯度 buffer ~2GB + 通信/workspace ~5GB；条带按 144GB 等比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十一、EP 映射图解：双柜 128 卡 = 896 专家基本单元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B66"/>
                </a:solidFill>
                <a:latin typeface="微软雅黑"/>
                <a:ea typeface="微软雅黑"/>
              </a:rPr>
              <a:t>LatentMoE 让 all-to-all 载荷减半（ℓ=3584 而非 d=7168）；MoonEP 冗余槽保证每 rank 每步严格均衡（建议方案）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017520" cy="2651760"/>
          </a:xfrm>
          <a:prstGeom prst="roundRect">
            <a:avLst/>
          </a:prstGeom>
          <a:solidFill>
            <a:srgbClr val="F3F8F3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计算柜 A（64 × 950DT）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8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527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956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385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14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243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6722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527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956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9385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14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243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6722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2527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5956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9385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14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243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96722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98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527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5956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9385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814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243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96722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3794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= 64 rank × 7 专家 = 448 专家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1417320"/>
            <a:ext cx="3017520" cy="2651760"/>
          </a:xfrm>
          <a:prstGeom prst="roundRect">
            <a:avLst/>
          </a:prstGeom>
          <a:solidFill>
            <a:srgbClr val="F3F8F3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0" y="14630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微软雅黑"/>
                <a:ea typeface="微软雅黑"/>
              </a:rPr>
              <a:t>计算柜 B（64 × 950DT）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216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0645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4074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7503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932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361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7790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21908" y="182880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7216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0645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4074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503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932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361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7790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1908" y="233172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7216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0645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4074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7503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932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4361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7790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21908" y="283464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7216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0645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4074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7503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0932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4361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7790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21908" y="3337560"/>
            <a:ext cx="274320" cy="384048"/>
          </a:xfrm>
          <a:prstGeom prst="rect">
            <a:avLst/>
          </a:prstGeom>
          <a:solidFill>
            <a:srgbClr val="DDF0DD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657600" y="3794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555B66"/>
                </a:solidFill>
                <a:latin typeface="微软雅黑"/>
                <a:ea typeface="微软雅黑"/>
              </a:rPr>
              <a:t>= 64 rank × 7 专家 = 448 专家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160520"/>
            <a:ext cx="6172200" cy="6858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EP 基本单元 = 128 rank × 7 专家 = 896 ✓（+ ≤7 MoonEP 冗余槽/rank）</a:t>
            </a:r>
          </a:p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all-to-all：柜内铜缆 FullMesh + 柜间 UB，不出高速域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4983480"/>
            <a:ext cx="6172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8192 卡 = 64 个 EP 副本（EP 组在 DP 内成组，随阶段 DP=64~1024 缩放）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dispatch/combine 在 latent 宽 3584 上进行 → 单向 ≈114KB/token/层（16 专家×7KB），仅为全宽 MoE 的一半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MoonEP on UB：online planning kernel 预计算 token 目的地 → zero-copy 静态 S×K buffer（sync-free）；shared expert GEMM 独立 stream 重叠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0" y="137160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2A52"/>
                </a:solidFill>
                <a:latin typeface="微软雅黑"/>
                <a:ea typeface="微软雅黑"/>
              </a:rPr>
              <a:t>EP 方案对比（896 = 2⁷×7，整除约束）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6858000" y="169164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专家/卡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(+冗余槽)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占用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机柜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特点</a:t>
                      </a:r>
                    </a:p>
                  </a:txBody>
                  <a:tcPr marL="36576" marR="36576" marT="18288" marB="18288" anchor="ctr">
                    <a:solidFill>
                      <a:srgbClr val="14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EP=128 ★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7 + ≤7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 柜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all-to-all 域最小、时延最低；专家 GEMM 批量适中 —— 推荐默认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EP=448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 + ≤2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7 柜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单卡显存更省；通信面扩大 3.5×，tail latency 敏感</a:t>
                      </a:r>
                    </a:p>
                  </a:txBody>
                  <a:tcPr marL="36576" marR="36576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EP=896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 + ≤1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14 柜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极致切分；更适合 decode 推理实例（权重面最小）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6858000" y="3886200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42A52"/>
                </a:solidFill>
                <a:latin typeface="微软雅黑"/>
                <a:ea typeface="微软雅黑"/>
              </a:rPr>
              <a:t>为什么 128 是甜点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• 拓扑对齐：2 柜 = 128 卡，恰为 8192 的 1/64，EP 副本数恒为整数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• 通信对齐：128 卡 all-to-all 在柜内铜缆 + 单跳 UB 内完成，RTT 亚微秒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• 显存对齐：7 专家/卡 × 12 层/stage ≈ 5.5GB BF16，权重预算宽松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• 均衡对齐：QB（路由层长期均衡）+ MoonEP（执行层逐步严格均衡，冗余槽上界 E/R=7）双保险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" y="647395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55B66"/>
                </a:solidFill>
                <a:latin typeface="微软雅黑"/>
                <a:ea typeface="微软雅黑"/>
              </a:rPr>
              <a:t>与 K2 对照：384 专家 / EP=16（H800 集群，all-to-all 跨 RoCE）；K3 在 950 上 EP 域扩大 8× 且通信全部留在 UB 域内 —— 超节点对极端 MoE 的结构性红利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36576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十一、PP=8 对齐 AttnRes 块边界 + 1F1B 通信重叠时间线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3268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55B66"/>
                </a:solidFill>
                <a:latin typeface="微软雅黑"/>
                <a:ea typeface="微软雅黑"/>
              </a:rPr>
              <a:t>Stage 划分沿用模型结构边界，AttnRes 块表示只传增量；通信全部埋进计算气泡（建议方案）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1–12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(含 dense 层)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9 KDA+3 MLA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468880"/>
            <a:ext cx="114300" cy="0"/>
          </a:xfrm>
          <a:prstGeom prst="line">
            <a:avLst/>
          </a:prstGeom>
          <a:ln w="2540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51660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51660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13–24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9 KDA+3 MLA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7539" y="2468880"/>
            <a:ext cx="114300" cy="0"/>
          </a:xfrm>
          <a:prstGeom prst="line">
            <a:avLst/>
          </a:prstGeom>
          <a:ln w="2540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25–36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9 KDA+3 MLA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17720" y="2468880"/>
            <a:ext cx="114300" cy="0"/>
          </a:xfrm>
          <a:prstGeom prst="line">
            <a:avLst/>
          </a:prstGeom>
          <a:ln w="2540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32020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2020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37–48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9 KDA+3 MLA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7900" y="2468880"/>
            <a:ext cx="114300" cy="0"/>
          </a:xfrm>
          <a:prstGeom prst="line">
            <a:avLst/>
          </a:prstGeom>
          <a:ln w="2540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200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49–60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9 KDA+3 MLA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79" y="2468880"/>
            <a:ext cx="114300" cy="0"/>
          </a:xfrm>
          <a:prstGeom prst="line">
            <a:avLst/>
          </a:prstGeom>
          <a:ln w="2540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12379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2379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61–72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9 KDA+3 MLA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38259" y="2468880"/>
            <a:ext cx="114300" cy="0"/>
          </a:xfrm>
          <a:prstGeom prst="line">
            <a:avLst/>
          </a:prstGeom>
          <a:ln w="2540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59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59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73–84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9 KDA+3 MLA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378439" y="2468880"/>
            <a:ext cx="114300" cy="0"/>
          </a:xfrm>
          <a:prstGeom prst="line">
            <a:avLst/>
          </a:prstGeom>
          <a:ln w="25400">
            <a:solidFill>
              <a:srgbClr val="7B3F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92740" y="1417320"/>
            <a:ext cx="1325880" cy="320040"/>
          </a:xfrm>
          <a:prstGeom prst="roundRect">
            <a:avLst/>
          </a:prstGeom>
          <a:solidFill>
            <a:srgbClr val="142A52"/>
          </a:solidFill>
          <a:ln w="12700">
            <a:solidFill>
              <a:srgbClr val="14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Stage 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92740" y="1783080"/>
            <a:ext cx="1325880" cy="14173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层 85–93+末端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LM Head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+ MTP 层</a:t>
            </a:r>
          </a:p>
          <a:p>
            <a:pPr algn="ctr"/>
            <a:r>
              <a:rPr sz="800" b="0">
                <a:solidFill>
                  <a:srgbClr val="2E5EC4"/>
                </a:solidFill>
                <a:latin typeface="微软雅黑"/>
                <a:ea typeface="微软雅黑"/>
              </a:rPr>
              <a:t>AttnRes 块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291840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1A"/>
                </a:solidFill>
                <a:latin typeface="微软雅黑"/>
                <a:ea typeface="微软雅黑"/>
              </a:rPr>
              <a:t>AttnRes 块表示 bᵢ 在 stage 边界生成一次、驻留 HBM；PP 采用 cache-based 增量通信（只传新块、用完即释放，紫色箭头）→ 通信与显存达理论下界；VPP 2~4 chunk 交错 1F1B 压缩气泡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862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2A52"/>
                </a:solidFill>
                <a:latin typeface="微软雅黑"/>
                <a:ea typeface="微软雅黑"/>
              </a:rPr>
              <a:t>1F1B 时间线：通信全部重叠进计算（目标 MoE 层通信隐藏率 ≥90%）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206240"/>
            <a:ext cx="10881360" cy="502920"/>
          </a:xfrm>
          <a:prstGeom prst="roundRect">
            <a:avLst/>
          </a:prstGeom>
          <a:solidFill>
            <a:srgbClr val="D9E6F9"/>
          </a:solidFill>
          <a:ln w="12700">
            <a:solidFill>
              <a:srgbClr val="2E5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900" b="0">
                <a:solidFill>
                  <a:srgbClr val="2E5EC4"/>
                </a:solidFill>
                <a:latin typeface="微软雅黑"/>
                <a:ea typeface="微软雅黑"/>
              </a:rPr>
              <a:t>计算流：micro-batch fwd/bwd 交错（VPP 2~4）—— KDA chunkwise / Gated MLA / 专家 GEMM / SiTU epilogue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28032"/>
            <a:ext cx="9601200" cy="292608"/>
          </a:xfrm>
          <a:prstGeom prst="roundRect">
            <a:avLst/>
          </a:prstGeom>
          <a:solidFill>
            <a:srgbClr val="DDF0DD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2E7D32"/>
                </a:solidFill>
                <a:latin typeface="微软雅黑"/>
                <a:ea typeface="微软雅黑"/>
              </a:rPr>
              <a:t>EP all-to-all（dispatch/combine，与专家 GEMM 逐层重叠）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5193792"/>
            <a:ext cx="5486400" cy="292608"/>
          </a:xfrm>
          <a:prstGeom prst="roundRect">
            <a:avLst/>
          </a:prstGeom>
          <a:solidFill>
            <a:srgbClr val="FCE4C8"/>
          </a:solidFill>
          <a:ln w="12700">
            <a:solidFill>
              <a:srgbClr val="C0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C06A10"/>
                </a:solidFill>
                <a:latin typeface="微软雅黑"/>
                <a:ea typeface="微软雅黑"/>
              </a:rPr>
              <a:t>KCP 定长 all-gather（每序列每轮 1 次，64K+ 阶段，~6MB/层）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5559552"/>
            <a:ext cx="2103120" cy="292608"/>
          </a:xfrm>
          <a:prstGeom prst="roundRect">
            <a:avLst/>
          </a:prstGeom>
          <a:solidFill>
            <a:srgbClr val="F0E0F6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7B3FA0"/>
                </a:solidFill>
                <a:latin typeface="微软雅黑"/>
                <a:ea typeface="微软雅黑"/>
              </a:rPr>
              <a:t>PP P2P + AttnRes 块增量（µs 级，仅 stage 边界）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5925312"/>
            <a:ext cx="4114800" cy="292608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/>
            <a:r>
              <a:rPr sz="800" b="0">
                <a:solidFill>
                  <a:srgbClr val="555B66"/>
                </a:solidFill>
                <a:latin typeface="微软雅黑"/>
                <a:ea typeface="微软雅黑"/>
              </a:rPr>
              <a:t>QB 直方图整数 all-reduce（每步 1 次，3.6MB/层，&lt;1% 预算）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6473952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55B66"/>
                </a:solidFill>
                <a:latin typeface="微软雅黑"/>
                <a:ea typeface="微软雅黑"/>
              </a:rPr>
              <a:t>通信预算核算（UB 2.0 2TB/s/卡）：KCP ≈3µs/层 ｜ MoE all-to-all ≈0.1µs/token/层 ｜ QB µs 级/步 ｜ PP P2P µs 级/边界 —— 全部可隐藏；跨域仅余 ZeRO 梯度同步（分层聚合）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2E5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微软雅黑"/>
                <a:ea typeface="微软雅黑"/>
              </a:rPr>
              <a:t>参考资料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201168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Kimi K3 Technical Report — github.com/MoonshotAI/Kimi-K3（k3_tech_report.pdf，47 页，本报告全文解析来源）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开源权重与配置 — huggingface.co/moonshotai/Kimi-K3 ｜ ModelScope moonshotai/Kimi-K3（config.json 实测：full_attn_layers=24、kda_layers=69、896 专家、kv_lora_rank=512、MXFP4-pack-quantized）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Kimi Linear（KDA 原始论文）— arXiv:2510.26692；FlashKDA — github.com/MoonshotAI/FlashKDA；KCP — FLA PR #691；AgentENV — github.com/kvcache-ai/AgentENV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昇腾 950 NPU 架构白皮书 — 华为官网；华为 HC2025 主题演讲（Atlas 950 SuperPoD / 灵衢 UB 2.0）— huawei.com/cn/news/2025/9/hc-xu-keynote-speech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CANN NEXT：面向 Ascend 950 架构详解 / CATLASS MXFP4 — cann.csdn.net；vLLM-Ascend 发布说明 — docs.vllm.ai/projects/ascend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■ </a:t>
            </a:r>
            <a:r>
              <a:rPr sz="1200" b="1" i="0">
                <a:solidFill>
                  <a:srgbClr val="262A33"/>
                </a:solidFill>
                <a:latin typeface="微软雅黑"/>
                <a:ea typeface="微软雅黑"/>
              </a:rPr>
              <a:t>sgl-kernel-npu（FLA Gated Delta Rule / DeepEP-Ascend）— github.com/sgl-project/sgl-kernel-npu；ms-swift NPU 文档（GDN 精度对齐组合）；flash-linear-attention — github.com/fla-org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2E5EC4"/>
                </a:solidFill>
                <a:latin typeface="微软雅黑"/>
                <a:ea typeface="微软雅黑"/>
              </a:rPr>
              <a:t>校准增强版（2026-07-28）：按开源 config.json 与技术报告校准 —— 修正整体架构图模式块数（8→23，93=23×4+1）、AttnRes 块划分（8 块×约12层）、词表 163,840；新增第十一章昇腾 950 训练并行方案（4 页）与张量维度全流程图。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00800"/>
            <a:ext cx="11338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B66"/>
                </a:solidFill>
                <a:latin typeface="微软雅黑"/>
                <a:ea typeface="微软雅黑"/>
              </a:rPr>
              <a:t>本报告由 Claude Code 生成 · 2026-07 · 量化分析章节（S27–S29）为基于公开参数的自研测算，假设均已标注；技术报告未披露项已在相应页注明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9523</Words>
  <Application>Microsoft Office PowerPoint</Application>
  <PresentationFormat>宽屏</PresentationFormat>
  <Paragraphs>1171</Paragraphs>
  <Slides>45</Slides>
  <Notes>1</Notes>
  <HiddenSlides>3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0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fengliangjun</cp:lastModifiedBy>
  <cp:revision>8</cp:revision>
  <dcterms:created xsi:type="dcterms:W3CDTF">2013-01-27T09:14:16Z</dcterms:created>
  <dcterms:modified xsi:type="dcterms:W3CDTF">2026-07-29T02:33:05Z</dcterms:modified>
  <cp:category/>
</cp:coreProperties>
</file>