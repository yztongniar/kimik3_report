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 type="custom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58800" y="1778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 spc="300" kern="0">
                <a:solidFill>
                  <a:srgbClr val="737373"/>
                </a:solidFill>
                <a:latin typeface="黑体"/>
                <a:ea typeface="黑体"/>
              </a:rPr>
              <a:t>HYBRID ATTENTION · 01</a:t>
            </a:r>
            <a:endParaRPr lang="en-US" sz="900" noProof="1"/>
          </a:p>
        </p:txBody>
      </p:sp>
      <p:sp>
        <p:nvSpPr>
          <p:cNvPr id="3" name="source-note"/>
          <p:cNvSpPr txBox="1"/>
          <p:nvPr/>
        </p:nvSpPr>
        <p:spPr>
          <a:xfrm>
            <a:off x="5080000" y="177800"/>
            <a:ext cx="6654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黑体"/>
                <a:ea typeface="黑体"/>
              </a:rPr>
              <a:t>资料来源：Kimi K3 Technical Report §2.1.1 / §5.1；vllm / vllm-ascend 代码仓</a:t>
            </a:r>
            <a:endParaRPr lang="en-US" sz="800" noProof="1"/>
          </a:p>
        </p:txBody>
      </p:sp>
      <p:sp>
        <p:nvSpPr>
          <p:cNvPr id="4" name="title"/>
          <p:cNvSpPr txBox="1"/>
          <p:nvPr/>
        </p:nvSpPr>
        <p:spPr>
          <a:xfrm>
            <a:off x="558800" y="3810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100" noProof="1" b="1">
                <a:solidFill>
                  <a:srgbClr val="C00000"/>
                </a:solidFill>
                <a:latin typeface="黑体"/>
                <a:ea typeface="黑体"/>
              </a:rPr>
              <a:t>Kimi Delta Attention（KDA）：逐通道遗忘门 × Delta 规则的线性注意力</a:t>
            </a:r>
            <a:endParaRPr lang="en-US" sz="2100" noProof="1"/>
          </a:p>
        </p:txBody>
      </p:sp>
      <p:sp>
        <p:nvSpPr>
          <p:cNvPr id="5" name="title-bar"/>
          <p:cNvSpPr/>
          <p:nvPr/>
        </p:nvSpPr>
        <p:spPr>
          <a:xfrm>
            <a:off x="558800" y="838200"/>
            <a:ext cx="8128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6" name="concl-label-bg"/>
          <p:cNvSpPr/>
          <p:nvPr/>
        </p:nvSpPr>
        <p:spPr>
          <a:xfrm>
            <a:off x="558800" y="1028700"/>
            <a:ext cx="1117600" cy="1397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7" name="concl-label"/>
          <p:cNvSpPr txBox="1"/>
          <p:nvPr/>
        </p:nvSpPr>
        <p:spPr>
          <a:xfrm>
            <a:off x="558800" y="1028700"/>
            <a:ext cx="11176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黑体"/>
                <a:ea typeface="黑体"/>
              </a:rPr>
              <a:t>分析结论</a:t>
            </a:r>
            <a:endParaRPr lang="en-US" sz="1400" noProof="1"/>
          </a:p>
        </p:txBody>
      </p:sp>
      <p:sp>
        <p:nvSpPr>
          <p:cNvPr id="8" name="concl-body-bg"/>
          <p:cNvSpPr/>
          <p:nvPr/>
        </p:nvSpPr>
        <p:spPr>
          <a:xfrm>
            <a:off x="1778000" y="1028700"/>
            <a:ext cx="9956800" cy="139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" name="concl-bullets"/>
          <p:cNvSpPr txBox="1"/>
          <p:nvPr/>
        </p:nvSpPr>
        <p:spPr>
          <a:xfrm>
            <a:off x="1955800" y="1092200"/>
            <a:ext cx="96012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结构定位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：Delta 规则 + 逐通道遗忘门；每 block = 3×KDA + 1×Gated MLA，69 层 KDA（占 74%）；定长状态 S(dk×dv) 替代 KV Cache —— 1M 上下文的内存基础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改动① 有界衰减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：g = −5·σ(e</a:t>
            </a:r>
            <a:r>
              <a:rPr lang="en-US" sz="900" noProof="1" baseline="30000">
                <a:solidFill>
                  <a:srgbClr val="262626"/>
                </a:solidFill>
                <a:latin typeface="黑体"/>
                <a:ea typeface="黑体"/>
              </a:rPr>
              <a:t>A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·z) 替代无下界的 −e</a:t>
            </a:r>
            <a:r>
              <a:rPr lang="en-US" sz="900" noProof="1" baseline="30000">
                <a:solidFill>
                  <a:srgbClr val="262626"/>
                </a:solidFill>
                <a:latin typeface="黑体"/>
                <a:ea typeface="黑体"/>
              </a:rPr>
              <a:t>A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·Softplus(z)；16-token 子块累计衰减 ∈(−80, 0)，重标定因子 &lt; e</a:t>
            </a:r>
            <a:r>
              <a:rPr lang="en-US" sz="900" noProof="1" baseline="30000">
                <a:solidFill>
                  <a:srgbClr val="262626"/>
                </a:solidFill>
                <a:latin typeface="黑体"/>
                <a:ea typeface="黑体"/>
              </a:rPr>
              <a:t>80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 ≈ 5.5×10</a:t>
            </a:r>
            <a:r>
              <a:rPr lang="en-US" sz="900" noProof="1" baseline="30000">
                <a:solidFill>
                  <a:srgbClr val="262626"/>
                </a:solidFill>
                <a:latin typeface="黑体"/>
                <a:ea typeface="黑体"/>
              </a:rPr>
              <a:t>34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，落入 BF16 动态范围 → 对角块改用稠密 matmul，消除 position-pair 标量路径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改动② 全秩输出门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：y = W</a:t>
            </a:r>
            <a:r>
              <a:rPr lang="en-US" sz="900" noProof="1" baseline="-25000">
                <a:solidFill>
                  <a:srgbClr val="262626"/>
                </a:solidFill>
                <a:latin typeface="黑体"/>
                <a:ea typeface="黑体"/>
              </a:rPr>
              <a:t>o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[σ(W</a:t>
            </a:r>
            <a:r>
              <a:rPr lang="en-US" sz="900" noProof="1" baseline="-25000">
                <a:solidFill>
                  <a:srgbClr val="262626"/>
                </a:solidFill>
                <a:latin typeface="黑体"/>
                <a:ea typeface="黑体"/>
              </a:rPr>
              <a:t>g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·x) ⊙ RMSNorm(õ)] 替代低秩门，新增 d×H·dv 稠密 GEMM；计算形态推向“全稠密 matmul”，CUBE 依赖上升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负载特征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：chunk 内并行（C = 64）+ chunk 间串行；prefill 每 token 注意力 FLOPs 由 O(L) 降为 O(C)；decode 瓶颈转为原地状态更新与回滚</a:t>
            </a:r>
            <a:endParaRPr lang="en-US" sz="900" noProof="1"/>
          </a:p>
        </p:txBody>
      </p:sp>
      <p:sp>
        <p:nvSpPr>
          <p:cNvPr id="10" name="arch-label"/>
          <p:cNvSpPr txBox="1"/>
          <p:nvPr/>
        </p:nvSpPr>
        <p:spPr>
          <a:xfrm>
            <a:off x="558800" y="2451100"/>
            <a:ext cx="254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黑体"/>
                <a:ea typeface="黑体"/>
              </a:rPr>
              <a:t>模块结构与数据流</a:t>
            </a:r>
            <a:endParaRPr lang="en-US" sz="1200" noProof="1"/>
          </a:p>
        </p:txBody>
      </p:sp>
      <p:sp>
        <p:nvSpPr>
          <p:cNvPr id="11" name="legend-box"/>
          <p:cNvSpPr/>
          <p:nvPr/>
        </p:nvSpPr>
        <p:spPr>
          <a:xfrm>
            <a:off x="2921000" y="2489200"/>
            <a:ext cx="127000" cy="12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</p:sp>
      <p:sp>
        <p:nvSpPr>
          <p:cNvPr id="12" name="legend-text"/>
          <p:cNvSpPr txBox="1"/>
          <p:nvPr/>
        </p:nvSpPr>
        <p:spPr>
          <a:xfrm>
            <a:off x="3098800" y="24511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黑体"/>
                <a:ea typeface="黑体"/>
              </a:rPr>
              <a:t>红框 = K3 相对 Kimi Linear 的改动</a:t>
            </a:r>
            <a:endParaRPr lang="en-US" sz="800" noProof="1"/>
          </a:p>
        </p:txBody>
      </p:sp>
      <p:sp>
        <p:nvSpPr>
          <p:cNvPr id="13" name="module-border"/>
          <p:cNvSpPr/>
          <p:nvPr/>
        </p:nvSpPr>
        <p:spPr>
          <a:xfrm>
            <a:off x="457200" y="2679700"/>
            <a:ext cx="5435600" cy="281940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404040"/>
            </a:solidFill>
            <a:prstDash val="dash"/>
          </a:ln>
        </p:spPr>
      </p:sp>
      <p:sp>
        <p:nvSpPr>
          <p:cNvPr id="14" name="sh-wo"/>
          <p:cNvSpPr/>
          <p:nvPr/>
        </p:nvSpPr>
        <p:spPr>
          <a:xfrm>
            <a:off x="1955800" y="2933700"/>
            <a:ext cx="711200" cy="203200"/>
          </a:xfrm>
          <a:prstGeom prst="roundRect">
            <a:avLst>
              <a:gd name="adj" fmla="val 30000"/>
            </a:avLst>
          </a:prstGeom>
          <a:solidFill>
            <a:srgbClr val="D4D4D4"/>
          </a:solidFill>
          <a:ln>
            <a:noFill/>
          </a:ln>
        </p:spPr>
      </p:sp>
      <p:sp>
        <p:nvSpPr>
          <p:cNvPr id="15" name="sh-norm"/>
          <p:cNvSpPr/>
          <p:nvPr/>
        </p:nvSpPr>
        <p:spPr>
          <a:xfrm>
            <a:off x="1955800" y="3543300"/>
            <a:ext cx="711200" cy="203200"/>
          </a:xfrm>
          <a:prstGeom prst="roundRect">
            <a:avLst>
              <a:gd name="adj" fmla="val 30000"/>
            </a:avLst>
          </a:prstGeom>
          <a:solidFill>
            <a:srgbClr val="D4D4D4"/>
          </a:solidFill>
          <a:ln>
            <a:noFill/>
          </a:ln>
        </p:spPr>
      </p:sp>
      <p:sp>
        <p:nvSpPr>
          <p:cNvPr id="16" name="sh-convq"/>
          <p:cNvSpPr/>
          <p:nvPr/>
        </p:nvSpPr>
        <p:spPr>
          <a:xfrm>
            <a:off x="812800" y="4965700"/>
            <a:ext cx="711200" cy="190500"/>
          </a:xfrm>
          <a:prstGeom prst="roundRect">
            <a:avLst>
              <a:gd name="adj" fmla="val 30000"/>
            </a:avLst>
          </a:prstGeom>
          <a:solidFill>
            <a:srgbClr val="D4D4D4"/>
          </a:solidFill>
          <a:ln>
            <a:noFill/>
          </a:ln>
        </p:spPr>
      </p:sp>
      <p:sp>
        <p:nvSpPr>
          <p:cNvPr id="17" name="sh-convk"/>
          <p:cNvSpPr/>
          <p:nvPr/>
        </p:nvSpPr>
        <p:spPr>
          <a:xfrm>
            <a:off x="1676400" y="4965700"/>
            <a:ext cx="711200" cy="190500"/>
          </a:xfrm>
          <a:prstGeom prst="roundRect">
            <a:avLst>
              <a:gd name="adj" fmla="val 30000"/>
            </a:avLst>
          </a:prstGeom>
          <a:solidFill>
            <a:srgbClr val="D4D4D4"/>
          </a:solidFill>
          <a:ln>
            <a:noFill/>
          </a:ln>
        </p:spPr>
      </p:sp>
      <p:sp>
        <p:nvSpPr>
          <p:cNvPr id="18" name="sh-convv"/>
          <p:cNvSpPr/>
          <p:nvPr/>
        </p:nvSpPr>
        <p:spPr>
          <a:xfrm>
            <a:off x="2540000" y="4965700"/>
            <a:ext cx="711200" cy="190500"/>
          </a:xfrm>
          <a:prstGeom prst="roundRect">
            <a:avLst>
              <a:gd name="adj" fmla="val 30000"/>
            </a:avLst>
          </a:prstGeom>
          <a:solidFill>
            <a:srgbClr val="D4D4D4"/>
          </a:solidFill>
          <a:ln>
            <a:noFill/>
          </a:ln>
        </p:spPr>
      </p:sp>
      <p:sp>
        <p:nvSpPr>
          <p:cNvPr id="19" name="sh-linq"/>
          <p:cNvSpPr/>
          <p:nvPr/>
        </p:nvSpPr>
        <p:spPr>
          <a:xfrm>
            <a:off x="812800" y="5207000"/>
            <a:ext cx="711200" cy="203200"/>
          </a:xfrm>
          <a:prstGeom prst="roundRect">
            <a:avLst>
              <a:gd name="adj" fmla="val 30000"/>
            </a:avLst>
          </a:prstGeom>
          <a:solidFill>
            <a:srgbClr val="D4D4D4"/>
          </a:solidFill>
          <a:ln>
            <a:noFill/>
          </a:ln>
        </p:spPr>
      </p:sp>
      <p:sp>
        <p:nvSpPr>
          <p:cNvPr id="20" name="sh-link"/>
          <p:cNvSpPr/>
          <p:nvPr/>
        </p:nvSpPr>
        <p:spPr>
          <a:xfrm>
            <a:off x="1676400" y="5207000"/>
            <a:ext cx="711200" cy="203200"/>
          </a:xfrm>
          <a:prstGeom prst="roundRect">
            <a:avLst>
              <a:gd name="adj" fmla="val 30000"/>
            </a:avLst>
          </a:prstGeom>
          <a:solidFill>
            <a:srgbClr val="D4D4D4"/>
          </a:solidFill>
          <a:ln>
            <a:noFill/>
          </a:ln>
        </p:spPr>
      </p:sp>
      <p:sp>
        <p:nvSpPr>
          <p:cNvPr id="21" name="sh-linv"/>
          <p:cNvSpPr/>
          <p:nvPr/>
        </p:nvSpPr>
        <p:spPr>
          <a:xfrm>
            <a:off x="2540000" y="5207000"/>
            <a:ext cx="711200" cy="203200"/>
          </a:xfrm>
          <a:prstGeom prst="roundRect">
            <a:avLst>
              <a:gd name="adj" fmla="val 30000"/>
            </a:avLst>
          </a:prstGeom>
          <a:solidFill>
            <a:srgbClr val="D4D4D4"/>
          </a:solidFill>
          <a:ln>
            <a:noFill/>
          </a:ln>
        </p:spPr>
      </p:sp>
      <p:sp>
        <p:nvSpPr>
          <p:cNvPr id="22" name="sh-gate"/>
          <p:cNvSpPr/>
          <p:nvPr/>
        </p:nvSpPr>
        <p:spPr>
          <a:xfrm>
            <a:off x="5003800" y="5207000"/>
            <a:ext cx="711200" cy="203200"/>
          </a:xfrm>
          <a:prstGeom prst="roundRect">
            <a:avLst>
              <a:gd name="adj" fmla="val 30000"/>
            </a:avLst>
          </a:prstGeom>
          <a:solidFill>
            <a:srgbClr val="D4D4D4"/>
          </a:solidFill>
          <a:ln>
            <a:noFill/>
          </a:ln>
        </p:spPr>
      </p:sp>
      <p:sp>
        <p:nvSpPr>
          <p:cNvPr id="23" name="a-out"/>
          <p:cNvSpPr/>
          <p:nvPr>
            <p:extLst>
              <p:ext uri="{F5677B7D-0D2A-4D9B-9A5C-6D8D7D0E5A5D}">
                <pptd:line encoding="base64url">eyJ2aWV3Qm94IjpbMiwxNl0sInBvaW50cyI6IjEsMTYgMSwwIiwiY3VydmUiOiJzaGFycCJ9</pptd:line>
              </p:ext>
            </p:extLst>
          </p:nvPr>
        </p:nvSpPr>
        <p:spPr>
          <a:xfrm>
            <a:off x="2273300" y="2705100"/>
            <a:ext cx="25400" cy="203200"/>
          </a:xfrm>
          <a:custGeom>
            <a:avLst/>
            <a:gdLst/>
            <a:ahLst/>
            <a:cxnLst/>
            <a:rect l="l" t="t" r="r" b="b"/>
            <a:pathLst>
              <a:path w="2" h="16">
                <a:moveTo>
                  <a:pt x="1" y="16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24" name="lab-y"/>
          <p:cNvSpPr txBox="1"/>
          <p:nvPr/>
        </p:nvSpPr>
        <p:spPr>
          <a:xfrm>
            <a:off x="2362200" y="2705100"/>
            <a:ext cx="508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404040"/>
                </a:solidFill>
                <a:latin typeface="黑体"/>
                <a:ea typeface="黑体"/>
              </a:rPr>
              <a:t>y</a:t>
            </a:r>
            <a:r>
              <a:rPr lang="en-US" sz="800" noProof="1" baseline="-25000">
                <a:solidFill>
                  <a:srgbClr val="404040"/>
                </a:solidFill>
                <a:latin typeface="黑体"/>
                <a:ea typeface="黑体"/>
              </a:rPr>
              <a:t>t</a:t>
            </a:r>
            <a:endParaRPr lang="en-US" sz="800" noProof="1"/>
          </a:p>
        </p:txBody>
      </p:sp>
      <p:sp>
        <p:nvSpPr>
          <p:cNvPr id="25" name="n-wo"/>
          <p:cNvSpPr/>
          <p:nvPr/>
        </p:nvSpPr>
        <p:spPr>
          <a:xfrm>
            <a:off x="1930400" y="2908300"/>
            <a:ext cx="711200" cy="203200"/>
          </a:xfrm>
          <a:prstGeom prst="roundRect">
            <a:avLst>
              <a:gd name="adj" fmla="val 30000"/>
            </a:avLst>
          </a:prstGeom>
          <a:solidFill>
            <a:srgbClr val="F6D2CE"/>
          </a:solidFill>
          <a:ln w="12700">
            <a:solidFill>
              <a:srgbClr val="262626"/>
            </a:solidFill>
          </a:ln>
        </p:spPr>
      </p:sp>
      <p:sp>
        <p:nvSpPr>
          <p:cNvPr id="26" name="t-wo"/>
          <p:cNvSpPr txBox="1"/>
          <p:nvPr/>
        </p:nvSpPr>
        <p:spPr>
          <a:xfrm>
            <a:off x="1930400" y="2908300"/>
            <a:ext cx="711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50" noProof="1">
                <a:solidFill>
                  <a:srgbClr val="262626"/>
                </a:solidFill>
                <a:latin typeface="黑体"/>
                <a:ea typeface="黑体"/>
              </a:rPr>
              <a:t>Linear</a:t>
            </a:r>
            <a:endParaRPr lang="en-US" sz="750" noProof="1"/>
          </a:p>
        </p:txBody>
      </p:sp>
      <p:sp>
        <p:nvSpPr>
          <p:cNvPr id="27" name="a-mul-wo"/>
          <p:cNvSpPr/>
          <p:nvPr>
            <p:extLst>
              <p:ext uri="{F5677B7D-0D2A-4D9B-9A5C-6D8D7D0E5A5D}">
                <pptd:line encoding="base64url">eyJ2aWV3Qm94IjpbMiw4XSwicG9pbnRzIjoiMSw4IDEsMCIsImN1cnZlIjoic2hhcnAifQ</pptd:line>
              </p:ext>
            </p:extLst>
          </p:nvPr>
        </p:nvSpPr>
        <p:spPr>
          <a:xfrm>
            <a:off x="2273300" y="3111500"/>
            <a:ext cx="25400" cy="101600"/>
          </a:xfrm>
          <a:custGeom>
            <a:avLst/>
            <a:gdLst/>
            <a:ahLst/>
            <a:cxnLst/>
            <a:rect l="l" t="t" r="r" b="b"/>
            <a:pathLst>
              <a:path w="2" h="8">
                <a:moveTo>
                  <a:pt x="1" y="8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28" name="n-mul"/>
          <p:cNvSpPr/>
          <p:nvPr/>
        </p:nvSpPr>
        <p:spPr>
          <a:xfrm>
            <a:off x="2184400" y="3213100"/>
            <a:ext cx="203200" cy="203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626"/>
            </a:solidFill>
          </a:ln>
        </p:spPr>
      </p:sp>
      <p:sp>
        <p:nvSpPr>
          <p:cNvPr id="29" name="t-mul"/>
          <p:cNvSpPr txBox="1"/>
          <p:nvPr/>
        </p:nvSpPr>
        <p:spPr>
          <a:xfrm>
            <a:off x="2184400" y="3213100"/>
            <a:ext cx="203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⊗</a:t>
            </a:r>
            <a:endParaRPr lang="en-US" sz="900" noProof="1"/>
          </a:p>
        </p:txBody>
      </p:sp>
      <p:sp>
        <p:nvSpPr>
          <p:cNvPr id="30" name="a-norm-mul"/>
          <p:cNvSpPr/>
          <p:nvPr>
            <p:extLst>
              <p:ext uri="{F5677B7D-0D2A-4D9B-9A5C-6D8D7D0E5A5D}">
                <pptd:line encoding="base64url">eyJ2aWV3Qm94IjpbMiw4XSwicG9pbnRzIjoiMSw4IDEsMCIsImN1cnZlIjoic2hhcnAifQ</pptd:line>
              </p:ext>
            </p:extLst>
          </p:nvPr>
        </p:nvSpPr>
        <p:spPr>
          <a:xfrm>
            <a:off x="2273300" y="3416300"/>
            <a:ext cx="25400" cy="101600"/>
          </a:xfrm>
          <a:custGeom>
            <a:avLst/>
            <a:gdLst/>
            <a:ahLst/>
            <a:cxnLst/>
            <a:rect l="l" t="t" r="r" b="b"/>
            <a:pathLst>
              <a:path w="2" h="8">
                <a:moveTo>
                  <a:pt x="1" y="8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31" name="n-norm"/>
          <p:cNvSpPr/>
          <p:nvPr/>
        </p:nvSpPr>
        <p:spPr>
          <a:xfrm>
            <a:off x="1930400" y="3517900"/>
            <a:ext cx="711200" cy="203200"/>
          </a:xfrm>
          <a:prstGeom prst="roundRect">
            <a:avLst>
              <a:gd name="adj" fmla="val 30000"/>
            </a:avLst>
          </a:prstGeom>
          <a:solidFill>
            <a:srgbClr val="F2F2F3"/>
          </a:solidFill>
          <a:ln w="12700">
            <a:solidFill>
              <a:srgbClr val="262626"/>
            </a:solidFill>
          </a:ln>
        </p:spPr>
      </p:sp>
      <p:sp>
        <p:nvSpPr>
          <p:cNvPr id="32" name="t-norm"/>
          <p:cNvSpPr txBox="1"/>
          <p:nvPr/>
        </p:nvSpPr>
        <p:spPr>
          <a:xfrm>
            <a:off x="1930400" y="3517900"/>
            <a:ext cx="711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50" noProof="1">
                <a:solidFill>
                  <a:srgbClr val="262626"/>
                </a:solidFill>
                <a:latin typeface="黑体"/>
                <a:ea typeface="黑体"/>
              </a:rPr>
              <a:t>Norm</a:t>
            </a:r>
            <a:endParaRPr lang="en-US" sz="750" noProof="1"/>
          </a:p>
        </p:txBody>
      </p:sp>
      <p:sp>
        <p:nvSpPr>
          <p:cNvPr id="33" name="a-kda-norm"/>
          <p:cNvSpPr/>
          <p:nvPr>
            <p:extLst>
              <p:ext uri="{F5677B7D-0D2A-4D9B-9A5C-6D8D7D0E5A5D}">
                <pptd:line encoding="base64url">eyJ2aWV3Qm94IjpbMiw4XSwicG9pbnRzIjoiMSw4IDEsMCIsImN1cnZlIjoic2hhcnAifQ</pptd:line>
              </p:ext>
            </p:extLst>
          </p:nvPr>
        </p:nvSpPr>
        <p:spPr>
          <a:xfrm>
            <a:off x="2273300" y="3721100"/>
            <a:ext cx="25400" cy="101600"/>
          </a:xfrm>
          <a:custGeom>
            <a:avLst/>
            <a:gdLst/>
            <a:ahLst/>
            <a:cxnLst/>
            <a:rect l="l" t="t" r="r" b="b"/>
            <a:pathLst>
              <a:path w="2" h="8">
                <a:moveTo>
                  <a:pt x="1" y="8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34" name="n-kda"/>
          <p:cNvSpPr/>
          <p:nvPr/>
        </p:nvSpPr>
        <p:spPr>
          <a:xfrm>
            <a:off x="812800" y="3822700"/>
            <a:ext cx="3759200" cy="431800"/>
          </a:xfrm>
          <a:prstGeom prst="roundRect">
            <a:avLst>
              <a:gd name="adj" fmla="val 20000"/>
            </a:avLst>
          </a:prstGeom>
          <a:solidFill>
            <a:srgbClr val="C8DCF4"/>
          </a:solidFill>
          <a:ln w="12700">
            <a:solidFill>
              <a:srgbClr val="262626"/>
            </a:solidFill>
          </a:ln>
        </p:spPr>
      </p:sp>
      <p:sp>
        <p:nvSpPr>
          <p:cNvPr id="35" name="t-kda"/>
          <p:cNvSpPr txBox="1"/>
          <p:nvPr/>
        </p:nvSpPr>
        <p:spPr>
          <a:xfrm>
            <a:off x="863600" y="3848100"/>
            <a:ext cx="36576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0000"/>
              </a:lnSpc>
            </a:pPr>
            <a:r>
              <a:rPr lang="en-US" sz="850" noProof="1" b="1">
                <a:solidFill>
                  <a:srgbClr val="1F2A36"/>
                </a:solidFill>
                <a:latin typeface="黑体"/>
                <a:ea typeface="黑体"/>
              </a:rPr>
              <a:t>Kimi Delta Attention</a:t>
            </a:r>
            <a:endParaRPr lang="en-US" sz="850" noProof="1"/>
          </a:p>
          <a:p>
            <a:pPr algn="ctr">
              <a:lnSpc>
                <a:spcPct val="130000"/>
              </a:lnSpc>
            </a:pPr>
            <a:r>
              <a:rPr lang="en-US" sz="700" noProof="1">
                <a:solidFill>
                  <a:srgbClr val="1F2A36"/>
                </a:solidFill>
                <a:latin typeface="黑体"/>
                <a:ea typeface="黑体"/>
              </a:rPr>
              <a:t>S</a:t>
            </a:r>
            <a:r>
              <a:rPr lang="en-US" sz="700" noProof="1" baseline="-25000">
                <a:solidFill>
                  <a:srgbClr val="1F2A36"/>
                </a:solidFill>
                <a:latin typeface="黑体"/>
                <a:ea typeface="黑体"/>
              </a:rPr>
              <a:t>t</a:t>
            </a:r>
            <a:r>
              <a:rPr lang="en-US" sz="700" noProof="1">
                <a:solidFill>
                  <a:srgbClr val="1F2A36"/>
                </a:solidFill>
                <a:latin typeface="黑体"/>
                <a:ea typeface="黑体"/>
              </a:rPr>
              <a:t> = (I−β</a:t>
            </a:r>
            <a:r>
              <a:rPr lang="en-US" sz="700" noProof="1" baseline="-25000">
                <a:solidFill>
                  <a:srgbClr val="1F2A36"/>
                </a:solidFill>
                <a:latin typeface="黑体"/>
                <a:ea typeface="黑体"/>
              </a:rPr>
              <a:t>t</a:t>
            </a:r>
            <a:r>
              <a:rPr lang="en-US" sz="700" noProof="1">
                <a:solidFill>
                  <a:srgbClr val="1F2A36"/>
                </a:solidFill>
                <a:latin typeface="黑体"/>
                <a:ea typeface="黑体"/>
              </a:rPr>
              <a:t>k</a:t>
            </a:r>
            <a:r>
              <a:rPr lang="en-US" sz="700" noProof="1" baseline="-25000">
                <a:solidFill>
                  <a:srgbClr val="1F2A36"/>
                </a:solidFill>
                <a:latin typeface="黑体"/>
                <a:ea typeface="黑体"/>
              </a:rPr>
              <a:t>t</a:t>
            </a:r>
            <a:r>
              <a:rPr lang="en-US" sz="700" noProof="1">
                <a:solidFill>
                  <a:srgbClr val="1F2A36"/>
                </a:solidFill>
                <a:latin typeface="黑体"/>
                <a:ea typeface="黑体"/>
              </a:rPr>
              <a:t>k</a:t>
            </a:r>
            <a:r>
              <a:rPr lang="en-US" sz="700" noProof="1" baseline="-25000">
                <a:solidFill>
                  <a:srgbClr val="1F2A36"/>
                </a:solidFill>
                <a:latin typeface="黑体"/>
                <a:ea typeface="黑体"/>
              </a:rPr>
              <a:t>t</a:t>
            </a:r>
            <a:r>
              <a:rPr lang="en-US" sz="700" noProof="1" baseline="30000">
                <a:solidFill>
                  <a:srgbClr val="1F2A36"/>
                </a:solidFill>
                <a:latin typeface="黑体"/>
                <a:ea typeface="黑体"/>
              </a:rPr>
              <a:t>⊤</a:t>
            </a:r>
            <a:r>
              <a:rPr lang="en-US" sz="700" noProof="1">
                <a:solidFill>
                  <a:srgbClr val="1F2A36"/>
                </a:solidFill>
                <a:latin typeface="黑体"/>
                <a:ea typeface="黑体"/>
              </a:rPr>
              <a:t>)·Diag(α</a:t>
            </a:r>
            <a:r>
              <a:rPr lang="en-US" sz="700" noProof="1" baseline="-25000">
                <a:solidFill>
                  <a:srgbClr val="1F2A36"/>
                </a:solidFill>
                <a:latin typeface="黑体"/>
                <a:ea typeface="黑体"/>
              </a:rPr>
              <a:t>t</a:t>
            </a:r>
            <a:r>
              <a:rPr lang="en-US" sz="700" noProof="1">
                <a:solidFill>
                  <a:srgbClr val="1F2A36"/>
                </a:solidFill>
                <a:latin typeface="黑体"/>
                <a:ea typeface="黑体"/>
              </a:rPr>
              <a:t>)·S</a:t>
            </a:r>
            <a:r>
              <a:rPr lang="en-US" sz="700" noProof="1" baseline="-25000">
                <a:solidFill>
                  <a:srgbClr val="1F2A36"/>
                </a:solidFill>
                <a:latin typeface="黑体"/>
                <a:ea typeface="黑体"/>
              </a:rPr>
              <a:t>t−1</a:t>
            </a:r>
            <a:r>
              <a:rPr lang="en-US" sz="700" noProof="1">
                <a:solidFill>
                  <a:srgbClr val="1F2A36"/>
                </a:solidFill>
                <a:latin typeface="黑体"/>
                <a:ea typeface="黑体"/>
              </a:rPr>
              <a:t> + β</a:t>
            </a:r>
            <a:r>
              <a:rPr lang="en-US" sz="700" noProof="1" baseline="-25000">
                <a:solidFill>
                  <a:srgbClr val="1F2A36"/>
                </a:solidFill>
                <a:latin typeface="黑体"/>
                <a:ea typeface="黑体"/>
              </a:rPr>
              <a:t>t</a:t>
            </a:r>
            <a:r>
              <a:rPr lang="en-US" sz="700" noProof="1">
                <a:solidFill>
                  <a:srgbClr val="1F2A36"/>
                </a:solidFill>
                <a:latin typeface="黑体"/>
                <a:ea typeface="黑体"/>
              </a:rPr>
              <a:t>k</a:t>
            </a:r>
            <a:r>
              <a:rPr lang="en-US" sz="700" noProof="1" baseline="-25000">
                <a:solidFill>
                  <a:srgbClr val="1F2A36"/>
                </a:solidFill>
                <a:latin typeface="黑体"/>
                <a:ea typeface="黑体"/>
              </a:rPr>
              <a:t>t</a:t>
            </a:r>
            <a:r>
              <a:rPr lang="en-US" sz="700" noProof="1">
                <a:solidFill>
                  <a:srgbClr val="1F2A36"/>
                </a:solidFill>
                <a:latin typeface="黑体"/>
                <a:ea typeface="黑体"/>
              </a:rPr>
              <a:t>v</a:t>
            </a:r>
            <a:r>
              <a:rPr lang="en-US" sz="700" noProof="1" baseline="-25000">
                <a:solidFill>
                  <a:srgbClr val="1F2A36"/>
                </a:solidFill>
                <a:latin typeface="黑体"/>
                <a:ea typeface="黑体"/>
              </a:rPr>
              <a:t>t</a:t>
            </a:r>
            <a:r>
              <a:rPr lang="en-US" sz="700" noProof="1" baseline="30000">
                <a:solidFill>
                  <a:srgbClr val="1F2A36"/>
                </a:solidFill>
                <a:latin typeface="黑体"/>
                <a:ea typeface="黑体"/>
              </a:rPr>
              <a:t>⊤</a:t>
            </a:r>
            <a:endParaRPr lang="en-US" sz="850" noProof="1"/>
          </a:p>
        </p:txBody>
      </p:sp>
      <p:sp>
        <p:nvSpPr>
          <p:cNvPr id="36" name="a-q"/>
          <p:cNvSpPr/>
          <p:nvPr>
            <p:extLst>
              <p:ext uri="{F5677B7D-0D2A-4D9B-9A5C-6D8D7D0E5A5D}">
                <pptd:line encoding="base64url">eyJ2aWV3Qm94IjpbMiwxNl0sInBvaW50cyI6IjEsMTYgMSwwIiwiY3VydmUiOiJzaGFycCJ9</pptd:line>
              </p:ext>
            </p:extLst>
          </p:nvPr>
        </p:nvSpPr>
        <p:spPr>
          <a:xfrm>
            <a:off x="1130300" y="4254500"/>
            <a:ext cx="25400" cy="203200"/>
          </a:xfrm>
          <a:custGeom>
            <a:avLst/>
            <a:gdLst/>
            <a:ahLst/>
            <a:cxnLst/>
            <a:rect l="l" t="t" r="r" b="b"/>
            <a:pathLst>
              <a:path w="2" h="16">
                <a:moveTo>
                  <a:pt x="1" y="16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37" name="a-k"/>
          <p:cNvSpPr/>
          <p:nvPr>
            <p:extLst>
              <p:ext uri="{F5677B7D-0D2A-4D9B-9A5C-6D8D7D0E5A5D}">
                <pptd:line encoding="base64url">eyJ2aWV3Qm94IjpbMiwxNl0sInBvaW50cyI6IjEsMTYgMSwwIiwiY3VydmUiOiJzaGFycCJ9</pptd:line>
              </p:ext>
            </p:extLst>
          </p:nvPr>
        </p:nvSpPr>
        <p:spPr>
          <a:xfrm>
            <a:off x="1993900" y="4254500"/>
            <a:ext cx="25400" cy="203200"/>
          </a:xfrm>
          <a:custGeom>
            <a:avLst/>
            <a:gdLst/>
            <a:ahLst/>
            <a:cxnLst/>
            <a:rect l="l" t="t" r="r" b="b"/>
            <a:pathLst>
              <a:path w="2" h="16">
                <a:moveTo>
                  <a:pt x="1" y="16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38" name="a-v"/>
          <p:cNvSpPr/>
          <p:nvPr>
            <p:extLst>
              <p:ext uri="{F5677B7D-0D2A-4D9B-9A5C-6D8D7D0E5A5D}">
                <pptd:line encoding="base64url">eyJ2aWV3Qm94IjpbMiwzNl0sInBvaW50cyI6IjEsMzYgMSwwIiwiY3VydmUiOiJzaGFycCJ9</pptd:line>
              </p:ext>
            </p:extLst>
          </p:nvPr>
        </p:nvSpPr>
        <p:spPr>
          <a:xfrm>
            <a:off x="2857500" y="4254500"/>
            <a:ext cx="25400" cy="457200"/>
          </a:xfrm>
          <a:custGeom>
            <a:avLst/>
            <a:gdLst/>
            <a:ahLst/>
            <a:cxnLst/>
            <a:rect l="l" t="t" r="r" b="b"/>
            <a:pathLst>
              <a:path w="2" h="36">
                <a:moveTo>
                  <a:pt x="1" y="36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39" name="a-alpha"/>
          <p:cNvSpPr/>
          <p:nvPr>
            <p:extLst>
              <p:ext uri="{F5677B7D-0D2A-4D9B-9A5C-6D8D7D0E5A5D}">
                <pptd:line encoding="base64url">eyJ2aWV3Qm94IjpbMiwzNl0sInBvaW50cyI6IjEsMzYgMSwwIiwiY3VydmUiOiJzaGFycCJ9</pptd:line>
              </p:ext>
            </p:extLst>
          </p:nvPr>
        </p:nvSpPr>
        <p:spPr>
          <a:xfrm>
            <a:off x="3606800" y="4254500"/>
            <a:ext cx="25400" cy="457200"/>
          </a:xfrm>
          <a:custGeom>
            <a:avLst/>
            <a:gdLst/>
            <a:ahLst/>
            <a:cxnLst/>
            <a:rect l="l" t="t" r="r" b="b"/>
            <a:pathLst>
              <a:path w="2" h="36">
                <a:moveTo>
                  <a:pt x="1" y="36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40" name="a-beta"/>
          <p:cNvSpPr/>
          <p:nvPr>
            <p:extLst>
              <p:ext uri="{F5677B7D-0D2A-4D9B-9A5C-6D8D7D0E5A5D}">
                <pptd:line encoding="base64url">eyJ2aWV3Qm94IjpbMiwzNl0sInBvaW50cyI6IjEsMzYgMSwwIiwiY3VydmUiOiJzaGFycCJ9</pptd:line>
              </p:ext>
            </p:extLst>
          </p:nvPr>
        </p:nvSpPr>
        <p:spPr>
          <a:xfrm>
            <a:off x="4368800" y="4254500"/>
            <a:ext cx="25400" cy="457200"/>
          </a:xfrm>
          <a:custGeom>
            <a:avLst/>
            <a:gdLst/>
            <a:ahLst/>
            <a:cxnLst/>
            <a:rect l="l" t="t" r="r" b="b"/>
            <a:pathLst>
              <a:path w="2" h="36">
                <a:moveTo>
                  <a:pt x="1" y="36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41" name="lab-q"/>
          <p:cNvSpPr txBox="1"/>
          <p:nvPr/>
        </p:nvSpPr>
        <p:spPr>
          <a:xfrm>
            <a:off x="1193800" y="4279900"/>
            <a:ext cx="177800" cy="12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404040"/>
                </a:solidFill>
                <a:latin typeface="黑体"/>
                <a:ea typeface="黑体"/>
              </a:rPr>
              <a:t>q</a:t>
            </a:r>
            <a:endParaRPr lang="en-US" sz="800" noProof="1"/>
          </a:p>
        </p:txBody>
      </p:sp>
      <p:sp>
        <p:nvSpPr>
          <p:cNvPr id="42" name="lab-k"/>
          <p:cNvSpPr txBox="1"/>
          <p:nvPr/>
        </p:nvSpPr>
        <p:spPr>
          <a:xfrm>
            <a:off x="2057400" y="4279900"/>
            <a:ext cx="177800" cy="12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404040"/>
                </a:solidFill>
                <a:latin typeface="黑体"/>
                <a:ea typeface="黑体"/>
              </a:rPr>
              <a:t>k</a:t>
            </a:r>
            <a:endParaRPr lang="en-US" sz="800" noProof="1"/>
          </a:p>
        </p:txBody>
      </p:sp>
      <p:sp>
        <p:nvSpPr>
          <p:cNvPr id="43" name="lab-v"/>
          <p:cNvSpPr txBox="1"/>
          <p:nvPr/>
        </p:nvSpPr>
        <p:spPr>
          <a:xfrm>
            <a:off x="2921000" y="4305300"/>
            <a:ext cx="177800" cy="12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404040"/>
                </a:solidFill>
                <a:latin typeface="黑体"/>
                <a:ea typeface="黑体"/>
              </a:rPr>
              <a:t>v</a:t>
            </a:r>
            <a:endParaRPr lang="en-US" sz="800" noProof="1"/>
          </a:p>
        </p:txBody>
      </p:sp>
      <p:sp>
        <p:nvSpPr>
          <p:cNvPr id="44" name="lab-alpha"/>
          <p:cNvSpPr txBox="1"/>
          <p:nvPr/>
        </p:nvSpPr>
        <p:spPr>
          <a:xfrm>
            <a:off x="3670300" y="4305300"/>
            <a:ext cx="177800" cy="12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404040"/>
                </a:solidFill>
                <a:latin typeface="黑体"/>
                <a:ea typeface="黑体"/>
              </a:rPr>
              <a:t>α</a:t>
            </a:r>
            <a:endParaRPr lang="en-US" sz="800" noProof="1"/>
          </a:p>
        </p:txBody>
      </p:sp>
      <p:sp>
        <p:nvSpPr>
          <p:cNvPr id="45" name="lab-beta"/>
          <p:cNvSpPr txBox="1"/>
          <p:nvPr/>
        </p:nvSpPr>
        <p:spPr>
          <a:xfrm>
            <a:off x="4432300" y="4305300"/>
            <a:ext cx="177800" cy="12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404040"/>
                </a:solidFill>
                <a:latin typeface="黑体"/>
                <a:ea typeface="黑体"/>
              </a:rPr>
              <a:t>β</a:t>
            </a:r>
            <a:endParaRPr lang="en-US" sz="800" noProof="1"/>
          </a:p>
        </p:txBody>
      </p:sp>
      <p:sp>
        <p:nvSpPr>
          <p:cNvPr id="46" name="n-l2q"/>
          <p:cNvSpPr/>
          <p:nvPr/>
        </p:nvSpPr>
        <p:spPr>
          <a:xfrm>
            <a:off x="1041400" y="4457700"/>
            <a:ext cx="203200" cy="203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626"/>
            </a:solidFill>
          </a:ln>
        </p:spPr>
      </p:sp>
      <p:sp>
        <p:nvSpPr>
          <p:cNvPr id="47" name="t-l2q"/>
          <p:cNvSpPr txBox="1"/>
          <p:nvPr/>
        </p:nvSpPr>
        <p:spPr>
          <a:xfrm>
            <a:off x="1041400" y="4457700"/>
            <a:ext cx="203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600" noProof="1">
                <a:solidFill>
                  <a:srgbClr val="262626"/>
                </a:solidFill>
                <a:latin typeface="黑体"/>
                <a:ea typeface="黑体"/>
              </a:rPr>
              <a:t>L2</a:t>
            </a:r>
            <a:endParaRPr lang="en-US" sz="600" noProof="1"/>
          </a:p>
        </p:txBody>
      </p:sp>
      <p:sp>
        <p:nvSpPr>
          <p:cNvPr id="48" name="n-l2k"/>
          <p:cNvSpPr/>
          <p:nvPr/>
        </p:nvSpPr>
        <p:spPr>
          <a:xfrm>
            <a:off x="1905000" y="4457700"/>
            <a:ext cx="203200" cy="203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626"/>
            </a:solidFill>
          </a:ln>
        </p:spPr>
      </p:sp>
      <p:sp>
        <p:nvSpPr>
          <p:cNvPr id="49" name="t-l2k"/>
          <p:cNvSpPr txBox="1"/>
          <p:nvPr/>
        </p:nvSpPr>
        <p:spPr>
          <a:xfrm>
            <a:off x="1905000" y="4457700"/>
            <a:ext cx="203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600" noProof="1">
                <a:solidFill>
                  <a:srgbClr val="262626"/>
                </a:solidFill>
                <a:latin typeface="黑体"/>
                <a:ea typeface="黑体"/>
              </a:rPr>
              <a:t>L2</a:t>
            </a:r>
            <a:endParaRPr lang="en-US" sz="600" noProof="1"/>
          </a:p>
        </p:txBody>
      </p:sp>
      <p:sp>
        <p:nvSpPr>
          <p:cNvPr id="50" name="a-s-l2q"/>
          <p:cNvSpPr/>
          <p:nvPr>
            <p:extLst>
              <p:ext uri="{F5677B7D-0D2A-4D9B-9A5C-6D8D7D0E5A5D}">
                <pptd:line encoding="base64url">eyJ2aWV3Qm94IjpbMiw0XSwicG9pbnRzIjoiMSw0IDEsMCIsImN1cnZlIjoic2hhcnAifQ</pptd:line>
              </p:ext>
            </p:extLst>
          </p:nvPr>
        </p:nvSpPr>
        <p:spPr>
          <a:xfrm>
            <a:off x="1130300" y="4660900"/>
            <a:ext cx="25400" cy="50800"/>
          </a:xfrm>
          <a:custGeom>
            <a:avLst/>
            <a:gdLst/>
            <a:ahLst/>
            <a:cxnLst/>
            <a:rect l="l" t="t" r="r" b="b"/>
            <a:pathLst>
              <a:path w="2" h="4">
                <a:moveTo>
                  <a:pt x="1" y="4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404040"/>
            </a:solidFill>
          </a:ln>
        </p:spPr>
      </p:sp>
      <p:sp>
        <p:nvSpPr>
          <p:cNvPr id="51" name="a-s-l2k"/>
          <p:cNvSpPr/>
          <p:nvPr>
            <p:extLst>
              <p:ext uri="{F5677B7D-0D2A-4D9B-9A5C-6D8D7D0E5A5D}">
                <pptd:line encoding="base64url">eyJ2aWV3Qm94IjpbMiw0XSwicG9pbnRzIjoiMSw0IDEsMCIsImN1cnZlIjoic2hhcnAifQ</pptd:line>
              </p:ext>
            </p:extLst>
          </p:nvPr>
        </p:nvSpPr>
        <p:spPr>
          <a:xfrm>
            <a:off x="1993900" y="4660900"/>
            <a:ext cx="25400" cy="50800"/>
          </a:xfrm>
          <a:custGeom>
            <a:avLst/>
            <a:gdLst/>
            <a:ahLst/>
            <a:cxnLst/>
            <a:rect l="l" t="t" r="r" b="b"/>
            <a:pathLst>
              <a:path w="2" h="4">
                <a:moveTo>
                  <a:pt x="1" y="4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404040"/>
            </a:solidFill>
          </a:ln>
        </p:spPr>
      </p:sp>
      <p:sp>
        <p:nvSpPr>
          <p:cNvPr id="52" name="n-sq"/>
          <p:cNvSpPr/>
          <p:nvPr/>
        </p:nvSpPr>
        <p:spPr>
          <a:xfrm>
            <a:off x="1054100" y="4711700"/>
            <a:ext cx="177800" cy="177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626"/>
            </a:solidFill>
          </a:ln>
        </p:spPr>
      </p:sp>
      <p:sp>
        <p:nvSpPr>
          <p:cNvPr id="53" name="t-sq"/>
          <p:cNvSpPr txBox="1"/>
          <p:nvPr/>
        </p:nvSpPr>
        <p:spPr>
          <a:xfrm>
            <a:off x="1054100" y="4711700"/>
            <a:ext cx="177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50" noProof="1">
                <a:solidFill>
                  <a:srgbClr val="262626"/>
                </a:solidFill>
                <a:latin typeface="黑体"/>
                <a:ea typeface="黑体"/>
              </a:rPr>
              <a:t>σ</a:t>
            </a:r>
            <a:endParaRPr lang="en-US" sz="750" noProof="1"/>
          </a:p>
        </p:txBody>
      </p:sp>
      <p:sp>
        <p:nvSpPr>
          <p:cNvPr id="54" name="n-sk"/>
          <p:cNvSpPr/>
          <p:nvPr/>
        </p:nvSpPr>
        <p:spPr>
          <a:xfrm>
            <a:off x="1917700" y="4711700"/>
            <a:ext cx="177800" cy="177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626"/>
            </a:solidFill>
          </a:ln>
        </p:spPr>
      </p:sp>
      <p:sp>
        <p:nvSpPr>
          <p:cNvPr id="55" name="t-sk"/>
          <p:cNvSpPr txBox="1"/>
          <p:nvPr/>
        </p:nvSpPr>
        <p:spPr>
          <a:xfrm>
            <a:off x="1917700" y="4711700"/>
            <a:ext cx="177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50" noProof="1">
                <a:solidFill>
                  <a:srgbClr val="262626"/>
                </a:solidFill>
                <a:latin typeface="黑体"/>
                <a:ea typeface="黑体"/>
              </a:rPr>
              <a:t>σ</a:t>
            </a:r>
            <a:endParaRPr lang="en-US" sz="750" noProof="1"/>
          </a:p>
        </p:txBody>
      </p:sp>
      <p:sp>
        <p:nvSpPr>
          <p:cNvPr id="56" name="n-sv"/>
          <p:cNvSpPr/>
          <p:nvPr/>
        </p:nvSpPr>
        <p:spPr>
          <a:xfrm>
            <a:off x="2781300" y="4711700"/>
            <a:ext cx="177800" cy="177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626"/>
            </a:solidFill>
          </a:ln>
        </p:spPr>
      </p:sp>
      <p:sp>
        <p:nvSpPr>
          <p:cNvPr id="57" name="t-sv"/>
          <p:cNvSpPr txBox="1"/>
          <p:nvPr/>
        </p:nvSpPr>
        <p:spPr>
          <a:xfrm>
            <a:off x="2781300" y="4711700"/>
            <a:ext cx="177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50" noProof="1">
                <a:solidFill>
                  <a:srgbClr val="262626"/>
                </a:solidFill>
                <a:latin typeface="黑体"/>
                <a:ea typeface="黑体"/>
              </a:rPr>
              <a:t>σ</a:t>
            </a:r>
            <a:endParaRPr lang="en-US" sz="750" noProof="1"/>
          </a:p>
        </p:txBody>
      </p:sp>
      <p:sp>
        <p:nvSpPr>
          <p:cNvPr id="58" name="n-salpha"/>
          <p:cNvSpPr/>
          <p:nvPr/>
        </p:nvSpPr>
        <p:spPr>
          <a:xfrm>
            <a:off x="3530600" y="4711700"/>
            <a:ext cx="177800" cy="1778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00000"/>
            </a:solidFill>
          </a:ln>
        </p:spPr>
      </p:sp>
      <p:sp>
        <p:nvSpPr>
          <p:cNvPr id="59" name="t-salpha"/>
          <p:cNvSpPr txBox="1"/>
          <p:nvPr/>
        </p:nvSpPr>
        <p:spPr>
          <a:xfrm>
            <a:off x="3530600" y="4711700"/>
            <a:ext cx="177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50" noProof="1">
                <a:solidFill>
                  <a:srgbClr val="262626"/>
                </a:solidFill>
                <a:latin typeface="黑体"/>
                <a:ea typeface="黑体"/>
              </a:rPr>
              <a:t>σ</a:t>
            </a:r>
            <a:endParaRPr lang="en-US" sz="750" noProof="1"/>
          </a:p>
        </p:txBody>
      </p:sp>
      <p:sp>
        <p:nvSpPr>
          <p:cNvPr id="60" name="lab-chg1"/>
          <p:cNvSpPr txBox="1"/>
          <p:nvPr/>
        </p:nvSpPr>
        <p:spPr>
          <a:xfrm>
            <a:off x="3746500" y="4724400"/>
            <a:ext cx="177800" cy="12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 b="1">
                <a:solidFill>
                  <a:srgbClr val="C00000"/>
                </a:solidFill>
                <a:latin typeface="黑体"/>
                <a:ea typeface="黑体"/>
              </a:rPr>
              <a:t>①</a:t>
            </a:r>
            <a:endParaRPr lang="en-US" sz="800" noProof="1"/>
          </a:p>
        </p:txBody>
      </p:sp>
      <p:sp>
        <p:nvSpPr>
          <p:cNvPr id="61" name="n-sbeta"/>
          <p:cNvSpPr/>
          <p:nvPr/>
        </p:nvSpPr>
        <p:spPr>
          <a:xfrm>
            <a:off x="4292600" y="4711700"/>
            <a:ext cx="177800" cy="177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626"/>
            </a:solidFill>
          </a:ln>
        </p:spPr>
      </p:sp>
      <p:sp>
        <p:nvSpPr>
          <p:cNvPr id="62" name="t-sbeta"/>
          <p:cNvSpPr txBox="1"/>
          <p:nvPr/>
        </p:nvSpPr>
        <p:spPr>
          <a:xfrm>
            <a:off x="4292600" y="4711700"/>
            <a:ext cx="177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50" noProof="1">
                <a:solidFill>
                  <a:srgbClr val="262626"/>
                </a:solidFill>
                <a:latin typeface="黑体"/>
                <a:ea typeface="黑体"/>
              </a:rPr>
              <a:t>σ</a:t>
            </a:r>
            <a:endParaRPr lang="en-US" sz="750" noProof="1"/>
          </a:p>
        </p:txBody>
      </p:sp>
      <p:sp>
        <p:nvSpPr>
          <p:cNvPr id="63" name="a-conv-sq"/>
          <p:cNvSpPr/>
          <p:nvPr>
            <p:extLst>
              <p:ext uri="{F5677B7D-0D2A-4D9B-9A5C-6D8D7D0E5A5D}">
                <pptd:line encoding="base64url">eyJ2aWV3Qm94IjpbMiw0XSwicG9pbnRzIjoiMSw0IDEsMCIsImN1cnZlIjoic2hhcnAifQ</pptd:line>
              </p:ext>
            </p:extLst>
          </p:nvPr>
        </p:nvSpPr>
        <p:spPr>
          <a:xfrm>
            <a:off x="1130300" y="4889500"/>
            <a:ext cx="25400" cy="50800"/>
          </a:xfrm>
          <a:custGeom>
            <a:avLst/>
            <a:gdLst/>
            <a:ahLst/>
            <a:cxnLst/>
            <a:rect l="l" t="t" r="r" b="b"/>
            <a:pathLst>
              <a:path w="2" h="4">
                <a:moveTo>
                  <a:pt x="1" y="4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404040"/>
            </a:solidFill>
          </a:ln>
        </p:spPr>
      </p:sp>
      <p:sp>
        <p:nvSpPr>
          <p:cNvPr id="64" name="a-conv-sk"/>
          <p:cNvSpPr/>
          <p:nvPr>
            <p:extLst>
              <p:ext uri="{F5677B7D-0D2A-4D9B-9A5C-6D8D7D0E5A5D}">
                <pptd:line encoding="base64url">eyJ2aWV3Qm94IjpbMiw0XSwicG9pbnRzIjoiMSw0IDEsMCIsImN1cnZlIjoic2hhcnAifQ</pptd:line>
              </p:ext>
            </p:extLst>
          </p:nvPr>
        </p:nvSpPr>
        <p:spPr>
          <a:xfrm>
            <a:off x="1993900" y="4889500"/>
            <a:ext cx="25400" cy="50800"/>
          </a:xfrm>
          <a:custGeom>
            <a:avLst/>
            <a:gdLst/>
            <a:ahLst/>
            <a:cxnLst/>
            <a:rect l="l" t="t" r="r" b="b"/>
            <a:pathLst>
              <a:path w="2" h="4">
                <a:moveTo>
                  <a:pt x="1" y="4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404040"/>
            </a:solidFill>
          </a:ln>
        </p:spPr>
      </p:sp>
      <p:sp>
        <p:nvSpPr>
          <p:cNvPr id="65" name="a-conv-sv"/>
          <p:cNvSpPr/>
          <p:nvPr>
            <p:extLst>
              <p:ext uri="{F5677B7D-0D2A-4D9B-9A5C-6D8D7D0E5A5D}">
                <pptd:line encoding="base64url">eyJ2aWV3Qm94IjpbMiw0XSwicG9pbnRzIjoiMSw0IDEsMCIsImN1cnZlIjoic2hhcnAifQ</pptd:line>
              </p:ext>
            </p:extLst>
          </p:nvPr>
        </p:nvSpPr>
        <p:spPr>
          <a:xfrm>
            <a:off x="2857500" y="4889500"/>
            <a:ext cx="25400" cy="50800"/>
          </a:xfrm>
          <a:custGeom>
            <a:avLst/>
            <a:gdLst/>
            <a:ahLst/>
            <a:cxnLst/>
            <a:rect l="l" t="t" r="r" b="b"/>
            <a:pathLst>
              <a:path w="2" h="4">
                <a:moveTo>
                  <a:pt x="1" y="4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404040"/>
            </a:solidFill>
          </a:ln>
        </p:spPr>
      </p:sp>
      <p:sp>
        <p:nvSpPr>
          <p:cNvPr id="66" name="n-convq"/>
          <p:cNvSpPr/>
          <p:nvPr/>
        </p:nvSpPr>
        <p:spPr>
          <a:xfrm>
            <a:off x="787400" y="4940300"/>
            <a:ext cx="711200" cy="190500"/>
          </a:xfrm>
          <a:prstGeom prst="roundRect">
            <a:avLst>
              <a:gd name="adj" fmla="val 30000"/>
            </a:avLst>
          </a:prstGeom>
          <a:solidFill>
            <a:srgbClr val="F0F0F4"/>
          </a:solidFill>
          <a:ln w="12700">
            <a:solidFill>
              <a:srgbClr val="262626"/>
            </a:solidFill>
          </a:ln>
        </p:spPr>
      </p:sp>
      <p:sp>
        <p:nvSpPr>
          <p:cNvPr id="67" name="t-convq"/>
          <p:cNvSpPr txBox="1"/>
          <p:nvPr/>
        </p:nvSpPr>
        <p:spPr>
          <a:xfrm>
            <a:off x="787400" y="4940300"/>
            <a:ext cx="7112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262626"/>
                </a:solidFill>
                <a:latin typeface="黑体"/>
                <a:ea typeface="黑体"/>
              </a:rPr>
              <a:t>Conv</a:t>
            </a:r>
            <a:endParaRPr lang="en-US" sz="700" noProof="1"/>
          </a:p>
        </p:txBody>
      </p:sp>
      <p:sp>
        <p:nvSpPr>
          <p:cNvPr id="68" name="n-convk"/>
          <p:cNvSpPr/>
          <p:nvPr/>
        </p:nvSpPr>
        <p:spPr>
          <a:xfrm>
            <a:off x="1651000" y="4940300"/>
            <a:ext cx="711200" cy="190500"/>
          </a:xfrm>
          <a:prstGeom prst="roundRect">
            <a:avLst>
              <a:gd name="adj" fmla="val 30000"/>
            </a:avLst>
          </a:prstGeom>
          <a:solidFill>
            <a:srgbClr val="F0F0F4"/>
          </a:solidFill>
          <a:ln w="12700">
            <a:solidFill>
              <a:srgbClr val="262626"/>
            </a:solidFill>
          </a:ln>
        </p:spPr>
      </p:sp>
      <p:sp>
        <p:nvSpPr>
          <p:cNvPr id="69" name="t-convk"/>
          <p:cNvSpPr txBox="1"/>
          <p:nvPr/>
        </p:nvSpPr>
        <p:spPr>
          <a:xfrm>
            <a:off x="1651000" y="4940300"/>
            <a:ext cx="7112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262626"/>
                </a:solidFill>
                <a:latin typeface="黑体"/>
                <a:ea typeface="黑体"/>
              </a:rPr>
              <a:t>Conv</a:t>
            </a:r>
            <a:endParaRPr lang="en-US" sz="700" noProof="1"/>
          </a:p>
        </p:txBody>
      </p:sp>
      <p:sp>
        <p:nvSpPr>
          <p:cNvPr id="70" name="n-convv"/>
          <p:cNvSpPr/>
          <p:nvPr/>
        </p:nvSpPr>
        <p:spPr>
          <a:xfrm>
            <a:off x="2514600" y="4940300"/>
            <a:ext cx="711200" cy="190500"/>
          </a:xfrm>
          <a:prstGeom prst="roundRect">
            <a:avLst>
              <a:gd name="adj" fmla="val 30000"/>
            </a:avLst>
          </a:prstGeom>
          <a:solidFill>
            <a:srgbClr val="F0F0F4"/>
          </a:solidFill>
          <a:ln w="12700">
            <a:solidFill>
              <a:srgbClr val="262626"/>
            </a:solidFill>
          </a:ln>
        </p:spPr>
      </p:sp>
      <p:sp>
        <p:nvSpPr>
          <p:cNvPr id="71" name="t-convv"/>
          <p:cNvSpPr txBox="1"/>
          <p:nvPr/>
        </p:nvSpPr>
        <p:spPr>
          <a:xfrm>
            <a:off x="2514600" y="4940300"/>
            <a:ext cx="7112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262626"/>
                </a:solidFill>
                <a:latin typeface="黑体"/>
                <a:ea typeface="黑体"/>
              </a:rPr>
              <a:t>Conv</a:t>
            </a:r>
            <a:endParaRPr lang="en-US" sz="700" noProof="1"/>
          </a:p>
        </p:txBody>
      </p:sp>
      <p:sp>
        <p:nvSpPr>
          <p:cNvPr id="72" name="a-lin-convq"/>
          <p:cNvSpPr/>
          <p:nvPr>
            <p:extLst>
              <p:ext uri="{F5677B7D-0D2A-4D9B-9A5C-6D8D7D0E5A5D}">
                <pptd:line encoding="base64url">eyJ2aWV3Qm94IjpbMiw0XSwicG9pbnRzIjoiMSw0IDEsMCIsImN1cnZlIjoic2hhcnAifQ</pptd:line>
              </p:ext>
            </p:extLst>
          </p:nvPr>
        </p:nvSpPr>
        <p:spPr>
          <a:xfrm>
            <a:off x="1130300" y="5130800"/>
            <a:ext cx="25400" cy="50800"/>
          </a:xfrm>
          <a:custGeom>
            <a:avLst/>
            <a:gdLst/>
            <a:ahLst/>
            <a:cxnLst/>
            <a:rect l="l" t="t" r="r" b="b"/>
            <a:pathLst>
              <a:path w="2" h="4">
                <a:moveTo>
                  <a:pt x="1" y="4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404040"/>
            </a:solidFill>
          </a:ln>
        </p:spPr>
      </p:sp>
      <p:sp>
        <p:nvSpPr>
          <p:cNvPr id="73" name="a-lin-convk"/>
          <p:cNvSpPr/>
          <p:nvPr>
            <p:extLst>
              <p:ext uri="{F5677B7D-0D2A-4D9B-9A5C-6D8D7D0E5A5D}">
                <pptd:line encoding="base64url">eyJ2aWV3Qm94IjpbMiw0XSwicG9pbnRzIjoiMSw0IDEsMCIsImN1cnZlIjoic2hhcnAifQ</pptd:line>
              </p:ext>
            </p:extLst>
          </p:nvPr>
        </p:nvSpPr>
        <p:spPr>
          <a:xfrm>
            <a:off x="1993900" y="5130800"/>
            <a:ext cx="25400" cy="50800"/>
          </a:xfrm>
          <a:custGeom>
            <a:avLst/>
            <a:gdLst/>
            <a:ahLst/>
            <a:cxnLst/>
            <a:rect l="l" t="t" r="r" b="b"/>
            <a:pathLst>
              <a:path w="2" h="4">
                <a:moveTo>
                  <a:pt x="1" y="4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404040"/>
            </a:solidFill>
          </a:ln>
        </p:spPr>
      </p:sp>
      <p:sp>
        <p:nvSpPr>
          <p:cNvPr id="74" name="a-lin-convv"/>
          <p:cNvSpPr/>
          <p:nvPr>
            <p:extLst>
              <p:ext uri="{F5677B7D-0D2A-4D9B-9A5C-6D8D7D0E5A5D}">
                <pptd:line encoding="base64url">eyJ2aWV3Qm94IjpbMiw0XSwicG9pbnRzIjoiMSw0IDEsMCIsImN1cnZlIjoic2hhcnAifQ</pptd:line>
              </p:ext>
            </p:extLst>
          </p:nvPr>
        </p:nvSpPr>
        <p:spPr>
          <a:xfrm>
            <a:off x="2857500" y="5130800"/>
            <a:ext cx="25400" cy="50800"/>
          </a:xfrm>
          <a:custGeom>
            <a:avLst/>
            <a:gdLst/>
            <a:ahLst/>
            <a:cxnLst/>
            <a:rect l="l" t="t" r="r" b="b"/>
            <a:pathLst>
              <a:path w="2" h="4">
                <a:moveTo>
                  <a:pt x="1" y="4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404040"/>
            </a:solidFill>
          </a:ln>
        </p:spPr>
      </p:sp>
      <p:sp>
        <p:nvSpPr>
          <p:cNvPr id="75" name="a-hg-salpha"/>
          <p:cNvSpPr/>
          <p:nvPr>
            <p:extLst>
              <p:ext uri="{F5677B7D-0D2A-4D9B-9A5C-6D8D7D0E5A5D}">
                <pptd:line encoding="base64url">eyJ2aWV3Qm94IjpbMiwxN10sInBvaW50cyI6IjEsMTcgMSwwIiwiY3VydmUiOiJzaGFycCJ9</pptd:line>
              </p:ext>
            </p:extLst>
          </p:nvPr>
        </p:nvSpPr>
        <p:spPr>
          <a:xfrm>
            <a:off x="3606800" y="4889500"/>
            <a:ext cx="25400" cy="215900"/>
          </a:xfrm>
          <a:custGeom>
            <a:avLst/>
            <a:gdLst/>
            <a:ahLst/>
            <a:cxnLst/>
            <a:rect l="l" t="t" r="r" b="b"/>
            <a:pathLst>
              <a:path w="2" h="17">
                <a:moveTo>
                  <a:pt x="1" y="17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404040"/>
            </a:solidFill>
          </a:ln>
        </p:spPr>
      </p:sp>
      <p:sp>
        <p:nvSpPr>
          <p:cNvPr id="76" name="a-hg-sbeta"/>
          <p:cNvSpPr/>
          <p:nvPr>
            <p:extLst>
              <p:ext uri="{F5677B7D-0D2A-4D9B-9A5C-6D8D7D0E5A5D}">
                <pptd:line encoding="base64url">eyJ2aWV3Qm94IjpbMiwxN10sInBvaW50cyI6IjEsMTcgMSwwIiwiY3VydmUiOiJzaGFycCJ9</pptd:line>
              </p:ext>
            </p:extLst>
          </p:nvPr>
        </p:nvSpPr>
        <p:spPr>
          <a:xfrm>
            <a:off x="4368800" y="4889500"/>
            <a:ext cx="25400" cy="215900"/>
          </a:xfrm>
          <a:custGeom>
            <a:avLst/>
            <a:gdLst/>
            <a:ahLst/>
            <a:cxnLst/>
            <a:rect l="l" t="t" r="r" b="b"/>
            <a:pathLst>
              <a:path w="2" h="17">
                <a:moveTo>
                  <a:pt x="1" y="17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404040"/>
            </a:solidFill>
          </a:ln>
        </p:spPr>
      </p:sp>
      <p:sp>
        <p:nvSpPr>
          <p:cNvPr id="77" name="n-linq"/>
          <p:cNvSpPr/>
          <p:nvPr/>
        </p:nvSpPr>
        <p:spPr>
          <a:xfrm>
            <a:off x="787400" y="5181600"/>
            <a:ext cx="711200" cy="203200"/>
          </a:xfrm>
          <a:prstGeom prst="roundRect">
            <a:avLst>
              <a:gd name="adj" fmla="val 30000"/>
            </a:avLst>
          </a:prstGeom>
          <a:solidFill>
            <a:srgbClr val="F6D2CE"/>
          </a:solidFill>
          <a:ln w="12700">
            <a:solidFill>
              <a:srgbClr val="262626"/>
            </a:solidFill>
          </a:ln>
        </p:spPr>
      </p:sp>
      <p:sp>
        <p:nvSpPr>
          <p:cNvPr id="78" name="t-linq"/>
          <p:cNvSpPr txBox="1"/>
          <p:nvPr/>
        </p:nvSpPr>
        <p:spPr>
          <a:xfrm>
            <a:off x="787400" y="5181600"/>
            <a:ext cx="711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50" noProof="1">
                <a:solidFill>
                  <a:srgbClr val="262626"/>
                </a:solidFill>
                <a:latin typeface="黑体"/>
                <a:ea typeface="黑体"/>
              </a:rPr>
              <a:t>Linear</a:t>
            </a:r>
            <a:endParaRPr lang="en-US" sz="750" noProof="1"/>
          </a:p>
        </p:txBody>
      </p:sp>
      <p:sp>
        <p:nvSpPr>
          <p:cNvPr id="79" name="n-link"/>
          <p:cNvSpPr/>
          <p:nvPr/>
        </p:nvSpPr>
        <p:spPr>
          <a:xfrm>
            <a:off x="1651000" y="5181600"/>
            <a:ext cx="711200" cy="203200"/>
          </a:xfrm>
          <a:prstGeom prst="roundRect">
            <a:avLst>
              <a:gd name="adj" fmla="val 30000"/>
            </a:avLst>
          </a:prstGeom>
          <a:solidFill>
            <a:srgbClr val="F6D2CE"/>
          </a:solidFill>
          <a:ln w="12700">
            <a:solidFill>
              <a:srgbClr val="262626"/>
            </a:solidFill>
          </a:ln>
        </p:spPr>
      </p:sp>
      <p:sp>
        <p:nvSpPr>
          <p:cNvPr id="80" name="t-link"/>
          <p:cNvSpPr txBox="1"/>
          <p:nvPr/>
        </p:nvSpPr>
        <p:spPr>
          <a:xfrm>
            <a:off x="1651000" y="5181600"/>
            <a:ext cx="711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50" noProof="1">
                <a:solidFill>
                  <a:srgbClr val="262626"/>
                </a:solidFill>
                <a:latin typeface="黑体"/>
                <a:ea typeface="黑体"/>
              </a:rPr>
              <a:t>Linear</a:t>
            </a:r>
            <a:endParaRPr lang="en-US" sz="750" noProof="1"/>
          </a:p>
        </p:txBody>
      </p:sp>
      <p:sp>
        <p:nvSpPr>
          <p:cNvPr id="81" name="n-linv"/>
          <p:cNvSpPr/>
          <p:nvPr/>
        </p:nvSpPr>
        <p:spPr>
          <a:xfrm>
            <a:off x="2514600" y="5181600"/>
            <a:ext cx="711200" cy="203200"/>
          </a:xfrm>
          <a:prstGeom prst="roundRect">
            <a:avLst>
              <a:gd name="adj" fmla="val 30000"/>
            </a:avLst>
          </a:prstGeom>
          <a:solidFill>
            <a:srgbClr val="F6D2CE"/>
          </a:solidFill>
          <a:ln w="12700">
            <a:solidFill>
              <a:srgbClr val="262626"/>
            </a:solidFill>
          </a:ln>
        </p:spPr>
      </p:sp>
      <p:sp>
        <p:nvSpPr>
          <p:cNvPr id="82" name="t-linv"/>
          <p:cNvSpPr txBox="1"/>
          <p:nvPr/>
        </p:nvSpPr>
        <p:spPr>
          <a:xfrm>
            <a:off x="2514600" y="5181600"/>
            <a:ext cx="711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50" noProof="1">
                <a:solidFill>
                  <a:srgbClr val="262626"/>
                </a:solidFill>
                <a:latin typeface="黑体"/>
                <a:ea typeface="黑体"/>
              </a:rPr>
              <a:t>Linear</a:t>
            </a:r>
            <a:endParaRPr lang="en-US" sz="750" noProof="1"/>
          </a:p>
        </p:txBody>
      </p:sp>
      <p:sp>
        <p:nvSpPr>
          <p:cNvPr id="83" name="n-hgalpha-top"/>
          <p:cNvSpPr/>
          <p:nvPr/>
        </p:nvSpPr>
        <p:spPr>
          <a:xfrm flipV="1">
            <a:off x="3365500" y="5105400"/>
            <a:ext cx="508000" cy="139700"/>
          </a:xfrm>
          <a:prstGeom prst="triangle">
            <a:avLst/>
          </a:prstGeom>
          <a:solidFill>
            <a:srgbClr val="F6DAD6"/>
          </a:solidFill>
          <a:ln w="12700">
            <a:solidFill>
              <a:srgbClr val="262626"/>
            </a:solidFill>
          </a:ln>
        </p:spPr>
      </p:sp>
      <p:sp>
        <p:nvSpPr>
          <p:cNvPr id="84" name="n-hgalpha-bot"/>
          <p:cNvSpPr/>
          <p:nvPr/>
        </p:nvSpPr>
        <p:spPr>
          <a:xfrm>
            <a:off x="3365500" y="5245100"/>
            <a:ext cx="508000" cy="139700"/>
          </a:xfrm>
          <a:prstGeom prst="triangle">
            <a:avLst/>
          </a:prstGeom>
          <a:solidFill>
            <a:srgbClr val="F6DAD6"/>
          </a:solidFill>
          <a:ln w="12700">
            <a:solidFill>
              <a:srgbClr val="262626"/>
            </a:solidFill>
          </a:ln>
        </p:spPr>
      </p:sp>
      <p:sp>
        <p:nvSpPr>
          <p:cNvPr id="85" name="n-hgbeta-top"/>
          <p:cNvSpPr/>
          <p:nvPr/>
        </p:nvSpPr>
        <p:spPr>
          <a:xfrm flipV="1">
            <a:off x="4127500" y="5105400"/>
            <a:ext cx="508000" cy="139700"/>
          </a:xfrm>
          <a:prstGeom prst="triangle">
            <a:avLst/>
          </a:prstGeom>
          <a:solidFill>
            <a:srgbClr val="CBE6CF"/>
          </a:solidFill>
          <a:ln w="12700">
            <a:solidFill>
              <a:srgbClr val="262626"/>
            </a:solidFill>
          </a:ln>
        </p:spPr>
      </p:sp>
      <p:sp>
        <p:nvSpPr>
          <p:cNvPr id="86" name="n-hgbeta-bot"/>
          <p:cNvSpPr/>
          <p:nvPr/>
        </p:nvSpPr>
        <p:spPr>
          <a:xfrm>
            <a:off x="4127500" y="5245100"/>
            <a:ext cx="508000" cy="139700"/>
          </a:xfrm>
          <a:prstGeom prst="triangle">
            <a:avLst/>
          </a:prstGeom>
          <a:solidFill>
            <a:srgbClr val="CBE6CF"/>
          </a:solidFill>
          <a:ln w="12700">
            <a:solidFill>
              <a:srgbClr val="262626"/>
            </a:solidFill>
          </a:ln>
        </p:spPr>
      </p:sp>
      <p:sp>
        <p:nvSpPr>
          <p:cNvPr id="87" name="n-gate"/>
          <p:cNvSpPr/>
          <p:nvPr/>
        </p:nvSpPr>
        <p:spPr>
          <a:xfrm>
            <a:off x="4978400" y="5181600"/>
            <a:ext cx="711200" cy="203200"/>
          </a:xfrm>
          <a:prstGeom prst="roundRect">
            <a:avLst>
              <a:gd name="adj" fmla="val 30000"/>
            </a:avLst>
          </a:prstGeom>
          <a:solidFill>
            <a:srgbClr val="F6D2CE"/>
          </a:solidFill>
          <a:ln w="15875">
            <a:solidFill>
              <a:srgbClr val="C00000"/>
            </a:solidFill>
          </a:ln>
        </p:spPr>
      </p:sp>
      <p:sp>
        <p:nvSpPr>
          <p:cNvPr id="88" name="t-gate"/>
          <p:cNvSpPr txBox="1"/>
          <p:nvPr/>
        </p:nvSpPr>
        <p:spPr>
          <a:xfrm>
            <a:off x="4978400" y="5181600"/>
            <a:ext cx="711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50" noProof="1">
                <a:solidFill>
                  <a:srgbClr val="262626"/>
                </a:solidFill>
                <a:latin typeface="黑体"/>
                <a:ea typeface="黑体"/>
              </a:rPr>
              <a:t>Linear </a:t>
            </a:r>
            <a:r>
              <a:rPr lang="en-US" sz="750" noProof="1" b="1">
                <a:solidFill>
                  <a:srgbClr val="C00000"/>
                </a:solidFill>
                <a:latin typeface="黑体"/>
                <a:ea typeface="黑体"/>
              </a:rPr>
              <a:t>②</a:t>
            </a:r>
            <a:endParaRPr lang="en-US" sz="750" noProof="1"/>
          </a:p>
        </p:txBody>
      </p:sp>
      <p:sp>
        <p:nvSpPr>
          <p:cNvPr id="89" name="a-gate-mul"/>
          <p:cNvSpPr/>
          <p:nvPr>
            <p:extLst>
              <p:ext uri="{F5677B7D-0D2A-4D9B-9A5C-6D8D7D0E5A5D}">
                <pptd:line encoding="base64url">eyJ2aWV3Qm94IjpbMjMyLDE0N10sInBvaW50cyI6IjIzMiwxNDcgMjMyLDAgMCwwIiwiY3VydmUiOiJzaGFycCJ9</pptd:line>
              </p:ext>
            </p:extLst>
          </p:nvPr>
        </p:nvSpPr>
        <p:spPr>
          <a:xfrm>
            <a:off x="2387600" y="3314700"/>
            <a:ext cx="2946400" cy="1866900"/>
          </a:xfrm>
          <a:custGeom>
            <a:avLst/>
            <a:gdLst/>
            <a:ahLst/>
            <a:cxnLst/>
            <a:rect l="l" t="t" r="r" b="b"/>
            <a:pathLst>
              <a:path w="232" h="147">
                <a:moveTo>
                  <a:pt x="232" y="147"/>
                </a:moveTo>
                <a:lnTo>
                  <a:pt x="232" y="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90" name="a-bus"/>
          <p:cNvSpPr/>
          <p:nvPr>
            <p:extLst>
              <p:ext uri="{F5677B7D-0D2A-4D9B-9A5C-6D8D7D0E5A5D}">
                <pptd:line encoding="base64url">eyJ2aWV3Qm94IjpbMzMyLDJdLCJwb2ludHMiOiIwLDEgMzMyLDEiLCJjdXJ2ZSI6InNoYXJwIn0</pptd:line>
              </p:ext>
            </p:extLst>
          </p:nvPr>
        </p:nvSpPr>
        <p:spPr>
          <a:xfrm>
            <a:off x="1130300" y="5384800"/>
            <a:ext cx="4216400" cy="25400"/>
          </a:xfrm>
          <a:custGeom>
            <a:avLst/>
            <a:gdLst/>
            <a:ahLst/>
            <a:cxnLst/>
            <a:rect l="l" t="t" r="r" b="b"/>
            <a:pathLst>
              <a:path w="332" h="2">
                <a:moveTo>
                  <a:pt x="0" y="1"/>
                </a:moveTo>
                <a:lnTo>
                  <a:pt x="332" y="1"/>
                </a:lnTo>
              </a:path>
            </a:pathLst>
          </a:custGeom>
          <a:noFill/>
          <a:ln w="12700">
            <a:solidFill>
              <a:srgbClr val="404040"/>
            </a:solidFill>
          </a:ln>
        </p:spPr>
      </p:sp>
      <p:sp>
        <p:nvSpPr>
          <p:cNvPr id="91" name="a-in"/>
          <p:cNvSpPr/>
          <p:nvPr>
            <p:extLst>
              <p:ext uri="{F5677B7D-0D2A-4D9B-9A5C-6D8D7D0E5A5D}">
                <pptd:line encoding="base64url">eyJ2aWV3Qm94IjpbMiw3XSwicG9pbnRzIjoiMSw3IDEsMCIsImN1cnZlIjoic2hhcnAifQ</pptd:line>
              </p:ext>
            </p:extLst>
          </p:nvPr>
        </p:nvSpPr>
        <p:spPr>
          <a:xfrm>
            <a:off x="3162300" y="5410200"/>
            <a:ext cx="25400" cy="88900"/>
          </a:xfrm>
          <a:custGeom>
            <a:avLst/>
            <a:gdLst/>
            <a:ahLst/>
            <a:cxnLst/>
            <a:rect l="l" t="t" r="r" b="b"/>
            <a:pathLst>
              <a:path w="2" h="7">
                <a:moveTo>
                  <a:pt x="1" y="7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92" name="param-label"/>
          <p:cNvSpPr txBox="1"/>
          <p:nvPr/>
        </p:nvSpPr>
        <p:spPr>
          <a:xfrm>
            <a:off x="6197600" y="24511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黑体"/>
                <a:ea typeface="黑体"/>
              </a:rPr>
              <a:t>参数、FLOPs 与昇腾诉求</a:t>
            </a:r>
            <a:endParaRPr lang="en-US" sz="1200" noProof="1"/>
          </a:p>
        </p:txBody>
      </p:sp>
      <p:graphicFrame>
        <p:nvGraphicFramePr>
          <p:cNvPr id="93" name="param-table"/>
          <p:cNvGraphicFramePr>
            <a:graphicFrameLocks noGrp="1"/>
          </p:cNvGraphicFramePr>
          <p:nvPr/>
        </p:nvGraphicFramePr>
        <p:xfrm>
          <a:off x="6197600" y="2832100"/>
          <a:ext cx="5537200" cy="2489200"/>
        </p:xfrm>
        <a:graphic>
          <a:graphicData uri="http://schemas.openxmlformats.org/drawingml/2006/table">
            <a:tbl>
              <a:tblPr/>
              <a:tblGrid>
                <a:gridCol w="1328928"/>
                <a:gridCol w="1439672"/>
                <a:gridCol w="941324"/>
                <a:gridCol w="1827276"/>
              </a:tblGrid>
              <a:tr h="2489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组件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FLOPs/token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q/k/v 投影 + ShortConv（k=4）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x∈R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7168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 → q,k∈R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H·dk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，v∈R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H·dv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2d·H(2dk+dv)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稠密 GEMM → CUBE；decode 退化为 GEMV，访存受限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遗忘门 z + 写入强度 β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低秩 d→r→H·dk；d→H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≈2d·r（占比小）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小 GEMM + σ/exp 逐元素 → Vector 核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有界衰减 </a:t>
                      </a:r>
                      <a:r>
                        <a:rPr lang="en-US" sz="800" noProof="1">
                          <a:solidFill>
                            <a:srgbClr val="C00000"/>
                          </a:solidFill>
                          <a:latin typeface="黑体"/>
                          <a:ea typeface="黑体"/>
                        </a:rPr>
                        <a:t>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g = −5·σ(e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A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·z) ∈(−5, 0)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O(H·dk)，逐元素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纯 Vector；使对角块可上 CUBE，消除 position-pair 标量路径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Chunk 内注意力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A = Tril((Q⊙Γ)(K/Γ)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⊤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)；C = 64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2C(dk+dv)，与 L 无关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全稠密 matmul → CUBE 占比↑（原对角块为 chunk 内主要瓶颈）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跨 chunk 状态传播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S ∈ R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dk×dv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，chunk 间串行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2·dk·dv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小矩阵 + 串行依赖 → 并行度低，需 kernel 内流水掩盖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全秩输出门 + W</a:t>
                      </a:r>
                      <a:r>
                        <a:rPr lang="en-US" sz="800" noProof="1" baseline="-25000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o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 </a:t>
                      </a:r>
                      <a:r>
                        <a:rPr lang="en-US" sz="800" noProof="1">
                          <a:solidFill>
                            <a:srgbClr val="C00000"/>
                          </a:solidFill>
                          <a:latin typeface="黑体"/>
                          <a:ea typeface="黑体"/>
                        </a:rPr>
                        <a:t>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W</a:t>
                      </a:r>
                      <a:r>
                        <a:rPr lang="en-US" sz="800" noProof="1" baseline="-25000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g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: d×H·dv；W</a:t>
                      </a:r>
                      <a:r>
                        <a:rPr lang="en-US" sz="800" noProof="1" baseline="-25000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o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: H·dv×d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4d·H·dv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新增标准稠密 GEMM → CUBE 友好；参数量 +d·H·dv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4" name="param-note"/>
          <p:cNvSpPr txBox="1"/>
          <p:nvPr/>
        </p:nvSpPr>
        <p:spPr>
          <a:xfrm>
            <a:off x="6197600" y="5397500"/>
            <a:ext cx="5537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黑体"/>
                <a:ea typeface="黑体"/>
              </a:rPr>
              <a:t>显存：KDA 每层状态 H·dk·dv×2B（定长，与 L 无关）；24 层 MLA 的 KV Cache 随 L 线性增长，1M 上下文下为主要显存项。</a:t>
            </a:r>
            <a:endParaRPr lang="en-US" sz="750" noProof="1"/>
          </a:p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黑体"/>
                <a:ea typeface="黑体"/>
              </a:rPr>
              <a:t>注：d = 7168、H = 96（报告 Table 1）；dk / dv 以 checkpoint config 为准；FLOPs 按 chunkwise 公式推算。</a:t>
            </a:r>
            <a:endParaRPr lang="en-US" sz="750" noProof="1"/>
          </a:p>
        </p:txBody>
      </p:sp>
      <p:sp>
        <p:nvSpPr>
          <p:cNvPr id="95" name="dev-label"/>
          <p:cNvSpPr txBox="1"/>
          <p:nvPr/>
        </p:nvSpPr>
        <p:spPr>
          <a:xfrm>
            <a:off x="558800" y="55245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黑体"/>
                <a:ea typeface="黑体"/>
              </a:rPr>
              <a:t>开发需求与趋势思考</a:t>
            </a:r>
            <a:endParaRPr lang="en-US" sz="1200" noProof="1"/>
          </a:p>
        </p:txBody>
      </p:sp>
      <p:sp>
        <p:nvSpPr>
          <p:cNvPr id="96" name="dev-bullets"/>
          <p:cNvSpPr txBox="1"/>
          <p:nvPr/>
        </p:nvSpPr>
        <p:spPr>
          <a:xfrm>
            <a:off x="558800" y="5803900"/>
            <a:ext cx="111252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算子层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：FlashKDA 为 CUTLASS 实现（CUDA 专用），昇腾需对等 Ascend C 融合算子 —— chunkwise prefill（intra-chunk matmul 上 CUBE + 跨 chunk 状态传播流水交叠）、fused recurrent decode；vllm-ascend 现状为 Triton 版（ops/triton/kda/，12+ kernel，约 3,000 行），CUBE 调度深度受限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门控融合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：NPU recurrent kernel 未融合衰减门计算（vllm-ascend gate.py 需 host 侧 apply_kda_gate 预处理），safe-gate 路径应下沉融合进 kernel，消除显存往返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框架层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：vllm-ascend 已注册 kimi_k3 模型适配；待补 KDA state 的 MTP 投机解码回滚（只缓存投影输入、片上重建）、KDA checkpoint 与 MLA KV 统一分页的 prefix cache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趋势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：竞争点从“并行度”转向“状态管理”——大容量片上状态驻留 + 高效小矩阵乘 + Vector/Cube 异构流水；稠密化使 CUBE 占比持续上升</a:t>
            </a:r>
            <a:endParaRPr lang="en-US" sz="8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58800" y="1778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 spc="300" kern="0">
                <a:solidFill>
                  <a:srgbClr val="737373"/>
                </a:solidFill>
                <a:latin typeface="黑体"/>
                <a:ea typeface="黑体"/>
              </a:rPr>
              <a:t>HYBRID ATTENTION · 02</a:t>
            </a:r>
            <a:endParaRPr lang="en-US" sz="900" noProof="1"/>
          </a:p>
        </p:txBody>
      </p:sp>
      <p:sp>
        <p:nvSpPr>
          <p:cNvPr id="3" name="source-note"/>
          <p:cNvSpPr txBox="1"/>
          <p:nvPr/>
        </p:nvSpPr>
        <p:spPr>
          <a:xfrm>
            <a:off x="5080000" y="177800"/>
            <a:ext cx="6654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黑体"/>
                <a:ea typeface="黑体"/>
              </a:rPr>
              <a:t>资料来源：Kimi K3 Technical Report §2.1.2；vllm / vllm-ascend 代码仓</a:t>
            </a:r>
            <a:endParaRPr lang="en-US" sz="800" noProof="1"/>
          </a:p>
        </p:txBody>
      </p:sp>
      <p:sp>
        <p:nvSpPr>
          <p:cNvPr id="4" name="title"/>
          <p:cNvSpPr txBox="1"/>
          <p:nvPr/>
        </p:nvSpPr>
        <p:spPr>
          <a:xfrm>
            <a:off x="558800" y="3810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100" noProof="1" b="1">
                <a:solidFill>
                  <a:srgbClr val="C00000"/>
                </a:solidFill>
                <a:latin typeface="黑体"/>
                <a:ea typeface="黑体"/>
              </a:rPr>
              <a:t>Gated MLA：NoPE 全局注意力 + 全秩输出门</a:t>
            </a:r>
            <a:endParaRPr lang="en-US" sz="2100" noProof="1"/>
          </a:p>
        </p:txBody>
      </p:sp>
      <p:sp>
        <p:nvSpPr>
          <p:cNvPr id="5" name="title-bar"/>
          <p:cNvSpPr/>
          <p:nvPr/>
        </p:nvSpPr>
        <p:spPr>
          <a:xfrm>
            <a:off x="558800" y="838200"/>
            <a:ext cx="8128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6" name="concl-label-bg"/>
          <p:cNvSpPr/>
          <p:nvPr/>
        </p:nvSpPr>
        <p:spPr>
          <a:xfrm>
            <a:off x="558800" y="1219200"/>
            <a:ext cx="1117600" cy="1397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7" name="concl-label"/>
          <p:cNvSpPr txBox="1"/>
          <p:nvPr/>
        </p:nvSpPr>
        <p:spPr>
          <a:xfrm>
            <a:off x="558800" y="1219200"/>
            <a:ext cx="11176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黑体"/>
                <a:ea typeface="黑体"/>
              </a:rPr>
              <a:t>分析结论</a:t>
            </a:r>
            <a:endParaRPr lang="en-US" sz="1400" noProof="1"/>
          </a:p>
        </p:txBody>
      </p:sp>
      <p:sp>
        <p:nvSpPr>
          <p:cNvPr id="8" name="concl-body-bg"/>
          <p:cNvSpPr/>
          <p:nvPr/>
        </p:nvSpPr>
        <p:spPr>
          <a:xfrm>
            <a:off x="1778000" y="1219200"/>
            <a:ext cx="9956800" cy="139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" name="concl-bullets"/>
          <p:cNvSpPr txBox="1"/>
          <p:nvPr/>
        </p:nvSpPr>
        <p:spPr>
          <a:xfrm>
            <a:off x="1955800" y="1282700"/>
            <a:ext cx="96012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结构定位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：MLA 将每 token 的 KV 压缩为低维隐向量 c</a:t>
            </a:r>
            <a:r>
              <a:rPr lang="en-US" sz="900" noProof="1" baseline="-25000">
                <a:solidFill>
                  <a:srgbClr val="262626"/>
                </a:solidFill>
                <a:latin typeface="黑体"/>
                <a:ea typeface="黑体"/>
              </a:rPr>
              <a:t>t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 缓存、注意力时经上投影重建 K/V；K3 每 block 保留 1 层 Gated MLA（共 24 层，骨干末尾再 +1 层），承担无限制的全局内容交互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改动① 全面 NoPE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：MLA 层不施加任何显式位置编码（K2 / K2.5 为 RoPE），位置与近因感知交由 KDA 层；扩展上下文无需重调 RoPE 基频或 YaRN；KV Cache 不含 rope 分量，单 token 缓存由 (dc+dr) 降为 dc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改动② 全秩输出门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：y = W</a:t>
            </a:r>
            <a:r>
              <a:rPr lang="en-US" sz="900" noProof="1" baseline="-25000">
                <a:solidFill>
                  <a:srgbClr val="262626"/>
                </a:solidFill>
                <a:latin typeface="黑体"/>
                <a:ea typeface="黑体"/>
              </a:rPr>
              <a:t>o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[σ(W</a:t>
            </a:r>
            <a:r>
              <a:rPr lang="en-US" sz="900" noProof="1" baseline="-25000">
                <a:solidFill>
                  <a:srgbClr val="262626"/>
                </a:solidFill>
                <a:latin typeface="黑体"/>
                <a:ea typeface="黑体"/>
              </a:rPr>
              <a:t>g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·x) ⊙ õ]，与 KDA 同款门控，逐通道调节全局注意力读出；新增 d×H·dh 稠密 GEMM → CUBE 友好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训练数值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：注意力输出在训练中保持 FP32（修正 flash attention 的 biased rounding），输出 tile 片上占用翻倍 → 训练 kernel 重排为与 KV staging buffer 交叠，换取更深 KV 流水与更高吞吐</a:t>
            </a:r>
            <a:endParaRPr lang="en-US" sz="900" noProof="1"/>
          </a:p>
        </p:txBody>
      </p:sp>
      <p:sp>
        <p:nvSpPr>
          <p:cNvPr id="10" name="arch-label"/>
          <p:cNvSpPr txBox="1"/>
          <p:nvPr/>
        </p:nvSpPr>
        <p:spPr>
          <a:xfrm>
            <a:off x="558800" y="2641600"/>
            <a:ext cx="254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黑体"/>
                <a:ea typeface="黑体"/>
              </a:rPr>
              <a:t>模块结构与数据流</a:t>
            </a:r>
            <a:endParaRPr lang="en-US" sz="1200" noProof="1"/>
          </a:p>
        </p:txBody>
      </p:sp>
      <p:sp>
        <p:nvSpPr>
          <p:cNvPr id="11" name="legend-box"/>
          <p:cNvSpPr/>
          <p:nvPr/>
        </p:nvSpPr>
        <p:spPr>
          <a:xfrm>
            <a:off x="2921000" y="2679700"/>
            <a:ext cx="127000" cy="12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</p:sp>
      <p:sp>
        <p:nvSpPr>
          <p:cNvPr id="12" name="legend-text"/>
          <p:cNvSpPr txBox="1"/>
          <p:nvPr/>
        </p:nvSpPr>
        <p:spPr>
          <a:xfrm>
            <a:off x="3098800" y="2641600"/>
            <a:ext cx="3048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黑体"/>
                <a:ea typeface="黑体"/>
              </a:rPr>
              <a:t>红框 = K3 相对标准 MLA（K2）的改动</a:t>
            </a:r>
            <a:endParaRPr lang="en-US" sz="800" noProof="1"/>
          </a:p>
        </p:txBody>
      </p:sp>
      <p:sp>
        <p:nvSpPr>
          <p:cNvPr id="13" name="module-border"/>
          <p:cNvSpPr/>
          <p:nvPr/>
        </p:nvSpPr>
        <p:spPr>
          <a:xfrm>
            <a:off x="457200" y="2895600"/>
            <a:ext cx="5435600" cy="281940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404040"/>
            </a:solidFill>
            <a:prstDash val="dash"/>
          </a:ln>
        </p:spPr>
      </p:sp>
      <p:sp>
        <p:nvSpPr>
          <p:cNvPr id="14" name="sh-wo"/>
          <p:cNvSpPr/>
          <p:nvPr/>
        </p:nvSpPr>
        <p:spPr>
          <a:xfrm>
            <a:off x="1955800" y="3149600"/>
            <a:ext cx="711200" cy="203200"/>
          </a:xfrm>
          <a:prstGeom prst="roundRect">
            <a:avLst>
              <a:gd name="adj" fmla="val 30000"/>
            </a:avLst>
          </a:prstGeom>
          <a:solidFill>
            <a:srgbClr val="D4D4D4"/>
          </a:solidFill>
          <a:ln>
            <a:noFill/>
          </a:ln>
        </p:spPr>
      </p:sp>
      <p:sp>
        <p:nvSpPr>
          <p:cNvPr id="15" name="sh-wq"/>
          <p:cNvSpPr/>
          <p:nvPr/>
        </p:nvSpPr>
        <p:spPr>
          <a:xfrm>
            <a:off x="812800" y="5422900"/>
            <a:ext cx="711200" cy="203200"/>
          </a:xfrm>
          <a:prstGeom prst="roundRect">
            <a:avLst>
              <a:gd name="adj" fmla="val 30000"/>
            </a:avLst>
          </a:prstGeom>
          <a:solidFill>
            <a:srgbClr val="D4D4D4"/>
          </a:solidFill>
          <a:ln>
            <a:noFill/>
          </a:ln>
        </p:spPr>
      </p:sp>
      <p:sp>
        <p:nvSpPr>
          <p:cNvPr id="16" name="sh-wc"/>
          <p:cNvSpPr/>
          <p:nvPr/>
        </p:nvSpPr>
        <p:spPr>
          <a:xfrm>
            <a:off x="2209800" y="5422900"/>
            <a:ext cx="711200" cy="203200"/>
          </a:xfrm>
          <a:prstGeom prst="roundRect">
            <a:avLst>
              <a:gd name="adj" fmla="val 30000"/>
            </a:avLst>
          </a:prstGeom>
          <a:solidFill>
            <a:srgbClr val="D4D4D4"/>
          </a:solidFill>
          <a:ln>
            <a:noFill/>
          </a:ln>
        </p:spPr>
      </p:sp>
      <p:sp>
        <p:nvSpPr>
          <p:cNvPr id="17" name="sh-gate"/>
          <p:cNvSpPr/>
          <p:nvPr/>
        </p:nvSpPr>
        <p:spPr>
          <a:xfrm>
            <a:off x="5003800" y="5422900"/>
            <a:ext cx="711200" cy="203200"/>
          </a:xfrm>
          <a:prstGeom prst="roundRect">
            <a:avLst>
              <a:gd name="adj" fmla="val 30000"/>
            </a:avLst>
          </a:prstGeom>
          <a:solidFill>
            <a:srgbClr val="D4D4D4"/>
          </a:solidFill>
          <a:ln>
            <a:noFill/>
          </a:ln>
        </p:spPr>
      </p:sp>
      <p:sp>
        <p:nvSpPr>
          <p:cNvPr id="18" name="sh-wuk"/>
          <p:cNvSpPr/>
          <p:nvPr/>
        </p:nvSpPr>
        <p:spPr>
          <a:xfrm>
            <a:off x="1524000" y="4699000"/>
            <a:ext cx="812800" cy="203200"/>
          </a:xfrm>
          <a:prstGeom prst="roundRect">
            <a:avLst>
              <a:gd name="adj" fmla="val 30000"/>
            </a:avLst>
          </a:prstGeom>
          <a:solidFill>
            <a:srgbClr val="D4D4D4"/>
          </a:solidFill>
          <a:ln>
            <a:noFill/>
          </a:ln>
        </p:spPr>
      </p:sp>
      <p:sp>
        <p:nvSpPr>
          <p:cNvPr id="19" name="sh-wuv"/>
          <p:cNvSpPr/>
          <p:nvPr/>
        </p:nvSpPr>
        <p:spPr>
          <a:xfrm>
            <a:off x="2794000" y="4699000"/>
            <a:ext cx="812800" cy="203200"/>
          </a:xfrm>
          <a:prstGeom prst="roundRect">
            <a:avLst>
              <a:gd name="adj" fmla="val 30000"/>
            </a:avLst>
          </a:prstGeom>
          <a:solidFill>
            <a:srgbClr val="D4D4D4"/>
          </a:solidFill>
          <a:ln>
            <a:noFill/>
          </a:ln>
        </p:spPr>
      </p:sp>
      <p:sp>
        <p:nvSpPr>
          <p:cNvPr id="20" name="a-out"/>
          <p:cNvSpPr/>
          <p:nvPr>
            <p:extLst>
              <p:ext uri="{F5677B7D-0D2A-4D9B-9A5C-6D8D7D0E5A5D}">
                <pptd:line encoding="base64url">eyJ2aWV3Qm94IjpbMiwxNl0sInBvaW50cyI6IjEsMTYgMSwwIiwiY3VydmUiOiJzaGFycCJ9</pptd:line>
              </p:ext>
            </p:extLst>
          </p:nvPr>
        </p:nvSpPr>
        <p:spPr>
          <a:xfrm>
            <a:off x="2273300" y="2921000"/>
            <a:ext cx="25400" cy="203200"/>
          </a:xfrm>
          <a:custGeom>
            <a:avLst/>
            <a:gdLst/>
            <a:ahLst/>
            <a:cxnLst/>
            <a:rect l="l" t="t" r="r" b="b"/>
            <a:pathLst>
              <a:path w="2" h="16">
                <a:moveTo>
                  <a:pt x="1" y="16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21" name="lab-y"/>
          <p:cNvSpPr txBox="1"/>
          <p:nvPr/>
        </p:nvSpPr>
        <p:spPr>
          <a:xfrm>
            <a:off x="2362200" y="2921000"/>
            <a:ext cx="508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404040"/>
                </a:solidFill>
                <a:latin typeface="黑体"/>
                <a:ea typeface="黑体"/>
              </a:rPr>
              <a:t>y</a:t>
            </a:r>
            <a:r>
              <a:rPr lang="en-US" sz="800" noProof="1" baseline="-25000">
                <a:solidFill>
                  <a:srgbClr val="404040"/>
                </a:solidFill>
                <a:latin typeface="黑体"/>
                <a:ea typeface="黑体"/>
              </a:rPr>
              <a:t>t</a:t>
            </a:r>
            <a:endParaRPr lang="en-US" sz="800" noProof="1"/>
          </a:p>
        </p:txBody>
      </p:sp>
      <p:sp>
        <p:nvSpPr>
          <p:cNvPr id="22" name="n-wo"/>
          <p:cNvSpPr/>
          <p:nvPr/>
        </p:nvSpPr>
        <p:spPr>
          <a:xfrm>
            <a:off x="1930400" y="3124200"/>
            <a:ext cx="711200" cy="203200"/>
          </a:xfrm>
          <a:prstGeom prst="roundRect">
            <a:avLst>
              <a:gd name="adj" fmla="val 30000"/>
            </a:avLst>
          </a:prstGeom>
          <a:solidFill>
            <a:srgbClr val="F6D2CE"/>
          </a:solidFill>
          <a:ln w="12700">
            <a:solidFill>
              <a:srgbClr val="262626"/>
            </a:solidFill>
          </a:ln>
        </p:spPr>
      </p:sp>
      <p:sp>
        <p:nvSpPr>
          <p:cNvPr id="23" name="t-wo"/>
          <p:cNvSpPr txBox="1"/>
          <p:nvPr/>
        </p:nvSpPr>
        <p:spPr>
          <a:xfrm>
            <a:off x="1930400" y="3124200"/>
            <a:ext cx="711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50" noProof="1">
                <a:solidFill>
                  <a:srgbClr val="262626"/>
                </a:solidFill>
                <a:latin typeface="黑体"/>
                <a:ea typeface="黑体"/>
              </a:rPr>
              <a:t>Linear</a:t>
            </a:r>
            <a:endParaRPr lang="en-US" sz="750" noProof="1"/>
          </a:p>
        </p:txBody>
      </p:sp>
      <p:sp>
        <p:nvSpPr>
          <p:cNvPr id="24" name="a-mul-wo"/>
          <p:cNvSpPr/>
          <p:nvPr>
            <p:extLst>
              <p:ext uri="{F5677B7D-0D2A-4D9B-9A5C-6D8D7D0E5A5D}">
                <pptd:line encoding="base64url">eyJ2aWV3Qm94IjpbMiw4XSwicG9pbnRzIjoiMSw4IDEsMCIsImN1cnZlIjoic2hhcnAifQ</pptd:line>
              </p:ext>
            </p:extLst>
          </p:nvPr>
        </p:nvSpPr>
        <p:spPr>
          <a:xfrm>
            <a:off x="2273300" y="3327400"/>
            <a:ext cx="25400" cy="101600"/>
          </a:xfrm>
          <a:custGeom>
            <a:avLst/>
            <a:gdLst/>
            <a:ahLst/>
            <a:cxnLst/>
            <a:rect l="l" t="t" r="r" b="b"/>
            <a:pathLst>
              <a:path w="2" h="8">
                <a:moveTo>
                  <a:pt x="1" y="8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25" name="n-mul"/>
          <p:cNvSpPr/>
          <p:nvPr/>
        </p:nvSpPr>
        <p:spPr>
          <a:xfrm>
            <a:off x="2184400" y="3429000"/>
            <a:ext cx="203200" cy="203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626"/>
            </a:solidFill>
          </a:ln>
        </p:spPr>
      </p:sp>
      <p:sp>
        <p:nvSpPr>
          <p:cNvPr id="26" name="t-mul"/>
          <p:cNvSpPr txBox="1"/>
          <p:nvPr/>
        </p:nvSpPr>
        <p:spPr>
          <a:xfrm>
            <a:off x="2184400" y="3429000"/>
            <a:ext cx="203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⊗</a:t>
            </a:r>
            <a:endParaRPr lang="en-US" sz="900" noProof="1"/>
          </a:p>
        </p:txBody>
      </p:sp>
      <p:sp>
        <p:nvSpPr>
          <p:cNvPr id="27" name="a-attn-mul"/>
          <p:cNvSpPr/>
          <p:nvPr>
            <p:extLst>
              <p:ext uri="{F5677B7D-0D2A-4D9B-9A5C-6D8D7D0E5A5D}">
                <pptd:line encoding="base64url">eyJ2aWV3Qm94IjpbMiwzMl0sInBvaW50cyI6IjEsMzIgMSwwIiwiY3VydmUiOiJzaGFycCJ9</pptd:line>
              </p:ext>
            </p:extLst>
          </p:nvPr>
        </p:nvSpPr>
        <p:spPr>
          <a:xfrm>
            <a:off x="2273300" y="3632200"/>
            <a:ext cx="25400" cy="406400"/>
          </a:xfrm>
          <a:custGeom>
            <a:avLst/>
            <a:gdLst/>
            <a:ahLst/>
            <a:cxnLst/>
            <a:rect l="l" t="t" r="r" b="b"/>
            <a:pathLst>
              <a:path w="2" h="32">
                <a:moveTo>
                  <a:pt x="1" y="32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28" name="n-attn"/>
          <p:cNvSpPr/>
          <p:nvPr/>
        </p:nvSpPr>
        <p:spPr>
          <a:xfrm>
            <a:off x="812800" y="4038600"/>
            <a:ext cx="3759200" cy="431800"/>
          </a:xfrm>
          <a:prstGeom prst="roundRect">
            <a:avLst>
              <a:gd name="adj" fmla="val 20000"/>
            </a:avLst>
          </a:prstGeom>
          <a:solidFill>
            <a:srgbClr val="C8DCF4"/>
          </a:solidFill>
          <a:ln w="12700">
            <a:solidFill>
              <a:srgbClr val="262626"/>
            </a:solidFill>
          </a:ln>
        </p:spPr>
      </p:sp>
      <p:sp>
        <p:nvSpPr>
          <p:cNvPr id="29" name="t-attn"/>
          <p:cNvSpPr txBox="1"/>
          <p:nvPr/>
        </p:nvSpPr>
        <p:spPr>
          <a:xfrm>
            <a:off x="863600" y="4064000"/>
            <a:ext cx="36576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0000"/>
              </a:lnSpc>
            </a:pPr>
            <a:r>
              <a:rPr lang="en-US" sz="850" noProof="1" b="1">
                <a:solidFill>
                  <a:srgbClr val="1F2A36"/>
                </a:solidFill>
                <a:latin typeface="黑体"/>
                <a:ea typeface="黑体"/>
              </a:rPr>
              <a:t>Gated MLA（NoPE 全局注意力）</a:t>
            </a:r>
            <a:r>
              <a:rPr lang="en-US" sz="850" noProof="1" b="1">
                <a:solidFill>
                  <a:srgbClr val="C00000"/>
                </a:solidFill>
                <a:latin typeface="黑体"/>
                <a:ea typeface="黑体"/>
              </a:rPr>
              <a:t> ①</a:t>
            </a:r>
            <a:endParaRPr lang="en-US" sz="850" noProof="1"/>
          </a:p>
          <a:p>
            <a:pPr algn="ctr">
              <a:lnSpc>
                <a:spcPct val="130000"/>
              </a:lnSpc>
            </a:pPr>
            <a:r>
              <a:rPr lang="en-US" sz="700" noProof="1">
                <a:solidFill>
                  <a:srgbClr val="1F2A36"/>
                </a:solidFill>
                <a:latin typeface="黑体"/>
                <a:ea typeface="黑体"/>
              </a:rPr>
              <a:t>õ</a:t>
            </a:r>
            <a:r>
              <a:rPr lang="en-US" sz="700" noProof="1" baseline="-25000">
                <a:solidFill>
                  <a:srgbClr val="1F2A36"/>
                </a:solidFill>
                <a:latin typeface="黑体"/>
                <a:ea typeface="黑体"/>
              </a:rPr>
              <a:t>t</a:t>
            </a:r>
            <a:r>
              <a:rPr lang="en-US" sz="700" noProof="1">
                <a:solidFill>
                  <a:srgbClr val="1F2A36"/>
                </a:solidFill>
                <a:latin typeface="黑体"/>
                <a:ea typeface="黑体"/>
              </a:rPr>
              <a:t> = Σ</a:t>
            </a:r>
            <a:r>
              <a:rPr lang="en-US" sz="700" noProof="1" baseline="-25000">
                <a:solidFill>
                  <a:srgbClr val="1F2A36"/>
                </a:solidFill>
                <a:latin typeface="黑体"/>
                <a:ea typeface="黑体"/>
              </a:rPr>
              <a:t>j≤t</a:t>
            </a:r>
            <a:r>
              <a:rPr lang="en-US" sz="700" noProof="1">
                <a:solidFill>
                  <a:srgbClr val="1F2A36"/>
                </a:solidFill>
                <a:latin typeface="黑体"/>
                <a:ea typeface="黑体"/>
              </a:rPr>
              <a:t> softmax(q</a:t>
            </a:r>
            <a:r>
              <a:rPr lang="en-US" sz="700" noProof="1" baseline="-25000">
                <a:solidFill>
                  <a:srgbClr val="1F2A36"/>
                </a:solidFill>
                <a:latin typeface="黑体"/>
                <a:ea typeface="黑体"/>
              </a:rPr>
              <a:t>t</a:t>
            </a:r>
            <a:r>
              <a:rPr lang="en-US" sz="700" noProof="1">
                <a:solidFill>
                  <a:srgbClr val="1F2A36"/>
                </a:solidFill>
                <a:latin typeface="黑体"/>
                <a:ea typeface="黑体"/>
              </a:rPr>
              <a:t>·k</a:t>
            </a:r>
            <a:r>
              <a:rPr lang="en-US" sz="700" noProof="1" baseline="-25000">
                <a:solidFill>
                  <a:srgbClr val="1F2A36"/>
                </a:solidFill>
                <a:latin typeface="黑体"/>
                <a:ea typeface="黑体"/>
              </a:rPr>
              <a:t>j</a:t>
            </a:r>
            <a:r>
              <a:rPr lang="en-US" sz="700" noProof="1">
                <a:solidFill>
                  <a:srgbClr val="1F2A36"/>
                </a:solidFill>
                <a:latin typeface="黑体"/>
                <a:ea typeface="黑体"/>
              </a:rPr>
              <a:t> / √dh)·v</a:t>
            </a:r>
            <a:r>
              <a:rPr lang="en-US" sz="700" noProof="1" baseline="-25000">
                <a:solidFill>
                  <a:srgbClr val="1F2A36"/>
                </a:solidFill>
                <a:latin typeface="黑体"/>
                <a:ea typeface="黑体"/>
              </a:rPr>
              <a:t>j</a:t>
            </a:r>
            <a:r>
              <a:rPr lang="en-US" sz="700" noProof="1">
                <a:solidFill>
                  <a:srgbClr val="1F2A36"/>
                </a:solidFill>
                <a:latin typeface="黑体"/>
                <a:ea typeface="黑体"/>
              </a:rPr>
              <a:t>（q / k 无任何位置编码）</a:t>
            </a:r>
            <a:endParaRPr lang="en-US" sz="850" noProof="1"/>
          </a:p>
        </p:txBody>
      </p:sp>
      <p:sp>
        <p:nvSpPr>
          <p:cNvPr id="30" name="a-q"/>
          <p:cNvSpPr/>
          <p:nvPr>
            <p:extLst>
              <p:ext uri="{F5677B7D-0D2A-4D9B-9A5C-6D8D7D0E5A5D}">
                <pptd:line encoding="base64url">eyJ2aWV3Qm94IjpbMiw3M10sInBvaW50cyI6IjEsNzMgMSwwIiwiY3VydmUiOiJzaGFycCJ9</pptd:line>
              </p:ext>
            </p:extLst>
          </p:nvPr>
        </p:nvSpPr>
        <p:spPr>
          <a:xfrm>
            <a:off x="1130300" y="4470400"/>
            <a:ext cx="25400" cy="927100"/>
          </a:xfrm>
          <a:custGeom>
            <a:avLst/>
            <a:gdLst/>
            <a:ahLst/>
            <a:cxnLst/>
            <a:rect l="l" t="t" r="r" b="b"/>
            <a:pathLst>
              <a:path w="2" h="73">
                <a:moveTo>
                  <a:pt x="1" y="73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31" name="a-kk"/>
          <p:cNvSpPr/>
          <p:nvPr>
            <p:extLst>
              <p:ext uri="{F5677B7D-0D2A-4D9B-9A5C-6D8D7D0E5A5D}">
                <pptd:line encoding="base64url">eyJ2aWV3Qm94IjpbMiwxNl0sInBvaW50cyI6IjEsMTYgMSwwIiwiY3VydmUiOiJzaGFycCJ9</pptd:line>
              </p:ext>
            </p:extLst>
          </p:nvPr>
        </p:nvSpPr>
        <p:spPr>
          <a:xfrm>
            <a:off x="1892300" y="4470400"/>
            <a:ext cx="25400" cy="203200"/>
          </a:xfrm>
          <a:custGeom>
            <a:avLst/>
            <a:gdLst/>
            <a:ahLst/>
            <a:cxnLst/>
            <a:rect l="l" t="t" r="r" b="b"/>
            <a:pathLst>
              <a:path w="2" h="16">
                <a:moveTo>
                  <a:pt x="1" y="16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32" name="a-vv"/>
          <p:cNvSpPr/>
          <p:nvPr>
            <p:extLst>
              <p:ext uri="{F5677B7D-0D2A-4D9B-9A5C-6D8D7D0E5A5D}">
                <pptd:line encoding="base64url">eyJ2aWV3Qm94IjpbMiwxNl0sInBvaW50cyI6IjEsMTYgMSwwIiwiY3VydmUiOiJzaGFycCJ9</pptd:line>
              </p:ext>
            </p:extLst>
          </p:nvPr>
        </p:nvSpPr>
        <p:spPr>
          <a:xfrm>
            <a:off x="3162300" y="4470400"/>
            <a:ext cx="25400" cy="203200"/>
          </a:xfrm>
          <a:custGeom>
            <a:avLst/>
            <a:gdLst/>
            <a:ahLst/>
            <a:cxnLst/>
            <a:rect l="l" t="t" r="r" b="b"/>
            <a:pathLst>
              <a:path w="2" h="16">
                <a:moveTo>
                  <a:pt x="1" y="16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33" name="lab-q"/>
          <p:cNvSpPr txBox="1"/>
          <p:nvPr/>
        </p:nvSpPr>
        <p:spPr>
          <a:xfrm>
            <a:off x="1193800" y="4826000"/>
            <a:ext cx="177800" cy="12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404040"/>
                </a:solidFill>
                <a:latin typeface="黑体"/>
                <a:ea typeface="黑体"/>
              </a:rPr>
              <a:t>q</a:t>
            </a:r>
            <a:endParaRPr lang="en-US" sz="800" noProof="1"/>
          </a:p>
        </p:txBody>
      </p:sp>
      <p:sp>
        <p:nvSpPr>
          <p:cNvPr id="34" name="lab-k"/>
          <p:cNvSpPr txBox="1"/>
          <p:nvPr/>
        </p:nvSpPr>
        <p:spPr>
          <a:xfrm>
            <a:off x="1955800" y="4495800"/>
            <a:ext cx="177800" cy="12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404040"/>
                </a:solidFill>
                <a:latin typeface="黑体"/>
                <a:ea typeface="黑体"/>
              </a:rPr>
              <a:t>k</a:t>
            </a:r>
            <a:endParaRPr lang="en-US" sz="800" noProof="1"/>
          </a:p>
        </p:txBody>
      </p:sp>
      <p:sp>
        <p:nvSpPr>
          <p:cNvPr id="35" name="lab-v"/>
          <p:cNvSpPr txBox="1"/>
          <p:nvPr/>
        </p:nvSpPr>
        <p:spPr>
          <a:xfrm>
            <a:off x="3225800" y="4495800"/>
            <a:ext cx="177800" cy="12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404040"/>
                </a:solidFill>
                <a:latin typeface="黑体"/>
                <a:ea typeface="黑体"/>
              </a:rPr>
              <a:t>v</a:t>
            </a:r>
            <a:endParaRPr lang="en-US" sz="800" noProof="1"/>
          </a:p>
        </p:txBody>
      </p:sp>
      <p:sp>
        <p:nvSpPr>
          <p:cNvPr id="36" name="n-wuk"/>
          <p:cNvSpPr/>
          <p:nvPr/>
        </p:nvSpPr>
        <p:spPr>
          <a:xfrm>
            <a:off x="1498600" y="4673600"/>
            <a:ext cx="812800" cy="203200"/>
          </a:xfrm>
          <a:prstGeom prst="roundRect">
            <a:avLst>
              <a:gd name="adj" fmla="val 30000"/>
            </a:avLst>
          </a:prstGeom>
          <a:solidFill>
            <a:srgbClr val="F6D2CE"/>
          </a:solidFill>
          <a:ln w="12700">
            <a:solidFill>
              <a:srgbClr val="262626"/>
            </a:solidFill>
          </a:ln>
        </p:spPr>
      </p:sp>
      <p:sp>
        <p:nvSpPr>
          <p:cNvPr id="37" name="t-wuk"/>
          <p:cNvSpPr txBox="1"/>
          <p:nvPr/>
        </p:nvSpPr>
        <p:spPr>
          <a:xfrm>
            <a:off x="1498600" y="4673600"/>
            <a:ext cx="812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262626"/>
                </a:solidFill>
                <a:latin typeface="黑体"/>
                <a:ea typeface="黑体"/>
              </a:rPr>
              <a:t>Linear W</a:t>
            </a:r>
            <a:r>
              <a:rPr lang="en-US" sz="700" noProof="1" baseline="-25000">
                <a:solidFill>
                  <a:srgbClr val="262626"/>
                </a:solidFill>
                <a:latin typeface="黑体"/>
                <a:ea typeface="黑体"/>
              </a:rPr>
              <a:t>uk</a:t>
            </a:r>
            <a:endParaRPr lang="en-US" sz="700" noProof="1"/>
          </a:p>
        </p:txBody>
      </p:sp>
      <p:sp>
        <p:nvSpPr>
          <p:cNvPr id="38" name="n-wuv"/>
          <p:cNvSpPr/>
          <p:nvPr/>
        </p:nvSpPr>
        <p:spPr>
          <a:xfrm>
            <a:off x="2768600" y="4673600"/>
            <a:ext cx="812800" cy="203200"/>
          </a:xfrm>
          <a:prstGeom prst="roundRect">
            <a:avLst>
              <a:gd name="adj" fmla="val 30000"/>
            </a:avLst>
          </a:prstGeom>
          <a:solidFill>
            <a:srgbClr val="F6D2CE"/>
          </a:solidFill>
          <a:ln w="12700">
            <a:solidFill>
              <a:srgbClr val="262626"/>
            </a:solidFill>
          </a:ln>
        </p:spPr>
      </p:sp>
      <p:sp>
        <p:nvSpPr>
          <p:cNvPr id="39" name="t-wuv"/>
          <p:cNvSpPr txBox="1"/>
          <p:nvPr/>
        </p:nvSpPr>
        <p:spPr>
          <a:xfrm>
            <a:off x="2768600" y="4673600"/>
            <a:ext cx="812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262626"/>
                </a:solidFill>
                <a:latin typeface="黑体"/>
                <a:ea typeface="黑体"/>
              </a:rPr>
              <a:t>Linear W</a:t>
            </a:r>
            <a:r>
              <a:rPr lang="en-US" sz="700" noProof="1" baseline="-25000">
                <a:solidFill>
                  <a:srgbClr val="262626"/>
                </a:solidFill>
                <a:latin typeface="黑体"/>
                <a:ea typeface="黑体"/>
              </a:rPr>
              <a:t>uv</a:t>
            </a:r>
            <a:endParaRPr lang="en-US" sz="700" noProof="1"/>
          </a:p>
        </p:txBody>
      </p:sp>
      <p:sp>
        <p:nvSpPr>
          <p:cNvPr id="40" name="a-ct-uk"/>
          <p:cNvSpPr/>
          <p:nvPr>
            <p:extLst>
              <p:ext uri="{F5677B7D-0D2A-4D9B-9A5C-6D8D7D0E5A5D}">
                <pptd:line encoding="base64url">eyJ2aWV3Qm94IjpbMzAsMTJdLCJwb2ludHMiOiIzMCwxMiAwLDAiLCJjdXJ2ZSI6InNoYXJwIn0</pptd:line>
              </p:ext>
            </p:extLst>
          </p:nvPr>
        </p:nvSpPr>
        <p:spPr>
          <a:xfrm>
            <a:off x="1905000" y="4876800"/>
            <a:ext cx="381000" cy="152400"/>
          </a:xfrm>
          <a:custGeom>
            <a:avLst/>
            <a:gdLst/>
            <a:ahLst/>
            <a:cxnLst/>
            <a:rect l="l" t="t" r="r" b="b"/>
            <a:pathLst>
              <a:path w="30" h="12">
                <a:moveTo>
                  <a:pt x="30" y="12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41" name="a-ct-uv"/>
          <p:cNvSpPr/>
          <p:nvPr>
            <p:extLst>
              <p:ext uri="{F5677B7D-0D2A-4D9B-9A5C-6D8D7D0E5A5D}">
                <pptd:line encoding="base64url">eyJ2aWV3Qm94IjpbNzAsMTJdLCJwb2ludHMiOiIwLDEyIDcwLDAiLCJjdXJ2ZSI6InNoYXJwIn0</pptd:line>
              </p:ext>
            </p:extLst>
          </p:nvPr>
        </p:nvSpPr>
        <p:spPr>
          <a:xfrm>
            <a:off x="2286000" y="4876800"/>
            <a:ext cx="889000" cy="152400"/>
          </a:xfrm>
          <a:custGeom>
            <a:avLst/>
            <a:gdLst/>
            <a:ahLst/>
            <a:cxnLst/>
            <a:rect l="l" t="t" r="r" b="b"/>
            <a:pathLst>
              <a:path w="70" h="12">
                <a:moveTo>
                  <a:pt x="0" y="12"/>
                </a:moveTo>
                <a:lnTo>
                  <a:pt x="70" y="0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42" name="n-ct"/>
          <p:cNvSpPr/>
          <p:nvPr/>
        </p:nvSpPr>
        <p:spPr>
          <a:xfrm>
            <a:off x="2032000" y="5029200"/>
            <a:ext cx="1016000" cy="203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62626"/>
            </a:solidFill>
          </a:ln>
        </p:spPr>
      </p:sp>
      <p:sp>
        <p:nvSpPr>
          <p:cNvPr id="43" name="t-ct"/>
          <p:cNvSpPr txBox="1"/>
          <p:nvPr/>
        </p:nvSpPr>
        <p:spPr>
          <a:xfrm>
            <a:off x="2032000" y="5029200"/>
            <a:ext cx="1016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262626"/>
                </a:solidFill>
                <a:latin typeface="黑体"/>
                <a:ea typeface="黑体"/>
              </a:rPr>
              <a:t>c</a:t>
            </a:r>
            <a:r>
              <a:rPr lang="en-US" sz="700" noProof="1" baseline="-25000">
                <a:solidFill>
                  <a:srgbClr val="262626"/>
                </a:solidFill>
                <a:latin typeface="黑体"/>
                <a:ea typeface="黑体"/>
              </a:rPr>
              <a:t>t</a:t>
            </a:r>
            <a:r>
              <a:rPr lang="en-US" sz="700" noProof="1">
                <a:solidFill>
                  <a:srgbClr val="262626"/>
                </a:solidFill>
                <a:latin typeface="黑体"/>
                <a:ea typeface="黑体"/>
              </a:rPr>
              <a:t>（= KV Cache）</a:t>
            </a:r>
            <a:endParaRPr lang="en-US" sz="700" noProof="1"/>
          </a:p>
        </p:txBody>
      </p:sp>
      <p:sp>
        <p:nvSpPr>
          <p:cNvPr id="44" name="lab-cache"/>
          <p:cNvSpPr txBox="1"/>
          <p:nvPr/>
        </p:nvSpPr>
        <p:spPr>
          <a:xfrm>
            <a:off x="3124200" y="5054600"/>
            <a:ext cx="2159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700" noProof="1">
                <a:solidFill>
                  <a:srgbClr val="737373"/>
                </a:solidFill>
                <a:latin typeface="黑体"/>
                <a:ea typeface="黑体"/>
              </a:rPr>
              <a:t>每层每 token：dc×2B（无 rope 分量）</a:t>
            </a:r>
            <a:endParaRPr lang="en-US" sz="700" noProof="1"/>
          </a:p>
        </p:txBody>
      </p:sp>
      <p:sp>
        <p:nvSpPr>
          <p:cNvPr id="45" name="a-wc-ct"/>
          <p:cNvSpPr/>
          <p:nvPr>
            <p:extLst>
              <p:ext uri="{F5677B7D-0D2A-4D9B-9A5C-6D8D7D0E5A5D}">
                <pptd:line encoding="base64url">eyJ2aWV3Qm94IjpbMiwxM10sInBvaW50cyI6IjEsMTMgMSwwIiwiY3VydmUiOiJzaGFycCJ9</pptd:line>
              </p:ext>
            </p:extLst>
          </p:nvPr>
        </p:nvSpPr>
        <p:spPr>
          <a:xfrm>
            <a:off x="2527300" y="5232400"/>
            <a:ext cx="25400" cy="165100"/>
          </a:xfrm>
          <a:custGeom>
            <a:avLst/>
            <a:gdLst/>
            <a:ahLst/>
            <a:cxnLst/>
            <a:rect l="l" t="t" r="r" b="b"/>
            <a:pathLst>
              <a:path w="2" h="13">
                <a:moveTo>
                  <a:pt x="1" y="13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46" name="n-wq"/>
          <p:cNvSpPr/>
          <p:nvPr/>
        </p:nvSpPr>
        <p:spPr>
          <a:xfrm>
            <a:off x="787400" y="5397500"/>
            <a:ext cx="711200" cy="203200"/>
          </a:xfrm>
          <a:prstGeom prst="roundRect">
            <a:avLst>
              <a:gd name="adj" fmla="val 30000"/>
            </a:avLst>
          </a:prstGeom>
          <a:solidFill>
            <a:srgbClr val="F6D2CE"/>
          </a:solidFill>
          <a:ln w="12700">
            <a:solidFill>
              <a:srgbClr val="262626"/>
            </a:solidFill>
          </a:ln>
        </p:spPr>
      </p:sp>
      <p:sp>
        <p:nvSpPr>
          <p:cNvPr id="47" name="t-wq"/>
          <p:cNvSpPr txBox="1"/>
          <p:nvPr/>
        </p:nvSpPr>
        <p:spPr>
          <a:xfrm>
            <a:off x="787400" y="5397500"/>
            <a:ext cx="711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262626"/>
                </a:solidFill>
                <a:latin typeface="黑体"/>
                <a:ea typeface="黑体"/>
              </a:rPr>
              <a:t>Linear W</a:t>
            </a:r>
            <a:r>
              <a:rPr lang="en-US" sz="700" noProof="1" baseline="-25000">
                <a:solidFill>
                  <a:srgbClr val="262626"/>
                </a:solidFill>
                <a:latin typeface="黑体"/>
                <a:ea typeface="黑体"/>
              </a:rPr>
              <a:t>q</a:t>
            </a:r>
            <a:endParaRPr lang="en-US" sz="700" noProof="1"/>
          </a:p>
        </p:txBody>
      </p:sp>
      <p:sp>
        <p:nvSpPr>
          <p:cNvPr id="48" name="n-wc"/>
          <p:cNvSpPr/>
          <p:nvPr/>
        </p:nvSpPr>
        <p:spPr>
          <a:xfrm>
            <a:off x="2184400" y="5397500"/>
            <a:ext cx="711200" cy="203200"/>
          </a:xfrm>
          <a:prstGeom prst="roundRect">
            <a:avLst>
              <a:gd name="adj" fmla="val 30000"/>
            </a:avLst>
          </a:prstGeom>
          <a:solidFill>
            <a:srgbClr val="F6D2CE"/>
          </a:solidFill>
          <a:ln w="12700">
            <a:solidFill>
              <a:srgbClr val="262626"/>
            </a:solidFill>
          </a:ln>
        </p:spPr>
      </p:sp>
      <p:sp>
        <p:nvSpPr>
          <p:cNvPr id="49" name="t-wc"/>
          <p:cNvSpPr txBox="1"/>
          <p:nvPr/>
        </p:nvSpPr>
        <p:spPr>
          <a:xfrm>
            <a:off x="2184400" y="5397500"/>
            <a:ext cx="711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262626"/>
                </a:solidFill>
                <a:latin typeface="黑体"/>
                <a:ea typeface="黑体"/>
              </a:rPr>
              <a:t>Linear W</a:t>
            </a:r>
            <a:r>
              <a:rPr lang="en-US" sz="700" noProof="1" baseline="-25000">
                <a:solidFill>
                  <a:srgbClr val="262626"/>
                </a:solidFill>
                <a:latin typeface="黑体"/>
                <a:ea typeface="黑体"/>
              </a:rPr>
              <a:t>c</a:t>
            </a:r>
            <a:endParaRPr lang="en-US" sz="700" noProof="1"/>
          </a:p>
        </p:txBody>
      </p:sp>
      <p:sp>
        <p:nvSpPr>
          <p:cNvPr id="50" name="n-gate"/>
          <p:cNvSpPr/>
          <p:nvPr/>
        </p:nvSpPr>
        <p:spPr>
          <a:xfrm>
            <a:off x="4978400" y="5397500"/>
            <a:ext cx="711200" cy="203200"/>
          </a:xfrm>
          <a:prstGeom prst="roundRect">
            <a:avLst>
              <a:gd name="adj" fmla="val 30000"/>
            </a:avLst>
          </a:prstGeom>
          <a:solidFill>
            <a:srgbClr val="F6D2CE"/>
          </a:solidFill>
          <a:ln w="15875">
            <a:solidFill>
              <a:srgbClr val="C00000"/>
            </a:solidFill>
          </a:ln>
        </p:spPr>
      </p:sp>
      <p:sp>
        <p:nvSpPr>
          <p:cNvPr id="51" name="t-gate"/>
          <p:cNvSpPr txBox="1"/>
          <p:nvPr/>
        </p:nvSpPr>
        <p:spPr>
          <a:xfrm>
            <a:off x="4978400" y="5397500"/>
            <a:ext cx="711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262626"/>
                </a:solidFill>
                <a:latin typeface="黑体"/>
                <a:ea typeface="黑体"/>
              </a:rPr>
              <a:t>Linear W</a:t>
            </a:r>
            <a:r>
              <a:rPr lang="en-US" sz="700" noProof="1" baseline="-25000">
                <a:solidFill>
                  <a:srgbClr val="262626"/>
                </a:solidFill>
                <a:latin typeface="黑体"/>
                <a:ea typeface="黑体"/>
              </a:rPr>
              <a:t>g</a:t>
            </a:r>
            <a:r>
              <a:rPr lang="en-US" sz="700" noProof="1">
                <a:solidFill>
                  <a:srgbClr val="262626"/>
                </a:solidFill>
                <a:latin typeface="黑体"/>
                <a:ea typeface="黑体"/>
              </a:rPr>
              <a:t> </a:t>
            </a:r>
            <a:r>
              <a:rPr lang="en-US" sz="700" noProof="1" b="1">
                <a:solidFill>
                  <a:srgbClr val="C00000"/>
                </a:solidFill>
                <a:latin typeface="黑体"/>
                <a:ea typeface="黑体"/>
              </a:rPr>
              <a:t>②</a:t>
            </a:r>
            <a:endParaRPr lang="en-US" sz="700" noProof="1"/>
          </a:p>
        </p:txBody>
      </p:sp>
      <p:sp>
        <p:nvSpPr>
          <p:cNvPr id="52" name="a-gate-mul"/>
          <p:cNvSpPr/>
          <p:nvPr>
            <p:extLst>
              <p:ext uri="{F5677B7D-0D2A-4D9B-9A5C-6D8D7D0E5A5D}">
                <pptd:line encoding="base64url">eyJ2aWV3Qm94IjpbMjMyLDE0N10sInBvaW50cyI6IjIzMiwxNDcgMjMyLDAgMCwwIiwiY3VydmUiOiJzaGFycCJ9</pptd:line>
              </p:ext>
            </p:extLst>
          </p:nvPr>
        </p:nvSpPr>
        <p:spPr>
          <a:xfrm>
            <a:off x="2387600" y="3530600"/>
            <a:ext cx="2946400" cy="1866900"/>
          </a:xfrm>
          <a:custGeom>
            <a:avLst/>
            <a:gdLst/>
            <a:ahLst/>
            <a:cxnLst/>
            <a:rect l="l" t="t" r="r" b="b"/>
            <a:pathLst>
              <a:path w="232" h="147">
                <a:moveTo>
                  <a:pt x="232" y="147"/>
                </a:moveTo>
                <a:lnTo>
                  <a:pt x="232" y="0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53" name="a-bus"/>
          <p:cNvSpPr/>
          <p:nvPr>
            <p:extLst>
              <p:ext uri="{F5677B7D-0D2A-4D9B-9A5C-6D8D7D0E5A5D}">
                <pptd:line encoding="base64url">eyJ2aWV3Qm94IjpbMzMyLDJdLCJwb2ludHMiOiIwLDEgMzMyLDEiLCJjdXJ2ZSI6InNoYXJwIn0</pptd:line>
              </p:ext>
            </p:extLst>
          </p:nvPr>
        </p:nvSpPr>
        <p:spPr>
          <a:xfrm>
            <a:off x="1130300" y="5600700"/>
            <a:ext cx="4216400" cy="25400"/>
          </a:xfrm>
          <a:custGeom>
            <a:avLst/>
            <a:gdLst/>
            <a:ahLst/>
            <a:cxnLst/>
            <a:rect l="l" t="t" r="r" b="b"/>
            <a:pathLst>
              <a:path w="332" h="2">
                <a:moveTo>
                  <a:pt x="0" y="1"/>
                </a:moveTo>
                <a:lnTo>
                  <a:pt x="332" y="1"/>
                </a:lnTo>
              </a:path>
            </a:pathLst>
          </a:custGeom>
          <a:noFill/>
          <a:ln w="12700">
            <a:solidFill>
              <a:srgbClr val="404040"/>
            </a:solidFill>
          </a:ln>
        </p:spPr>
      </p:sp>
      <p:sp>
        <p:nvSpPr>
          <p:cNvPr id="54" name="a-in"/>
          <p:cNvSpPr/>
          <p:nvPr>
            <p:extLst>
              <p:ext uri="{F5677B7D-0D2A-4D9B-9A5C-6D8D7D0E5A5D}">
                <pptd:line encoding="base64url">eyJ2aWV3Qm94IjpbMiw3XSwicG9pbnRzIjoiMSw3IDEsMCIsImN1cnZlIjoic2hhcnAifQ</pptd:line>
              </p:ext>
            </p:extLst>
          </p:nvPr>
        </p:nvSpPr>
        <p:spPr>
          <a:xfrm>
            <a:off x="3162300" y="5626100"/>
            <a:ext cx="25400" cy="88900"/>
          </a:xfrm>
          <a:custGeom>
            <a:avLst/>
            <a:gdLst/>
            <a:ahLst/>
            <a:cxnLst/>
            <a:rect l="l" t="t" r="r" b="b"/>
            <a:pathLst>
              <a:path w="2" h="7">
                <a:moveTo>
                  <a:pt x="1" y="7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55" name="param-label"/>
          <p:cNvSpPr txBox="1"/>
          <p:nvPr/>
        </p:nvSpPr>
        <p:spPr>
          <a:xfrm>
            <a:off x="6197600" y="26416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黑体"/>
                <a:ea typeface="黑体"/>
              </a:rPr>
              <a:t>参数、FLOPs 与昇腾诉求</a:t>
            </a:r>
            <a:endParaRPr lang="en-US" sz="1200" noProof="1"/>
          </a:p>
        </p:txBody>
      </p:sp>
      <p:graphicFrame>
        <p:nvGraphicFramePr>
          <p:cNvPr id="56" name="param-table"/>
          <p:cNvGraphicFramePr>
            <a:graphicFrameLocks noGrp="1"/>
          </p:cNvGraphicFramePr>
          <p:nvPr/>
        </p:nvGraphicFramePr>
        <p:xfrm>
          <a:off x="6197600" y="3048000"/>
          <a:ext cx="5537200" cy="2489200"/>
        </p:xfrm>
        <a:graphic>
          <a:graphicData uri="http://schemas.openxmlformats.org/drawingml/2006/table">
            <a:tbl>
              <a:tblPr/>
              <a:tblGrid>
                <a:gridCol w="1328928"/>
                <a:gridCol w="1439672"/>
                <a:gridCol w="941324"/>
                <a:gridCol w="1827276"/>
              </a:tblGrid>
              <a:tr h="2489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组件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FLOPs/token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隐向量下投影 W</a:t>
                      </a:r>
                      <a:r>
                        <a:rPr lang="en-US" sz="800" noProof="1" baseline="-25000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c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x∈R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7168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 → c</a:t>
                      </a:r>
                      <a:r>
                        <a:rPr lang="en-US" sz="800" noProof="1" baseline="-25000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t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∈R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dc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2d·dc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稠密 GEMM → CUBE；decode 退化为 GEMV，访存受限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Q/K/V 投影与上投影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q: d→H·dh；k,v: dc→H·dh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2d·H·dh + 4dc·H·dh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decode 可吸收（absorb）上投影、直接以 c</a:t>
                      </a:r>
                      <a:r>
                        <a:rPr lang="en-US" sz="800" noProof="1" baseline="-25000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t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 计算，降低 KV 读取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全局注意力 </a:t>
                      </a:r>
                      <a:r>
                        <a:rPr lang="en-US" sz="800" noProof="1">
                          <a:solidFill>
                            <a:srgbClr val="C00000"/>
                          </a:solidFill>
                          <a:latin typeface="黑体"/>
                          <a:ea typeface="黑体"/>
                        </a:rPr>
                        <a:t>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q,k,v∈R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H·dh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；L 任意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4L·H·dh，随 L 线性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CUBE matmul + Vector softmax；无 RoPE → 省去旋转 kernel 与 sin/cos 表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KV Cache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c</a:t>
                      </a:r>
                      <a:r>
                        <a:rPr lang="en-US" sz="800" noProof="1" baseline="-25000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t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：dc×2B / token / 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随 L 线性增长，1M 上下文为主要显存项；NoPE 后单 token 缓存 &lt; 标准 MLA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全秩输出门 </a:t>
                      </a:r>
                      <a:r>
                        <a:rPr lang="en-US" sz="800" noProof="1">
                          <a:solidFill>
                            <a:srgbClr val="C00000"/>
                          </a:solidFill>
                          <a:latin typeface="黑体"/>
                          <a:ea typeface="黑体"/>
                        </a:rPr>
                        <a:t>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W</a:t>
                      </a:r>
                      <a:r>
                        <a:rPr lang="en-US" sz="800" noProof="1" baseline="-25000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g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: d×H·dh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2d·H·dh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新增标准稠密 GEMM → CUBE 友好；应与注意力输出融合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训练 FP32 输出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输出 tile：H·dh，FP32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片上占用 ×2 → 重排 buffer 分配，与 KV staging 交叠换深流水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7" name="param-note"/>
          <p:cNvSpPr txBox="1"/>
          <p:nvPr/>
        </p:nvSpPr>
        <p:spPr>
          <a:xfrm>
            <a:off x="6197600" y="5613400"/>
            <a:ext cx="5537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黑体"/>
                <a:ea typeface="黑体"/>
              </a:rPr>
              <a:t>显存：24+1 层 MLA 的 KV Cache 随 L 线性增长，为 1M 上下文下的主要显存项；标准 MLA 缓存为 (dc+dr)×2B / token。</a:t>
            </a:r>
            <a:endParaRPr lang="en-US" sz="750" noProof="1"/>
          </a:p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黑体"/>
                <a:ea typeface="黑体"/>
              </a:rPr>
              <a:t>注：d = 7168、H = 96（报告 Table 1）；dc / dr / dh 以 checkpoint config 为准（K2 参考值 512 / 64 / 128）；FLOPs 为推算。</a:t>
            </a:r>
            <a:endParaRPr lang="en-US" sz="750" noProof="1"/>
          </a:p>
        </p:txBody>
      </p:sp>
      <p:sp>
        <p:nvSpPr>
          <p:cNvPr id="58" name="dev-label"/>
          <p:cNvSpPr txBox="1"/>
          <p:nvPr/>
        </p:nvSpPr>
        <p:spPr>
          <a:xfrm>
            <a:off x="558800" y="57404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黑体"/>
                <a:ea typeface="黑体"/>
              </a:rPr>
              <a:t>开发需求与趋势思考</a:t>
            </a:r>
            <a:endParaRPr lang="en-US" sz="1200" noProof="1"/>
          </a:p>
        </p:txBody>
      </p:sp>
      <p:sp>
        <p:nvSpPr>
          <p:cNvPr id="59" name="dev-bullets"/>
          <p:cNvSpPr txBox="1"/>
          <p:nvPr/>
        </p:nvSpPr>
        <p:spPr>
          <a:xfrm>
            <a:off x="558800" y="5943600"/>
            <a:ext cx="111252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算子层（推理）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：MLA 已接入 vllm-ascend mla_v1.py 后端，kimi_k3 适配层强制 use_nope=True 并透传 output gate；需回归验证 qk_rope_head_dim = 0 配置下各后端（含量化路径）的正确性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算子层（融合）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：输出门 σ(W</a:t>
            </a:r>
            <a:r>
              <a:rPr lang="en-US" sz="800" noProof="1" baseline="-25000">
                <a:solidFill>
                  <a:srgbClr val="262626"/>
                </a:solidFill>
                <a:latin typeface="黑体"/>
                <a:ea typeface="黑体"/>
              </a:rPr>
              <a:t>g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·x) ⊙ õ 应与注意力输出及 W</a:t>
            </a:r>
            <a:r>
              <a:rPr lang="en-US" sz="800" noProof="1" baseline="-25000">
                <a:solidFill>
                  <a:srgbClr val="262626"/>
                </a:solidFill>
                <a:latin typeface="黑体"/>
                <a:ea typeface="黑体"/>
              </a:rPr>
              <a:t>o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 融合，避免三次显存往返；训练侧 FP32 输出 tile 需 Ascend C 级 buffer 规划（与 KV staging 交叠）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框架层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：KV Cache 按 dc×2B / token 分页，与 KDA checkpoint 统一池化；PD 分离部署下 NoPE 缓存更小，跨节点传输负载相应下降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趋势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：NoPE 将位置建模完全交给递归层，长上下文外推不再受 RoPE 限制；硬件诉求集中于 KV Cache 容量 / 带宽与吸收矩阵 GEMV 效率</a:t>
            </a:r>
            <a:endParaRPr lang="en-US" sz="8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58800" y="1778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 spc="300" kern="0">
                <a:solidFill>
                  <a:srgbClr val="737373"/>
                </a:solidFill>
                <a:latin typeface="黑体"/>
                <a:ea typeface="黑体"/>
              </a:rPr>
              <a:t>INFRASTRUCTURE · 01</a:t>
            </a:r>
            <a:endParaRPr lang="en-US" sz="900" noProof="1"/>
          </a:p>
        </p:txBody>
      </p:sp>
      <p:sp>
        <p:nvSpPr>
          <p:cNvPr id="3" name="source-note"/>
          <p:cNvSpPr txBox="1"/>
          <p:nvPr/>
        </p:nvSpPr>
        <p:spPr>
          <a:xfrm>
            <a:off x="4699000" y="177800"/>
            <a:ext cx="7035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黑体"/>
                <a:ea typeface="黑体"/>
              </a:rPr>
              <a:t>资料来源：Kimi K3 Technical Report §5.1.1；FlashKDA（MoonshotAI）；vllm-ascend ops/triton/kda</a:t>
            </a:r>
            <a:endParaRPr lang="en-US" sz="800" noProof="1"/>
          </a:p>
        </p:txBody>
      </p:sp>
      <p:sp>
        <p:nvSpPr>
          <p:cNvPr id="4" name="title"/>
          <p:cNvSpPr txBox="1"/>
          <p:nvPr/>
        </p:nvSpPr>
        <p:spPr>
          <a:xfrm>
            <a:off x="558800" y="3810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100" noProof="1" b="1">
                <a:solidFill>
                  <a:srgbClr val="C00000"/>
                </a:solidFill>
                <a:latin typeface="黑体"/>
                <a:ea typeface="黑体"/>
              </a:rPr>
              <a:t>FlashKDA：chunkwise 训练 / Prefill 融合算子</a:t>
            </a:r>
            <a:endParaRPr lang="en-US" sz="2100" noProof="1"/>
          </a:p>
        </p:txBody>
      </p:sp>
      <p:sp>
        <p:nvSpPr>
          <p:cNvPr id="5" name="title-bar"/>
          <p:cNvSpPr/>
          <p:nvPr/>
        </p:nvSpPr>
        <p:spPr>
          <a:xfrm>
            <a:off x="558800" y="838200"/>
            <a:ext cx="8128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6" name="concl-label-bg"/>
          <p:cNvSpPr/>
          <p:nvPr/>
        </p:nvSpPr>
        <p:spPr>
          <a:xfrm>
            <a:off x="558800" y="1219200"/>
            <a:ext cx="1117600" cy="1397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7" name="concl-label"/>
          <p:cNvSpPr txBox="1"/>
          <p:nvPr/>
        </p:nvSpPr>
        <p:spPr>
          <a:xfrm>
            <a:off x="558800" y="1219200"/>
            <a:ext cx="11176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黑体"/>
                <a:ea typeface="黑体"/>
              </a:rPr>
              <a:t>分析结论</a:t>
            </a:r>
            <a:endParaRPr lang="en-US" sz="1400" noProof="1"/>
          </a:p>
        </p:txBody>
      </p:sp>
      <p:sp>
        <p:nvSpPr>
          <p:cNvPr id="8" name="concl-body-bg"/>
          <p:cNvSpPr/>
          <p:nvPr/>
        </p:nvSpPr>
        <p:spPr>
          <a:xfrm>
            <a:off x="1778000" y="1219200"/>
            <a:ext cx="9956800" cy="139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" name="concl-bullets"/>
          <p:cNvSpPr txBox="1"/>
          <p:nvPr/>
        </p:nvSpPr>
        <p:spPr>
          <a:xfrm>
            <a:off x="1955800" y="1282700"/>
            <a:ext cx="96012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问题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：chunkwise KDA = chunk 内并行（matmul）+ chunk 间串行（状态 S 传递）；朴素实现两阶段交替执行，串行传播期间算力空置 —— 气泡占比随 chunk 数线性放大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方案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：FlashKDA（CUTLASS）将计算分解为 token 并行阶段与 head 并行递归，各自独立调度调参，以 chunk 内计算掩盖跨 chunk 状态传播 → 显著优于 Triton 参考实现；训练与推理 prefill 共用，作为 flash-linear-attention 的后端自动分发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负载构成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：intra-chunk（A、O = AṼ，C = 64）为稠密 matmul → CUBE；inter-chunk（(Γ⊙Q)S、S 更新）为 dk×dv 小矩阵 → 单 chunk 并行度低，但可沿 head 维并行、并被计算掩盖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长序列短板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：纯 TP 只切 head、不缩短递归，超长 prefill 时各 rank 仅持少量 head、算力闲置 → SM 级 CP planner 在单设备内切分序列，并行求各段转移再精确合并，无跨设备通信</a:t>
            </a:r>
            <a:endParaRPr lang="en-US" sz="900" noProof="1"/>
          </a:p>
        </p:txBody>
      </p:sp>
      <p:sp>
        <p:nvSpPr>
          <p:cNvPr id="10" name="arch-label"/>
          <p:cNvSpPr txBox="1"/>
          <p:nvPr/>
        </p:nvSpPr>
        <p:spPr>
          <a:xfrm>
            <a:off x="558800" y="2641600"/>
            <a:ext cx="3302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黑体"/>
                <a:ea typeface="黑体"/>
              </a:rPr>
              <a:t>计算 / 状态传播调度交叠</a:t>
            </a:r>
            <a:endParaRPr lang="en-US" sz="1200" noProof="1"/>
          </a:p>
        </p:txBody>
      </p:sp>
      <p:sp>
        <p:nvSpPr>
          <p:cNvPr id="11" name="module-border"/>
          <p:cNvSpPr/>
          <p:nvPr/>
        </p:nvSpPr>
        <p:spPr>
          <a:xfrm>
            <a:off x="457200" y="2895600"/>
            <a:ext cx="5435600" cy="281940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404040"/>
            </a:solidFill>
            <a:prstDash val="dash"/>
          </a:ln>
        </p:spPr>
      </p:sp>
      <p:sp>
        <p:nvSpPr>
          <p:cNvPr id="12" name="naive-label"/>
          <p:cNvSpPr txBox="1"/>
          <p:nvPr/>
        </p:nvSpPr>
        <p:spPr>
          <a:xfrm>
            <a:off x="711200" y="3048000"/>
            <a:ext cx="3302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50" noProof="1" b="1">
                <a:solidFill>
                  <a:srgbClr val="262626"/>
                </a:solidFill>
                <a:latin typeface="黑体"/>
                <a:ea typeface="黑体"/>
              </a:rPr>
              <a:t>朴素调度：两阶段交替</a:t>
            </a:r>
            <a:endParaRPr lang="en-US" sz="850" noProof="1"/>
          </a:p>
        </p:txBody>
      </p:sp>
      <p:sp>
        <p:nvSpPr>
          <p:cNvPr id="13" name="nv-c1"/>
          <p:cNvSpPr/>
          <p:nvPr/>
        </p:nvSpPr>
        <p:spPr>
          <a:xfrm>
            <a:off x="711200" y="3276600"/>
            <a:ext cx="1117600" cy="279400"/>
          </a:xfrm>
          <a:prstGeom prst="roundRect">
            <a:avLst>
              <a:gd name="adj" fmla="val 20000"/>
            </a:avLst>
          </a:prstGeom>
          <a:solidFill>
            <a:srgbClr val="C8DCF4"/>
          </a:solidFill>
          <a:ln w="12700">
            <a:solidFill>
              <a:srgbClr val="262626"/>
            </a:solidFill>
          </a:ln>
        </p:spPr>
      </p:sp>
      <p:sp>
        <p:nvSpPr>
          <p:cNvPr id="14" name="nv-c1-t"/>
          <p:cNvSpPr txBox="1"/>
          <p:nvPr/>
        </p:nvSpPr>
        <p:spPr>
          <a:xfrm>
            <a:off x="711200" y="3276600"/>
            <a:ext cx="1117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1F2A36"/>
                </a:solidFill>
                <a:latin typeface="黑体"/>
                <a:ea typeface="黑体"/>
              </a:rPr>
              <a:t>chunk t−1 内 matmul</a:t>
            </a:r>
            <a:endParaRPr lang="en-US" sz="700" noProof="1"/>
          </a:p>
        </p:txBody>
      </p:sp>
      <p:sp>
        <p:nvSpPr>
          <p:cNvPr id="15" name="nv-s1"/>
          <p:cNvSpPr/>
          <p:nvPr/>
        </p:nvSpPr>
        <p:spPr>
          <a:xfrm>
            <a:off x="1879600" y="3276600"/>
            <a:ext cx="533400" cy="279400"/>
          </a:xfrm>
          <a:prstGeom prst="roundRect">
            <a:avLst>
              <a:gd name="adj" fmla="val 20000"/>
            </a:avLst>
          </a:prstGeom>
          <a:solidFill>
            <a:srgbClr val="F6D2CE"/>
          </a:solidFill>
          <a:ln w="12700">
            <a:solidFill>
              <a:srgbClr val="262626"/>
            </a:solidFill>
          </a:ln>
        </p:spPr>
      </p:sp>
      <p:sp>
        <p:nvSpPr>
          <p:cNvPr id="16" name="nv-s1-t"/>
          <p:cNvSpPr txBox="1"/>
          <p:nvPr/>
        </p:nvSpPr>
        <p:spPr>
          <a:xfrm>
            <a:off x="1879600" y="3276600"/>
            <a:ext cx="533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262626"/>
                </a:solidFill>
                <a:latin typeface="黑体"/>
                <a:ea typeface="黑体"/>
              </a:rPr>
              <a:t>S 传递</a:t>
            </a:r>
            <a:endParaRPr lang="en-US" sz="700" noProof="1"/>
          </a:p>
        </p:txBody>
      </p:sp>
      <p:sp>
        <p:nvSpPr>
          <p:cNvPr id="17" name="nv-c2"/>
          <p:cNvSpPr/>
          <p:nvPr/>
        </p:nvSpPr>
        <p:spPr>
          <a:xfrm>
            <a:off x="2463800" y="3276600"/>
            <a:ext cx="1117600" cy="279400"/>
          </a:xfrm>
          <a:prstGeom prst="roundRect">
            <a:avLst>
              <a:gd name="adj" fmla="val 20000"/>
            </a:avLst>
          </a:prstGeom>
          <a:solidFill>
            <a:srgbClr val="C8DCF4"/>
          </a:solidFill>
          <a:ln w="12700">
            <a:solidFill>
              <a:srgbClr val="262626"/>
            </a:solidFill>
          </a:ln>
        </p:spPr>
      </p:sp>
      <p:sp>
        <p:nvSpPr>
          <p:cNvPr id="18" name="nv-c2-t"/>
          <p:cNvSpPr txBox="1"/>
          <p:nvPr/>
        </p:nvSpPr>
        <p:spPr>
          <a:xfrm>
            <a:off x="2463800" y="3276600"/>
            <a:ext cx="1117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1F2A36"/>
                </a:solidFill>
                <a:latin typeface="黑体"/>
                <a:ea typeface="黑体"/>
              </a:rPr>
              <a:t>chunk t 内 matmul</a:t>
            </a:r>
            <a:endParaRPr lang="en-US" sz="700" noProof="1"/>
          </a:p>
        </p:txBody>
      </p:sp>
      <p:sp>
        <p:nvSpPr>
          <p:cNvPr id="19" name="nv-s2"/>
          <p:cNvSpPr/>
          <p:nvPr/>
        </p:nvSpPr>
        <p:spPr>
          <a:xfrm>
            <a:off x="3632200" y="3276600"/>
            <a:ext cx="533400" cy="279400"/>
          </a:xfrm>
          <a:prstGeom prst="roundRect">
            <a:avLst>
              <a:gd name="adj" fmla="val 20000"/>
            </a:avLst>
          </a:prstGeom>
          <a:solidFill>
            <a:srgbClr val="F6D2CE"/>
          </a:solidFill>
          <a:ln w="12700">
            <a:solidFill>
              <a:srgbClr val="262626"/>
            </a:solidFill>
          </a:ln>
        </p:spPr>
      </p:sp>
      <p:sp>
        <p:nvSpPr>
          <p:cNvPr id="20" name="nv-s2-t"/>
          <p:cNvSpPr txBox="1"/>
          <p:nvPr/>
        </p:nvSpPr>
        <p:spPr>
          <a:xfrm>
            <a:off x="3632200" y="3276600"/>
            <a:ext cx="5334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262626"/>
                </a:solidFill>
                <a:latin typeface="黑体"/>
                <a:ea typeface="黑体"/>
              </a:rPr>
              <a:t>S 传递</a:t>
            </a:r>
            <a:endParaRPr lang="en-US" sz="700" noProof="1"/>
          </a:p>
        </p:txBody>
      </p:sp>
      <p:sp>
        <p:nvSpPr>
          <p:cNvPr id="21" name="nv-c3"/>
          <p:cNvSpPr/>
          <p:nvPr/>
        </p:nvSpPr>
        <p:spPr>
          <a:xfrm>
            <a:off x="4216400" y="3276600"/>
            <a:ext cx="1117600" cy="279400"/>
          </a:xfrm>
          <a:prstGeom prst="roundRect">
            <a:avLst>
              <a:gd name="adj" fmla="val 20000"/>
            </a:avLst>
          </a:prstGeom>
          <a:solidFill>
            <a:srgbClr val="C8DCF4"/>
          </a:solidFill>
          <a:ln w="12700">
            <a:solidFill>
              <a:srgbClr val="262626"/>
            </a:solidFill>
          </a:ln>
        </p:spPr>
      </p:sp>
      <p:sp>
        <p:nvSpPr>
          <p:cNvPr id="22" name="nv-c3-t"/>
          <p:cNvSpPr txBox="1"/>
          <p:nvPr/>
        </p:nvSpPr>
        <p:spPr>
          <a:xfrm>
            <a:off x="4216400" y="3276600"/>
            <a:ext cx="1117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1F2A36"/>
                </a:solidFill>
                <a:latin typeface="黑体"/>
                <a:ea typeface="黑体"/>
              </a:rPr>
              <a:t>chunk t+1 内</a:t>
            </a:r>
            <a:endParaRPr lang="en-US" sz="700" noProof="1"/>
          </a:p>
        </p:txBody>
      </p:sp>
      <p:sp>
        <p:nvSpPr>
          <p:cNvPr id="23" name="naive-note"/>
          <p:cNvSpPr txBox="1"/>
          <p:nvPr/>
        </p:nvSpPr>
        <p:spPr>
          <a:xfrm>
            <a:off x="711200" y="3606800"/>
            <a:ext cx="4572000" cy="139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750" noProof="1">
                <a:solidFill>
                  <a:srgbClr val="C00000"/>
                </a:solidFill>
                <a:latin typeface="黑体"/>
                <a:ea typeface="黑体"/>
              </a:rPr>
              <a:t>matmul（CUBE）与状态传播互相等待，算力空置</a:t>
            </a:r>
            <a:endParaRPr lang="en-US" sz="750" noProof="1"/>
          </a:p>
        </p:txBody>
      </p:sp>
      <p:sp>
        <p:nvSpPr>
          <p:cNvPr id="24" name="fk-label"/>
          <p:cNvSpPr txBox="1"/>
          <p:nvPr/>
        </p:nvSpPr>
        <p:spPr>
          <a:xfrm>
            <a:off x="711200" y="3835400"/>
            <a:ext cx="4572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50" noProof="1" b="1">
                <a:solidFill>
                  <a:srgbClr val="262626"/>
                </a:solidFill>
                <a:latin typeface="黑体"/>
                <a:ea typeface="黑体"/>
              </a:rPr>
              <a:t>FlashKDA：token 并行 + head 并行，两段交叠</a:t>
            </a:r>
            <a:endParaRPr lang="en-US" sz="850" noProof="1"/>
          </a:p>
        </p:txBody>
      </p:sp>
      <p:sp>
        <p:nvSpPr>
          <p:cNvPr id="25" name="fk-c1"/>
          <p:cNvSpPr/>
          <p:nvPr/>
        </p:nvSpPr>
        <p:spPr>
          <a:xfrm>
            <a:off x="711200" y="4064000"/>
            <a:ext cx="1117600" cy="279400"/>
          </a:xfrm>
          <a:prstGeom prst="roundRect">
            <a:avLst>
              <a:gd name="adj" fmla="val 20000"/>
            </a:avLst>
          </a:prstGeom>
          <a:solidFill>
            <a:srgbClr val="C8DCF4"/>
          </a:solidFill>
          <a:ln w="12700">
            <a:solidFill>
              <a:srgbClr val="262626"/>
            </a:solidFill>
          </a:ln>
        </p:spPr>
      </p:sp>
      <p:sp>
        <p:nvSpPr>
          <p:cNvPr id="26" name="fk-c1-t"/>
          <p:cNvSpPr txBox="1"/>
          <p:nvPr/>
        </p:nvSpPr>
        <p:spPr>
          <a:xfrm>
            <a:off x="711200" y="4064000"/>
            <a:ext cx="1117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1F2A36"/>
                </a:solidFill>
                <a:latin typeface="黑体"/>
                <a:ea typeface="黑体"/>
              </a:rPr>
              <a:t>chunk t−1 内</a:t>
            </a:r>
            <a:endParaRPr lang="en-US" sz="700" noProof="1"/>
          </a:p>
        </p:txBody>
      </p:sp>
      <p:sp>
        <p:nvSpPr>
          <p:cNvPr id="27" name="fk-c2"/>
          <p:cNvSpPr/>
          <p:nvPr/>
        </p:nvSpPr>
        <p:spPr>
          <a:xfrm>
            <a:off x="1879600" y="4064000"/>
            <a:ext cx="1117600" cy="279400"/>
          </a:xfrm>
          <a:prstGeom prst="roundRect">
            <a:avLst>
              <a:gd name="adj" fmla="val 20000"/>
            </a:avLst>
          </a:prstGeom>
          <a:solidFill>
            <a:srgbClr val="C8DCF4"/>
          </a:solidFill>
          <a:ln w="12700">
            <a:solidFill>
              <a:srgbClr val="262626"/>
            </a:solidFill>
          </a:ln>
        </p:spPr>
      </p:sp>
      <p:sp>
        <p:nvSpPr>
          <p:cNvPr id="28" name="fk-c2-t"/>
          <p:cNvSpPr txBox="1"/>
          <p:nvPr/>
        </p:nvSpPr>
        <p:spPr>
          <a:xfrm>
            <a:off x="1879600" y="4064000"/>
            <a:ext cx="1117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1F2A36"/>
                </a:solidFill>
                <a:latin typeface="黑体"/>
                <a:ea typeface="黑体"/>
              </a:rPr>
              <a:t>chunk t 内</a:t>
            </a:r>
            <a:endParaRPr lang="en-US" sz="700" noProof="1"/>
          </a:p>
        </p:txBody>
      </p:sp>
      <p:sp>
        <p:nvSpPr>
          <p:cNvPr id="29" name="fk-c3"/>
          <p:cNvSpPr/>
          <p:nvPr/>
        </p:nvSpPr>
        <p:spPr>
          <a:xfrm>
            <a:off x="3048000" y="4064000"/>
            <a:ext cx="1117600" cy="279400"/>
          </a:xfrm>
          <a:prstGeom prst="roundRect">
            <a:avLst>
              <a:gd name="adj" fmla="val 20000"/>
            </a:avLst>
          </a:prstGeom>
          <a:solidFill>
            <a:srgbClr val="C8DCF4"/>
          </a:solidFill>
          <a:ln w="12700">
            <a:solidFill>
              <a:srgbClr val="262626"/>
            </a:solidFill>
          </a:ln>
        </p:spPr>
      </p:sp>
      <p:sp>
        <p:nvSpPr>
          <p:cNvPr id="30" name="fk-c3-t"/>
          <p:cNvSpPr txBox="1"/>
          <p:nvPr/>
        </p:nvSpPr>
        <p:spPr>
          <a:xfrm>
            <a:off x="3048000" y="4064000"/>
            <a:ext cx="1117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1F2A36"/>
                </a:solidFill>
                <a:latin typeface="黑体"/>
                <a:ea typeface="黑体"/>
              </a:rPr>
              <a:t>chunk t+1 内</a:t>
            </a:r>
            <a:endParaRPr lang="en-US" sz="700" noProof="1"/>
          </a:p>
        </p:txBody>
      </p:sp>
      <p:sp>
        <p:nvSpPr>
          <p:cNvPr id="31" name="fk-c4"/>
          <p:cNvSpPr/>
          <p:nvPr/>
        </p:nvSpPr>
        <p:spPr>
          <a:xfrm>
            <a:off x="4216400" y="4064000"/>
            <a:ext cx="1117600" cy="279400"/>
          </a:xfrm>
          <a:prstGeom prst="roundRect">
            <a:avLst>
              <a:gd name="adj" fmla="val 20000"/>
            </a:avLst>
          </a:prstGeom>
          <a:solidFill>
            <a:srgbClr val="C8DCF4"/>
          </a:solidFill>
          <a:ln w="12700">
            <a:solidFill>
              <a:srgbClr val="262626"/>
            </a:solidFill>
          </a:ln>
        </p:spPr>
      </p:sp>
      <p:sp>
        <p:nvSpPr>
          <p:cNvPr id="32" name="fk-c4-t"/>
          <p:cNvSpPr txBox="1"/>
          <p:nvPr/>
        </p:nvSpPr>
        <p:spPr>
          <a:xfrm>
            <a:off x="4216400" y="4064000"/>
            <a:ext cx="11176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1F2A36"/>
                </a:solidFill>
                <a:latin typeface="黑体"/>
                <a:ea typeface="黑体"/>
              </a:rPr>
              <a:t>chunk t+2 内</a:t>
            </a:r>
            <a:endParaRPr lang="en-US" sz="700" noProof="1"/>
          </a:p>
        </p:txBody>
      </p:sp>
      <p:sp>
        <p:nvSpPr>
          <p:cNvPr id="33" name="fk-s1"/>
          <p:cNvSpPr/>
          <p:nvPr/>
        </p:nvSpPr>
        <p:spPr>
          <a:xfrm>
            <a:off x="1320800" y="4419600"/>
            <a:ext cx="1117600" cy="228600"/>
          </a:xfrm>
          <a:prstGeom prst="roundRect">
            <a:avLst>
              <a:gd name="adj" fmla="val 20000"/>
            </a:avLst>
          </a:prstGeom>
          <a:solidFill>
            <a:srgbClr val="F6D2CE"/>
          </a:solidFill>
          <a:ln w="12700">
            <a:solidFill>
              <a:srgbClr val="262626"/>
            </a:solidFill>
          </a:ln>
        </p:spPr>
      </p:sp>
      <p:sp>
        <p:nvSpPr>
          <p:cNvPr id="34" name="fk-s1-t"/>
          <p:cNvSpPr txBox="1"/>
          <p:nvPr/>
        </p:nvSpPr>
        <p:spPr>
          <a:xfrm>
            <a:off x="1320800" y="4419600"/>
            <a:ext cx="1117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262626"/>
                </a:solidFill>
                <a:latin typeface="黑体"/>
                <a:ea typeface="黑体"/>
              </a:rPr>
              <a:t>S(t−2)→S(t−1)</a:t>
            </a:r>
            <a:endParaRPr lang="en-US" sz="700" noProof="1"/>
          </a:p>
        </p:txBody>
      </p:sp>
      <p:sp>
        <p:nvSpPr>
          <p:cNvPr id="35" name="fk-s2"/>
          <p:cNvSpPr/>
          <p:nvPr/>
        </p:nvSpPr>
        <p:spPr>
          <a:xfrm>
            <a:off x="2489200" y="4419600"/>
            <a:ext cx="1117600" cy="228600"/>
          </a:xfrm>
          <a:prstGeom prst="roundRect">
            <a:avLst>
              <a:gd name="adj" fmla="val 20000"/>
            </a:avLst>
          </a:prstGeom>
          <a:solidFill>
            <a:srgbClr val="F6D2CE"/>
          </a:solidFill>
          <a:ln w="12700">
            <a:solidFill>
              <a:srgbClr val="262626"/>
            </a:solidFill>
          </a:ln>
        </p:spPr>
      </p:sp>
      <p:sp>
        <p:nvSpPr>
          <p:cNvPr id="36" name="fk-s2-t"/>
          <p:cNvSpPr txBox="1"/>
          <p:nvPr/>
        </p:nvSpPr>
        <p:spPr>
          <a:xfrm>
            <a:off x="2489200" y="4419600"/>
            <a:ext cx="1117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262626"/>
                </a:solidFill>
                <a:latin typeface="黑体"/>
                <a:ea typeface="黑体"/>
              </a:rPr>
              <a:t>S(t−1)→S(t)</a:t>
            </a:r>
            <a:endParaRPr lang="en-US" sz="700" noProof="1"/>
          </a:p>
        </p:txBody>
      </p:sp>
      <p:sp>
        <p:nvSpPr>
          <p:cNvPr id="37" name="fk-s3"/>
          <p:cNvSpPr/>
          <p:nvPr/>
        </p:nvSpPr>
        <p:spPr>
          <a:xfrm>
            <a:off x="3657600" y="4419600"/>
            <a:ext cx="1117600" cy="228600"/>
          </a:xfrm>
          <a:prstGeom prst="roundRect">
            <a:avLst>
              <a:gd name="adj" fmla="val 20000"/>
            </a:avLst>
          </a:prstGeom>
          <a:solidFill>
            <a:srgbClr val="F6D2CE"/>
          </a:solidFill>
          <a:ln w="12700">
            <a:solidFill>
              <a:srgbClr val="262626"/>
            </a:solidFill>
          </a:ln>
        </p:spPr>
      </p:sp>
      <p:sp>
        <p:nvSpPr>
          <p:cNvPr id="38" name="fk-s3-t"/>
          <p:cNvSpPr txBox="1"/>
          <p:nvPr/>
        </p:nvSpPr>
        <p:spPr>
          <a:xfrm>
            <a:off x="3657600" y="4419600"/>
            <a:ext cx="1117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262626"/>
                </a:solidFill>
                <a:latin typeface="黑体"/>
                <a:ea typeface="黑体"/>
              </a:rPr>
              <a:t>S(t)→S(t+1)</a:t>
            </a:r>
            <a:endParaRPr lang="en-US" sz="700" noProof="1"/>
          </a:p>
        </p:txBody>
      </p:sp>
      <p:sp>
        <p:nvSpPr>
          <p:cNvPr id="39" name="fk-a1"/>
          <p:cNvSpPr/>
          <p:nvPr>
            <p:extLst>
              <p:ext uri="{F5677B7D-0D2A-4D9B-9A5C-6D8D7D0E5A5D}">
                <pptd:line encoding="base64url">eyJ2aWV3Qm94IjpbMiw2XSwicG9pbnRzIjoiMSw2IDEsMCIsImN1cnZlIjoic2hhcnAifQ</pptd:line>
              </p:ext>
            </p:extLst>
          </p:nvPr>
        </p:nvSpPr>
        <p:spPr>
          <a:xfrm>
            <a:off x="2273300" y="4343400"/>
            <a:ext cx="25400" cy="76200"/>
          </a:xfrm>
          <a:custGeom>
            <a:avLst/>
            <a:gdLst/>
            <a:ahLst/>
            <a:cxnLst/>
            <a:rect l="l" t="t" r="r" b="b"/>
            <a:pathLst>
              <a:path w="2" h="6">
                <a:moveTo>
                  <a:pt x="1" y="6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40" name="fk-a2"/>
          <p:cNvSpPr/>
          <p:nvPr>
            <p:extLst>
              <p:ext uri="{F5677B7D-0D2A-4D9B-9A5C-6D8D7D0E5A5D}">
                <pptd:line encoding="base64url">eyJ2aWV3Qm94IjpbMiw2XSwicG9pbnRzIjoiMSw2IDEsMCIsImN1cnZlIjoic2hhcnAifQ</pptd:line>
              </p:ext>
            </p:extLst>
          </p:nvPr>
        </p:nvSpPr>
        <p:spPr>
          <a:xfrm>
            <a:off x="3441700" y="4343400"/>
            <a:ext cx="25400" cy="76200"/>
          </a:xfrm>
          <a:custGeom>
            <a:avLst/>
            <a:gdLst/>
            <a:ahLst/>
            <a:cxnLst/>
            <a:rect l="l" t="t" r="r" b="b"/>
            <a:pathLst>
              <a:path w="2" h="6">
                <a:moveTo>
                  <a:pt x="1" y="6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41" name="fk-a3"/>
          <p:cNvSpPr/>
          <p:nvPr>
            <p:extLst>
              <p:ext uri="{F5677B7D-0D2A-4D9B-9A5C-6D8D7D0E5A5D}">
                <pptd:line encoding="base64url">eyJ2aWV3Qm94IjpbMiw2XSwicG9pbnRzIjoiMSw2IDEsMCIsImN1cnZlIjoic2hhcnAifQ</pptd:line>
              </p:ext>
            </p:extLst>
          </p:nvPr>
        </p:nvSpPr>
        <p:spPr>
          <a:xfrm>
            <a:off x="4610100" y="4343400"/>
            <a:ext cx="25400" cy="76200"/>
          </a:xfrm>
          <a:custGeom>
            <a:avLst/>
            <a:gdLst/>
            <a:ahLst/>
            <a:cxnLst/>
            <a:rect l="l" t="t" r="r" b="b"/>
            <a:pathLst>
              <a:path w="2" h="6">
                <a:moveTo>
                  <a:pt x="1" y="6"/>
                </a:moveTo>
                <a:lnTo>
                  <a:pt x="1" y="0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42" name="n-eq"/>
          <p:cNvSpPr/>
          <p:nvPr/>
        </p:nvSpPr>
        <p:spPr>
          <a:xfrm>
            <a:off x="711200" y="4826000"/>
            <a:ext cx="4622800" cy="609600"/>
          </a:xfrm>
          <a:prstGeom prst="roundRect">
            <a:avLst>
              <a:gd name="adj" fmla="val 12000"/>
            </a:avLst>
          </a:prstGeom>
          <a:solidFill>
            <a:srgbClr val="F2F2F3"/>
          </a:solidFill>
          <a:ln w="12700">
            <a:solidFill>
              <a:srgbClr val="262626"/>
            </a:solidFill>
          </a:ln>
        </p:spPr>
      </p:sp>
      <p:sp>
        <p:nvSpPr>
          <p:cNvPr id="43" name="t-eq"/>
          <p:cNvSpPr txBox="1"/>
          <p:nvPr/>
        </p:nvSpPr>
        <p:spPr>
          <a:xfrm>
            <a:off x="812800" y="4864100"/>
            <a:ext cx="44196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262626"/>
                </a:solidFill>
                <a:latin typeface="黑体"/>
                <a:ea typeface="黑体"/>
              </a:rPr>
              <a:t>A</a:t>
            </a:r>
            <a:r>
              <a:rPr lang="en-US" sz="750" noProof="1" baseline="-25000">
                <a:solidFill>
                  <a:srgbClr val="262626"/>
                </a:solidFill>
                <a:latin typeface="黑体"/>
                <a:ea typeface="黑体"/>
              </a:rPr>
              <a:t>[t]</a:t>
            </a:r>
            <a:r>
              <a:rPr lang="en-US" sz="750" noProof="1">
                <a:solidFill>
                  <a:srgbClr val="262626"/>
                </a:solidFill>
                <a:latin typeface="黑体"/>
                <a:ea typeface="黑体"/>
              </a:rPr>
              <a:t> = Tril((Q</a:t>
            </a:r>
            <a:r>
              <a:rPr lang="en-US" sz="750" noProof="1" baseline="-25000">
                <a:solidFill>
                  <a:srgbClr val="262626"/>
                </a:solidFill>
                <a:latin typeface="黑体"/>
                <a:ea typeface="黑体"/>
              </a:rPr>
              <a:t>[t]</a:t>
            </a:r>
            <a:r>
              <a:rPr lang="en-US" sz="750" noProof="1">
                <a:solidFill>
                  <a:srgbClr val="262626"/>
                </a:solidFill>
                <a:latin typeface="黑体"/>
                <a:ea typeface="黑体"/>
              </a:rPr>
              <a:t>⊙Γ)(K</a:t>
            </a:r>
            <a:r>
              <a:rPr lang="en-US" sz="750" noProof="1" baseline="-25000">
                <a:solidFill>
                  <a:srgbClr val="262626"/>
                </a:solidFill>
                <a:latin typeface="黑体"/>
                <a:ea typeface="黑体"/>
              </a:rPr>
              <a:t>[t]</a:t>
            </a:r>
            <a:r>
              <a:rPr lang="en-US" sz="750" noProof="1">
                <a:solidFill>
                  <a:srgbClr val="262626"/>
                </a:solidFill>
                <a:latin typeface="黑体"/>
                <a:ea typeface="黑体"/>
              </a:rPr>
              <a:t>/Γ)</a:t>
            </a:r>
            <a:r>
              <a:rPr lang="en-US" sz="750" noProof="1" baseline="30000">
                <a:solidFill>
                  <a:srgbClr val="262626"/>
                </a:solidFill>
                <a:latin typeface="黑体"/>
                <a:ea typeface="黑体"/>
              </a:rPr>
              <a:t>⊤</a:t>
            </a:r>
            <a:r>
              <a:rPr lang="en-US" sz="750" noProof="1">
                <a:solidFill>
                  <a:srgbClr val="262626"/>
                </a:solidFill>
                <a:latin typeface="黑体"/>
                <a:ea typeface="黑体"/>
              </a:rPr>
              <a:t>)；O</a:t>
            </a:r>
            <a:r>
              <a:rPr lang="en-US" sz="750" noProof="1" baseline="-25000">
                <a:solidFill>
                  <a:srgbClr val="262626"/>
                </a:solidFill>
                <a:latin typeface="黑体"/>
                <a:ea typeface="黑体"/>
              </a:rPr>
              <a:t>[t]</a:t>
            </a:r>
            <a:r>
              <a:rPr lang="en-US" sz="750" noProof="1">
                <a:solidFill>
                  <a:srgbClr val="262626"/>
                </a:solidFill>
                <a:latin typeface="黑体"/>
                <a:ea typeface="黑体"/>
              </a:rPr>
              <a:t> = (Γ⊙Q</a:t>
            </a:r>
            <a:r>
              <a:rPr lang="en-US" sz="750" noProof="1" baseline="-25000">
                <a:solidFill>
                  <a:srgbClr val="262626"/>
                </a:solidFill>
                <a:latin typeface="黑体"/>
                <a:ea typeface="黑体"/>
              </a:rPr>
              <a:t>[t]</a:t>
            </a:r>
            <a:r>
              <a:rPr lang="en-US" sz="750" noProof="1">
                <a:solidFill>
                  <a:srgbClr val="262626"/>
                </a:solidFill>
                <a:latin typeface="黑体"/>
                <a:ea typeface="黑体"/>
              </a:rPr>
              <a:t>)·S</a:t>
            </a:r>
            <a:r>
              <a:rPr lang="en-US" sz="750" noProof="1" baseline="-25000">
                <a:solidFill>
                  <a:srgbClr val="262626"/>
                </a:solidFill>
                <a:latin typeface="黑体"/>
                <a:ea typeface="黑体"/>
              </a:rPr>
              <a:t>[t]</a:t>
            </a:r>
            <a:r>
              <a:rPr lang="en-US" sz="750" noProof="1">
                <a:solidFill>
                  <a:srgbClr val="262626"/>
                </a:solidFill>
                <a:latin typeface="黑体"/>
                <a:ea typeface="黑体"/>
              </a:rPr>
              <a:t> + A</a:t>
            </a:r>
            <a:r>
              <a:rPr lang="en-US" sz="750" noProof="1" baseline="-25000">
                <a:solidFill>
                  <a:srgbClr val="262626"/>
                </a:solidFill>
                <a:latin typeface="黑体"/>
                <a:ea typeface="黑体"/>
              </a:rPr>
              <a:t>[t]</a:t>
            </a:r>
            <a:r>
              <a:rPr lang="en-US" sz="750" noProof="1">
                <a:solidFill>
                  <a:srgbClr val="262626"/>
                </a:solidFill>
                <a:latin typeface="黑体"/>
                <a:ea typeface="黑体"/>
              </a:rPr>
              <a:t>·Ṽ</a:t>
            </a:r>
            <a:r>
              <a:rPr lang="en-US" sz="750" noProof="1" baseline="-25000">
                <a:solidFill>
                  <a:srgbClr val="262626"/>
                </a:solidFill>
                <a:latin typeface="黑体"/>
                <a:ea typeface="黑体"/>
              </a:rPr>
              <a:t>[t]</a:t>
            </a:r>
            <a:endParaRPr lang="en-US" sz="750" noProof="1"/>
          </a:p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262626"/>
                </a:solidFill>
                <a:latin typeface="黑体"/>
                <a:ea typeface="黑体"/>
              </a:rPr>
              <a:t>chunk 内并行（稠密 matmul，C = 64）｜ 跨 chunk 串行（S 传递，head 维并行）</a:t>
            </a:r>
            <a:endParaRPr lang="en-US" sz="750" noProof="1"/>
          </a:p>
          <a:p>
            <a:pPr algn="l">
              <a:lnSpc>
                <a:spcPct val="135000"/>
              </a:lnSpc>
            </a:pPr>
            <a:r>
              <a:rPr lang="en-US" sz="700" noProof="1">
                <a:solidFill>
                  <a:srgbClr val="737373"/>
                </a:solidFill>
                <a:latin typeface="黑体"/>
                <a:ea typeface="黑体"/>
              </a:rPr>
              <a:t>训练 / 推理 prefill 共用；作为 flash-linear-attention 的后端自动分发</a:t>
            </a:r>
            <a:endParaRPr lang="en-US" sz="750" noProof="1"/>
          </a:p>
        </p:txBody>
      </p:sp>
      <p:sp>
        <p:nvSpPr>
          <p:cNvPr id="44" name="param-label"/>
          <p:cNvSpPr txBox="1"/>
          <p:nvPr/>
        </p:nvSpPr>
        <p:spPr>
          <a:xfrm>
            <a:off x="6197600" y="26416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黑体"/>
                <a:ea typeface="黑体"/>
              </a:rPr>
              <a:t>各阶段负载与昇腾诉求</a:t>
            </a:r>
            <a:endParaRPr lang="en-US" sz="1200" noProof="1"/>
          </a:p>
        </p:txBody>
      </p:sp>
      <p:graphicFrame>
        <p:nvGraphicFramePr>
          <p:cNvPr id="45" name="param-table"/>
          <p:cNvGraphicFramePr>
            <a:graphicFrameLocks noGrp="1"/>
          </p:cNvGraphicFramePr>
          <p:nvPr/>
        </p:nvGraphicFramePr>
        <p:xfrm>
          <a:off x="6197600" y="3048000"/>
          <a:ext cx="5537200" cy="2489200"/>
        </p:xfrm>
        <a:graphic>
          <a:graphicData uri="http://schemas.openxmlformats.org/drawingml/2006/table">
            <a:tbl>
              <a:tblPr/>
              <a:tblGrid>
                <a:gridCol w="1439672"/>
                <a:gridCol w="1439672"/>
                <a:gridCol w="885952"/>
                <a:gridCol w="1771904"/>
              </a:tblGrid>
              <a:tr h="2489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FLOPs/token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chunk 内注意力 A·Ṽ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[C,dk]×[dk,C]×[C,dv]，C = 64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2C(dk+dv)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稠密 matmul → CUBE；典型 tile 64×128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跨 chunk 读取 (Γ⊙Q)S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[C,dk]×[dk,dv]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2dk·dv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小矩阵乘、CUBE 利用率低 → 与 chunk 内计算双缓冲交叠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状态更新 S←MS+K̄ᵀṼ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[dk,dk]×[dk,dv]；[dk,C]×[C,dv]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≈3dk·dv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串行依赖；S 驻留片上（dk·dv×2B / head）避免 HBM 往返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累积衰减 Γ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[C,dk] / head，log 空间 cumsum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O(C·dk)，逐元素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纯 Vector；与 matmul 构成异构流水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UT 变换（W / U）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[C,C] 三角求逆 + 小 matmul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O(C·dk)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小尺寸 matmul → CUBE 效率受限，宜融合进主 kernel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SM 级 CP planner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段转移 M∈R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dk×dk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、Ŝ∈R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dk×dv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合并 2dk²·dv / 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单设备内序列切分并行，无通信 → AICore 级调度需求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6" name="param-note"/>
          <p:cNvSpPr txBox="1"/>
          <p:nvPr/>
        </p:nvSpPr>
        <p:spPr>
          <a:xfrm>
            <a:off x="6197600" y="5613400"/>
            <a:ext cx="5537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黑体"/>
                <a:ea typeface="黑体"/>
              </a:rPr>
              <a:t>片上驻留：S 为 dk×dv / head（dk = dv = 128 时 32KB / head，BF16），单核多 head 驻留能力决定流水深度。</a:t>
            </a:r>
            <a:endParaRPr lang="en-US" sz="750" noProof="1"/>
          </a:p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黑体"/>
                <a:ea typeface="黑体"/>
              </a:rPr>
              <a:t>注：C = 64（FLA 默认 chunk size）；dk / dv 以 checkpoint config 为准；FLOPs 为按 chunkwise 公式推算。</a:t>
            </a:r>
            <a:endParaRPr lang="en-US" sz="750" noProof="1"/>
          </a:p>
        </p:txBody>
      </p:sp>
      <p:sp>
        <p:nvSpPr>
          <p:cNvPr id="47" name="dev-label"/>
          <p:cNvSpPr txBox="1"/>
          <p:nvPr/>
        </p:nvSpPr>
        <p:spPr>
          <a:xfrm>
            <a:off x="558800" y="57404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黑体"/>
                <a:ea typeface="黑体"/>
              </a:rPr>
              <a:t>开发需求与趋势思考</a:t>
            </a:r>
            <a:endParaRPr lang="en-US" sz="1200" noProof="1"/>
          </a:p>
        </p:txBody>
      </p:sp>
      <p:sp>
        <p:nvSpPr>
          <p:cNvPr id="48" name="dev-bullets"/>
          <p:cNvSpPr txBox="1"/>
          <p:nvPr/>
        </p:nvSpPr>
        <p:spPr>
          <a:xfrm>
            <a:off x="558800" y="5943600"/>
            <a:ext cx="111252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昇腾现状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：vllm-ascend 为 Triton 版 chunk_kda（scaled_dot_kkt / solve_tril / wy_fast / chunk_delta_h / chunk_o 等多 kernel 串行调度），kernel 间显存往返多、串行段无掩盖，与 FlashKDA 存在代差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需求①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：Ascend C 融合 chunkwise 算子 —— intra-chunk matmul 上 CUBE，状态传播与计算双缓冲流水，S 驻留 L1 / UB 避免 HBM 往返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需求②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：SM 级 CP planner 的 NPU 对等实现 —— AICore 级序列切分、段转移并行求值与前缀合并，适配昇腾核间同步机制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趋势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：线性注意力 prefill 算子的竞争点是串行段掩盖率；Cube / Vector 异构流水 + 片上状态驻留是达成路径，DSL（TileLang 类）可缩短开发周期</a:t>
            </a:r>
            <a:endParaRPr lang="en-US" sz="8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58800" y="1778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 spc="300" kern="0">
                <a:solidFill>
                  <a:srgbClr val="737373"/>
                </a:solidFill>
                <a:latin typeface="黑体"/>
                <a:ea typeface="黑体"/>
              </a:rPr>
              <a:t>INFRASTRUCTURE · 02</a:t>
            </a:r>
            <a:endParaRPr lang="en-US" sz="900" noProof="1"/>
          </a:p>
        </p:txBody>
      </p:sp>
      <p:sp>
        <p:nvSpPr>
          <p:cNvPr id="3" name="source-note"/>
          <p:cNvSpPr txBox="1"/>
          <p:nvPr/>
        </p:nvSpPr>
        <p:spPr>
          <a:xfrm>
            <a:off x="4699000" y="177800"/>
            <a:ext cx="7035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黑体"/>
                <a:ea typeface="黑体"/>
              </a:rPr>
              <a:t>资料来源：Kimi K3 Technical Report §5.4.2（KDA）；ReplaySSM [25]；vllm-ascend ops/triton/kda</a:t>
            </a:r>
            <a:endParaRPr lang="en-US" sz="800" noProof="1"/>
          </a:p>
        </p:txBody>
      </p:sp>
      <p:sp>
        <p:nvSpPr>
          <p:cNvPr id="4" name="title"/>
          <p:cNvSpPr txBox="1"/>
          <p:nvPr/>
        </p:nvSpPr>
        <p:spPr>
          <a:xfrm>
            <a:off x="558800" y="3810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100" noProof="1" b="1">
                <a:solidFill>
                  <a:srgbClr val="C00000"/>
                </a:solidFill>
                <a:latin typeface="黑体"/>
                <a:ea typeface="黑体"/>
              </a:rPr>
              <a:t>KDA Decoding：可回滚的投机解码融合递归算子</a:t>
            </a:r>
            <a:endParaRPr lang="en-US" sz="2100" noProof="1"/>
          </a:p>
        </p:txBody>
      </p:sp>
      <p:sp>
        <p:nvSpPr>
          <p:cNvPr id="5" name="title-bar"/>
          <p:cNvSpPr/>
          <p:nvPr/>
        </p:nvSpPr>
        <p:spPr>
          <a:xfrm>
            <a:off x="558800" y="838200"/>
            <a:ext cx="8128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6" name="concl-label-bg"/>
          <p:cNvSpPr/>
          <p:nvPr/>
        </p:nvSpPr>
        <p:spPr>
          <a:xfrm>
            <a:off x="558800" y="1219200"/>
            <a:ext cx="1117600" cy="1397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7" name="concl-label"/>
          <p:cNvSpPr txBox="1"/>
          <p:nvPr/>
        </p:nvSpPr>
        <p:spPr>
          <a:xfrm>
            <a:off x="558800" y="1219200"/>
            <a:ext cx="11176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黑体"/>
                <a:ea typeface="黑体"/>
              </a:rPr>
              <a:t>分析结论</a:t>
            </a:r>
            <a:endParaRPr lang="en-US" sz="1400" noProof="1"/>
          </a:p>
        </p:txBody>
      </p:sp>
      <p:sp>
        <p:nvSpPr>
          <p:cNvPr id="8" name="concl-body-bg"/>
          <p:cNvSpPr/>
          <p:nvPr/>
        </p:nvSpPr>
        <p:spPr>
          <a:xfrm>
            <a:off x="1778000" y="1219200"/>
            <a:ext cx="9956800" cy="139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" name="concl-bullets"/>
          <p:cNvSpPr txBox="1"/>
          <p:nvPr/>
        </p:nvSpPr>
        <p:spPr>
          <a:xfrm>
            <a:off x="1955800" y="1282700"/>
            <a:ext cx="96012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瓶颈转移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：decode 每步原地更新状态 S；MTP 投机解码若拒绝部分草稿，S 已越过最后接受 token、无法直接回滚 —— 为每个草稿位置保存状态快照，在大 batch 下状态流量不可承受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方案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：只缓存草稿 token 的投影输入（远小于状态），验证后在片上重建已接受 token 的状态，写回 verified + bonus token 的状态（与同期工作 ReplaySSM 独立同思路）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单融合 kernel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：重放 token + bonus token + 下一草稿窗口共享一个递归循环，覆盖 短卷积 / 输入归一化 / 门控 / KDA 递归 / 输出归一化；验证延迟随验证 token 数亚线性增长，优于状态缓存基线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部署亲和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：投影缓存不离开 decode 阶段 → prefix caching 与 prefill-decode 分离的负载和非投机服务完全一致</a:t>
            </a:r>
            <a:endParaRPr lang="en-US" sz="900" noProof="1"/>
          </a:p>
        </p:txBody>
      </p:sp>
      <p:sp>
        <p:nvSpPr>
          <p:cNvPr id="10" name="arch-label"/>
          <p:cNvSpPr txBox="1"/>
          <p:nvPr/>
        </p:nvSpPr>
        <p:spPr>
          <a:xfrm>
            <a:off x="558800" y="26416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黑体"/>
                <a:ea typeface="黑体"/>
              </a:rPr>
              <a:t>融合算子构成与状态回滚</a:t>
            </a:r>
            <a:endParaRPr lang="en-US" sz="1200" noProof="1"/>
          </a:p>
        </p:txBody>
      </p:sp>
      <p:sp>
        <p:nvSpPr>
          <p:cNvPr id="11" name="module-border"/>
          <p:cNvSpPr/>
          <p:nvPr/>
        </p:nvSpPr>
        <p:spPr>
          <a:xfrm>
            <a:off x="457200" y="2895600"/>
            <a:ext cx="5435600" cy="281940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404040"/>
            </a:solidFill>
            <a:prstDash val="dash"/>
          </a:ln>
        </p:spPr>
      </p:sp>
      <p:sp>
        <p:nvSpPr>
          <p:cNvPr id="12" name="fused-box"/>
          <p:cNvSpPr/>
          <p:nvPr/>
        </p:nvSpPr>
        <p:spPr>
          <a:xfrm>
            <a:off x="711200" y="3048000"/>
            <a:ext cx="4622800" cy="1320800"/>
          </a:xfrm>
          <a:prstGeom prst="roundRect">
            <a:avLst>
              <a:gd name="adj" fmla="val 10000"/>
            </a:avLst>
          </a:prstGeom>
          <a:solidFill>
            <a:srgbClr val="F7F7F7"/>
          </a:solidFill>
          <a:ln w="12700">
            <a:solidFill>
              <a:srgbClr val="262626"/>
            </a:solidFill>
          </a:ln>
        </p:spPr>
      </p:sp>
      <p:sp>
        <p:nvSpPr>
          <p:cNvPr id="13" name="fused-title"/>
          <p:cNvSpPr txBox="1"/>
          <p:nvPr/>
        </p:nvSpPr>
        <p:spPr>
          <a:xfrm>
            <a:off x="812800" y="3124200"/>
            <a:ext cx="44196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50" noProof="1" b="1">
                <a:solidFill>
                  <a:srgbClr val="262626"/>
                </a:solidFill>
                <a:latin typeface="黑体"/>
                <a:ea typeface="黑体"/>
              </a:rPr>
              <a:t>单融合 kernel：重放 + bonus + 下一草稿共享一个递归循环</a:t>
            </a:r>
            <a:endParaRPr lang="en-US" sz="850" noProof="1"/>
          </a:p>
        </p:txBody>
      </p:sp>
      <p:sp>
        <p:nvSpPr>
          <p:cNvPr id="14" name="fk-b1"/>
          <p:cNvSpPr/>
          <p:nvPr/>
        </p:nvSpPr>
        <p:spPr>
          <a:xfrm>
            <a:off x="812800" y="3683000"/>
            <a:ext cx="812800" cy="254000"/>
          </a:xfrm>
          <a:prstGeom prst="roundRect">
            <a:avLst>
              <a:gd name="adj" fmla="val 20000"/>
            </a:avLst>
          </a:prstGeom>
          <a:solidFill>
            <a:srgbClr val="F0F0F4"/>
          </a:solidFill>
          <a:ln w="12700">
            <a:solidFill>
              <a:srgbClr val="262626"/>
            </a:solidFill>
          </a:ln>
        </p:spPr>
      </p:sp>
      <p:sp>
        <p:nvSpPr>
          <p:cNvPr id="15" name="fk-b1-t"/>
          <p:cNvSpPr txBox="1"/>
          <p:nvPr/>
        </p:nvSpPr>
        <p:spPr>
          <a:xfrm>
            <a:off x="812800" y="3683000"/>
            <a:ext cx="812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650" noProof="1">
                <a:solidFill>
                  <a:srgbClr val="262626"/>
                </a:solidFill>
                <a:latin typeface="黑体"/>
                <a:ea typeface="黑体"/>
              </a:rPr>
              <a:t>短卷积 k=4</a:t>
            </a:r>
            <a:endParaRPr lang="en-US" sz="650" noProof="1"/>
          </a:p>
        </p:txBody>
      </p:sp>
      <p:sp>
        <p:nvSpPr>
          <p:cNvPr id="16" name="fk-a12"/>
          <p:cNvSpPr/>
          <p:nvPr>
            <p:extLst>
              <p:ext uri="{F5677B7D-0D2A-4D9B-9A5C-6D8D7D0E5A5D}">
                <pptd:line encoding="base64url">eyJ2aWV3Qm94IjpbOCw0XSwicG9pbnRzIjoiMCwyIDgsMiIsImN1cnZlIjoic2hhcnAifQ</pptd:line>
              </p:ext>
            </p:extLst>
          </p:nvPr>
        </p:nvSpPr>
        <p:spPr>
          <a:xfrm>
            <a:off x="1625600" y="3784600"/>
            <a:ext cx="101600" cy="50800"/>
          </a:xfrm>
          <a:custGeom>
            <a:avLst/>
            <a:gdLst/>
            <a:ahLst/>
            <a:cxnLst/>
            <a:rect l="l" t="t" r="r" b="b"/>
            <a:pathLst>
              <a:path w="8" h="4">
                <a:moveTo>
                  <a:pt x="0" y="2"/>
                </a:moveTo>
                <a:lnTo>
                  <a:pt x="8" y="2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17" name="fk-b2"/>
          <p:cNvSpPr/>
          <p:nvPr/>
        </p:nvSpPr>
        <p:spPr>
          <a:xfrm>
            <a:off x="1727200" y="3683000"/>
            <a:ext cx="812800" cy="254000"/>
          </a:xfrm>
          <a:prstGeom prst="roundRect">
            <a:avLst>
              <a:gd name="adj" fmla="val 20000"/>
            </a:avLst>
          </a:prstGeom>
          <a:solidFill>
            <a:srgbClr val="F0F0F4"/>
          </a:solidFill>
          <a:ln w="12700">
            <a:solidFill>
              <a:srgbClr val="262626"/>
            </a:solidFill>
          </a:ln>
        </p:spPr>
      </p:sp>
      <p:sp>
        <p:nvSpPr>
          <p:cNvPr id="18" name="fk-b2-t"/>
          <p:cNvSpPr txBox="1"/>
          <p:nvPr/>
        </p:nvSpPr>
        <p:spPr>
          <a:xfrm>
            <a:off x="1727200" y="3683000"/>
            <a:ext cx="812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650" noProof="1">
                <a:solidFill>
                  <a:srgbClr val="262626"/>
                </a:solidFill>
                <a:latin typeface="黑体"/>
                <a:ea typeface="黑体"/>
              </a:rPr>
              <a:t>输入归一化</a:t>
            </a:r>
            <a:endParaRPr lang="en-US" sz="650" noProof="1"/>
          </a:p>
        </p:txBody>
      </p:sp>
      <p:sp>
        <p:nvSpPr>
          <p:cNvPr id="19" name="fk-a23"/>
          <p:cNvSpPr/>
          <p:nvPr>
            <p:extLst>
              <p:ext uri="{F5677B7D-0D2A-4D9B-9A5C-6D8D7D0E5A5D}">
                <pptd:line encoding="base64url">eyJ2aWV3Qm94IjpbOCw0XSwicG9pbnRzIjoiMCwyIDgsMiIsImN1cnZlIjoic2hhcnAifQ</pptd:line>
              </p:ext>
            </p:extLst>
          </p:nvPr>
        </p:nvSpPr>
        <p:spPr>
          <a:xfrm>
            <a:off x="2540000" y="3784600"/>
            <a:ext cx="101600" cy="50800"/>
          </a:xfrm>
          <a:custGeom>
            <a:avLst/>
            <a:gdLst/>
            <a:ahLst/>
            <a:cxnLst/>
            <a:rect l="l" t="t" r="r" b="b"/>
            <a:pathLst>
              <a:path w="8" h="4">
                <a:moveTo>
                  <a:pt x="0" y="2"/>
                </a:moveTo>
                <a:lnTo>
                  <a:pt x="8" y="2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20" name="fk-b3"/>
          <p:cNvSpPr/>
          <p:nvPr/>
        </p:nvSpPr>
        <p:spPr>
          <a:xfrm>
            <a:off x="2641600" y="3683000"/>
            <a:ext cx="812800" cy="254000"/>
          </a:xfrm>
          <a:prstGeom prst="roundRect">
            <a:avLst>
              <a:gd name="adj" fmla="val 20000"/>
            </a:avLst>
          </a:prstGeom>
          <a:solidFill>
            <a:srgbClr val="F0F0F4"/>
          </a:solidFill>
          <a:ln w="12700">
            <a:solidFill>
              <a:srgbClr val="262626"/>
            </a:solidFill>
          </a:ln>
        </p:spPr>
      </p:sp>
      <p:sp>
        <p:nvSpPr>
          <p:cNvPr id="21" name="fk-b3-t"/>
          <p:cNvSpPr txBox="1"/>
          <p:nvPr/>
        </p:nvSpPr>
        <p:spPr>
          <a:xfrm>
            <a:off x="2641600" y="3683000"/>
            <a:ext cx="812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650" noProof="1">
                <a:solidFill>
                  <a:srgbClr val="262626"/>
                </a:solidFill>
                <a:latin typeface="黑体"/>
                <a:ea typeface="黑体"/>
              </a:rPr>
              <a:t>门控 σ</a:t>
            </a:r>
            <a:endParaRPr lang="en-US" sz="650" noProof="1"/>
          </a:p>
        </p:txBody>
      </p:sp>
      <p:sp>
        <p:nvSpPr>
          <p:cNvPr id="22" name="fk-a34"/>
          <p:cNvSpPr/>
          <p:nvPr>
            <p:extLst>
              <p:ext uri="{F5677B7D-0D2A-4D9B-9A5C-6D8D7D0E5A5D}">
                <pptd:line encoding="base64url">eyJ2aWV3Qm94IjpbOCw0XSwicG9pbnRzIjoiMCwyIDgsMiIsImN1cnZlIjoic2hhcnAifQ</pptd:line>
              </p:ext>
            </p:extLst>
          </p:nvPr>
        </p:nvSpPr>
        <p:spPr>
          <a:xfrm>
            <a:off x="3454400" y="3784600"/>
            <a:ext cx="101600" cy="50800"/>
          </a:xfrm>
          <a:custGeom>
            <a:avLst/>
            <a:gdLst/>
            <a:ahLst/>
            <a:cxnLst/>
            <a:rect l="l" t="t" r="r" b="b"/>
            <a:pathLst>
              <a:path w="8" h="4">
                <a:moveTo>
                  <a:pt x="0" y="2"/>
                </a:moveTo>
                <a:lnTo>
                  <a:pt x="8" y="2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23" name="fk-b4"/>
          <p:cNvSpPr/>
          <p:nvPr/>
        </p:nvSpPr>
        <p:spPr>
          <a:xfrm>
            <a:off x="3556000" y="3683000"/>
            <a:ext cx="812800" cy="254000"/>
          </a:xfrm>
          <a:prstGeom prst="roundRect">
            <a:avLst>
              <a:gd name="adj" fmla="val 20000"/>
            </a:avLst>
          </a:prstGeom>
          <a:solidFill>
            <a:srgbClr val="C8DCF4"/>
          </a:solidFill>
          <a:ln w="12700">
            <a:solidFill>
              <a:srgbClr val="262626"/>
            </a:solidFill>
          </a:ln>
        </p:spPr>
      </p:sp>
      <p:sp>
        <p:nvSpPr>
          <p:cNvPr id="24" name="fk-b4-t"/>
          <p:cNvSpPr txBox="1"/>
          <p:nvPr/>
        </p:nvSpPr>
        <p:spPr>
          <a:xfrm>
            <a:off x="3556000" y="3683000"/>
            <a:ext cx="812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650" noProof="1">
                <a:solidFill>
                  <a:srgbClr val="1F2A36"/>
                </a:solidFill>
                <a:latin typeface="黑体"/>
                <a:ea typeface="黑体"/>
              </a:rPr>
              <a:t>KDA 递归 S</a:t>
            </a:r>
            <a:endParaRPr lang="en-US" sz="650" noProof="1"/>
          </a:p>
        </p:txBody>
      </p:sp>
      <p:sp>
        <p:nvSpPr>
          <p:cNvPr id="25" name="fk-a45"/>
          <p:cNvSpPr/>
          <p:nvPr>
            <p:extLst>
              <p:ext uri="{F5677B7D-0D2A-4D9B-9A5C-6D8D7D0E5A5D}">
                <pptd:line encoding="base64url">eyJ2aWV3Qm94IjpbOCw0XSwicG9pbnRzIjoiMCwyIDgsMiIsImN1cnZlIjoic2hhcnAifQ</pptd:line>
              </p:ext>
            </p:extLst>
          </p:nvPr>
        </p:nvSpPr>
        <p:spPr>
          <a:xfrm>
            <a:off x="4368800" y="3784600"/>
            <a:ext cx="101600" cy="50800"/>
          </a:xfrm>
          <a:custGeom>
            <a:avLst/>
            <a:gdLst/>
            <a:ahLst/>
            <a:cxnLst/>
            <a:rect l="l" t="t" r="r" b="b"/>
            <a:pathLst>
              <a:path w="8" h="4">
                <a:moveTo>
                  <a:pt x="0" y="2"/>
                </a:moveTo>
                <a:lnTo>
                  <a:pt x="8" y="2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26" name="fk-b5"/>
          <p:cNvSpPr/>
          <p:nvPr/>
        </p:nvSpPr>
        <p:spPr>
          <a:xfrm>
            <a:off x="4470400" y="3683000"/>
            <a:ext cx="812800" cy="254000"/>
          </a:xfrm>
          <a:prstGeom prst="roundRect">
            <a:avLst>
              <a:gd name="adj" fmla="val 20000"/>
            </a:avLst>
          </a:prstGeom>
          <a:solidFill>
            <a:srgbClr val="F0F0F4"/>
          </a:solidFill>
          <a:ln w="12700">
            <a:solidFill>
              <a:srgbClr val="262626"/>
            </a:solidFill>
          </a:ln>
        </p:spPr>
      </p:sp>
      <p:sp>
        <p:nvSpPr>
          <p:cNvPr id="27" name="fk-b5-t"/>
          <p:cNvSpPr txBox="1"/>
          <p:nvPr/>
        </p:nvSpPr>
        <p:spPr>
          <a:xfrm>
            <a:off x="4470400" y="3683000"/>
            <a:ext cx="8128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650" noProof="1">
                <a:solidFill>
                  <a:srgbClr val="262626"/>
                </a:solidFill>
                <a:latin typeface="黑体"/>
                <a:ea typeface="黑体"/>
              </a:rPr>
              <a:t>输出归一化</a:t>
            </a:r>
            <a:endParaRPr lang="en-US" sz="650" noProof="1"/>
          </a:p>
        </p:txBody>
      </p:sp>
      <p:sp>
        <p:nvSpPr>
          <p:cNvPr id="28" name="fk-loop"/>
          <p:cNvSpPr/>
          <p:nvPr>
            <p:extLst>
              <p:ext uri="{F5677B7D-0D2A-4D9B-9A5C-6D8D7D0E5A5D}">
                <pptd:line encoding="base64url">eyJ2aWV3Qm94IjpbMjg4LDE0XSwicG9pbnRzIjoiMjg4LDAgMjg4LDE0IDAsMTQgMCwwIiwiY3VydmUiOiJzaGFycCJ9</pptd:line>
              </p:ext>
            </p:extLst>
          </p:nvPr>
        </p:nvSpPr>
        <p:spPr>
          <a:xfrm>
            <a:off x="1219200" y="3937000"/>
            <a:ext cx="3657600" cy="177800"/>
          </a:xfrm>
          <a:custGeom>
            <a:avLst/>
            <a:gdLst/>
            <a:ahLst/>
            <a:cxnLst/>
            <a:rect l="l" t="t" r="r" b="b"/>
            <a:pathLst>
              <a:path w="288" h="14">
                <a:moveTo>
                  <a:pt x="288" y="0"/>
                </a:moveTo>
                <a:lnTo>
                  <a:pt x="288" y="14"/>
                </a:lnTo>
                <a:lnTo>
                  <a:pt x="0" y="14"/>
                </a:lnTo>
                <a:lnTo>
                  <a:pt x="0" y="0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29" name="fk-loop-t"/>
          <p:cNvSpPr txBox="1"/>
          <p:nvPr/>
        </p:nvSpPr>
        <p:spPr>
          <a:xfrm>
            <a:off x="2540000" y="3987800"/>
            <a:ext cx="1016000" cy="12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737373"/>
                </a:solidFill>
                <a:latin typeface="黑体"/>
                <a:ea typeface="黑体"/>
              </a:rPr>
              <a:t>递归循环</a:t>
            </a:r>
            <a:endParaRPr lang="en-US" sz="700" noProof="1"/>
          </a:p>
        </p:txBody>
      </p:sp>
      <p:sp>
        <p:nvSpPr>
          <p:cNvPr id="30" name="rb-label"/>
          <p:cNvSpPr txBox="1"/>
          <p:nvPr/>
        </p:nvSpPr>
        <p:spPr>
          <a:xfrm>
            <a:off x="711200" y="4521200"/>
            <a:ext cx="3810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50" noProof="1" b="1">
                <a:solidFill>
                  <a:srgbClr val="262626"/>
                </a:solidFill>
                <a:latin typeface="黑体"/>
                <a:ea typeface="黑体"/>
              </a:rPr>
              <a:t>MTP 验证拒绝时的状态回滚</a:t>
            </a:r>
            <a:endParaRPr lang="en-US" sz="850" noProof="1"/>
          </a:p>
        </p:txBody>
      </p:sp>
      <p:sp>
        <p:nvSpPr>
          <p:cNvPr id="31" name="rb-d1"/>
          <p:cNvSpPr/>
          <p:nvPr/>
        </p:nvSpPr>
        <p:spPr>
          <a:xfrm>
            <a:off x="812800" y="4749800"/>
            <a:ext cx="508000" cy="228600"/>
          </a:xfrm>
          <a:prstGeom prst="roundRect">
            <a:avLst>
              <a:gd name="adj" fmla="val 20000"/>
            </a:avLst>
          </a:prstGeom>
          <a:solidFill>
            <a:srgbClr val="CBE6CF"/>
          </a:solidFill>
          <a:ln w="12700">
            <a:solidFill>
              <a:srgbClr val="262626"/>
            </a:solidFill>
          </a:ln>
        </p:spPr>
      </p:sp>
      <p:sp>
        <p:nvSpPr>
          <p:cNvPr id="32" name="rb-d1-t"/>
          <p:cNvSpPr txBox="1"/>
          <p:nvPr/>
        </p:nvSpPr>
        <p:spPr>
          <a:xfrm>
            <a:off x="812800" y="47498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262626"/>
                </a:solidFill>
                <a:latin typeface="黑体"/>
                <a:ea typeface="黑体"/>
              </a:rPr>
              <a:t>d1 ✓</a:t>
            </a:r>
            <a:endParaRPr lang="en-US" sz="700" noProof="1"/>
          </a:p>
        </p:txBody>
      </p:sp>
      <p:sp>
        <p:nvSpPr>
          <p:cNvPr id="33" name="rb-d2"/>
          <p:cNvSpPr/>
          <p:nvPr/>
        </p:nvSpPr>
        <p:spPr>
          <a:xfrm>
            <a:off x="1371600" y="4749800"/>
            <a:ext cx="508000" cy="228600"/>
          </a:xfrm>
          <a:prstGeom prst="roundRect">
            <a:avLst>
              <a:gd name="adj" fmla="val 20000"/>
            </a:avLst>
          </a:prstGeom>
          <a:solidFill>
            <a:srgbClr val="CBE6CF"/>
          </a:solidFill>
          <a:ln w="12700">
            <a:solidFill>
              <a:srgbClr val="262626"/>
            </a:solidFill>
          </a:ln>
        </p:spPr>
      </p:sp>
      <p:sp>
        <p:nvSpPr>
          <p:cNvPr id="34" name="rb-d2-t"/>
          <p:cNvSpPr txBox="1"/>
          <p:nvPr/>
        </p:nvSpPr>
        <p:spPr>
          <a:xfrm>
            <a:off x="1371600" y="47498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262626"/>
                </a:solidFill>
                <a:latin typeface="黑体"/>
                <a:ea typeface="黑体"/>
              </a:rPr>
              <a:t>d2 ✓</a:t>
            </a:r>
            <a:endParaRPr lang="en-US" sz="700" noProof="1"/>
          </a:p>
        </p:txBody>
      </p:sp>
      <p:sp>
        <p:nvSpPr>
          <p:cNvPr id="35" name="rb-d3"/>
          <p:cNvSpPr/>
          <p:nvPr/>
        </p:nvSpPr>
        <p:spPr>
          <a:xfrm>
            <a:off x="1930400" y="4749800"/>
            <a:ext cx="508000" cy="228600"/>
          </a:xfrm>
          <a:prstGeom prst="roundRect">
            <a:avLst>
              <a:gd name="adj" fmla="val 20000"/>
            </a:avLst>
          </a:prstGeom>
          <a:solidFill>
            <a:srgbClr val="F6D2CE"/>
          </a:solidFill>
          <a:ln w="12700">
            <a:solidFill>
              <a:srgbClr val="C00000"/>
            </a:solidFill>
          </a:ln>
        </p:spPr>
      </p:sp>
      <p:sp>
        <p:nvSpPr>
          <p:cNvPr id="36" name="rb-d3-t"/>
          <p:cNvSpPr txBox="1"/>
          <p:nvPr/>
        </p:nvSpPr>
        <p:spPr>
          <a:xfrm>
            <a:off x="1930400" y="47498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262626"/>
                </a:solidFill>
                <a:latin typeface="黑体"/>
                <a:ea typeface="黑体"/>
              </a:rPr>
              <a:t>d3 ✗</a:t>
            </a:r>
            <a:endParaRPr lang="en-US" sz="700" noProof="1"/>
          </a:p>
        </p:txBody>
      </p:sp>
      <p:sp>
        <p:nvSpPr>
          <p:cNvPr id="37" name="rb-d4"/>
          <p:cNvSpPr/>
          <p:nvPr/>
        </p:nvSpPr>
        <p:spPr>
          <a:xfrm>
            <a:off x="2489200" y="4749800"/>
            <a:ext cx="508000" cy="228600"/>
          </a:xfrm>
          <a:prstGeom prst="roundRect">
            <a:avLst>
              <a:gd name="adj" fmla="val 20000"/>
            </a:avLst>
          </a:prstGeom>
          <a:solidFill>
            <a:srgbClr val="F6D2CE"/>
          </a:solidFill>
          <a:ln w="12700">
            <a:solidFill>
              <a:srgbClr val="C00000"/>
            </a:solidFill>
          </a:ln>
        </p:spPr>
      </p:sp>
      <p:sp>
        <p:nvSpPr>
          <p:cNvPr id="38" name="rb-d4-t"/>
          <p:cNvSpPr txBox="1"/>
          <p:nvPr/>
        </p:nvSpPr>
        <p:spPr>
          <a:xfrm>
            <a:off x="2489200" y="4749800"/>
            <a:ext cx="508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262626"/>
                </a:solidFill>
                <a:latin typeface="黑体"/>
                <a:ea typeface="黑体"/>
              </a:rPr>
              <a:t>d4 ✗</a:t>
            </a:r>
            <a:endParaRPr lang="en-US" sz="700" noProof="1"/>
          </a:p>
        </p:txBody>
      </p:sp>
      <p:sp>
        <p:nvSpPr>
          <p:cNvPr id="39" name="rb-a1"/>
          <p:cNvSpPr/>
          <p:nvPr>
            <p:extLst>
              <p:ext uri="{F5677B7D-0D2A-4D9B-9A5C-6D8D7D0E5A5D}">
                <pptd:line encoding="base64url">eyJ2aWV3Qm94IjpbMjQsNF0sInBvaW50cyI6IjAsMiAyNCwyIiwiY3VydmUiOiJzaGFycCJ9</pptd:line>
              </p:ext>
            </p:extLst>
          </p:nvPr>
        </p:nvSpPr>
        <p:spPr>
          <a:xfrm>
            <a:off x="2997200" y="4838700"/>
            <a:ext cx="304800" cy="50800"/>
          </a:xfrm>
          <a:custGeom>
            <a:avLst/>
            <a:gdLst/>
            <a:ahLst/>
            <a:cxnLst/>
            <a:rect l="l" t="t" r="r" b="b"/>
            <a:pathLst>
              <a:path w="24" h="4">
                <a:moveTo>
                  <a:pt x="0" y="2"/>
                </a:moveTo>
                <a:lnTo>
                  <a:pt x="24" y="2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40" name="rb-rebuild"/>
          <p:cNvSpPr/>
          <p:nvPr/>
        </p:nvSpPr>
        <p:spPr>
          <a:xfrm>
            <a:off x="3302000" y="4673600"/>
            <a:ext cx="1066800" cy="330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62626"/>
            </a:solidFill>
          </a:ln>
        </p:spPr>
      </p:sp>
      <p:sp>
        <p:nvSpPr>
          <p:cNvPr id="41" name="rb-rebuild-t"/>
          <p:cNvSpPr txBox="1"/>
          <p:nvPr/>
        </p:nvSpPr>
        <p:spPr>
          <a:xfrm>
            <a:off x="3302000" y="4673600"/>
            <a:ext cx="10668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262626"/>
                </a:solidFill>
                <a:latin typeface="黑体"/>
                <a:ea typeface="黑体"/>
              </a:rPr>
              <a:t>片上重建 S（仅 d1, d2）</a:t>
            </a:r>
            <a:endParaRPr lang="en-US" sz="700" noProof="1"/>
          </a:p>
        </p:txBody>
      </p:sp>
      <p:sp>
        <p:nvSpPr>
          <p:cNvPr id="42" name="rb-a2"/>
          <p:cNvSpPr/>
          <p:nvPr>
            <p:extLst>
              <p:ext uri="{F5677B7D-0D2A-4D9B-9A5C-6D8D7D0E5A5D}">
                <pptd:line encoding="base64url">eyJ2aWV3Qm94IjpbMTIsNF0sInBvaW50cyI6IjAsMiAxMiwyIiwiY3VydmUiOiJzaGFycCJ9</pptd:line>
              </p:ext>
            </p:extLst>
          </p:nvPr>
        </p:nvSpPr>
        <p:spPr>
          <a:xfrm>
            <a:off x="4368800" y="4838700"/>
            <a:ext cx="152400" cy="50800"/>
          </a:xfrm>
          <a:custGeom>
            <a:avLst/>
            <a:gdLst/>
            <a:ahLst/>
            <a:cxnLst/>
            <a:rect l="l" t="t" r="r" b="b"/>
            <a:pathLst>
              <a:path w="12" h="4">
                <a:moveTo>
                  <a:pt x="0" y="2"/>
                </a:moveTo>
                <a:lnTo>
                  <a:pt x="12" y="2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43" name="rb-write"/>
          <p:cNvSpPr/>
          <p:nvPr/>
        </p:nvSpPr>
        <p:spPr>
          <a:xfrm>
            <a:off x="4521200" y="4673600"/>
            <a:ext cx="812800" cy="330200"/>
          </a:xfrm>
          <a:prstGeom prst="roundRect">
            <a:avLst>
              <a:gd name="adj" fmla="val 20000"/>
            </a:avLst>
          </a:prstGeom>
          <a:solidFill>
            <a:srgbClr val="C8DCF4"/>
          </a:solidFill>
          <a:ln w="12700">
            <a:solidFill>
              <a:srgbClr val="262626"/>
            </a:solidFill>
          </a:ln>
        </p:spPr>
      </p:sp>
      <p:sp>
        <p:nvSpPr>
          <p:cNvPr id="44" name="rb-write-t"/>
          <p:cNvSpPr txBox="1"/>
          <p:nvPr/>
        </p:nvSpPr>
        <p:spPr>
          <a:xfrm>
            <a:off x="4521200" y="4673600"/>
            <a:ext cx="8128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1F2A36"/>
                </a:solidFill>
                <a:latin typeface="黑体"/>
                <a:ea typeface="黑体"/>
              </a:rPr>
              <a:t>写回 S_verified +S_bonus</a:t>
            </a:r>
            <a:endParaRPr lang="en-US" sz="700" noProof="1"/>
          </a:p>
        </p:txBody>
      </p:sp>
      <p:sp>
        <p:nvSpPr>
          <p:cNvPr id="45" name="rb-note"/>
          <p:cNvSpPr txBox="1"/>
          <p:nvPr/>
        </p:nvSpPr>
        <p:spPr>
          <a:xfrm>
            <a:off x="711200" y="5130800"/>
            <a:ext cx="46228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黑体"/>
                <a:ea typeface="黑体"/>
              </a:rPr>
              <a:t>状态快照方案需为每个草稿位置保存 S（H·dk·dv×2B / 层），大 batch 下流量不可承受；投影输入缓存 D×(4dk+1)·H 小约 dv/4 倍，且不离开 decode 阶段 → prefix caching / PD 分离负载与非投机一致。</a:t>
            </a:r>
            <a:endParaRPr lang="en-US" sz="750" noProof="1"/>
          </a:p>
        </p:txBody>
      </p:sp>
      <p:sp>
        <p:nvSpPr>
          <p:cNvPr id="46" name="param-label"/>
          <p:cNvSpPr txBox="1"/>
          <p:nvPr/>
        </p:nvSpPr>
        <p:spPr>
          <a:xfrm>
            <a:off x="6197600" y="26416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黑体"/>
                <a:ea typeface="黑体"/>
              </a:rPr>
              <a:t>各阶段负载与昇腾诉求</a:t>
            </a:r>
            <a:endParaRPr lang="en-US" sz="1200" noProof="1"/>
          </a:p>
        </p:txBody>
      </p:sp>
      <p:graphicFrame>
        <p:nvGraphicFramePr>
          <p:cNvPr id="47" name="param-table"/>
          <p:cNvGraphicFramePr>
            <a:graphicFrameLocks noGrp="1"/>
          </p:cNvGraphicFramePr>
          <p:nvPr/>
        </p:nvGraphicFramePr>
        <p:xfrm>
          <a:off x="6197600" y="3048000"/>
          <a:ext cx="5537200" cy="2489200"/>
        </p:xfrm>
        <a:graphic>
          <a:graphicData uri="http://schemas.openxmlformats.org/drawingml/2006/table">
            <a:tbl>
              <a:tblPr/>
              <a:tblGrid>
                <a:gridCol w="1439672"/>
                <a:gridCol w="1439672"/>
                <a:gridCol w="885952"/>
                <a:gridCol w="1771904"/>
              </a:tblGrid>
              <a:tr h="2489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FLOPs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短卷积（causal，k=4）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[B,H,dk]×4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≈4dk·H / 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小卷积 → Vector；独立 kernel 不划算，必须融合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门控（safe-gate）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g = −5·σ(e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A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·z)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O(H·dk)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纯 Vector；当前 NPU kernel 未融合（host 侧预处理，多一次显存往返）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KDA 递归（rank-1 更新）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S: [H,dk,dv]，逐 token 串行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≈3H·dk·dv / token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小矩阵、并行度仅 B×H 维 → 状态驻留片上是关键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状态重建（replay）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D 个草稿的投影输入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D×3H·dk·dv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片上重建，免去 D 份状态快照的 HBM 读写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投影输入缓存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D×(4dk+1)·H×2B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仅为状态快照的 ≈4/dv（dv = 128 → ≈1/32）；显存与带宽双省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8" name="param-note"/>
          <p:cNvSpPr txBox="1"/>
          <p:nvPr/>
        </p:nvSpPr>
        <p:spPr>
          <a:xfrm>
            <a:off x="6197600" y="5613400"/>
            <a:ext cx="5537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黑体"/>
                <a:ea typeface="黑体"/>
              </a:rPr>
              <a:t>估算（dk = dv = 128、H = 96）：单层状态 3.0MB（BF16）；D = 4 时快照方案读写 ≈12MB / 层 / step，投影缓存 ≈0.4MB / 层。</a:t>
            </a:r>
            <a:endParaRPr lang="en-US" sz="750" noProof="1"/>
          </a:p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黑体"/>
                <a:ea typeface="黑体"/>
              </a:rPr>
              <a:t>注：dk / dv / H 以 checkpoint config 为准；FLOPs 为推算；验证延迟随验证 token 数亚线性增长（报告实测结论）。</a:t>
            </a:r>
            <a:endParaRPr lang="en-US" sz="750" noProof="1"/>
          </a:p>
        </p:txBody>
      </p:sp>
      <p:sp>
        <p:nvSpPr>
          <p:cNvPr id="49" name="dev-label"/>
          <p:cNvSpPr txBox="1"/>
          <p:nvPr/>
        </p:nvSpPr>
        <p:spPr>
          <a:xfrm>
            <a:off x="558800" y="57404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黑体"/>
                <a:ea typeface="黑体"/>
              </a:rPr>
              <a:t>开发需求与趋势思考</a:t>
            </a:r>
            <a:endParaRPr lang="en-US" sz="1200" noProof="1"/>
          </a:p>
        </p:txBody>
      </p:sp>
      <p:sp>
        <p:nvSpPr>
          <p:cNvPr id="50" name="dev-bullets"/>
          <p:cNvSpPr txBox="1"/>
          <p:nvPr/>
        </p:nvSpPr>
        <p:spPr>
          <a:xfrm>
            <a:off x="558800" y="5943600"/>
            <a:ext cx="111252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算子层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：需 Ascend C 融合递归 kernel（短卷积 + 归一化 + 门控 + 递归 + 输出归一化单 kernel，含 replay 路径）；vllm-ascend 现有 Triton fused_recurrent_kda，MTP 回滚未实现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门控融合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：safe-gate 计算下沉进 kernel —— 现状 gate.py 在 host 侧 apply_kda_gate 预处理，多一次显存往返且阻断全链路融合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框架层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：草稿投影输入缓存的生命周期管理（仅存在于 decode 阶段），与 vllm-ascend spec_decode 各 proposer（mtp / dflash / dspark）对接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趋势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：投机解码 × 线性注意力使“状态可重建性”成为算子设计约束；片上 SRAM 容量决定可融合的草稿窗口长度</a:t>
            </a:r>
            <a:endParaRPr lang="en-US" sz="8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58800" y="1778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 spc="300" kern="0">
                <a:solidFill>
                  <a:srgbClr val="737373"/>
                </a:solidFill>
                <a:latin typeface="黑体"/>
                <a:ea typeface="黑体"/>
              </a:rPr>
              <a:t>INFRASTRUCTURE · 03</a:t>
            </a:r>
            <a:endParaRPr lang="en-US" sz="900" noProof="1"/>
          </a:p>
        </p:txBody>
      </p:sp>
      <p:sp>
        <p:nvSpPr>
          <p:cNvPr id="3" name="source-note"/>
          <p:cNvSpPr txBox="1"/>
          <p:nvPr/>
        </p:nvSpPr>
        <p:spPr>
          <a:xfrm>
            <a:off x="4699000" y="177800"/>
            <a:ext cx="7035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黑体"/>
                <a:ea typeface="黑体"/>
              </a:rPr>
              <a:t>资料来源：Kimi K3 Technical Report §2.2 / §5.4.2（Block AttnRes）</a:t>
            </a:r>
            <a:endParaRPr lang="en-US" sz="800" noProof="1"/>
          </a:p>
        </p:txBody>
      </p:sp>
      <p:sp>
        <p:nvSpPr>
          <p:cNvPr id="4" name="title"/>
          <p:cNvSpPr txBox="1"/>
          <p:nvPr/>
        </p:nvSpPr>
        <p:spPr>
          <a:xfrm>
            <a:off x="558800" y="3810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100" noProof="1" b="1">
                <a:solidFill>
                  <a:srgbClr val="C00000"/>
                </a:solidFill>
                <a:latin typeface="黑体"/>
                <a:ea typeface="黑体"/>
              </a:rPr>
              <a:t>Block AttnRes：两阶段调度与通信融合</a:t>
            </a:r>
            <a:endParaRPr lang="en-US" sz="2100" noProof="1"/>
          </a:p>
        </p:txBody>
      </p:sp>
      <p:sp>
        <p:nvSpPr>
          <p:cNvPr id="5" name="title-bar"/>
          <p:cNvSpPr/>
          <p:nvPr/>
        </p:nvSpPr>
        <p:spPr>
          <a:xfrm>
            <a:off x="558800" y="838200"/>
            <a:ext cx="8128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6" name="concl-label-bg"/>
          <p:cNvSpPr/>
          <p:nvPr/>
        </p:nvSpPr>
        <p:spPr>
          <a:xfrm>
            <a:off x="558800" y="1219200"/>
            <a:ext cx="1117600" cy="1397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7" name="concl-label"/>
          <p:cNvSpPr txBox="1"/>
          <p:nvPr/>
        </p:nvSpPr>
        <p:spPr>
          <a:xfrm>
            <a:off x="558800" y="1219200"/>
            <a:ext cx="11176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黑体"/>
                <a:ea typeface="黑体"/>
              </a:rPr>
              <a:t>分析结论</a:t>
            </a:r>
            <a:endParaRPr lang="en-US" sz="1400" noProof="1"/>
          </a:p>
        </p:txBody>
      </p:sp>
      <p:sp>
        <p:nvSpPr>
          <p:cNvPr id="8" name="concl-body-bg"/>
          <p:cNvSpPr/>
          <p:nvPr/>
        </p:nvSpPr>
        <p:spPr>
          <a:xfrm>
            <a:off x="1778000" y="1219200"/>
            <a:ext cx="9956800" cy="139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" name="concl-bullets"/>
          <p:cNvSpPr txBox="1"/>
          <p:nvPr/>
        </p:nvSpPr>
        <p:spPr>
          <a:xfrm>
            <a:off x="1955800" y="1282700"/>
            <a:ext cx="96012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机制与规模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：AttnRes 让每层以可学习伪查询 w 对嵌入与前序 block 表示做注意力（深度维的注意力）；Block 形式将显存 / 通信开销从 O(Ld) 降为 O(Nd) —— K3：96 层 → 8 blocks × 12 层，含嵌入共 9 个 block 表示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两阶段 kernel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：inter-block pass 对每个 block 批量读一次缓存的 block 表示；intra-block 由各层经 online-softmax 合入块内部分和 —— 两阶段开销均以访存为主，优化聚焦内存效率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Prefill（SP）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：TP 下每 rank 物化 block 表示冗余 N 倍显存 → TP all-reduce 拆为 reduce-scatter + all-gather，intra-block kernel 插入两次集合通信之间、在序列分片 hidden 上物化 → 每 token 表示只在一个 rank 物化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Decode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：inter-block kernel 放 side stream 与主流计算交叠；intra-block 合并 + 部分和更新 + RMSNorm 融合进前序 TP all-reduce，隐藏延迟、零独立 kernel</a:t>
            </a:r>
            <a:endParaRPr lang="en-US" sz="900" noProof="1"/>
          </a:p>
        </p:txBody>
      </p:sp>
      <p:sp>
        <p:nvSpPr>
          <p:cNvPr id="10" name="arch-label"/>
          <p:cNvSpPr txBox="1"/>
          <p:nvPr/>
        </p:nvSpPr>
        <p:spPr>
          <a:xfrm>
            <a:off x="558800" y="26416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黑体"/>
                <a:ea typeface="黑体"/>
              </a:rPr>
              <a:t>深度维注意力机制与执行调度</a:t>
            </a:r>
            <a:endParaRPr lang="en-US" sz="1200" noProof="1"/>
          </a:p>
        </p:txBody>
      </p:sp>
      <p:sp>
        <p:nvSpPr>
          <p:cNvPr id="11" name="module-border"/>
          <p:cNvSpPr/>
          <p:nvPr/>
        </p:nvSpPr>
        <p:spPr>
          <a:xfrm>
            <a:off x="457200" y="2895600"/>
            <a:ext cx="5435600" cy="281940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404040"/>
            </a:solidFill>
            <a:prstDash val="dash"/>
          </a:ln>
        </p:spPr>
      </p:sp>
      <p:sp>
        <p:nvSpPr>
          <p:cNvPr id="12" name="mech-label"/>
          <p:cNvSpPr txBox="1"/>
          <p:nvPr/>
        </p:nvSpPr>
        <p:spPr>
          <a:xfrm>
            <a:off x="711200" y="3048000"/>
            <a:ext cx="3556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50" noProof="1" b="1">
                <a:solidFill>
                  <a:srgbClr val="262626"/>
                </a:solidFill>
                <a:latin typeface="黑体"/>
                <a:ea typeface="黑体"/>
              </a:rPr>
              <a:t>机制：对 block 表示做深度维注意力</a:t>
            </a:r>
            <a:endParaRPr lang="en-US" sz="850" noProof="1"/>
          </a:p>
        </p:txBody>
      </p:sp>
      <p:sp>
        <p:nvSpPr>
          <p:cNvPr id="13" name="mech-b0"/>
          <p:cNvSpPr/>
          <p:nvPr/>
        </p:nvSpPr>
        <p:spPr>
          <a:xfrm>
            <a:off x="711200" y="3327400"/>
            <a:ext cx="457200" cy="203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62626"/>
            </a:solidFill>
          </a:ln>
        </p:spPr>
      </p:sp>
      <p:sp>
        <p:nvSpPr>
          <p:cNvPr id="14" name="mech-b0-t"/>
          <p:cNvSpPr txBox="1"/>
          <p:nvPr/>
        </p:nvSpPr>
        <p:spPr>
          <a:xfrm>
            <a:off x="711200" y="3327400"/>
            <a:ext cx="457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262626"/>
                </a:solidFill>
                <a:latin typeface="黑体"/>
                <a:ea typeface="黑体"/>
              </a:rPr>
              <a:t>b0</a:t>
            </a:r>
            <a:endParaRPr lang="en-US" sz="700" noProof="1"/>
          </a:p>
        </p:txBody>
      </p:sp>
      <p:sp>
        <p:nvSpPr>
          <p:cNvPr id="15" name="mech-b1"/>
          <p:cNvSpPr/>
          <p:nvPr/>
        </p:nvSpPr>
        <p:spPr>
          <a:xfrm>
            <a:off x="1219200" y="3327400"/>
            <a:ext cx="457200" cy="203200"/>
          </a:xfrm>
          <a:prstGeom prst="roundRect">
            <a:avLst>
              <a:gd name="adj" fmla="val 20000"/>
            </a:avLst>
          </a:prstGeom>
          <a:solidFill>
            <a:srgbClr val="C8DCF4"/>
          </a:solidFill>
          <a:ln w="12700">
            <a:solidFill>
              <a:srgbClr val="262626"/>
            </a:solidFill>
          </a:ln>
        </p:spPr>
      </p:sp>
      <p:sp>
        <p:nvSpPr>
          <p:cNvPr id="16" name="mech-b1-t"/>
          <p:cNvSpPr txBox="1"/>
          <p:nvPr/>
        </p:nvSpPr>
        <p:spPr>
          <a:xfrm>
            <a:off x="1219200" y="3327400"/>
            <a:ext cx="457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1F2A36"/>
                </a:solidFill>
                <a:latin typeface="黑体"/>
                <a:ea typeface="黑体"/>
              </a:rPr>
              <a:t>b1</a:t>
            </a:r>
            <a:endParaRPr lang="en-US" sz="700" noProof="1"/>
          </a:p>
        </p:txBody>
      </p:sp>
      <p:sp>
        <p:nvSpPr>
          <p:cNvPr id="17" name="mech-b2"/>
          <p:cNvSpPr/>
          <p:nvPr/>
        </p:nvSpPr>
        <p:spPr>
          <a:xfrm>
            <a:off x="1727200" y="3327400"/>
            <a:ext cx="457200" cy="203200"/>
          </a:xfrm>
          <a:prstGeom prst="roundRect">
            <a:avLst>
              <a:gd name="adj" fmla="val 20000"/>
            </a:avLst>
          </a:prstGeom>
          <a:solidFill>
            <a:srgbClr val="C8DCF4"/>
          </a:solidFill>
          <a:ln w="12700">
            <a:solidFill>
              <a:srgbClr val="262626"/>
            </a:solidFill>
          </a:ln>
        </p:spPr>
      </p:sp>
      <p:sp>
        <p:nvSpPr>
          <p:cNvPr id="18" name="mech-b2-t"/>
          <p:cNvSpPr txBox="1"/>
          <p:nvPr/>
        </p:nvSpPr>
        <p:spPr>
          <a:xfrm>
            <a:off x="1727200" y="3327400"/>
            <a:ext cx="457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1F2A36"/>
                </a:solidFill>
                <a:latin typeface="黑体"/>
                <a:ea typeface="黑体"/>
              </a:rPr>
              <a:t>b2</a:t>
            </a:r>
            <a:endParaRPr lang="en-US" sz="700" noProof="1"/>
          </a:p>
        </p:txBody>
      </p:sp>
      <p:sp>
        <p:nvSpPr>
          <p:cNvPr id="19" name="mech-dots"/>
          <p:cNvSpPr txBox="1"/>
          <p:nvPr/>
        </p:nvSpPr>
        <p:spPr>
          <a:xfrm>
            <a:off x="2235200" y="3327400"/>
            <a:ext cx="457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737373"/>
                </a:solidFill>
                <a:latin typeface="黑体"/>
                <a:ea typeface="黑体"/>
              </a:rPr>
              <a:t>…</a:t>
            </a:r>
            <a:endParaRPr lang="en-US" sz="900" noProof="1"/>
          </a:p>
        </p:txBody>
      </p:sp>
      <p:sp>
        <p:nvSpPr>
          <p:cNvPr id="20" name="mech-b8"/>
          <p:cNvSpPr/>
          <p:nvPr/>
        </p:nvSpPr>
        <p:spPr>
          <a:xfrm>
            <a:off x="2743200" y="3327400"/>
            <a:ext cx="457200" cy="203200"/>
          </a:xfrm>
          <a:prstGeom prst="roundRect">
            <a:avLst>
              <a:gd name="adj" fmla="val 20000"/>
            </a:avLst>
          </a:prstGeom>
          <a:solidFill>
            <a:srgbClr val="C8DCF4"/>
          </a:solidFill>
          <a:ln w="12700">
            <a:solidFill>
              <a:srgbClr val="262626"/>
            </a:solidFill>
          </a:ln>
        </p:spPr>
      </p:sp>
      <p:sp>
        <p:nvSpPr>
          <p:cNvPr id="21" name="mech-b8-t"/>
          <p:cNvSpPr txBox="1"/>
          <p:nvPr/>
        </p:nvSpPr>
        <p:spPr>
          <a:xfrm>
            <a:off x="2743200" y="3327400"/>
            <a:ext cx="457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1F2A36"/>
                </a:solidFill>
                <a:latin typeface="黑体"/>
                <a:ea typeface="黑体"/>
              </a:rPr>
              <a:t>b8</a:t>
            </a:r>
            <a:endParaRPr lang="en-US" sz="700" noProof="1"/>
          </a:p>
        </p:txBody>
      </p:sp>
      <p:sp>
        <p:nvSpPr>
          <p:cNvPr id="22" name="mech-w"/>
          <p:cNvSpPr/>
          <p:nvPr/>
        </p:nvSpPr>
        <p:spPr>
          <a:xfrm>
            <a:off x="3429000" y="3327400"/>
            <a:ext cx="203200" cy="203200"/>
          </a:xfrm>
          <a:prstGeom prst="ellipse">
            <a:avLst/>
          </a:prstGeom>
          <a:solidFill>
            <a:srgbClr val="F6D2CE"/>
          </a:solidFill>
          <a:ln w="12700">
            <a:solidFill>
              <a:srgbClr val="262626"/>
            </a:solidFill>
          </a:ln>
        </p:spPr>
      </p:sp>
      <p:sp>
        <p:nvSpPr>
          <p:cNvPr id="23" name="mech-w-t"/>
          <p:cNvSpPr txBox="1"/>
          <p:nvPr/>
        </p:nvSpPr>
        <p:spPr>
          <a:xfrm>
            <a:off x="3429000" y="3327400"/>
            <a:ext cx="203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50" noProof="1">
                <a:solidFill>
                  <a:srgbClr val="262626"/>
                </a:solidFill>
                <a:latin typeface="黑体"/>
                <a:ea typeface="黑体"/>
              </a:rPr>
              <a:t>w</a:t>
            </a:r>
            <a:endParaRPr lang="en-US" sz="750" noProof="1"/>
          </a:p>
        </p:txBody>
      </p:sp>
      <p:sp>
        <p:nvSpPr>
          <p:cNvPr id="24" name="mech-w-lab"/>
          <p:cNvSpPr txBox="1"/>
          <p:nvPr/>
        </p:nvSpPr>
        <p:spPr>
          <a:xfrm>
            <a:off x="3683000" y="3352800"/>
            <a:ext cx="1524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700" noProof="1">
                <a:solidFill>
                  <a:srgbClr val="737373"/>
                </a:solidFill>
                <a:latin typeface="黑体"/>
                <a:ea typeface="黑体"/>
              </a:rPr>
              <a:t>伪查询（逐层可学习）</a:t>
            </a:r>
            <a:endParaRPr lang="en-US" sz="700" noProof="1"/>
          </a:p>
        </p:txBody>
      </p:sp>
      <p:sp>
        <p:nvSpPr>
          <p:cNvPr id="25" name="mech-a1"/>
          <p:cNvSpPr/>
          <p:nvPr>
            <p:extLst>
              <p:ext uri="{F5677B7D-0D2A-4D9B-9A5C-6D8D7D0E5A5D}">
                <pptd:line encoding="base64url">eyJ2aWV3Qm94IjpbOTAsMThdLCJwb2ludHMiOiIwLDAgOTAsMTgiLCJjdXJ2ZSI6InNoYXJwIn0</pptd:line>
              </p:ext>
            </p:extLst>
          </p:nvPr>
        </p:nvSpPr>
        <p:spPr>
          <a:xfrm>
            <a:off x="1651000" y="3530600"/>
            <a:ext cx="1143000" cy="228600"/>
          </a:xfrm>
          <a:custGeom>
            <a:avLst/>
            <a:gdLst/>
            <a:ahLst/>
            <a:cxnLst/>
            <a:rect l="l" t="t" r="r" b="b"/>
            <a:pathLst>
              <a:path w="90" h="18">
                <a:moveTo>
                  <a:pt x="0" y="0"/>
                </a:moveTo>
                <a:lnTo>
                  <a:pt x="90" y="18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26" name="mech-a2"/>
          <p:cNvSpPr/>
          <p:nvPr>
            <p:extLst>
              <p:ext uri="{F5677B7D-0D2A-4D9B-9A5C-6D8D7D0E5A5D}">
                <pptd:line encoding="base64url">eyJ2aWV3Qm94IjpbNjAsMThdLCJwb2ludHMiOiI2MCwwIDAsMTgiLCJjdXJ2ZSI6InNoYXJwIn0</pptd:line>
              </p:ext>
            </p:extLst>
          </p:nvPr>
        </p:nvSpPr>
        <p:spPr>
          <a:xfrm>
            <a:off x="2819400" y="3530600"/>
            <a:ext cx="762000" cy="228600"/>
          </a:xfrm>
          <a:custGeom>
            <a:avLst/>
            <a:gdLst/>
            <a:ahLst/>
            <a:cxnLst/>
            <a:rect l="l" t="t" r="r" b="b"/>
            <a:pathLst>
              <a:path w="60" h="18">
                <a:moveTo>
                  <a:pt x="60" y="0"/>
                </a:moveTo>
                <a:lnTo>
                  <a:pt x="0" y="18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27" name="mech-sum"/>
          <p:cNvSpPr/>
          <p:nvPr/>
        </p:nvSpPr>
        <p:spPr>
          <a:xfrm>
            <a:off x="2705100" y="3759200"/>
            <a:ext cx="203200" cy="203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626"/>
            </a:solidFill>
          </a:ln>
        </p:spPr>
      </p:sp>
      <p:sp>
        <p:nvSpPr>
          <p:cNvPr id="28" name="mech-sum-t"/>
          <p:cNvSpPr txBox="1"/>
          <p:nvPr/>
        </p:nvSpPr>
        <p:spPr>
          <a:xfrm>
            <a:off x="2705100" y="3759200"/>
            <a:ext cx="2032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Σ</a:t>
            </a:r>
            <a:endParaRPr lang="en-US" sz="900" noProof="1"/>
          </a:p>
        </p:txBody>
      </p:sp>
      <p:sp>
        <p:nvSpPr>
          <p:cNvPr id="29" name="mech-out"/>
          <p:cNvSpPr txBox="1"/>
          <p:nvPr/>
        </p:nvSpPr>
        <p:spPr>
          <a:xfrm>
            <a:off x="2997200" y="3784600"/>
            <a:ext cx="2540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750" noProof="1">
                <a:solidFill>
                  <a:srgbClr val="262626"/>
                </a:solidFill>
                <a:latin typeface="黑体"/>
                <a:ea typeface="黑体"/>
              </a:rPr>
              <a:t>h</a:t>
            </a:r>
            <a:r>
              <a:rPr lang="en-US" sz="750" noProof="1" baseline="-25000">
                <a:solidFill>
                  <a:srgbClr val="262626"/>
                </a:solidFill>
                <a:latin typeface="黑体"/>
                <a:ea typeface="黑体"/>
              </a:rPr>
              <a:t>l</a:t>
            </a:r>
            <a:r>
              <a:rPr lang="en-US" sz="750" noProof="1">
                <a:solidFill>
                  <a:srgbClr val="262626"/>
                </a:solidFill>
                <a:latin typeface="黑体"/>
                <a:ea typeface="黑体"/>
              </a:rPr>
              <a:t> = Σ α</a:t>
            </a:r>
            <a:r>
              <a:rPr lang="en-US" sz="750" noProof="1" baseline="-25000">
                <a:solidFill>
                  <a:srgbClr val="262626"/>
                </a:solidFill>
                <a:latin typeface="黑体"/>
                <a:ea typeface="黑体"/>
              </a:rPr>
              <a:t>i</a:t>
            </a:r>
            <a:r>
              <a:rPr lang="en-US" sz="750" noProof="1">
                <a:solidFill>
                  <a:srgbClr val="262626"/>
                </a:solidFill>
                <a:latin typeface="黑体"/>
                <a:ea typeface="黑体"/>
              </a:rPr>
              <a:t>·b</a:t>
            </a:r>
            <a:r>
              <a:rPr lang="en-US" sz="750" noProof="1" baseline="-25000">
                <a:solidFill>
                  <a:srgbClr val="262626"/>
                </a:solidFill>
                <a:latin typeface="黑体"/>
                <a:ea typeface="黑体"/>
              </a:rPr>
              <a:t>i</a:t>
            </a:r>
            <a:r>
              <a:rPr lang="en-US" sz="750" noProof="1">
                <a:solidFill>
                  <a:srgbClr val="262626"/>
                </a:solidFill>
                <a:latin typeface="黑体"/>
                <a:ea typeface="黑体"/>
              </a:rPr>
              <a:t>（online softmax 合并）</a:t>
            </a:r>
            <a:endParaRPr lang="en-US" sz="750" noProof="1"/>
          </a:p>
        </p:txBody>
      </p:sp>
      <p:sp>
        <p:nvSpPr>
          <p:cNvPr id="30" name="sp-label"/>
          <p:cNvSpPr txBox="1"/>
          <p:nvPr/>
        </p:nvSpPr>
        <p:spPr>
          <a:xfrm>
            <a:off x="711200" y="4089400"/>
            <a:ext cx="4826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50" noProof="1" b="1">
                <a:solidFill>
                  <a:srgbClr val="262626"/>
                </a:solidFill>
                <a:latin typeface="黑体"/>
                <a:ea typeface="黑体"/>
              </a:rPr>
              <a:t>Prefill：all-reduce 拆为 RS + AG，kernel 插入其间</a:t>
            </a:r>
            <a:endParaRPr lang="en-US" sz="850" noProof="1"/>
          </a:p>
        </p:txBody>
      </p:sp>
      <p:sp>
        <p:nvSpPr>
          <p:cNvPr id="31" name="sp-rs"/>
          <p:cNvSpPr/>
          <p:nvPr/>
        </p:nvSpPr>
        <p:spPr>
          <a:xfrm>
            <a:off x="711200" y="4318000"/>
            <a:ext cx="1270000" cy="254000"/>
          </a:xfrm>
          <a:prstGeom prst="roundRect">
            <a:avLst>
              <a:gd name="adj" fmla="val 20000"/>
            </a:avLst>
          </a:prstGeom>
          <a:solidFill>
            <a:srgbClr val="F0F0F4"/>
          </a:solidFill>
          <a:ln w="12700">
            <a:solidFill>
              <a:srgbClr val="262626"/>
            </a:solidFill>
          </a:ln>
        </p:spPr>
      </p:sp>
      <p:sp>
        <p:nvSpPr>
          <p:cNvPr id="32" name="sp-rs-t"/>
          <p:cNvSpPr txBox="1"/>
          <p:nvPr/>
        </p:nvSpPr>
        <p:spPr>
          <a:xfrm>
            <a:off x="711200" y="4318000"/>
            <a:ext cx="127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262626"/>
                </a:solidFill>
                <a:latin typeface="黑体"/>
                <a:ea typeface="黑体"/>
              </a:rPr>
              <a:t>Reduce-Scatter</a:t>
            </a:r>
            <a:endParaRPr lang="en-US" sz="700" noProof="1"/>
          </a:p>
        </p:txBody>
      </p:sp>
      <p:sp>
        <p:nvSpPr>
          <p:cNvPr id="33" name="sp-a1"/>
          <p:cNvSpPr/>
          <p:nvPr>
            <p:extLst>
              <p:ext uri="{F5677B7D-0D2A-4D9B-9A5C-6D8D7D0E5A5D}">
                <pptd:line encoding="base64url">eyJ2aWV3Qm94IjpbMTIsNF0sInBvaW50cyI6IjAsMiAxMiwyIiwiY3VydmUiOiJzaGFycCJ9</pptd:line>
              </p:ext>
            </p:extLst>
          </p:nvPr>
        </p:nvSpPr>
        <p:spPr>
          <a:xfrm>
            <a:off x="1981200" y="4419600"/>
            <a:ext cx="152400" cy="50800"/>
          </a:xfrm>
          <a:custGeom>
            <a:avLst/>
            <a:gdLst/>
            <a:ahLst/>
            <a:cxnLst/>
            <a:rect l="l" t="t" r="r" b="b"/>
            <a:pathLst>
              <a:path w="12" h="4">
                <a:moveTo>
                  <a:pt x="0" y="2"/>
                </a:moveTo>
                <a:lnTo>
                  <a:pt x="12" y="2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34" name="sp-kernel"/>
          <p:cNvSpPr/>
          <p:nvPr/>
        </p:nvSpPr>
        <p:spPr>
          <a:xfrm>
            <a:off x="2133600" y="4318000"/>
            <a:ext cx="1905000" cy="254000"/>
          </a:xfrm>
          <a:prstGeom prst="roundRect">
            <a:avLst>
              <a:gd name="adj" fmla="val 20000"/>
            </a:avLst>
          </a:prstGeom>
          <a:solidFill>
            <a:srgbClr val="C8DCF4"/>
          </a:solidFill>
          <a:ln w="12700">
            <a:solidFill>
              <a:srgbClr val="262626"/>
            </a:solidFill>
          </a:ln>
        </p:spPr>
      </p:sp>
      <p:sp>
        <p:nvSpPr>
          <p:cNvPr id="35" name="sp-kernel-t"/>
          <p:cNvSpPr txBox="1"/>
          <p:nvPr/>
        </p:nvSpPr>
        <p:spPr>
          <a:xfrm>
            <a:off x="2133600" y="4318000"/>
            <a:ext cx="1905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1F2A36"/>
                </a:solidFill>
                <a:latin typeface="黑体"/>
                <a:ea typeface="黑体"/>
              </a:rPr>
              <a:t>intra-block kernel（序列分片上物化）</a:t>
            </a:r>
            <a:endParaRPr lang="en-US" sz="700" noProof="1"/>
          </a:p>
        </p:txBody>
      </p:sp>
      <p:sp>
        <p:nvSpPr>
          <p:cNvPr id="36" name="sp-a2"/>
          <p:cNvSpPr/>
          <p:nvPr>
            <p:extLst>
              <p:ext uri="{F5677B7D-0D2A-4D9B-9A5C-6D8D7D0E5A5D}">
                <pptd:line encoding="base64url">eyJ2aWV3Qm94IjpbMTIsNF0sInBvaW50cyI6IjAsMiAxMiwyIiwiY3VydmUiOiJzaGFycCJ9</pptd:line>
              </p:ext>
            </p:extLst>
          </p:nvPr>
        </p:nvSpPr>
        <p:spPr>
          <a:xfrm>
            <a:off x="4038600" y="4419600"/>
            <a:ext cx="152400" cy="50800"/>
          </a:xfrm>
          <a:custGeom>
            <a:avLst/>
            <a:gdLst/>
            <a:ahLst/>
            <a:cxnLst/>
            <a:rect l="l" t="t" r="r" b="b"/>
            <a:pathLst>
              <a:path w="12" h="4">
                <a:moveTo>
                  <a:pt x="0" y="2"/>
                </a:moveTo>
                <a:lnTo>
                  <a:pt x="12" y="2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37" name="sp-ag"/>
          <p:cNvSpPr/>
          <p:nvPr/>
        </p:nvSpPr>
        <p:spPr>
          <a:xfrm>
            <a:off x="4191000" y="4318000"/>
            <a:ext cx="1143000" cy="254000"/>
          </a:xfrm>
          <a:prstGeom prst="roundRect">
            <a:avLst>
              <a:gd name="adj" fmla="val 20000"/>
            </a:avLst>
          </a:prstGeom>
          <a:solidFill>
            <a:srgbClr val="F0F0F4"/>
          </a:solidFill>
          <a:ln w="12700">
            <a:solidFill>
              <a:srgbClr val="262626"/>
            </a:solidFill>
          </a:ln>
        </p:spPr>
      </p:sp>
      <p:sp>
        <p:nvSpPr>
          <p:cNvPr id="38" name="sp-ag-t"/>
          <p:cNvSpPr txBox="1"/>
          <p:nvPr/>
        </p:nvSpPr>
        <p:spPr>
          <a:xfrm>
            <a:off x="4191000" y="4318000"/>
            <a:ext cx="1143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262626"/>
                </a:solidFill>
                <a:latin typeface="黑体"/>
                <a:ea typeface="黑体"/>
              </a:rPr>
              <a:t>All-Gather</a:t>
            </a:r>
            <a:endParaRPr lang="en-US" sz="700" noProof="1"/>
          </a:p>
        </p:txBody>
      </p:sp>
      <p:sp>
        <p:nvSpPr>
          <p:cNvPr id="39" name="dec-label"/>
          <p:cNvSpPr txBox="1"/>
          <p:nvPr/>
        </p:nvSpPr>
        <p:spPr>
          <a:xfrm>
            <a:off x="711200" y="4724400"/>
            <a:ext cx="4826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50" noProof="1" b="1">
                <a:solidFill>
                  <a:srgbClr val="262626"/>
                </a:solidFill>
                <a:latin typeface="黑体"/>
                <a:ea typeface="黑体"/>
              </a:rPr>
              <a:t>Decode：inter-block 放 side stream 交叠</a:t>
            </a:r>
            <a:endParaRPr lang="en-US" sz="850" noProof="1"/>
          </a:p>
        </p:txBody>
      </p:sp>
      <p:sp>
        <p:nvSpPr>
          <p:cNvPr id="40" name="dec-m1"/>
          <p:cNvSpPr/>
          <p:nvPr/>
        </p:nvSpPr>
        <p:spPr>
          <a:xfrm>
            <a:off x="711200" y="4953000"/>
            <a:ext cx="1270000" cy="228600"/>
          </a:xfrm>
          <a:prstGeom prst="roundRect">
            <a:avLst>
              <a:gd name="adj" fmla="val 20000"/>
            </a:avLst>
          </a:prstGeom>
          <a:solidFill>
            <a:srgbClr val="C8DCF4"/>
          </a:solidFill>
          <a:ln w="12700">
            <a:solidFill>
              <a:srgbClr val="262626"/>
            </a:solidFill>
          </a:ln>
        </p:spPr>
      </p:sp>
      <p:sp>
        <p:nvSpPr>
          <p:cNvPr id="41" name="dec-m1-t"/>
          <p:cNvSpPr txBox="1"/>
          <p:nvPr/>
        </p:nvSpPr>
        <p:spPr>
          <a:xfrm>
            <a:off x="711200" y="49530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1F2A36"/>
                </a:solidFill>
                <a:latin typeface="黑体"/>
                <a:ea typeface="黑体"/>
              </a:rPr>
              <a:t>主流计算</a:t>
            </a:r>
            <a:endParaRPr lang="en-US" sz="700" noProof="1"/>
          </a:p>
        </p:txBody>
      </p:sp>
      <p:sp>
        <p:nvSpPr>
          <p:cNvPr id="42" name="dec-m2"/>
          <p:cNvSpPr/>
          <p:nvPr/>
        </p:nvSpPr>
        <p:spPr>
          <a:xfrm>
            <a:off x="2032000" y="4953000"/>
            <a:ext cx="1270000" cy="228600"/>
          </a:xfrm>
          <a:prstGeom prst="roundRect">
            <a:avLst>
              <a:gd name="adj" fmla="val 20000"/>
            </a:avLst>
          </a:prstGeom>
          <a:solidFill>
            <a:srgbClr val="C8DCF4"/>
          </a:solidFill>
          <a:ln w="12700">
            <a:solidFill>
              <a:srgbClr val="262626"/>
            </a:solidFill>
          </a:ln>
        </p:spPr>
      </p:sp>
      <p:sp>
        <p:nvSpPr>
          <p:cNvPr id="43" name="dec-m2-t"/>
          <p:cNvSpPr txBox="1"/>
          <p:nvPr/>
        </p:nvSpPr>
        <p:spPr>
          <a:xfrm>
            <a:off x="2032000" y="49530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1F2A36"/>
                </a:solidFill>
                <a:latin typeface="黑体"/>
                <a:ea typeface="黑体"/>
              </a:rPr>
              <a:t>主流计算</a:t>
            </a:r>
            <a:endParaRPr lang="en-US" sz="700" noProof="1"/>
          </a:p>
        </p:txBody>
      </p:sp>
      <p:sp>
        <p:nvSpPr>
          <p:cNvPr id="44" name="dec-m3"/>
          <p:cNvSpPr/>
          <p:nvPr/>
        </p:nvSpPr>
        <p:spPr>
          <a:xfrm>
            <a:off x="3352800" y="4953000"/>
            <a:ext cx="762000" cy="228600"/>
          </a:xfrm>
          <a:prstGeom prst="roundRect">
            <a:avLst>
              <a:gd name="adj" fmla="val 20000"/>
            </a:avLst>
          </a:prstGeom>
          <a:solidFill>
            <a:srgbClr val="C8DCF4"/>
          </a:solidFill>
          <a:ln w="12700">
            <a:solidFill>
              <a:srgbClr val="262626"/>
            </a:solidFill>
          </a:ln>
        </p:spPr>
      </p:sp>
      <p:sp>
        <p:nvSpPr>
          <p:cNvPr id="45" name="dec-m3-t"/>
          <p:cNvSpPr txBox="1"/>
          <p:nvPr/>
        </p:nvSpPr>
        <p:spPr>
          <a:xfrm>
            <a:off x="3352800" y="49530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1F2A36"/>
                </a:solidFill>
                <a:latin typeface="黑体"/>
                <a:ea typeface="黑体"/>
              </a:rPr>
              <a:t>…</a:t>
            </a:r>
            <a:endParaRPr lang="en-US" sz="700" noProof="1"/>
          </a:p>
        </p:txBody>
      </p:sp>
      <p:sp>
        <p:nvSpPr>
          <p:cNvPr id="46" name="dec-side"/>
          <p:cNvSpPr/>
          <p:nvPr/>
        </p:nvSpPr>
        <p:spPr>
          <a:xfrm>
            <a:off x="1320800" y="5257800"/>
            <a:ext cx="1524000" cy="203200"/>
          </a:xfrm>
          <a:prstGeom prst="roundRect">
            <a:avLst>
              <a:gd name="adj" fmla="val 20000"/>
            </a:avLst>
          </a:prstGeom>
          <a:solidFill>
            <a:srgbClr val="F6D2CE"/>
          </a:solidFill>
          <a:ln w="12700">
            <a:solidFill>
              <a:srgbClr val="262626"/>
            </a:solidFill>
          </a:ln>
        </p:spPr>
      </p:sp>
      <p:sp>
        <p:nvSpPr>
          <p:cNvPr id="47" name="dec-side-t"/>
          <p:cNvSpPr txBox="1"/>
          <p:nvPr/>
        </p:nvSpPr>
        <p:spPr>
          <a:xfrm>
            <a:off x="1320800" y="5257800"/>
            <a:ext cx="152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262626"/>
                </a:solidFill>
                <a:latin typeface="黑体"/>
                <a:ea typeface="黑体"/>
              </a:rPr>
              <a:t>inter-block kernel（side stream）</a:t>
            </a:r>
            <a:endParaRPr lang="en-US" sz="700" noProof="1"/>
          </a:p>
        </p:txBody>
      </p:sp>
      <p:sp>
        <p:nvSpPr>
          <p:cNvPr id="48" name="dec-side-note"/>
          <p:cNvSpPr txBox="1"/>
          <p:nvPr/>
        </p:nvSpPr>
        <p:spPr>
          <a:xfrm>
            <a:off x="2946400" y="52705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700" noProof="1">
                <a:solidFill>
                  <a:srgbClr val="737373"/>
                </a:solidFill>
                <a:latin typeface="黑体"/>
                <a:ea typeface="黑体"/>
              </a:rPr>
              <a:t>与主流独立计算交叠，隐藏延迟</a:t>
            </a:r>
            <a:endParaRPr lang="en-US" sz="700" noProof="1"/>
          </a:p>
        </p:txBody>
      </p:sp>
      <p:sp>
        <p:nvSpPr>
          <p:cNvPr id="49" name="param-label"/>
          <p:cNvSpPr txBox="1"/>
          <p:nvPr/>
        </p:nvSpPr>
        <p:spPr>
          <a:xfrm>
            <a:off x="6197600" y="26416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黑体"/>
                <a:ea typeface="黑体"/>
              </a:rPr>
              <a:t>各阶段负载与昇腾诉求</a:t>
            </a:r>
            <a:endParaRPr lang="en-US" sz="1200" noProof="1"/>
          </a:p>
        </p:txBody>
      </p:sp>
      <p:graphicFrame>
        <p:nvGraphicFramePr>
          <p:cNvPr id="50" name="param-table"/>
          <p:cNvGraphicFramePr>
            <a:graphicFrameLocks noGrp="1"/>
          </p:cNvGraphicFramePr>
          <p:nvPr/>
        </p:nvGraphicFramePr>
        <p:xfrm>
          <a:off x="6197600" y="3048000"/>
          <a:ext cx="5537200" cy="2489200"/>
        </p:xfrm>
        <a:graphic>
          <a:graphicData uri="http://schemas.openxmlformats.org/drawingml/2006/table">
            <a:tbl>
              <a:tblPr/>
              <a:tblGrid>
                <a:gridCol w="1439672"/>
                <a:gridCol w="1439672"/>
                <a:gridCol w="885952"/>
                <a:gridCol w="1771904"/>
              </a:tblGrid>
              <a:tr h="2489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FLOPs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Inter-block pass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读 N 个 block 表示 [N,d]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O(N·d) / 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访存为主；批量读一次；decode 放 side stream 交叠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Intra-block 合并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online softmax merge，[d]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O(d) / 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融合进 TP all-reduce epilogue → 零独立 kernel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伪查询与权重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w∈R</a:t>
                      </a:r>
                      <a:r>
                        <a:rPr lang="en-US" sz="800" noProof="1" baseline="30000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d</a:t>
                      </a:r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；α = softmax(w·RMSNorm(b))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O(N·d)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小 GEMV → Vector；N = 9，计算量极小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Block 表示缓存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N×d×2B / 序列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96 层 → 9 个表示 ≈126KB（BF16）；显存降一个量级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Prefill 通信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RS + AG（序列分片）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通信量 ≈ all-reduce；消除冗余物化与 I/O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1" name="param-note"/>
          <p:cNvSpPr txBox="1"/>
          <p:nvPr/>
        </p:nvSpPr>
        <p:spPr>
          <a:xfrm>
            <a:off x="6197600" y="5613400"/>
            <a:ext cx="5537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黑体"/>
                <a:ea typeface="黑体"/>
              </a:rPr>
              <a:t>按 d = 7168、N = 9：block 表示 ≈ 9×7168×2B ≈ 126KB / 序列；朴素 TP8 每 rank 物化则冗余 8 倍。</a:t>
            </a:r>
            <a:endParaRPr lang="en-US" sz="750" noProof="1"/>
          </a:p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黑体"/>
                <a:ea typeface="黑体"/>
              </a:rPr>
              <a:t>注：FLOPs 占比极小，访存与通信结构是主要矛盾；N = 8 blocks + 嵌入（报告 §2.2）。</a:t>
            </a:r>
            <a:endParaRPr lang="en-US" sz="750" noProof="1"/>
          </a:p>
        </p:txBody>
      </p:sp>
      <p:sp>
        <p:nvSpPr>
          <p:cNvPr id="52" name="dev-label"/>
          <p:cNvSpPr txBox="1"/>
          <p:nvPr/>
        </p:nvSpPr>
        <p:spPr>
          <a:xfrm>
            <a:off x="558800" y="57404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黑体"/>
                <a:ea typeface="黑体"/>
              </a:rPr>
              <a:t>开发需求与趋势思考</a:t>
            </a:r>
            <a:endParaRPr lang="en-US" sz="1200" noProof="1"/>
          </a:p>
        </p:txBody>
      </p:sp>
      <p:sp>
        <p:nvSpPr>
          <p:cNvPr id="53" name="dev-bullets"/>
          <p:cNvSpPr txBox="1"/>
          <p:nvPr/>
        </p:nvSpPr>
        <p:spPr>
          <a:xfrm>
            <a:off x="558800" y="5943600"/>
            <a:ext cx="111252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算子层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：online-softmax merge + 部分和更新 + RMSNorm 融合进 TP all-reduce epilogue —— 依赖通信算子的 epilogue 融合能力（HCCL + AICore 协同），为昇腾侧新增需求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框架层（prefill）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：SP 排布下 RS / AG 拆分与 kernel 插入点调度；vllm-ascend 需支持 AttnRes 的序列并行路径与分片物化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框架层（decode）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：side stream 生命周期管理（inter-block kernel 与主流同步点）；block 表示缓存（9 个 / 序列）的跨层管理与 PP 切分交互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趋势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：深度维注意力引入“跨层状态”新访存模式；RS / AG 之间插入 kernel 的通信-计算融合手法通用，可复用于 MoE 等模块</a:t>
            </a:r>
            <a:endParaRPr lang="en-US" sz="8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58800" y="1778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 spc="300" kern="0">
                <a:solidFill>
                  <a:srgbClr val="737373"/>
                </a:solidFill>
                <a:latin typeface="黑体"/>
                <a:ea typeface="黑体"/>
              </a:rPr>
              <a:t>INFRASTRUCTURE · 04</a:t>
            </a:r>
            <a:endParaRPr lang="en-US" sz="900" noProof="1"/>
          </a:p>
        </p:txBody>
      </p:sp>
      <p:sp>
        <p:nvSpPr>
          <p:cNvPr id="3" name="source-note"/>
          <p:cNvSpPr txBox="1"/>
          <p:nvPr/>
        </p:nvSpPr>
        <p:spPr>
          <a:xfrm>
            <a:off x="4699000" y="177800"/>
            <a:ext cx="7035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737373"/>
                </a:solidFill>
                <a:latin typeface="黑体"/>
                <a:ea typeface="黑体"/>
              </a:rPr>
              <a:t>资料来源：Kimi K3 Technical Report §2.3 / §5.4.2（Stable LatentMoE）；WarpDecode [12]；vllm-ascend quantization</a:t>
            </a:r>
            <a:endParaRPr lang="en-US" sz="800" noProof="1"/>
          </a:p>
        </p:txBody>
      </p:sp>
      <p:sp>
        <p:nvSpPr>
          <p:cNvPr id="4" name="title"/>
          <p:cNvSpPr txBox="1"/>
          <p:nvPr/>
        </p:nvSpPr>
        <p:spPr>
          <a:xfrm>
            <a:off x="558800" y="3810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100" noProof="1" b="1">
                <a:solidFill>
                  <a:srgbClr val="C00000"/>
                </a:solidFill>
                <a:latin typeface="黑体"/>
                <a:ea typeface="黑体"/>
              </a:rPr>
              <a:t>Stable LatentMoE：隐空间专家计算的 GEMM 优化</a:t>
            </a:r>
            <a:endParaRPr lang="en-US" sz="2100" noProof="1"/>
          </a:p>
        </p:txBody>
      </p:sp>
      <p:sp>
        <p:nvSpPr>
          <p:cNvPr id="5" name="title-bar"/>
          <p:cNvSpPr/>
          <p:nvPr/>
        </p:nvSpPr>
        <p:spPr>
          <a:xfrm>
            <a:off x="558800" y="838200"/>
            <a:ext cx="812800" cy="381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6" name="concl-label-bg"/>
          <p:cNvSpPr/>
          <p:nvPr/>
        </p:nvSpPr>
        <p:spPr>
          <a:xfrm>
            <a:off x="558800" y="1219200"/>
            <a:ext cx="1117600" cy="1397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7" name="concl-label"/>
          <p:cNvSpPr txBox="1"/>
          <p:nvPr/>
        </p:nvSpPr>
        <p:spPr>
          <a:xfrm>
            <a:off x="558800" y="1219200"/>
            <a:ext cx="11176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 b="1">
                <a:solidFill>
                  <a:srgbClr val="FFFFFF"/>
                </a:solidFill>
                <a:latin typeface="黑体"/>
                <a:ea typeface="黑体"/>
              </a:rPr>
              <a:t>分析结论</a:t>
            </a:r>
            <a:endParaRPr lang="en-US" sz="1400" noProof="1"/>
          </a:p>
        </p:txBody>
      </p:sp>
      <p:sp>
        <p:nvSpPr>
          <p:cNvPr id="8" name="concl-body-bg"/>
          <p:cNvSpPr/>
          <p:nvPr/>
        </p:nvSpPr>
        <p:spPr>
          <a:xfrm>
            <a:off x="1778000" y="1219200"/>
            <a:ext cx="9956800" cy="1397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" name="concl-bullets"/>
          <p:cNvSpPr txBox="1"/>
          <p:nvPr/>
        </p:nvSpPr>
        <p:spPr>
          <a:xfrm>
            <a:off x="1955800" y="1282700"/>
            <a:ext cx="96012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规模与结构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：896 路由专家 + 每 token 激活 16（稀疏度 56）；路由全宽 d 与专家宽度解耦 —— 专家在 ℓ = 3584（0.5×d）隐空间内计算，路由数增长不再放大通信与权重流量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隐空间 GEMM 三优化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：① 下投影与 router 融合为单 GEMM；② 隐空间权重按 rank 分片 + multimem store 将输出 all-gather 融入 GEMM epilogue；③ 通信与共享专家等算子交叠 —— 消除冗余权重流量与重复计算、隐藏通信延迟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Decode 困境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：小 batch 下 group GEMM 退化为权重流式读取（memory-bound），tile 中心 kernel（计算导向、预处理开销大）不适用 → WarpDecode token 中心设计：warp 负责单个输出神经元、流式读权重，lane team 细分 + warp 内归约提升并行度</a:t>
            </a:r>
            <a:endParaRPr lang="en-US" sz="900" noProof="1"/>
          </a:p>
          <a:p>
            <a:pPr algn="l">
              <a:lnSpc>
                <a:spcPct val="135000"/>
              </a:lnSpc>
              <a:spcBef>
                <a:spcPts val="400"/>
              </a:spcBef>
              <a:buChar char="•"/>
            </a:pPr>
            <a:r>
              <a:rPr lang="en-US" sz="900" noProof="1" b="1">
                <a:solidFill>
                  <a:srgbClr val="262626"/>
                </a:solidFill>
                <a:latin typeface="黑体"/>
                <a:ea typeface="黑体"/>
              </a:rPr>
              <a:t>量化亲和</a:t>
            </a:r>
            <a:r>
              <a:rPr lang="en-US" sz="900" noProof="1">
                <a:solidFill>
                  <a:srgbClr val="262626"/>
                </a:solidFill>
                <a:latin typeface="黑体"/>
                <a:ea typeface="黑体"/>
              </a:rPr>
              <a:t>：权重布局离线预置换（一次性成本）→ 运行时反量化开销大幅降低，适配 W4A8 / W8A8 量化部署</a:t>
            </a:r>
            <a:endParaRPr lang="en-US" sz="900" noProof="1"/>
          </a:p>
        </p:txBody>
      </p:sp>
      <p:sp>
        <p:nvSpPr>
          <p:cNvPr id="10" name="arch-label"/>
          <p:cNvSpPr txBox="1"/>
          <p:nvPr/>
        </p:nvSpPr>
        <p:spPr>
          <a:xfrm>
            <a:off x="558800" y="2641600"/>
            <a:ext cx="4064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黑体"/>
                <a:ea typeface="黑体"/>
              </a:rPr>
              <a:t>隐空间数据流与 decode kernel 设计</a:t>
            </a:r>
            <a:endParaRPr lang="en-US" sz="1200" noProof="1"/>
          </a:p>
        </p:txBody>
      </p:sp>
      <p:sp>
        <p:nvSpPr>
          <p:cNvPr id="11" name="module-border"/>
          <p:cNvSpPr/>
          <p:nvPr/>
        </p:nvSpPr>
        <p:spPr>
          <a:xfrm>
            <a:off x="457200" y="2895600"/>
            <a:ext cx="5435600" cy="281940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404040"/>
            </a:solidFill>
            <a:prstDash val="dash"/>
          </a:ln>
        </p:spPr>
      </p:sp>
      <p:sp>
        <p:nvSpPr>
          <p:cNvPr id="12" name="flow-label"/>
          <p:cNvSpPr txBox="1"/>
          <p:nvPr/>
        </p:nvSpPr>
        <p:spPr>
          <a:xfrm>
            <a:off x="711200" y="3048000"/>
            <a:ext cx="4064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50" noProof="1" b="1">
                <a:solidFill>
                  <a:srgbClr val="262626"/>
                </a:solidFill>
                <a:latin typeface="黑体"/>
                <a:ea typeface="黑体"/>
              </a:rPr>
              <a:t>LatentMoE 数据流与三项 GEMM 优化（①②③）</a:t>
            </a:r>
            <a:endParaRPr lang="en-US" sz="850" noProof="1"/>
          </a:p>
        </p:txBody>
      </p:sp>
      <p:sp>
        <p:nvSpPr>
          <p:cNvPr id="13" name="fl-x"/>
          <p:cNvSpPr/>
          <p:nvPr/>
        </p:nvSpPr>
        <p:spPr>
          <a:xfrm>
            <a:off x="711200" y="3352800"/>
            <a:ext cx="457200" cy="254000"/>
          </a:xfrm>
          <a:prstGeom prst="roundRect">
            <a:avLst>
              <a:gd name="adj" fmla="val 20000"/>
            </a:avLst>
          </a:prstGeom>
          <a:solidFill>
            <a:srgbClr val="F0F0F4"/>
          </a:solidFill>
          <a:ln w="12700">
            <a:solidFill>
              <a:srgbClr val="262626"/>
            </a:solidFill>
          </a:ln>
        </p:spPr>
      </p:sp>
      <p:sp>
        <p:nvSpPr>
          <p:cNvPr id="14" name="fl-x-t"/>
          <p:cNvSpPr txBox="1"/>
          <p:nvPr/>
        </p:nvSpPr>
        <p:spPr>
          <a:xfrm>
            <a:off x="711200" y="3352800"/>
            <a:ext cx="457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x</a:t>
            </a:r>
            <a:endParaRPr lang="en-US" sz="800" noProof="1"/>
          </a:p>
        </p:txBody>
      </p:sp>
      <p:sp>
        <p:nvSpPr>
          <p:cNvPr id="15" name="fl-a1"/>
          <p:cNvSpPr/>
          <p:nvPr>
            <p:extLst>
              <p:ext uri="{F5677B7D-0D2A-4D9B-9A5C-6D8D7D0E5A5D}">
                <pptd:line encoding="base64url">eyJ2aWV3Qm94IjpbOCw0XSwicG9pbnRzIjoiMCwyIDgsMiIsImN1cnZlIjoic2hhcnAifQ</pptd:line>
              </p:ext>
            </p:extLst>
          </p:nvPr>
        </p:nvSpPr>
        <p:spPr>
          <a:xfrm>
            <a:off x="1168400" y="3454400"/>
            <a:ext cx="101600" cy="50800"/>
          </a:xfrm>
          <a:custGeom>
            <a:avLst/>
            <a:gdLst/>
            <a:ahLst/>
            <a:cxnLst/>
            <a:rect l="l" t="t" r="r" b="b"/>
            <a:pathLst>
              <a:path w="8" h="4">
                <a:moveTo>
                  <a:pt x="0" y="2"/>
                </a:moveTo>
                <a:lnTo>
                  <a:pt x="8" y="2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16" name="fl-fused"/>
          <p:cNvSpPr/>
          <p:nvPr/>
        </p:nvSpPr>
        <p:spPr>
          <a:xfrm>
            <a:off x="1270000" y="3276600"/>
            <a:ext cx="1320800" cy="406400"/>
          </a:xfrm>
          <a:prstGeom prst="roundRect">
            <a:avLst>
              <a:gd name="adj" fmla="val 20000"/>
            </a:avLst>
          </a:prstGeom>
          <a:solidFill>
            <a:srgbClr val="C8DCF4"/>
          </a:solidFill>
          <a:ln w="12700">
            <a:solidFill>
              <a:srgbClr val="262626"/>
            </a:solidFill>
          </a:ln>
        </p:spPr>
      </p:sp>
      <p:sp>
        <p:nvSpPr>
          <p:cNvPr id="17" name="fl-fused-t"/>
          <p:cNvSpPr txBox="1"/>
          <p:nvPr/>
        </p:nvSpPr>
        <p:spPr>
          <a:xfrm>
            <a:off x="1270000" y="3276600"/>
            <a:ext cx="13208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5000"/>
              </a:lnSpc>
            </a:pPr>
            <a:r>
              <a:rPr lang="en-US" sz="700" noProof="1">
                <a:solidFill>
                  <a:srgbClr val="1F2A36"/>
                </a:solidFill>
                <a:latin typeface="黑体"/>
                <a:ea typeface="黑体"/>
              </a:rPr>
              <a:t>融合 GEMM ① Router + 下投影 W↓</a:t>
            </a:r>
            <a:endParaRPr lang="en-US" sz="700" noProof="1"/>
          </a:p>
        </p:txBody>
      </p:sp>
      <p:sp>
        <p:nvSpPr>
          <p:cNvPr id="18" name="fl-a2"/>
          <p:cNvSpPr/>
          <p:nvPr>
            <p:extLst>
              <p:ext uri="{F5677B7D-0D2A-4D9B-9A5C-6D8D7D0E5A5D}">
                <pptd:line encoding="base64url">eyJ2aWV3Qm94IjpbOCw0XSwicG9pbnRzIjoiMCwyIDgsMiIsImN1cnZlIjoic2hhcnAifQ</pptd:line>
              </p:ext>
            </p:extLst>
          </p:nvPr>
        </p:nvSpPr>
        <p:spPr>
          <a:xfrm>
            <a:off x="2590800" y="3454400"/>
            <a:ext cx="101600" cy="50800"/>
          </a:xfrm>
          <a:custGeom>
            <a:avLst/>
            <a:gdLst/>
            <a:ahLst/>
            <a:cxnLst/>
            <a:rect l="l" t="t" r="r" b="b"/>
            <a:pathLst>
              <a:path w="8" h="4">
                <a:moveTo>
                  <a:pt x="0" y="2"/>
                </a:moveTo>
                <a:lnTo>
                  <a:pt x="8" y="2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19" name="fl-latent"/>
          <p:cNvSpPr/>
          <p:nvPr/>
        </p:nvSpPr>
        <p:spPr>
          <a:xfrm>
            <a:off x="2692400" y="3302000"/>
            <a:ext cx="762000" cy="355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262626"/>
            </a:solidFill>
          </a:ln>
        </p:spPr>
      </p:sp>
      <p:sp>
        <p:nvSpPr>
          <p:cNvPr id="20" name="fl-latent-t"/>
          <p:cNvSpPr txBox="1"/>
          <p:nvPr/>
        </p:nvSpPr>
        <p:spPr>
          <a:xfrm>
            <a:off x="2692400" y="3302000"/>
            <a:ext cx="762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5000"/>
              </a:lnSpc>
            </a:pPr>
            <a:r>
              <a:rPr lang="en-US" sz="700" noProof="1">
                <a:solidFill>
                  <a:srgbClr val="262626"/>
                </a:solidFill>
                <a:latin typeface="黑体"/>
                <a:ea typeface="黑体"/>
              </a:rPr>
              <a:t>latent ℓ = 3584</a:t>
            </a:r>
            <a:endParaRPr lang="en-US" sz="700" noProof="1"/>
          </a:p>
        </p:txBody>
      </p:sp>
      <p:sp>
        <p:nvSpPr>
          <p:cNvPr id="21" name="fl-a3"/>
          <p:cNvSpPr/>
          <p:nvPr>
            <p:extLst>
              <p:ext uri="{F5677B7D-0D2A-4D9B-9A5C-6D8D7D0E5A5D}">
                <pptd:line encoding="base64url">eyJ2aWV3Qm94IjpbOCw0XSwicG9pbnRzIjoiMCwyIDgsMiIsImN1cnZlIjoic2hhcnAifQ</pptd:line>
              </p:ext>
            </p:extLst>
          </p:nvPr>
        </p:nvSpPr>
        <p:spPr>
          <a:xfrm>
            <a:off x="3454400" y="3454400"/>
            <a:ext cx="101600" cy="50800"/>
          </a:xfrm>
          <a:custGeom>
            <a:avLst/>
            <a:gdLst/>
            <a:ahLst/>
            <a:cxnLst/>
            <a:rect l="l" t="t" r="r" b="b"/>
            <a:pathLst>
              <a:path w="8" h="4">
                <a:moveTo>
                  <a:pt x="0" y="2"/>
                </a:moveTo>
                <a:lnTo>
                  <a:pt x="8" y="2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22" name="fl-exp"/>
          <p:cNvSpPr/>
          <p:nvPr/>
        </p:nvSpPr>
        <p:spPr>
          <a:xfrm>
            <a:off x="3556000" y="3276600"/>
            <a:ext cx="1117600" cy="406400"/>
          </a:xfrm>
          <a:prstGeom prst="roundRect">
            <a:avLst>
              <a:gd name="adj" fmla="val 20000"/>
            </a:avLst>
          </a:prstGeom>
          <a:solidFill>
            <a:srgbClr val="F6D2CE"/>
          </a:solidFill>
          <a:ln w="12700">
            <a:solidFill>
              <a:srgbClr val="262626"/>
            </a:solidFill>
          </a:ln>
        </p:spPr>
      </p:sp>
      <p:sp>
        <p:nvSpPr>
          <p:cNvPr id="23" name="fl-exp-t"/>
          <p:cNvSpPr txBox="1"/>
          <p:nvPr/>
        </p:nvSpPr>
        <p:spPr>
          <a:xfrm>
            <a:off x="3556000" y="3276600"/>
            <a:ext cx="11176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5000"/>
              </a:lnSpc>
            </a:pPr>
            <a:r>
              <a:rPr lang="en-US" sz="700" noProof="1">
                <a:solidFill>
                  <a:srgbClr val="262626"/>
                </a:solidFill>
                <a:latin typeface="黑体"/>
                <a:ea typeface="黑体"/>
              </a:rPr>
              <a:t>16 / 896 路由专家（ℓ 宽 FFN）</a:t>
            </a:r>
            <a:endParaRPr lang="en-US" sz="700" noProof="1"/>
          </a:p>
        </p:txBody>
      </p:sp>
      <p:sp>
        <p:nvSpPr>
          <p:cNvPr id="24" name="fl-a4"/>
          <p:cNvSpPr/>
          <p:nvPr>
            <p:extLst>
              <p:ext uri="{F5677B7D-0D2A-4D9B-9A5C-6D8D7D0E5A5D}">
                <pptd:line encoding="base64url">eyJ2aWV3Qm94IjpbOCw0XSwicG9pbnRzIjoiMCwyIDgsMiIsImN1cnZlIjoic2hhcnAifQ</pptd:line>
              </p:ext>
            </p:extLst>
          </p:nvPr>
        </p:nvSpPr>
        <p:spPr>
          <a:xfrm>
            <a:off x="4673600" y="3454400"/>
            <a:ext cx="101600" cy="50800"/>
          </a:xfrm>
          <a:custGeom>
            <a:avLst/>
            <a:gdLst/>
            <a:ahLst/>
            <a:cxnLst/>
            <a:rect l="l" t="t" r="r" b="b"/>
            <a:pathLst>
              <a:path w="8" h="4">
                <a:moveTo>
                  <a:pt x="0" y="2"/>
                </a:moveTo>
                <a:lnTo>
                  <a:pt x="8" y="2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25" name="fl-up"/>
          <p:cNvSpPr/>
          <p:nvPr/>
        </p:nvSpPr>
        <p:spPr>
          <a:xfrm>
            <a:off x="4775200" y="3276600"/>
            <a:ext cx="965200" cy="406400"/>
          </a:xfrm>
          <a:prstGeom prst="roundRect">
            <a:avLst>
              <a:gd name="adj" fmla="val 20000"/>
            </a:avLst>
          </a:prstGeom>
          <a:solidFill>
            <a:srgbClr val="C8DCF4"/>
          </a:solidFill>
          <a:ln w="12700">
            <a:solidFill>
              <a:srgbClr val="262626"/>
            </a:solidFill>
          </a:ln>
        </p:spPr>
      </p:sp>
      <p:sp>
        <p:nvSpPr>
          <p:cNvPr id="26" name="fl-up-t"/>
          <p:cNvSpPr txBox="1"/>
          <p:nvPr/>
        </p:nvSpPr>
        <p:spPr>
          <a:xfrm>
            <a:off x="4775200" y="3276600"/>
            <a:ext cx="9652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5000"/>
              </a:lnSpc>
            </a:pPr>
            <a:r>
              <a:rPr lang="en-US" sz="700" noProof="1">
                <a:solidFill>
                  <a:srgbClr val="1F2A36"/>
                </a:solidFill>
                <a:latin typeface="黑体"/>
                <a:ea typeface="黑体"/>
              </a:rPr>
              <a:t>W↑ + AG ② epilogue 融合</a:t>
            </a:r>
            <a:endParaRPr lang="en-US" sz="700" noProof="1"/>
          </a:p>
        </p:txBody>
      </p:sp>
      <p:sp>
        <p:nvSpPr>
          <p:cNvPr id="27" name="fl-shared"/>
          <p:cNvSpPr/>
          <p:nvPr/>
        </p:nvSpPr>
        <p:spPr>
          <a:xfrm>
            <a:off x="2692400" y="3886200"/>
            <a:ext cx="1117600" cy="228600"/>
          </a:xfrm>
          <a:prstGeom prst="roundRect">
            <a:avLst>
              <a:gd name="adj" fmla="val 20000"/>
            </a:avLst>
          </a:prstGeom>
          <a:solidFill>
            <a:srgbClr val="F0F0F4"/>
          </a:solidFill>
          <a:ln w="12700">
            <a:solidFill>
              <a:srgbClr val="262626"/>
            </a:solidFill>
          </a:ln>
        </p:spPr>
      </p:sp>
      <p:sp>
        <p:nvSpPr>
          <p:cNvPr id="28" name="fl-shared-t"/>
          <p:cNvSpPr txBox="1"/>
          <p:nvPr/>
        </p:nvSpPr>
        <p:spPr>
          <a:xfrm>
            <a:off x="2692400" y="3886200"/>
            <a:ext cx="11176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700" noProof="1">
                <a:solidFill>
                  <a:srgbClr val="262626"/>
                </a:solidFill>
                <a:latin typeface="黑体"/>
                <a:ea typeface="黑体"/>
              </a:rPr>
              <a:t>共享专家 ×2（全宽 d）</a:t>
            </a:r>
            <a:endParaRPr lang="en-US" sz="700" noProof="1"/>
          </a:p>
        </p:txBody>
      </p:sp>
      <p:sp>
        <p:nvSpPr>
          <p:cNvPr id="29" name="fl-a5"/>
          <p:cNvSpPr/>
          <p:nvPr>
            <p:extLst>
              <p:ext uri="{F5677B7D-0D2A-4D9B-9A5C-6D8D7D0E5A5D}">
                <pptd:line encoding="base64url">eyJ2aWV3Qm94IjpbMTM4LDMxXSwicG9pbnRzIjoiMCwwIDAsMzEgMTM4LDMxIiwiY3VydmUiOiJzaGFycCJ9</pptd:line>
              </p:ext>
            </p:extLst>
          </p:nvPr>
        </p:nvSpPr>
        <p:spPr>
          <a:xfrm>
            <a:off x="939800" y="3606800"/>
            <a:ext cx="1752600" cy="393700"/>
          </a:xfrm>
          <a:custGeom>
            <a:avLst/>
            <a:gdLst/>
            <a:ahLst/>
            <a:cxnLst/>
            <a:rect l="l" t="t" r="r" b="b"/>
            <a:pathLst>
              <a:path w="138" h="31">
                <a:moveTo>
                  <a:pt x="0" y="0"/>
                </a:moveTo>
                <a:lnTo>
                  <a:pt x="0" y="31"/>
                </a:lnTo>
                <a:lnTo>
                  <a:pt x="138" y="31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30" name="fl-a6"/>
          <p:cNvSpPr/>
          <p:nvPr>
            <p:extLst>
              <p:ext uri="{F5677B7D-0D2A-4D9B-9A5C-6D8D7D0E5A5D}">
                <pptd:line encoding="base64url">eyJ2aWV3Qm94IjpbMTE0LDI1XSwicG9pbnRzIjoiMCwyNSAxMTQsMCIsImN1cnZlIjoic2hhcnAifQ</pptd:line>
              </p:ext>
            </p:extLst>
          </p:nvPr>
        </p:nvSpPr>
        <p:spPr>
          <a:xfrm>
            <a:off x="3810000" y="3683000"/>
            <a:ext cx="1447800" cy="317500"/>
          </a:xfrm>
          <a:custGeom>
            <a:avLst/>
            <a:gdLst/>
            <a:ahLst/>
            <a:cxnLst/>
            <a:rect l="l" t="t" r="r" b="b"/>
            <a:pathLst>
              <a:path w="114" h="25">
                <a:moveTo>
                  <a:pt x="0" y="25"/>
                </a:moveTo>
                <a:lnTo>
                  <a:pt x="114" y="0"/>
                </a:lnTo>
              </a:path>
            </a:pathLst>
          </a:custGeom>
          <a:noFill/>
          <a:ln w="12700">
            <a:solidFill>
              <a:srgbClr val="404040"/>
            </a:solidFill>
            <a:tailEnd type="arrow"/>
          </a:ln>
        </p:spPr>
      </p:sp>
      <p:sp>
        <p:nvSpPr>
          <p:cNvPr id="31" name="fl-ov"/>
          <p:cNvSpPr txBox="1"/>
          <p:nvPr/>
        </p:nvSpPr>
        <p:spPr>
          <a:xfrm>
            <a:off x="4013200" y="3810000"/>
            <a:ext cx="635000" cy="12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700" noProof="1" b="1">
                <a:solidFill>
                  <a:srgbClr val="262626"/>
                </a:solidFill>
                <a:latin typeface="黑体"/>
                <a:ea typeface="黑体"/>
              </a:rPr>
              <a:t>③ 交叠</a:t>
            </a:r>
            <a:endParaRPr lang="en-US" sz="700" noProof="1"/>
          </a:p>
        </p:txBody>
      </p:sp>
      <p:sp>
        <p:nvSpPr>
          <p:cNvPr id="32" name="dec-label"/>
          <p:cNvSpPr txBox="1"/>
          <p:nvPr/>
        </p:nvSpPr>
        <p:spPr>
          <a:xfrm>
            <a:off x="711200" y="4318000"/>
            <a:ext cx="4826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50" noProof="1" b="1">
                <a:solidFill>
                  <a:srgbClr val="262626"/>
                </a:solidFill>
                <a:latin typeface="黑体"/>
                <a:ea typeface="黑体"/>
              </a:rPr>
              <a:t>Decode 小 batch：token 中心（WarpDecode）权重流读</a:t>
            </a:r>
            <a:endParaRPr lang="en-US" sz="850" noProof="1"/>
          </a:p>
        </p:txBody>
      </p:sp>
      <p:sp>
        <p:nvSpPr>
          <p:cNvPr id="33" name="dec-bar1"/>
          <p:cNvSpPr/>
          <p:nvPr/>
        </p:nvSpPr>
        <p:spPr>
          <a:xfrm>
            <a:off x="711200" y="4572000"/>
            <a:ext cx="1905000" cy="101600"/>
          </a:xfrm>
          <a:prstGeom prst="rect">
            <a:avLst/>
          </a:prstGeom>
          <a:solidFill>
            <a:srgbClr val="C8DCF4"/>
          </a:solidFill>
          <a:ln w="12700">
            <a:solidFill>
              <a:srgbClr val="262626"/>
            </a:solidFill>
          </a:ln>
        </p:spPr>
      </p:sp>
      <p:sp>
        <p:nvSpPr>
          <p:cNvPr id="34" name="dec-bar2"/>
          <p:cNvSpPr/>
          <p:nvPr/>
        </p:nvSpPr>
        <p:spPr>
          <a:xfrm>
            <a:off x="711200" y="4724400"/>
            <a:ext cx="1905000" cy="101600"/>
          </a:xfrm>
          <a:prstGeom prst="rect">
            <a:avLst/>
          </a:prstGeom>
          <a:solidFill>
            <a:srgbClr val="A8C6E8"/>
          </a:solidFill>
          <a:ln w="12700">
            <a:solidFill>
              <a:srgbClr val="262626"/>
            </a:solidFill>
          </a:ln>
        </p:spPr>
      </p:sp>
      <p:sp>
        <p:nvSpPr>
          <p:cNvPr id="35" name="dec-bar3"/>
          <p:cNvSpPr/>
          <p:nvPr/>
        </p:nvSpPr>
        <p:spPr>
          <a:xfrm>
            <a:off x="711200" y="4876800"/>
            <a:ext cx="1905000" cy="101600"/>
          </a:xfrm>
          <a:prstGeom prst="rect">
            <a:avLst/>
          </a:prstGeom>
          <a:solidFill>
            <a:srgbClr val="8FB4DE"/>
          </a:solidFill>
          <a:ln w="12700">
            <a:solidFill>
              <a:srgbClr val="262626"/>
            </a:solidFill>
          </a:ln>
        </p:spPr>
      </p:sp>
      <p:sp>
        <p:nvSpPr>
          <p:cNvPr id="36" name="dec-bar-lab"/>
          <p:cNvSpPr txBox="1"/>
          <p:nvPr/>
        </p:nvSpPr>
        <p:spPr>
          <a:xfrm>
            <a:off x="711200" y="5029200"/>
            <a:ext cx="1905000" cy="12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700" noProof="1">
                <a:solidFill>
                  <a:srgbClr val="737373"/>
                </a:solidFill>
                <a:latin typeface="黑体"/>
                <a:ea typeface="黑体"/>
              </a:rPr>
              <a:t>lane team 1 / 2 / 3（各管一部分专家）</a:t>
            </a:r>
            <a:endParaRPr lang="en-US" sz="700" noProof="1"/>
          </a:p>
        </p:txBody>
      </p:sp>
      <p:sp>
        <p:nvSpPr>
          <p:cNvPr id="37" name="dec-desc"/>
          <p:cNvSpPr txBox="1"/>
          <p:nvPr/>
        </p:nvSpPr>
        <p:spPr>
          <a:xfrm>
            <a:off x="2717800" y="4546600"/>
            <a:ext cx="2794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700" noProof="1">
                <a:solidFill>
                  <a:srgbClr val="262626"/>
                </a:solidFill>
                <a:latin typeface="黑体"/>
                <a:ea typeface="黑体"/>
              </a:rPr>
              <a:t>每 warp 负责一个输出神经元，直接从内存流式读权重；warp 内再分 lane team，各处理不相交专家子集，warp 内归约合并 —— 小 batch 下并行度与带宽利用率同时提升</a:t>
            </a:r>
            <a:endParaRPr lang="en-US" sz="700" noProof="1"/>
          </a:p>
        </p:txBody>
      </p:sp>
      <p:sp>
        <p:nvSpPr>
          <p:cNvPr id="38" name="dec-note"/>
          <p:cNvSpPr txBox="1"/>
          <p:nvPr/>
        </p:nvSpPr>
        <p:spPr>
          <a:xfrm>
            <a:off x="711200" y="5257800"/>
            <a:ext cx="48260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黑体"/>
                <a:ea typeface="黑体"/>
              </a:rPr>
              <a:t>tile 中心 kernel 为计算优化、预处理开销大，小 batch 下不适用；权重布局离线预置换（一次性）→ 运行时反量化开销 ≈0，适配 W4A8 / W8A8。</a:t>
            </a:r>
            <a:endParaRPr lang="en-US" sz="750" noProof="1"/>
          </a:p>
        </p:txBody>
      </p:sp>
      <p:sp>
        <p:nvSpPr>
          <p:cNvPr id="39" name="param-label"/>
          <p:cNvSpPr txBox="1"/>
          <p:nvPr/>
        </p:nvSpPr>
        <p:spPr>
          <a:xfrm>
            <a:off x="6197600" y="26416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黑体"/>
                <a:ea typeface="黑体"/>
              </a:rPr>
              <a:t>各阶段负载与昇腾诉求</a:t>
            </a:r>
            <a:endParaRPr lang="en-US" sz="1200" noProof="1"/>
          </a:p>
        </p:txBody>
      </p:sp>
      <p:graphicFrame>
        <p:nvGraphicFramePr>
          <p:cNvPr id="40" name="param-table"/>
          <p:cNvGraphicFramePr>
            <a:graphicFrameLocks noGrp="1"/>
          </p:cNvGraphicFramePr>
          <p:nvPr/>
        </p:nvGraphicFramePr>
        <p:xfrm>
          <a:off x="6197600" y="3048000"/>
          <a:ext cx="5537200" cy="2489200"/>
        </p:xfrm>
        <a:graphic>
          <a:graphicData uri="http://schemas.openxmlformats.org/drawingml/2006/table">
            <a:tbl>
              <a:tblPr/>
              <a:tblGrid>
                <a:gridCol w="1495044"/>
                <a:gridCol w="1384300"/>
                <a:gridCol w="885952"/>
                <a:gridCol w="1771904"/>
              </a:tblGrid>
              <a:tr h="24892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张量形状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FLOPs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 b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负载特征 → 昇腾诉求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737373"/>
                      </a:solidFill>
                    </a:lnB>
                    <a:solidFill>
                      <a:srgbClr val="F5F5F5"/>
                    </a:solidFill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Router + 下投影融合 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[T,d]×[d, ℓ+E]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2T·d·(ℓ+E)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单 GEMM → CUBE；省一次中间结果写回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路由专家 GEMM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每专家 [Te,ℓ]×[ℓ,he]，he = 3072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2k·3ℓ·he，k = 16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隐空间 ℓ = 3584（0.5d）→ 计算量较全宽减半；group GEMM → CUBE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上投影 W↑ + AG 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[T,ℓ]×[ℓ,d] + all-gather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2T·ℓ·d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multimem store 融合 AG → 通信隐藏于计算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Decode 权重流读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每专家 3·ℓ·he 权重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≈0（纯访存）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memory-bound：带宽利用率为唯一指标 → token 中心 warp 设计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  <a:tr h="44805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反量化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W4A8 / W8A8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运行时 ≈0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262626"/>
                          </a:solidFill>
                          <a:latin typeface="黑体"/>
                          <a:ea typeface="黑体"/>
                        </a:rPr>
                        <a:t>离线预置换布局 → 运行时零额外开销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4D4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1" name="param-note"/>
          <p:cNvSpPr txBox="1"/>
          <p:nvPr/>
        </p:nvSpPr>
        <p:spPr>
          <a:xfrm>
            <a:off x="6197600" y="5613400"/>
            <a:ext cx="55372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750" noProof="1">
                <a:solidFill>
                  <a:srgbClr val="737373"/>
                </a:solidFill>
                <a:latin typeface="黑体"/>
                <a:ea typeface="黑体"/>
              </a:rPr>
              <a:t>每专家权重 3×3584×3072 ≈ 33M 参数（BF16 ≈ 66MB，W4 ≈ 17MB）；decode 单层权重流量 ≈0.26GB（W4）/ 1.06GB（BF16）；E = 896、k = 16（Table 1）。</a:t>
            </a:r>
            <a:endParaRPr lang="en-US" sz="750" noProof="1"/>
          </a:p>
        </p:txBody>
      </p:sp>
      <p:sp>
        <p:nvSpPr>
          <p:cNvPr id="42" name="dev-label"/>
          <p:cNvSpPr txBox="1"/>
          <p:nvPr/>
        </p:nvSpPr>
        <p:spPr>
          <a:xfrm>
            <a:off x="558800" y="57404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C00000"/>
                </a:solidFill>
                <a:latin typeface="黑体"/>
                <a:ea typeface="黑体"/>
              </a:rPr>
              <a:t>开发需求与趋势思考</a:t>
            </a:r>
            <a:endParaRPr lang="en-US" sz="1200" noProof="1"/>
          </a:p>
        </p:txBody>
      </p:sp>
      <p:sp>
        <p:nvSpPr>
          <p:cNvPr id="43" name="dev-bullets"/>
          <p:cNvSpPr txBox="1"/>
          <p:nvPr/>
        </p:nvSpPr>
        <p:spPr>
          <a:xfrm>
            <a:off x="558800" y="5943600"/>
            <a:ext cx="111252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  <a:spcBef>
                <a:spcPts val="1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算子层（decode）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：token 中心（WarpDecode 式）MoE decode kernel 的 Ascend C 实现 —— lane team 划分与 warp 内归约需映射到 NPU 核内并行模型；配套权重离线预置换工具链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算子层（GEMM）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：router + 下投影融合 GEMM；GEMM epilogue 融合 all-gather（multimem store → 昇腾侧对应核间直写 / HCCS 能力）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框架层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：vllm-ascend 量化方法（w4a8 / w8a8 / w4a16 / fp8_block 已具备）与 LatentMoE 分片布局对接；EP 规划配合 MoonEP 冗余上界（M ≤ E/R）</a:t>
            </a:r>
            <a:endParaRPr lang="en-US" sz="800" noProof="1"/>
          </a:p>
          <a:p>
            <a:pPr algn="l">
              <a:lnSpc>
                <a:spcPct val="135000"/>
              </a:lnSpc>
              <a:spcBef>
                <a:spcPts val="300"/>
              </a:spcBef>
              <a:buChar char="•"/>
            </a:pPr>
            <a:r>
              <a:rPr lang="en-US" sz="800" noProof="1" b="1">
                <a:solidFill>
                  <a:srgbClr val="262626"/>
                </a:solidFill>
                <a:latin typeface="黑体"/>
                <a:ea typeface="黑体"/>
              </a:rPr>
              <a:t>趋势</a:t>
            </a:r>
            <a:r>
              <a:rPr lang="en-US" sz="800" noProof="1">
                <a:solidFill>
                  <a:srgbClr val="262626"/>
                </a:solidFill>
                <a:latin typeface="黑体"/>
                <a:ea typeface="黑体"/>
              </a:rPr>
              <a:t>：稀疏度 56 使 decode 完全权重带宽受限 —— 量化 + 离线布局 + 通信融合是主线；对昇腾诉求 = HBM 带宽利用率 + 核间直写能力</a:t>
            </a:r>
            <a:endParaRPr lang="en-US" sz="8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6</Slides>
</Properties>
</file>

<file path=docProps/core.xml><?xml version="1.0" encoding="utf-8"?>
<cp:coreProperties xmlns:dc="http://purl.org/dc/elements/1.1/" xmlns:cp="http://schemas.openxmlformats.org/package/2006/metadata/core-properties">
  <dc:title>Kimi K3 模型结构分析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