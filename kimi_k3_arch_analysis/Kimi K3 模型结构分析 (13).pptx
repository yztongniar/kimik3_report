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§2.1.1 / §5.1；vllm / vllm-ascend 代码仓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Kimi Delta Attention（KDA）：逐通道遗忘门 × Delta 规则的线性注意力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cl-bullets"/>
              <p:cNvSpPr txBox="1"/>
              <p:nvPr/>
            </p:nvSpPr>
            <p:spPr>
              <a:xfrm>
                <a:off x="1955800" y="800100"/>
                <a:ext cx="9601200" cy="1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l">
                  <a:lnSpc>
                    <a:spcPct val="135000"/>
                  </a:lnSpc>
                  <a:spcBef>
                    <a:spcPts val="1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结构定位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：Delta 规则线性注意力以定长状态替代 KV Cache → 长上下文的显存与延迟由 </a:t>
                </a:r>
                <a14:m>
                  <m:oMath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O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(</m:t>
                    </m:r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L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)</m:t>
                    </m:r>
                  </m:oMath>
                </a14:m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 降为 </a:t>
                </a:r>
                <a14:m>
                  <m:oMath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O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(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1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)</m:t>
                    </m:r>
                  </m:oMath>
                </a14:m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改动① 有界衰减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：逐通道衰减约束在有界区间 → 数值稳定，对角块计算稠密化、可整体映射到 CUBE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改动② 全秩输出门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：以一次标准稠密 GEMM 替换低秩门 → 计算形态统一为 matmul，硬件亲和性增强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负载特征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：Prefill 计算密集（chunk 内并行）、Decode 访存密集（状态原地更新）→ 优化重心从算力转向状态管理</a:t>
                </a:r>
                <a:endParaRPr lang="en-US" sz="900" noProof="1"/>
              </a:p>
            </p:txBody>
          </p:sp>
        </mc:Choice>
        <mc:Fallback xmlns="">
          <p:sp>
            <p:nvSpPr>
              <p:cNvPr id="7" name="concl-bullets"/>
              <p:cNvSpPr txBox="1"/>
              <p:nvPr/>
            </p:nvSpPr>
            <p:spPr>
              <a:xfrm>
                <a:off x="1955800" y="800100"/>
                <a:ext cx="9601200" cy="1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l">
                  <a:lnSpc>
                    <a:spcPct val="135000"/>
                  </a:lnSpc>
                  <a:spcBef>
                    <a:spcPts val="1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结构定位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：Delta 规则线性注意力以定长状态替代 KV Cache → 长上下文的显存与延迟由 \(O(L)\) 降为 \(O(1)\)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改动① 有界衰减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：逐通道衰减约束在有界区间 → 数值稳定，对角块计算稠密化、可整体映射到 CUBE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改动② 全秩输出门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：以一次标准稠密 GEMM 替换低秩门 → 计算形态统一为 matmul，硬件亲和性增强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负载特征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：Prefill 计算密集（chunk 内并行）、Decode 访存密集（状态原地更新）→ 优化重心从算力转向状态管理</a:t>
                </a:r>
                <a:endParaRPr lang="en-US" sz="900" noProof="1"/>
              </a:p>
            </p:txBody>
          </p:sp>
        </mc:Fallback>
      </mc:AlternateContent>
      <p:sp>
        <p:nvSpPr>
          <p:cNvPr id="8" name="arch-label"/>
          <p:cNvSpPr txBox="1"/>
          <p:nvPr/>
        </p:nvSpPr>
        <p:spPr>
          <a:xfrm>
            <a:off x="558800" y="22860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模块结构与数据流</a:t>
            </a:r>
            <a:endParaRPr lang="en-US" sz="1200" noProof="1"/>
          </a:p>
        </p:txBody>
      </p:sp>
      <p:sp>
        <p:nvSpPr>
          <p:cNvPr id="9" name="legend-box"/>
          <p:cNvSpPr/>
          <p:nvPr/>
        </p:nvSpPr>
        <p:spPr>
          <a:xfrm>
            <a:off x="2921000" y="23241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0" name="legend-text"/>
          <p:cNvSpPr txBox="1"/>
          <p:nvPr/>
        </p:nvSpPr>
        <p:spPr>
          <a:xfrm>
            <a:off x="3098800" y="22860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红框 = K3 相对 Kimi Linear 的改动</a:t>
            </a:r>
            <a:endParaRPr lang="en-US" sz="8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107440"/>
                <a:gridCol w="1384300"/>
                <a:gridCol w="885952"/>
                <a:gridCol w="2159508"/>
              </a:tblGrid>
              <a:tr h="2194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2245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x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sup>
                          </m:sSup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q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k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k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v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v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Prefill 为稠密 GEMM，计算密集 → 要求 CUBE 算力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Decode 退化为 GEMV，访存密集 → 要求 HBM 带宽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低秩 </a:t>
                      </a:r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r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</m:oMath>
                      </a14:m>
                    </a:p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≈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r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 GEMM + 逐元素 σ/exp → Vector 核承担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计算占比小 → 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有界衰减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g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-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5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σ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A</m:t>
                              </m:r>
                            </m:sup>
                          </m:sSup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z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-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5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0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纯 Vector 逐元素 → 不占 CUBE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对角块稠密化 → 可上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A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T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r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i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l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Q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⊙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Γ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K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/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Γ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6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稠密 matmul，与 L 无关 → CUBE 占比提升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tile 64×128 → 匹配 CUBE 分块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v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小矩阵串行依赖 → CUBE 利用率低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需 kernel 内流水掩盖 → 调度诉求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2245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全秩输出门 + </a:t>
                      </a:r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o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g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: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o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: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标准稠密 GEMM → CUBE 友好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参数量 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→ 显存略增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显存：KDA 每层状态 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H</m:t>
                    </m:r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×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2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B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（定长，与 L 无关）；24 层 MLA 的 KV Cache 随 L 线性增长，1M 上下文下为主要显存项。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d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7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8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、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H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9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（报告 Table 1）；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以 checkpoint config 为准；FLOPs 按 chunkwise 公式推算。</a:t>
                </a:r>
                <a:endParaRPr lang="en-US" sz="750" noProof="1"/>
              </a:p>
            </p:txBody>
          </p:sp>
        </mc:Choice>
        <mc:Fallback xmlns="">
          <p:sp>
            <p:nvSpPr>
              <p:cNvPr id="14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显存：KDA 每层状态 \(Hd_kd_v\times 2\mathrm{B}\)（定长，与 L 无关）；24 层 MLA 的 KV Cache 随 L 线性增长，1M 上下文下为主要显存项。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注：\(d=7168\)、\(H=96\)（报告 Table 1）；\(d_k\) / \(d_v\) 以 checkpoint config 为准；FLOPs 按 chunkwise 公式推算。</a:t>
                </a:r>
                <a:endParaRPr lang="en-US" sz="750" noProof="1"/>
              </a:p>
            </p:txBody>
          </p:sp>
        </mc:Fallback>
      </mc:AlternateContent>
      <p:sp>
        <p:nvSpPr>
          <p:cNvPr id="15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：FlashKDA 为 CUTLASS 实现（CUDA 专用），昇腾需对等 Ascend C 融合算子 —— chunkwise prefill（intra-chunk matmul 上 CUBE + 跨 chunk 状态传播流水交叠）、fused recurrent decode；vllm-ascend 现状为 Triton 版（ops/triton/kda/，12+ kernel，约 3,000 行），CUBE 调度深度受限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：NPU recurrent kernel 未融合衰减门计算（vllm-ascend gate.py 需 host 侧 apply_kda_gate 预处理），safe-gate 路径应下沉融合进 kernel，消除显存往返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已注册 kimi_k3 模型适配；待补 KDA state 的 MTP 投机解码回滚（只缓存投影输入、片上重建）、KDA checkpoint 与 MLA KV 统一分页的 prefix cache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：竞争点从“并行度”转向“状态管理”——大容量片上状态驻留 + 高效小矩阵乘 + Vector/Cube 异构流水；稠密化使 CUBE 占比持续上升</a:t>
            </a:r>
            <a:endParaRPr lang="en-US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§2.1.2；vllm / vllm-ascend 代码仓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Gated MLA：NoPE 全局注意力 + 全秩输出门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：以低维隐向量缓存替代全量 KV，24+1 层承担全局内容交互 → 长上下文缓存规模降一个量级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改动① 全面 NoPE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：位置建模完全交给 KDA 递归层 → 上下文外推不受 RoPE 限制，单 token 缓存进一步减小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：与 KDA 同款门控，逐通道调节全局注意力读出 → 新增一次标准稠密 GEMM，CUBE 友好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训练数值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：注意力输出保持 FP32 修正舍入偏差 → 以片上 buffer 重排换精度与吞吐兼得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模块结构与数据流</a:t>
            </a:r>
            <a:endParaRPr lang="en-US" sz="1200" noProof="1"/>
          </a:p>
        </p:txBody>
      </p:sp>
      <p:sp>
        <p:nvSpPr>
          <p:cNvPr id="9" name="legend-box"/>
          <p:cNvSpPr/>
          <p:nvPr/>
        </p:nvSpPr>
        <p:spPr>
          <a:xfrm>
            <a:off x="2921000" y="23241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0" name="legend-text"/>
          <p:cNvSpPr txBox="1"/>
          <p:nvPr/>
        </p:nvSpPr>
        <p:spPr>
          <a:xfrm>
            <a:off x="3098800" y="22860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红框 = K3 相对标准 MLA（K2）的改动</a:t>
            </a:r>
            <a:endParaRPr lang="en-US" sz="8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107440"/>
                <a:gridCol w="1384300"/>
                <a:gridCol w="885952"/>
                <a:gridCol w="2159508"/>
              </a:tblGrid>
              <a:tr h="2194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2245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隐向量下投影 </a:t>
                      </a:r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sub>
                          </m:sSub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x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sup>
                          </m:sSup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c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Prefill 稠密 GEMM，计算密集 → 要求 CUBE 算力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Decode 退化为 GEMV，访存密集 → 要求 HBM 带宽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q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: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k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v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sub>
                          </m:sSub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Prefill 稠密 GEMM → CUBE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Decode 吸收上投影、直接以 </a:t>
                      </a:r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t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计算 → KV 读取下降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全局注意力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q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k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v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L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CUBE matmul + Vector softmax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NoPE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t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：</a:t>
                      </a:r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B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随 L 线性增长 → 1M 上下文主要显存项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NoPE 后单 token 缓存更小 → 容量诉求下降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全秩输出门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g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: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标准稠密 GEMM → CUBE 友好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应与注意力输出融合 → 避免显存往返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2245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训练 FP32 输出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输出 tile：</a:t>
                      </a:r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，FP32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片上占用 ×2 → buffer 需重排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与 KV staging 交叠 → 换深流水高吞吐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显存：24+1 层 MLA 的 KV Cache 随 L 线性增长，为 1M 上下文下的主要显存项；标准 MLA 缓存为 </a:t>
                </a:r>
                <a14:m>
                  <m:oMath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(</m:t>
                    </m:r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c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+</m:t>
                    </m:r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r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)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×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2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B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token。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d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7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8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、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H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9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（报告 Table 1）；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以 checkpoint config 为准（K2 参考值 512 / 64 / 128）；FLOPs 为推算。</a:t>
                </a:r>
                <a:endParaRPr lang="en-US" sz="750" noProof="1"/>
              </a:p>
            </p:txBody>
          </p:sp>
        </mc:Choice>
        <mc:Fallback xmlns="">
          <p:sp>
            <p:nvSpPr>
              <p:cNvPr id="14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显存：24+1 层 MLA 的 KV Cache 随 L 线性增长，为 1M 上下文下的主要显存项；标准 MLA 缓存为 \((d_c+d_r)\times 2\mathrm{B}\) / token。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注：\(d=7168\)、\(H=96\)（报告 Table 1）；\(d_c\) / \(d_r\) / \(d_h\) 以 checkpoint config 为准（K2 参考值 512 / 64 / 128）；FLOPs 为推算。</a:t>
                </a:r>
                <a:endParaRPr lang="en-US" sz="750" noProof="1"/>
              </a:p>
            </p:txBody>
          </p:sp>
        </mc:Fallback>
      </mc:AlternateContent>
      <p:sp>
        <p:nvSpPr>
          <p:cNvPr id="15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dev-bullets"/>
              <p:cNvSpPr txBox="1"/>
              <p:nvPr/>
            </p:nvSpPr>
            <p:spPr>
              <a:xfrm>
                <a:off x="558800" y="5918200"/>
                <a:ext cx="11125200" cy="8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  <a:spcBef>
                    <a:spcPts val="1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算子层（推理）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：MLA 已接入 vllm-ascend mla_v1.py 后端，kimi_k3 适配层强制 use_nope=True 并透传 output gate；需回归验证 qk_rope_head_dim = 0 配置下各后端（含量化路径）的正确性</a:t>
                </a:r>
                <a:endParaRPr lang="en-US" sz="800" noProof="1"/>
              </a:p>
              <a:p>
                <a:pPr algn="l">
                  <a:lnSpc>
                    <a:spcPct val="135000"/>
                  </a:lnSpc>
                  <a:spcBef>
                    <a:spcPts val="30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算子层（融合）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：输出门 </a:t>
                </a:r>
                <a14:m>
                  <m:oMath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σ</m:t>
                    </m:r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(</m:t>
                    </m:r>
                    <m:sSub>
                      <m:sSubPr>
                        <m:ctrlPr>
                          <a:rPr lang="en-US" sz="800" noProof="1">
                            <a:solidFill>
                              <a:srgbClr val="262626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W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g</m:t>
                        </m:r>
                      </m:sub>
                    </m:sSub>
                    <m:r>
                      <a:rPr lang="en-US" sz="800" noProof="1" i="1">
                        <a:solidFill>
                          <a:srgbClr val="262626"/>
                        </a:solidFill>
                        <a:latin typeface="微软雅黑"/>
                      </a:rPr>
                      <m:t>x</m:t>
                    </m:r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)</m:t>
                    </m:r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⊙</m:t>
                    </m:r>
                    <m:acc>
                      <m:accPr>
                        <m:chr m:val="̃"/>
                        <m:ctrlPr>
                          <a:rPr lang="en-US" sz="800" noProof="1">
                            <a:solidFill>
                              <a:srgbClr val="262626"/>
                            </a:solidFill>
                            <a:latin typeface="微软雅黑"/>
                          </a:rPr>
                        </m:ctrlPr>
                      </m:accPr>
                      <m:e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o</m:t>
                        </m:r>
                      </m:e>
                    </m:acc>
                  </m:oMath>
                </a14:m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 应与注意力输出及 </a:t>
                </a: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262626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W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o</m:t>
                        </m:r>
                      </m:sub>
                    </m:sSub>
                  </m:oMath>
                </a14:m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 融合，避免三次显存往返；训练侧 FP32 输出 tile 需 Ascend C 级 buffer 规划（与 KV staging 交叠）</a:t>
                </a:r>
                <a:endParaRPr lang="en-US" sz="800" noProof="1"/>
              </a:p>
              <a:p>
                <a:pPr algn="l">
                  <a:lnSpc>
                    <a:spcPct val="135000"/>
                  </a:lnSpc>
                  <a:spcBef>
                    <a:spcPts val="30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框架层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：KV Cache 按 </a:t>
                </a: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262626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c</m:t>
                        </m:r>
                      </m:sub>
                    </m:sSub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×</m:t>
                    </m:r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2</m:t>
                    </m:r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B</m:t>
                    </m:r>
                  </m:oMath>
                </a14:m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 / token 分页，与 KDA checkpoint 统一池化；PD 分离部署下 NoPE 缓存更小，跨节点传输负载相应下降</a:t>
                </a:r>
                <a:endParaRPr lang="en-US" sz="800" noProof="1"/>
              </a:p>
              <a:p>
                <a:pPr algn="l">
                  <a:lnSpc>
                    <a:spcPct val="135000"/>
                  </a:lnSpc>
                  <a:spcBef>
                    <a:spcPts val="30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趋势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：NoPE 将位置建模完全交给递归层，长上下文外推不再受 RoPE 限制；硬件诉求集中于 KV Cache 容量 / 带宽与吸收矩阵 GEMV 效率</a:t>
                </a:r>
                <a:endParaRPr lang="en-US" sz="800" noProof="1"/>
              </a:p>
            </p:txBody>
          </p:sp>
        </mc:Choice>
        <mc:Fallback xmlns="">
          <p:sp>
            <p:nvSpPr>
              <p:cNvPr id="16" name="dev-bullets"/>
              <p:cNvSpPr txBox="1"/>
              <p:nvPr/>
            </p:nvSpPr>
            <p:spPr>
              <a:xfrm>
                <a:off x="558800" y="5918200"/>
                <a:ext cx="11125200" cy="8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  <a:spcBef>
                    <a:spcPts val="1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算子层（推理）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：MLA 已接入 vllm-ascend mla_v1.py 后端，kimi_k3 适配层强制 use_nope=True 并透传 output gate；需回归验证 qk_rope_head_dim = 0 配置下各后端（含量化路径）的正确性</a:t>
                </a:r>
                <a:endParaRPr lang="en-US" sz="800" noProof="1"/>
              </a:p>
              <a:p>
                <a:pPr algn="l">
                  <a:lnSpc>
                    <a:spcPct val="135000"/>
                  </a:lnSpc>
                  <a:spcBef>
                    <a:spcPts val="30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算子层（融合）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：输出门 \(\sigma(W_g x)\odot\tilde{o}\) 应与注意力输出及 \(W_o\) 融合，避免三次显存往返；训练侧 FP32 输出 tile 需 Ascend C 级 buffer 规划（与 KV staging 交叠）</a:t>
                </a:r>
                <a:endParaRPr lang="en-US" sz="800" noProof="1"/>
              </a:p>
              <a:p>
                <a:pPr algn="l">
                  <a:lnSpc>
                    <a:spcPct val="135000"/>
                  </a:lnSpc>
                  <a:spcBef>
                    <a:spcPts val="30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框架层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：KV Cache 按 \(d_c\times 2\mathrm{B}\) / token 分页，与 KDA checkpoint 统一池化；PD 分离部署下 NoPE 缓存更小，跨节点传输负载相应下降</a:t>
                </a:r>
                <a:endParaRPr lang="en-US" sz="800" noProof="1"/>
              </a:p>
              <a:p>
                <a:pPr algn="l">
                  <a:lnSpc>
                    <a:spcPct val="135000"/>
                  </a:lnSpc>
                  <a:spcBef>
                    <a:spcPts val="30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趋势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：NoPE 将位置建模完全交给递归层，长上下文外推不再受 RoPE 限制；硬件诉求集中于 KV Cache 容量 / 带宽与吸收矩阵 GEMV 效率</a:t>
                </a:r>
                <a:endParaRPr lang="en-US" sz="800" noProof="1"/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§5.1.1；FlashKDA（MoonshotAI）；vllm-ascend ops/triton/kda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FlashKDA：chunkwise 训练 / Prefill 融合算子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问题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：chunkwise KDA = chunk 内并行 + chunk 间串行，串行传播期间算力空置 → 气泡随 chunk 数线性放大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：token 并行与 head 并行两阶段分解、独立调度，以 chunk 内计算掩盖跨 chunk 状态传播 → 显著优于 Triton 参考实现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负载构成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：chunk 内稠密 matmul 上 CUBE，chunk 间小矩阵沿 head 维并行并被掩盖 → CUBE 利用率与流水深度是核心指标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长序列短板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：纯 TP 不缩短递归 → SM 级 CP planner 在单设备内切分序列、并行求转移再精确合并，无跨设备通信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计算 / 状态传播调度交叠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107440"/>
                <a:gridCol w="1384300"/>
                <a:gridCol w="885952"/>
                <a:gridCol w="2159508"/>
              </a:tblGrid>
              <a:tr h="2194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2245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chunk 内注意力 </a:t>
                      </a:r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A</m:t>
                          </m:r>
                          <m:acc>
                            <m:accPr>
                              <m:chr m:val="̃"/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acc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e>
                          </m:acc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6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稠密 matmul → 要求 CUBE 算力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tile 64×128 → 匹配 CUBE 分块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跨 chunk 读取 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Γ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⊙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Q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小矩阵乘 → CUBE 利用率低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与 chunk 内计算双缓冲交叠 → 调度诉求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状态更新 </a:t>
                      </a:r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←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M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̄"/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acc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K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⊤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acc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e>
                          </m:acc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≈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串行依赖 → 并行度受限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S 驻留片上 → 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纯 Vector 逐元素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与 CUBE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小尺寸 matmul → CUBE 效率受限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2245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SM 级 CP planner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M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k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acc>
                            <m:accPr>
                              <m:chr m:val="̂"/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acc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S</m:t>
                              </m:r>
                            </m:e>
                          </m:acc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v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合并 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Sup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  <m:sup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单设备内切分并行 → 无通信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AICore 级调度需求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片上驻留：S 为 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×</m:t>
                    </m:r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head（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2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8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时 32KB / head，BF16），单核多 head 驻留能力决定流水深度。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C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4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（FLA 默认 chunk size）；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以 checkpoint config 为准；FLOPs 为按 chunkwise 公式推算。</a:t>
                </a:r>
                <a:endParaRPr lang="en-US" sz="750" noProof="1"/>
              </a:p>
            </p:txBody>
          </p:sp>
        </mc:Choice>
        <mc:Fallback xmlns="">
          <p:sp>
            <p:nvSpPr>
              <p:cNvPr id="12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片上驻留：S 为 \(d_k\times d_v\) / head（\(d_k=d_v=128\) 时 32KB / head，BF16），单核多 head 驻留能力决定流水深度。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注：\(C=64\)（FLA 默认 chunk size）；\(d_k\) / \(d_v\) 以 checkpoint config 为准；FLOPs 为按 chunkwise 公式推算。</a:t>
                </a:r>
                <a:endParaRPr lang="en-US" sz="750" noProof="1"/>
              </a:p>
            </p:txBody>
          </p:sp>
        </mc:Fallback>
      </mc:AlternateContent>
      <p:sp>
        <p:nvSpPr>
          <p:cNvPr id="13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昇腾现状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为 Triton 版 chunk_kda（scaled_dot_kkt / solve_tril / wy_fast / chunk_delta_h / chunk_o 等多 kernel 串行调度），kernel 间显存往返多、串行段无掩盖，与 FlashKDA 存在代差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需求①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：Ascend C 融合 chunkwise 算子 —— intra-chunk matmul 上 CUBE，状态传播与计算双缓冲流水，S 驻留 L1 / UB 避免 HBM 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需求②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：SM 级 CP planner 的 NPU 对等实现 —— AICore 级序列切分、段转移并行求值与前缀合并，适配昇腾核间同步机制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：线性注意力 prefill 算子的竞争点是串行段掩盖率；Cube / Vector 异构流水 + 片上状态驻留是达成路径，DSL（TileLang 类）可缩短开发周期</a:t>
            </a:r>
            <a:endParaRPr lang="en-US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§5.4.2（KDA）；ReplaySSM [25]；vllm-ascend ops/triton/kda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KDA Decoding：可回滚的投机解码融合递归算子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瓶颈转移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：decode 每步原地更新状态 S，投机解码拒绝草稿时状态无法直接回滚 → 逐草稿快照在大 batch 下不可承受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：只缓存草稿的投影输入，验证后在片上重建已接受状态 → 状态流量降一个量级（与 ReplaySSM 独立同思路）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单融合 kernel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：重放 + bonus + 下一草稿窗口共享一个递归循环 → 验证延迟亚线性增长，优于状态缓存基线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部署亲和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：投影缓存不离开 decode 阶段 → prefix caching 与 PD 分离行为与非投机服务一致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融合算子构成与状态回滚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107440"/>
                <a:gridCol w="1384300"/>
                <a:gridCol w="885952"/>
                <a:gridCol w="2159508"/>
              </a:tblGrid>
              <a:tr h="2194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B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≈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小卷积 → Vector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独立 kernel 不划算 → 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g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-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5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σ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A</m:t>
                              </m:r>
                            </m:sup>
                          </m:sSup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z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纯 Vector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现状 host 侧预处理 → 多一次显存往返，待下沉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: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≈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3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小矩阵、并行度仅 B×H 维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状态驻留片上 → SRAM 容量诉求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3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片上重建 → 免 D 份状态快照 HBM 读写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计算换访存 → 大 batch 收益显著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投影输入缓存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1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B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仅为状态快照的 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≈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1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8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1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/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3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显存与带宽双省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估算（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2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8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、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H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9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）：单层状态 3.0MB（BF16）；D = 4 时快照读写 ≈12MB / 层 / step，投影缓存 ≈0.4MB / 层；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以 checkpoint config 为准。</a:t>
                </a:r>
                <a:endParaRPr lang="en-US" sz="750" noProof="1"/>
              </a:p>
            </p:txBody>
          </p:sp>
        </mc:Choice>
        <mc:Fallback xmlns="">
          <p:sp>
            <p:nvSpPr>
              <p:cNvPr id="12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估算（\(d_k=d_v=128\)、\(H=96\)）：单层状态 3.0MB（BF16）；D = 4 时快照读写 ≈12MB / 层 / step，投影缓存 ≈0.4MB / 层；\(d_k\) / \(d_v\) 以 checkpoint config 为准。</a:t>
                </a:r>
                <a:endParaRPr lang="en-US" sz="750" noProof="1"/>
              </a:p>
            </p:txBody>
          </p:sp>
        </mc:Fallback>
      </mc:AlternateContent>
      <p:sp>
        <p:nvSpPr>
          <p:cNvPr id="13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：需 Ascend C 融合递归 kernel（短卷积 + 归一化 + 门控 + 递归 + 输出归一化单 kernel，含 replay 路径）；vllm-ascend 现有 Triton fused_recurrent_kda，MTP 回滚未实现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：safe-gate 计算下沉进 kernel —— 现状 gate.py 在 host 侧 apply_kda_gate 预处理，多一次显存往返且阻断全链路融合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：草稿投影输入缓存的生命周期管理（仅存在于 decode 阶段），与 vllm-ascend spec_decode 各 proposer（mtp / dflash / dspark）对接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：投机解码 × 线性注意力使“状态可重建性”成为算子设计约束；片上 SRAM 容量决定可融合的草稿窗口长度</a:t>
            </a:r>
            <a:endParaRPr lang="en-US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§2.2 / §5.4.2（Block AttnRes）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Block AttnRes：两阶段调度与通信融合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cl-bullets"/>
              <p:cNvSpPr txBox="1"/>
              <p:nvPr/>
            </p:nvSpPr>
            <p:spPr>
              <a:xfrm>
                <a:off x="1955800" y="800100"/>
                <a:ext cx="9601200" cy="1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l">
                  <a:lnSpc>
                    <a:spcPct val="135000"/>
                  </a:lnSpc>
                  <a:spcBef>
                    <a:spcPts val="1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机制与规模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：以可学习伪查询对前序 block 表示做深度维注意力 → 显存 / 通信开销由 </a:t>
                </a:r>
                <a14:m>
                  <m:oMath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O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(</m:t>
                    </m:r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L</m:t>
                    </m:r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d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)</m:t>
                    </m:r>
                  </m:oMath>
                </a14:m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 降为 </a:t>
                </a:r>
                <a14:m>
                  <m:oMath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O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(</m:t>
                    </m:r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N</m:t>
                    </m:r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d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)</m:t>
                    </m:r>
                  </m:oMath>
                </a14:m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（96 层 → 9 个 block 表示）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两阶段 kernel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：inter-block 批量读一次缓存表示，intra-block 经 online-softmax 合入 → 开销以访存为主，优化聚焦内存效率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Prefill（SP）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：all-reduce 拆为 reduce-scatter + all-gather，kernel 插入两次通信之间 → 每 token 表示只在一个 rank 物化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Decode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：inter-block 放 side stream 交叠，intra-block 融合进 TP all-reduce → 隐藏延迟、零独立 kernel</a:t>
                </a:r>
                <a:endParaRPr lang="en-US" sz="900" noProof="1"/>
              </a:p>
            </p:txBody>
          </p:sp>
        </mc:Choice>
        <mc:Fallback xmlns="">
          <p:sp>
            <p:nvSpPr>
              <p:cNvPr id="7" name="concl-bullets"/>
              <p:cNvSpPr txBox="1"/>
              <p:nvPr/>
            </p:nvSpPr>
            <p:spPr>
              <a:xfrm>
                <a:off x="1955800" y="800100"/>
                <a:ext cx="9601200" cy="1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l">
                  <a:lnSpc>
                    <a:spcPct val="135000"/>
                  </a:lnSpc>
                  <a:spcBef>
                    <a:spcPts val="1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机制与规模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：以可学习伪查询对前序 block 表示做深度维注意力 → 显存 / 通信开销由 \(O(Ld)\) 降为 \(O(Nd)\)（96 层 → 9 个 block 表示）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两阶段 kernel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：inter-block 批量读一次缓存表示，intra-block 经 online-softmax 合入 → 开销以访存为主，优化聚焦内存效率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Prefill（SP）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：all-reduce 拆为 reduce-scatter + all-gather，kernel 插入两次通信之间 → 每 token 表示只在一个 rank 物化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Decode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：inter-block 放 side stream 交叠，intra-block 融合进 TP all-reduce → 隐藏延迟、零独立 kernel</a:t>
                </a:r>
                <a:endParaRPr lang="en-US" sz="900" noProof="1"/>
              </a:p>
            </p:txBody>
          </p:sp>
        </mc:Fallback>
      </mc:AlternateContent>
      <p:sp>
        <p:nvSpPr>
          <p:cNvPr id="8" name="arch-label"/>
          <p:cNvSpPr txBox="1"/>
          <p:nvPr/>
        </p:nvSpPr>
        <p:spPr>
          <a:xfrm>
            <a:off x="5588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深度维注意力机制与执行调度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107440"/>
                <a:gridCol w="1384300"/>
                <a:gridCol w="885952"/>
                <a:gridCol w="2159508"/>
              </a:tblGrid>
              <a:tr h="2194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读 N 个 block 表示 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N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N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访存为主 → 批量读一次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Decode 放 side stream 交叠 → 隐藏延迟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online softmax merge，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逐元素 → Vector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w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sup>
                          </m:sSup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α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f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t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m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a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x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w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⋅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R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M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N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r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m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b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N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 GEMV → Vector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N = 9 → 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N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B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96 层 → 9 个表示 ≈126KB（BF16）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Prefill 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RS + AG（序列分片）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通信量 ≈ all-reduce</a:t>
                      </a:r>
                    </a:p>
                    <a:p>
                      <a:pPr algn="l">
                        <a:spcBef>
                          <a:spcPts val="10"/>
                        </a:spcBef>
                        <a:buChar char="•"/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消除冗余物化与 I/O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按 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d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7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8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、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N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9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：block 表示 </a:t>
                </a:r>
                <a14:m>
                  <m:oMath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≈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9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×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7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8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×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2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B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≈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2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K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B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序列；朴素 TP8 每 rank 物化则冗余 8 倍。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注：FLOPs 占比极小，访存与通信结构是主要矛盾；N = 8 blocks + 嵌入（报告 §2.2）。</a:t>
                </a:r>
                <a:endParaRPr lang="en-US" sz="750" noProof="1"/>
              </a:p>
            </p:txBody>
          </p:sp>
        </mc:Choice>
        <mc:Fallback xmlns="">
          <p:sp>
            <p:nvSpPr>
              <p:cNvPr id="12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按 \(d=7168\)、\(N=9\)：block 表示 \(\approx 9\times 7168\times 2\mathrm{B}\approx 126\mathrm{KB}\) / 序列；朴素 TP8 每 rank 物化则冗余 8 倍。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注：FLOPs 占比极小，访存与通信结构是主要矛盾；N = 8 blocks + 嵌入（报告 §2.2）。</a:t>
                </a:r>
                <a:endParaRPr lang="en-US" sz="750" noProof="1"/>
              </a:p>
            </p:txBody>
          </p:sp>
        </mc:Fallback>
      </mc:AlternateContent>
      <p:sp>
        <p:nvSpPr>
          <p:cNvPr id="13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：online-softmax merge + 部分和更新 + RMSNorm 融合进 TP all-reduce epilogue —— 依赖通信算子的 epilogue 融合能力（HCCL + AICore 协同），为昇腾侧新增需求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框架层（prefill）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：SP 排布下 RS / AG 拆分与 kernel 插入点调度；vllm-ascend 需支持 AttnRes 的序列并行路径与分片物化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框架层（decode）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：side stream 生命周期管理（inter-block kernel 与主流同步点）；block 表示缓存（9 个 / 序列）的跨层管理与 PP 切分交互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：深度维注意力引入“跨层状态”新访存模式；RS / AG 之间插入 kernel 的通信-计算融合手法通用，可复用于 MoE 等模块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5</Slides>
</Properties>
</file>

<file path=docProps/core.xml><?xml version="1.0" encoding="utf-8"?>
<cp:coreProperties xmlns:dc="http://purl.org/dc/elements/1.1/" xmlns:cp="http://schemas.openxmlformats.org/package/2006/metadata/core-properties">
  <dc:title>Kimi K3 模型结构分析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