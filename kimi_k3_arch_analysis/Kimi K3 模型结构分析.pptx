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HYBRID ATTENTION · 01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§2.1.1 / §5.1；vllm / vllm-ascend 代码仓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Kimi Delta Attention（KDA）：逐通道遗忘门 × Delta 规则的线性注意力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0287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0287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0287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0922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结构定位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：Delta 规则 + 逐通道遗忘门；每 block = 3×KDA + 1×Gated MLA，69 层 KDA（占 74%）；定长状态 S(dk×dv) 替代 KV Cache —— 1M 上下文的内存基础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改动① 有界衰减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：g = −5·σ(e</a:t>
            </a:r>
            <a:r>
              <a:rPr lang="en-US" sz="900" noProof="1" baseline="30000">
                <a:solidFill>
                  <a:srgbClr val="262626"/>
                </a:solidFill>
                <a:latin typeface="黑体"/>
                <a:ea typeface="黑体"/>
              </a:rPr>
              <a:t>A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·z) 替代无下界的 −e</a:t>
            </a:r>
            <a:r>
              <a:rPr lang="en-US" sz="900" noProof="1" baseline="30000">
                <a:solidFill>
                  <a:srgbClr val="262626"/>
                </a:solidFill>
                <a:latin typeface="黑体"/>
                <a:ea typeface="黑体"/>
              </a:rPr>
              <a:t>A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·Softplus(z)；16-token 子块累计衰减 ∈(−80, 0)，重标定因子 &lt; e</a:t>
            </a:r>
            <a:r>
              <a:rPr lang="en-US" sz="900" noProof="1" baseline="30000">
                <a:solidFill>
                  <a:srgbClr val="262626"/>
                </a:solidFill>
                <a:latin typeface="黑体"/>
                <a:ea typeface="黑体"/>
              </a:rPr>
              <a:t>80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 ≈ 5.5×10</a:t>
            </a:r>
            <a:r>
              <a:rPr lang="en-US" sz="900" noProof="1" baseline="30000">
                <a:solidFill>
                  <a:srgbClr val="262626"/>
                </a:solidFill>
                <a:latin typeface="黑体"/>
                <a:ea typeface="黑体"/>
              </a:rPr>
              <a:t>34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，落入 BF16 动态范围 → 对角块改用稠密 matmul，消除 position-pair 标量路径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改动② 全秩输出门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：y = W</a:t>
            </a:r>
            <a:r>
              <a:rPr lang="en-US" sz="900" noProof="1" baseline="-25000">
                <a:solidFill>
                  <a:srgbClr val="262626"/>
                </a:solidFill>
                <a:latin typeface="黑体"/>
                <a:ea typeface="黑体"/>
              </a:rPr>
              <a:t>o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[σ(W</a:t>
            </a:r>
            <a:r>
              <a:rPr lang="en-US" sz="900" noProof="1" baseline="-25000">
                <a:solidFill>
                  <a:srgbClr val="262626"/>
                </a:solidFill>
                <a:latin typeface="黑体"/>
                <a:ea typeface="黑体"/>
              </a:rPr>
              <a:t>g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·x) ⊙ RMSNorm(õ)] 替代低秩门，新增 d×H·dv 稠密 GEMM；计算形态推向“全稠密 matmul”，CUBE 依赖上升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负载特征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：chunk 内并行（C = 64）+ chunk 间串行；prefill 每 token 注意力 FLOPs 由 O(L) 降为 O(C)；decode 瓶颈转为原地状态更新与回滚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4511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模块结构与数据流</a:t>
            </a:r>
            <a:endParaRPr lang="en-US" sz="1200" noProof="1"/>
          </a:p>
        </p:txBody>
      </p:sp>
      <p:sp>
        <p:nvSpPr>
          <p:cNvPr id="11" name="legend-box"/>
          <p:cNvSpPr/>
          <p:nvPr/>
        </p:nvSpPr>
        <p:spPr>
          <a:xfrm>
            <a:off x="2921000" y="24892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12" name="legend-text"/>
          <p:cNvSpPr txBox="1"/>
          <p:nvPr/>
        </p:nvSpPr>
        <p:spPr>
          <a:xfrm>
            <a:off x="3098800" y="24511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红框 = K3 相对 Kimi Linear 的改动</a:t>
            </a:r>
            <a:endParaRPr lang="en-US" sz="800" noProof="1"/>
          </a:p>
        </p:txBody>
      </p:sp>
      <p:sp>
        <p:nvSpPr>
          <p:cNvPr id="13" name="module-border"/>
          <p:cNvSpPr/>
          <p:nvPr/>
        </p:nvSpPr>
        <p:spPr>
          <a:xfrm>
            <a:off x="457200" y="2679700"/>
            <a:ext cx="5435600" cy="28194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404040"/>
            </a:solidFill>
            <a:prstDash val="dash"/>
          </a:ln>
        </p:spPr>
      </p:sp>
      <p:sp>
        <p:nvSpPr>
          <p:cNvPr id="14" name="sh-wo"/>
          <p:cNvSpPr/>
          <p:nvPr/>
        </p:nvSpPr>
        <p:spPr>
          <a:xfrm>
            <a:off x="1955800" y="29337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5" name="sh-norm"/>
          <p:cNvSpPr/>
          <p:nvPr/>
        </p:nvSpPr>
        <p:spPr>
          <a:xfrm>
            <a:off x="1955800" y="35433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6" name="sh-convq"/>
          <p:cNvSpPr/>
          <p:nvPr/>
        </p:nvSpPr>
        <p:spPr>
          <a:xfrm>
            <a:off x="812800" y="4965700"/>
            <a:ext cx="711200" cy="1905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7" name="sh-convk"/>
          <p:cNvSpPr/>
          <p:nvPr/>
        </p:nvSpPr>
        <p:spPr>
          <a:xfrm>
            <a:off x="1676400" y="4965700"/>
            <a:ext cx="711200" cy="1905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8" name="sh-convv"/>
          <p:cNvSpPr/>
          <p:nvPr/>
        </p:nvSpPr>
        <p:spPr>
          <a:xfrm>
            <a:off x="2540000" y="4965700"/>
            <a:ext cx="711200" cy="1905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9" name="sh-linq"/>
          <p:cNvSpPr/>
          <p:nvPr/>
        </p:nvSpPr>
        <p:spPr>
          <a:xfrm>
            <a:off x="812800" y="52070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20" name="sh-link"/>
          <p:cNvSpPr/>
          <p:nvPr/>
        </p:nvSpPr>
        <p:spPr>
          <a:xfrm>
            <a:off x="1676400" y="52070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21" name="sh-linv"/>
          <p:cNvSpPr/>
          <p:nvPr/>
        </p:nvSpPr>
        <p:spPr>
          <a:xfrm>
            <a:off x="2540000" y="52070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22" name="sh-gate"/>
          <p:cNvSpPr/>
          <p:nvPr/>
        </p:nvSpPr>
        <p:spPr>
          <a:xfrm>
            <a:off x="5003800" y="52070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23" name="a-out"/>
          <p:cNvSpPr/>
          <p:nvPr>
            <p:extLst>
              <p:ext uri="{F5677B7D-0D2A-4D9B-9A5C-6D8D7D0E5A5D}">
                <pptd:line encoding="base64url">eyJ2aWV3Qm94IjpbMiwxNl0sInBvaW50cyI6IjEsMTYgMSwwIiwiY3VydmUiOiJzaGFycCJ9</pptd:line>
              </p:ext>
            </p:extLst>
          </p:nvPr>
        </p:nvSpPr>
        <p:spPr>
          <a:xfrm>
            <a:off x="2273300" y="27051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4" name="lab-y"/>
          <p:cNvSpPr txBox="1"/>
          <p:nvPr/>
        </p:nvSpPr>
        <p:spPr>
          <a:xfrm>
            <a:off x="2362200" y="27051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y</a:t>
            </a:r>
            <a:r>
              <a:rPr lang="en-US" sz="800" noProof="1" baseline="-25000">
                <a:solidFill>
                  <a:srgbClr val="404040"/>
                </a:solidFill>
                <a:latin typeface="黑体"/>
                <a:ea typeface="黑体"/>
              </a:rPr>
              <a:t>t</a:t>
            </a:r>
            <a:endParaRPr lang="en-US" sz="800" noProof="1"/>
          </a:p>
        </p:txBody>
      </p:sp>
      <p:sp>
        <p:nvSpPr>
          <p:cNvPr id="25" name="n-wo"/>
          <p:cNvSpPr/>
          <p:nvPr/>
        </p:nvSpPr>
        <p:spPr>
          <a:xfrm>
            <a:off x="1930400" y="29083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26" name="t-wo"/>
          <p:cNvSpPr txBox="1"/>
          <p:nvPr/>
        </p:nvSpPr>
        <p:spPr>
          <a:xfrm>
            <a:off x="1930400" y="29083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Linear</a:t>
            </a:r>
            <a:endParaRPr lang="en-US" sz="750" noProof="1"/>
          </a:p>
        </p:txBody>
      </p:sp>
      <p:sp>
        <p:nvSpPr>
          <p:cNvPr id="27" name="a-mul-wo"/>
          <p:cNvSpPr/>
          <p:nvPr>
            <p:extLst>
              <p:ext uri="{F5677B7D-0D2A-4D9B-9A5C-6D8D7D0E5A5D}">
                <pptd:line encoding="base64url">eyJ2aWV3Qm94IjpbMiw4XSwicG9pbnRzIjoiMSw4IDEsMCIsImN1cnZlIjoic2hhcnAifQ</pptd:line>
              </p:ext>
            </p:extLst>
          </p:nvPr>
        </p:nvSpPr>
        <p:spPr>
          <a:xfrm>
            <a:off x="2273300" y="311150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8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8" name="n-mul"/>
          <p:cNvSpPr/>
          <p:nvPr/>
        </p:nvSpPr>
        <p:spPr>
          <a:xfrm>
            <a:off x="2184400" y="3213100"/>
            <a:ext cx="203200" cy="203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29" name="t-mul"/>
          <p:cNvSpPr txBox="1"/>
          <p:nvPr/>
        </p:nvSpPr>
        <p:spPr>
          <a:xfrm>
            <a:off x="2184400" y="3213100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⊗</a:t>
            </a:r>
            <a:endParaRPr lang="en-US" sz="900" noProof="1"/>
          </a:p>
        </p:txBody>
      </p:sp>
      <p:sp>
        <p:nvSpPr>
          <p:cNvPr id="30" name="a-norm-mul"/>
          <p:cNvSpPr/>
          <p:nvPr>
            <p:extLst>
              <p:ext uri="{F5677B7D-0D2A-4D9B-9A5C-6D8D7D0E5A5D}">
                <pptd:line encoding="base64url">eyJ2aWV3Qm94IjpbMiw4XSwicG9pbnRzIjoiMSw4IDEsMCIsImN1cnZlIjoic2hhcnAifQ</pptd:line>
              </p:ext>
            </p:extLst>
          </p:nvPr>
        </p:nvSpPr>
        <p:spPr>
          <a:xfrm>
            <a:off x="2273300" y="341630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8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1" name="n-norm"/>
          <p:cNvSpPr/>
          <p:nvPr/>
        </p:nvSpPr>
        <p:spPr>
          <a:xfrm>
            <a:off x="1930400" y="35179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2F2F3"/>
          </a:solidFill>
          <a:ln w="12700">
            <a:solidFill>
              <a:srgbClr val="262626"/>
            </a:solidFill>
          </a:ln>
        </p:spPr>
      </p:sp>
      <p:sp>
        <p:nvSpPr>
          <p:cNvPr id="32" name="t-norm"/>
          <p:cNvSpPr txBox="1"/>
          <p:nvPr/>
        </p:nvSpPr>
        <p:spPr>
          <a:xfrm>
            <a:off x="1930400" y="35179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Norm</a:t>
            </a:r>
            <a:endParaRPr lang="en-US" sz="750" noProof="1"/>
          </a:p>
        </p:txBody>
      </p:sp>
      <p:sp>
        <p:nvSpPr>
          <p:cNvPr id="33" name="a-kda-norm"/>
          <p:cNvSpPr/>
          <p:nvPr>
            <p:extLst>
              <p:ext uri="{F5677B7D-0D2A-4D9B-9A5C-6D8D7D0E5A5D}">
                <pptd:line encoding="base64url">eyJ2aWV3Qm94IjpbMiw4XSwicG9pbnRzIjoiMSw4IDEsMCIsImN1cnZlIjoic2hhcnAifQ</pptd:line>
              </p:ext>
            </p:extLst>
          </p:nvPr>
        </p:nvSpPr>
        <p:spPr>
          <a:xfrm>
            <a:off x="2273300" y="372110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8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4" name="n-kda"/>
          <p:cNvSpPr/>
          <p:nvPr/>
        </p:nvSpPr>
        <p:spPr>
          <a:xfrm>
            <a:off x="812800" y="3822700"/>
            <a:ext cx="3759200" cy="4318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35" name="t-kda"/>
          <p:cNvSpPr txBox="1"/>
          <p:nvPr/>
        </p:nvSpPr>
        <p:spPr>
          <a:xfrm>
            <a:off x="863600" y="3848100"/>
            <a:ext cx="3657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850" noProof="1" b="1">
                <a:solidFill>
                  <a:srgbClr val="1F2A36"/>
                </a:solidFill>
                <a:latin typeface="黑体"/>
                <a:ea typeface="黑体"/>
              </a:rPr>
              <a:t>Kimi Delta Attention</a:t>
            </a:r>
            <a:endParaRPr lang="en-US" sz="850" noProof="1"/>
          </a:p>
          <a:p>
            <a:pPr algn="ctr">
              <a:lnSpc>
                <a:spcPct val="13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S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 = (I−β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k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k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 baseline="30000">
                <a:solidFill>
                  <a:srgbClr val="1F2A36"/>
                </a:solidFill>
                <a:latin typeface="黑体"/>
                <a:ea typeface="黑体"/>
              </a:rPr>
              <a:t>⊤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)·Diag(α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)·S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t−1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 + β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k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v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 baseline="30000">
                <a:solidFill>
                  <a:srgbClr val="1F2A36"/>
                </a:solidFill>
                <a:latin typeface="黑体"/>
                <a:ea typeface="黑体"/>
              </a:rPr>
              <a:t>⊤</a:t>
            </a:r>
            <a:endParaRPr lang="en-US" sz="850" noProof="1"/>
          </a:p>
        </p:txBody>
      </p:sp>
      <p:sp>
        <p:nvSpPr>
          <p:cNvPr id="36" name="a-q"/>
          <p:cNvSpPr/>
          <p:nvPr>
            <p:extLst>
              <p:ext uri="{F5677B7D-0D2A-4D9B-9A5C-6D8D7D0E5A5D}">
                <pptd:line encoding="base64url">eyJ2aWV3Qm94IjpbMiwxNl0sInBvaW50cyI6IjEsMTYgMSwwIiwiY3VydmUiOiJzaGFycCJ9</pptd:line>
              </p:ext>
            </p:extLst>
          </p:nvPr>
        </p:nvSpPr>
        <p:spPr>
          <a:xfrm>
            <a:off x="1130300" y="42545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7" name="a-k"/>
          <p:cNvSpPr/>
          <p:nvPr>
            <p:extLst>
              <p:ext uri="{F5677B7D-0D2A-4D9B-9A5C-6D8D7D0E5A5D}">
                <pptd:line encoding="base64url">eyJ2aWV3Qm94IjpbMiwxNl0sInBvaW50cyI6IjEsMTYgMSwwIiwiY3VydmUiOiJzaGFycCJ9</pptd:line>
              </p:ext>
            </p:extLst>
          </p:nvPr>
        </p:nvSpPr>
        <p:spPr>
          <a:xfrm>
            <a:off x="1993900" y="42545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8" name="a-v"/>
          <p:cNvSpPr/>
          <p:nvPr>
            <p:extLst>
              <p:ext uri="{F5677B7D-0D2A-4D9B-9A5C-6D8D7D0E5A5D}">
                <pptd:line encoding="base64url">eyJ2aWV3Qm94IjpbMiwzNl0sInBvaW50cyI6IjEsMzYgMSwwIiwiY3VydmUiOiJzaGFycCJ9</pptd:line>
              </p:ext>
            </p:extLst>
          </p:nvPr>
        </p:nvSpPr>
        <p:spPr>
          <a:xfrm>
            <a:off x="2857500" y="4254500"/>
            <a:ext cx="25400" cy="457200"/>
          </a:xfrm>
          <a:custGeom>
            <a:avLst/>
            <a:gdLst/>
            <a:ahLst/>
            <a:cxnLst/>
            <a:rect l="l" t="t" r="r" b="b"/>
            <a:pathLst>
              <a:path w="2" h="36">
                <a:moveTo>
                  <a:pt x="1" y="3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9" name="a-alpha"/>
          <p:cNvSpPr/>
          <p:nvPr>
            <p:extLst>
              <p:ext uri="{F5677B7D-0D2A-4D9B-9A5C-6D8D7D0E5A5D}">
                <pptd:line encoding="base64url">eyJ2aWV3Qm94IjpbMiwzNl0sInBvaW50cyI6IjEsMzYgMSwwIiwiY3VydmUiOiJzaGFycCJ9</pptd:line>
              </p:ext>
            </p:extLst>
          </p:nvPr>
        </p:nvSpPr>
        <p:spPr>
          <a:xfrm>
            <a:off x="3606800" y="4254500"/>
            <a:ext cx="25400" cy="457200"/>
          </a:xfrm>
          <a:custGeom>
            <a:avLst/>
            <a:gdLst/>
            <a:ahLst/>
            <a:cxnLst/>
            <a:rect l="l" t="t" r="r" b="b"/>
            <a:pathLst>
              <a:path w="2" h="36">
                <a:moveTo>
                  <a:pt x="1" y="3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0" name="a-beta"/>
          <p:cNvSpPr/>
          <p:nvPr>
            <p:extLst>
              <p:ext uri="{F5677B7D-0D2A-4D9B-9A5C-6D8D7D0E5A5D}">
                <pptd:line encoding="base64url">eyJ2aWV3Qm94IjpbMiwzNl0sInBvaW50cyI6IjEsMzYgMSwwIiwiY3VydmUiOiJzaGFycCJ9</pptd:line>
              </p:ext>
            </p:extLst>
          </p:nvPr>
        </p:nvSpPr>
        <p:spPr>
          <a:xfrm>
            <a:off x="4368800" y="4254500"/>
            <a:ext cx="25400" cy="457200"/>
          </a:xfrm>
          <a:custGeom>
            <a:avLst/>
            <a:gdLst/>
            <a:ahLst/>
            <a:cxnLst/>
            <a:rect l="l" t="t" r="r" b="b"/>
            <a:pathLst>
              <a:path w="2" h="36">
                <a:moveTo>
                  <a:pt x="1" y="3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1" name="lab-q"/>
          <p:cNvSpPr txBox="1"/>
          <p:nvPr/>
        </p:nvSpPr>
        <p:spPr>
          <a:xfrm>
            <a:off x="1193800" y="42799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q</a:t>
            </a:r>
            <a:endParaRPr lang="en-US" sz="800" noProof="1"/>
          </a:p>
        </p:txBody>
      </p:sp>
      <p:sp>
        <p:nvSpPr>
          <p:cNvPr id="42" name="lab-k"/>
          <p:cNvSpPr txBox="1"/>
          <p:nvPr/>
        </p:nvSpPr>
        <p:spPr>
          <a:xfrm>
            <a:off x="2057400" y="42799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k</a:t>
            </a:r>
            <a:endParaRPr lang="en-US" sz="800" noProof="1"/>
          </a:p>
        </p:txBody>
      </p:sp>
      <p:sp>
        <p:nvSpPr>
          <p:cNvPr id="43" name="lab-v"/>
          <p:cNvSpPr txBox="1"/>
          <p:nvPr/>
        </p:nvSpPr>
        <p:spPr>
          <a:xfrm>
            <a:off x="2921000" y="43053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v</a:t>
            </a:r>
            <a:endParaRPr lang="en-US" sz="800" noProof="1"/>
          </a:p>
        </p:txBody>
      </p:sp>
      <p:sp>
        <p:nvSpPr>
          <p:cNvPr id="44" name="lab-alpha"/>
          <p:cNvSpPr txBox="1"/>
          <p:nvPr/>
        </p:nvSpPr>
        <p:spPr>
          <a:xfrm>
            <a:off x="3670300" y="43053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α</a:t>
            </a:r>
            <a:endParaRPr lang="en-US" sz="800" noProof="1"/>
          </a:p>
        </p:txBody>
      </p:sp>
      <p:sp>
        <p:nvSpPr>
          <p:cNvPr id="45" name="lab-beta"/>
          <p:cNvSpPr txBox="1"/>
          <p:nvPr/>
        </p:nvSpPr>
        <p:spPr>
          <a:xfrm>
            <a:off x="4432300" y="43053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β</a:t>
            </a:r>
            <a:endParaRPr lang="en-US" sz="800" noProof="1"/>
          </a:p>
        </p:txBody>
      </p:sp>
      <p:sp>
        <p:nvSpPr>
          <p:cNvPr id="46" name="n-l2q"/>
          <p:cNvSpPr/>
          <p:nvPr/>
        </p:nvSpPr>
        <p:spPr>
          <a:xfrm>
            <a:off x="1041400" y="4457700"/>
            <a:ext cx="203200" cy="203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47" name="t-l2q"/>
          <p:cNvSpPr txBox="1"/>
          <p:nvPr/>
        </p:nvSpPr>
        <p:spPr>
          <a:xfrm>
            <a:off x="1041400" y="4457700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262626"/>
                </a:solidFill>
                <a:latin typeface="黑体"/>
                <a:ea typeface="黑体"/>
              </a:rPr>
              <a:t>L2</a:t>
            </a:r>
            <a:endParaRPr lang="en-US" sz="600" noProof="1"/>
          </a:p>
        </p:txBody>
      </p:sp>
      <p:sp>
        <p:nvSpPr>
          <p:cNvPr id="48" name="n-l2k"/>
          <p:cNvSpPr/>
          <p:nvPr/>
        </p:nvSpPr>
        <p:spPr>
          <a:xfrm>
            <a:off x="1905000" y="4457700"/>
            <a:ext cx="203200" cy="203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49" name="t-l2k"/>
          <p:cNvSpPr txBox="1"/>
          <p:nvPr/>
        </p:nvSpPr>
        <p:spPr>
          <a:xfrm>
            <a:off x="1905000" y="4457700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262626"/>
                </a:solidFill>
                <a:latin typeface="黑体"/>
                <a:ea typeface="黑体"/>
              </a:rPr>
              <a:t>L2</a:t>
            </a:r>
            <a:endParaRPr lang="en-US" sz="600" noProof="1"/>
          </a:p>
        </p:txBody>
      </p:sp>
      <p:sp>
        <p:nvSpPr>
          <p:cNvPr id="50" name="a-s-l2q"/>
          <p:cNvSpPr/>
          <p:nvPr>
            <p:extLst>
              <p:ext uri="{F5677B7D-0D2A-4D9B-9A5C-6D8D7D0E5A5D}">
                <pptd:line encoding="base64url">eyJ2aWV3Qm94IjpbMiw0XSwicG9pbnRzIjoiMSw0IDEsMCIsImN1cnZlIjoic2hhcnAifQ</pptd:line>
              </p:ext>
            </p:extLst>
          </p:nvPr>
        </p:nvSpPr>
        <p:spPr>
          <a:xfrm>
            <a:off x="1130300" y="46609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1" y="4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51" name="a-s-l2k"/>
          <p:cNvSpPr/>
          <p:nvPr>
            <p:extLst>
              <p:ext uri="{F5677B7D-0D2A-4D9B-9A5C-6D8D7D0E5A5D}">
                <pptd:line encoding="base64url">eyJ2aWV3Qm94IjpbMiw0XSwicG9pbnRzIjoiMSw0IDEsMCIsImN1cnZlIjoic2hhcnAifQ</pptd:line>
              </p:ext>
            </p:extLst>
          </p:nvPr>
        </p:nvSpPr>
        <p:spPr>
          <a:xfrm>
            <a:off x="1993900" y="46609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1" y="4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52" name="n-sq"/>
          <p:cNvSpPr/>
          <p:nvPr/>
        </p:nvSpPr>
        <p:spPr>
          <a:xfrm>
            <a:off x="1054100" y="4711700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53" name="t-sq"/>
          <p:cNvSpPr txBox="1"/>
          <p:nvPr/>
        </p:nvSpPr>
        <p:spPr>
          <a:xfrm>
            <a:off x="1054100" y="47117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σ</a:t>
            </a:r>
            <a:endParaRPr lang="en-US" sz="750" noProof="1"/>
          </a:p>
        </p:txBody>
      </p:sp>
      <p:sp>
        <p:nvSpPr>
          <p:cNvPr id="54" name="n-sk"/>
          <p:cNvSpPr/>
          <p:nvPr/>
        </p:nvSpPr>
        <p:spPr>
          <a:xfrm>
            <a:off x="1917700" y="4711700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55" name="t-sk"/>
          <p:cNvSpPr txBox="1"/>
          <p:nvPr/>
        </p:nvSpPr>
        <p:spPr>
          <a:xfrm>
            <a:off x="1917700" y="47117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σ</a:t>
            </a:r>
            <a:endParaRPr lang="en-US" sz="750" noProof="1"/>
          </a:p>
        </p:txBody>
      </p:sp>
      <p:sp>
        <p:nvSpPr>
          <p:cNvPr id="56" name="n-sv"/>
          <p:cNvSpPr/>
          <p:nvPr/>
        </p:nvSpPr>
        <p:spPr>
          <a:xfrm>
            <a:off x="2781300" y="4711700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57" name="t-sv"/>
          <p:cNvSpPr txBox="1"/>
          <p:nvPr/>
        </p:nvSpPr>
        <p:spPr>
          <a:xfrm>
            <a:off x="2781300" y="47117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σ</a:t>
            </a:r>
            <a:endParaRPr lang="en-US" sz="750" noProof="1"/>
          </a:p>
        </p:txBody>
      </p:sp>
      <p:sp>
        <p:nvSpPr>
          <p:cNvPr id="58" name="n-salpha"/>
          <p:cNvSpPr/>
          <p:nvPr/>
        </p:nvSpPr>
        <p:spPr>
          <a:xfrm>
            <a:off x="3530600" y="4711700"/>
            <a:ext cx="177800" cy="1778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</p:sp>
      <p:sp>
        <p:nvSpPr>
          <p:cNvPr id="59" name="t-salpha"/>
          <p:cNvSpPr txBox="1"/>
          <p:nvPr/>
        </p:nvSpPr>
        <p:spPr>
          <a:xfrm>
            <a:off x="3530600" y="47117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σ</a:t>
            </a:r>
            <a:endParaRPr lang="en-US" sz="750" noProof="1"/>
          </a:p>
        </p:txBody>
      </p:sp>
      <p:sp>
        <p:nvSpPr>
          <p:cNvPr id="60" name="lab-chg1"/>
          <p:cNvSpPr txBox="1"/>
          <p:nvPr/>
        </p:nvSpPr>
        <p:spPr>
          <a:xfrm>
            <a:off x="3746500" y="47244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C00000"/>
                </a:solidFill>
                <a:latin typeface="黑体"/>
                <a:ea typeface="黑体"/>
              </a:rPr>
              <a:t>①</a:t>
            </a:r>
            <a:endParaRPr lang="en-US" sz="800" noProof="1"/>
          </a:p>
        </p:txBody>
      </p:sp>
      <p:sp>
        <p:nvSpPr>
          <p:cNvPr id="61" name="n-sbeta"/>
          <p:cNvSpPr/>
          <p:nvPr/>
        </p:nvSpPr>
        <p:spPr>
          <a:xfrm>
            <a:off x="4292600" y="4711700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62" name="t-sbeta"/>
          <p:cNvSpPr txBox="1"/>
          <p:nvPr/>
        </p:nvSpPr>
        <p:spPr>
          <a:xfrm>
            <a:off x="4292600" y="47117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σ</a:t>
            </a:r>
            <a:endParaRPr lang="en-US" sz="750" noProof="1"/>
          </a:p>
        </p:txBody>
      </p:sp>
      <p:sp>
        <p:nvSpPr>
          <p:cNvPr id="63" name="a-conv-sq"/>
          <p:cNvSpPr/>
          <p:nvPr>
            <p:extLst>
              <p:ext uri="{F5677B7D-0D2A-4D9B-9A5C-6D8D7D0E5A5D}">
                <pptd:line encoding="base64url">eyJ2aWV3Qm94IjpbMiw0XSwicG9pbnRzIjoiMSw0IDEsMCIsImN1cnZlIjoic2hhcnAifQ</pptd:line>
              </p:ext>
            </p:extLst>
          </p:nvPr>
        </p:nvSpPr>
        <p:spPr>
          <a:xfrm>
            <a:off x="1130300" y="48895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1" y="4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64" name="a-conv-sk"/>
          <p:cNvSpPr/>
          <p:nvPr>
            <p:extLst>
              <p:ext uri="{F5677B7D-0D2A-4D9B-9A5C-6D8D7D0E5A5D}">
                <pptd:line encoding="base64url">eyJ2aWV3Qm94IjpbMiw0XSwicG9pbnRzIjoiMSw0IDEsMCIsImN1cnZlIjoic2hhcnAifQ</pptd:line>
              </p:ext>
            </p:extLst>
          </p:nvPr>
        </p:nvSpPr>
        <p:spPr>
          <a:xfrm>
            <a:off x="1993900" y="48895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1" y="4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65" name="a-conv-sv"/>
          <p:cNvSpPr/>
          <p:nvPr>
            <p:extLst>
              <p:ext uri="{F5677B7D-0D2A-4D9B-9A5C-6D8D7D0E5A5D}">
                <pptd:line encoding="base64url">eyJ2aWV3Qm94IjpbMiw0XSwicG9pbnRzIjoiMSw0IDEsMCIsImN1cnZlIjoic2hhcnAifQ</pptd:line>
              </p:ext>
            </p:extLst>
          </p:nvPr>
        </p:nvSpPr>
        <p:spPr>
          <a:xfrm>
            <a:off x="2857500" y="48895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1" y="4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66" name="n-convq"/>
          <p:cNvSpPr/>
          <p:nvPr/>
        </p:nvSpPr>
        <p:spPr>
          <a:xfrm>
            <a:off x="787400" y="4940300"/>
            <a:ext cx="711200" cy="190500"/>
          </a:xfrm>
          <a:prstGeom prst="roundRect">
            <a:avLst>
              <a:gd name="adj" fmla="val 3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67" name="t-convq"/>
          <p:cNvSpPr txBox="1"/>
          <p:nvPr/>
        </p:nvSpPr>
        <p:spPr>
          <a:xfrm>
            <a:off x="787400" y="4940300"/>
            <a:ext cx="711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Conv</a:t>
            </a:r>
            <a:endParaRPr lang="en-US" sz="700" noProof="1"/>
          </a:p>
        </p:txBody>
      </p:sp>
      <p:sp>
        <p:nvSpPr>
          <p:cNvPr id="68" name="n-convk"/>
          <p:cNvSpPr/>
          <p:nvPr/>
        </p:nvSpPr>
        <p:spPr>
          <a:xfrm>
            <a:off x="1651000" y="4940300"/>
            <a:ext cx="711200" cy="190500"/>
          </a:xfrm>
          <a:prstGeom prst="roundRect">
            <a:avLst>
              <a:gd name="adj" fmla="val 3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69" name="t-convk"/>
          <p:cNvSpPr txBox="1"/>
          <p:nvPr/>
        </p:nvSpPr>
        <p:spPr>
          <a:xfrm>
            <a:off x="1651000" y="4940300"/>
            <a:ext cx="711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Conv</a:t>
            </a:r>
            <a:endParaRPr lang="en-US" sz="700" noProof="1"/>
          </a:p>
        </p:txBody>
      </p:sp>
      <p:sp>
        <p:nvSpPr>
          <p:cNvPr id="70" name="n-convv"/>
          <p:cNvSpPr/>
          <p:nvPr/>
        </p:nvSpPr>
        <p:spPr>
          <a:xfrm>
            <a:off x="2514600" y="4940300"/>
            <a:ext cx="711200" cy="190500"/>
          </a:xfrm>
          <a:prstGeom prst="roundRect">
            <a:avLst>
              <a:gd name="adj" fmla="val 3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71" name="t-convv"/>
          <p:cNvSpPr txBox="1"/>
          <p:nvPr/>
        </p:nvSpPr>
        <p:spPr>
          <a:xfrm>
            <a:off x="2514600" y="4940300"/>
            <a:ext cx="711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Conv</a:t>
            </a:r>
            <a:endParaRPr lang="en-US" sz="700" noProof="1"/>
          </a:p>
        </p:txBody>
      </p:sp>
      <p:sp>
        <p:nvSpPr>
          <p:cNvPr id="72" name="a-lin-convq"/>
          <p:cNvSpPr/>
          <p:nvPr>
            <p:extLst>
              <p:ext uri="{F5677B7D-0D2A-4D9B-9A5C-6D8D7D0E5A5D}">
                <pptd:line encoding="base64url">eyJ2aWV3Qm94IjpbMiw0XSwicG9pbnRzIjoiMSw0IDEsMCIsImN1cnZlIjoic2hhcnAifQ</pptd:line>
              </p:ext>
            </p:extLst>
          </p:nvPr>
        </p:nvSpPr>
        <p:spPr>
          <a:xfrm>
            <a:off x="1130300" y="51308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1" y="4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73" name="a-lin-convk"/>
          <p:cNvSpPr/>
          <p:nvPr>
            <p:extLst>
              <p:ext uri="{F5677B7D-0D2A-4D9B-9A5C-6D8D7D0E5A5D}">
                <pptd:line encoding="base64url">eyJ2aWV3Qm94IjpbMiw0XSwicG9pbnRzIjoiMSw0IDEsMCIsImN1cnZlIjoic2hhcnAifQ</pptd:line>
              </p:ext>
            </p:extLst>
          </p:nvPr>
        </p:nvSpPr>
        <p:spPr>
          <a:xfrm>
            <a:off x="1993900" y="51308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1" y="4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74" name="a-lin-convv"/>
          <p:cNvSpPr/>
          <p:nvPr>
            <p:extLst>
              <p:ext uri="{F5677B7D-0D2A-4D9B-9A5C-6D8D7D0E5A5D}">
                <pptd:line encoding="base64url">eyJ2aWV3Qm94IjpbMiw0XSwicG9pbnRzIjoiMSw0IDEsMCIsImN1cnZlIjoic2hhcnAifQ</pptd:line>
              </p:ext>
            </p:extLst>
          </p:nvPr>
        </p:nvSpPr>
        <p:spPr>
          <a:xfrm>
            <a:off x="2857500" y="51308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1" y="4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75" name="a-hg-salpha"/>
          <p:cNvSpPr/>
          <p:nvPr>
            <p:extLst>
              <p:ext uri="{F5677B7D-0D2A-4D9B-9A5C-6D8D7D0E5A5D}">
                <pptd:line encoding="base64url">eyJ2aWV3Qm94IjpbMiwxN10sInBvaW50cyI6IjEsMTcgMSwwIiwiY3VydmUiOiJzaGFycCJ9</pptd:line>
              </p:ext>
            </p:extLst>
          </p:nvPr>
        </p:nvSpPr>
        <p:spPr>
          <a:xfrm>
            <a:off x="3606800" y="4889500"/>
            <a:ext cx="25400" cy="215900"/>
          </a:xfrm>
          <a:custGeom>
            <a:avLst/>
            <a:gdLst/>
            <a:ahLst/>
            <a:cxnLst/>
            <a:rect l="l" t="t" r="r" b="b"/>
            <a:pathLst>
              <a:path w="2" h="17">
                <a:moveTo>
                  <a:pt x="1" y="17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76" name="a-hg-sbeta"/>
          <p:cNvSpPr/>
          <p:nvPr>
            <p:extLst>
              <p:ext uri="{F5677B7D-0D2A-4D9B-9A5C-6D8D7D0E5A5D}">
                <pptd:line encoding="base64url">eyJ2aWV3Qm94IjpbMiwxN10sInBvaW50cyI6IjEsMTcgMSwwIiwiY3VydmUiOiJzaGFycCJ9</pptd:line>
              </p:ext>
            </p:extLst>
          </p:nvPr>
        </p:nvSpPr>
        <p:spPr>
          <a:xfrm>
            <a:off x="4368800" y="4889500"/>
            <a:ext cx="25400" cy="215900"/>
          </a:xfrm>
          <a:custGeom>
            <a:avLst/>
            <a:gdLst/>
            <a:ahLst/>
            <a:cxnLst/>
            <a:rect l="l" t="t" r="r" b="b"/>
            <a:pathLst>
              <a:path w="2" h="17">
                <a:moveTo>
                  <a:pt x="1" y="17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77" name="n-linq"/>
          <p:cNvSpPr/>
          <p:nvPr/>
        </p:nvSpPr>
        <p:spPr>
          <a:xfrm>
            <a:off x="787400" y="51816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78" name="t-linq"/>
          <p:cNvSpPr txBox="1"/>
          <p:nvPr/>
        </p:nvSpPr>
        <p:spPr>
          <a:xfrm>
            <a:off x="787400" y="51816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Linear</a:t>
            </a:r>
            <a:endParaRPr lang="en-US" sz="750" noProof="1"/>
          </a:p>
        </p:txBody>
      </p:sp>
      <p:sp>
        <p:nvSpPr>
          <p:cNvPr id="79" name="n-link"/>
          <p:cNvSpPr/>
          <p:nvPr/>
        </p:nvSpPr>
        <p:spPr>
          <a:xfrm>
            <a:off x="1651000" y="51816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80" name="t-link"/>
          <p:cNvSpPr txBox="1"/>
          <p:nvPr/>
        </p:nvSpPr>
        <p:spPr>
          <a:xfrm>
            <a:off x="1651000" y="51816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Linear</a:t>
            </a:r>
            <a:endParaRPr lang="en-US" sz="750" noProof="1"/>
          </a:p>
        </p:txBody>
      </p:sp>
      <p:sp>
        <p:nvSpPr>
          <p:cNvPr id="81" name="n-linv"/>
          <p:cNvSpPr/>
          <p:nvPr/>
        </p:nvSpPr>
        <p:spPr>
          <a:xfrm>
            <a:off x="2514600" y="51816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82" name="t-linv"/>
          <p:cNvSpPr txBox="1"/>
          <p:nvPr/>
        </p:nvSpPr>
        <p:spPr>
          <a:xfrm>
            <a:off x="2514600" y="51816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Linear</a:t>
            </a:r>
            <a:endParaRPr lang="en-US" sz="750" noProof="1"/>
          </a:p>
        </p:txBody>
      </p:sp>
      <p:sp>
        <p:nvSpPr>
          <p:cNvPr id="83" name="n-hgalpha-top"/>
          <p:cNvSpPr/>
          <p:nvPr/>
        </p:nvSpPr>
        <p:spPr>
          <a:xfrm flipV="1">
            <a:off x="3365500" y="5105400"/>
            <a:ext cx="508000" cy="139700"/>
          </a:xfrm>
          <a:prstGeom prst="triangle">
            <a:avLst/>
          </a:prstGeom>
          <a:solidFill>
            <a:srgbClr val="F6DAD6"/>
          </a:solidFill>
          <a:ln w="12700">
            <a:solidFill>
              <a:srgbClr val="262626"/>
            </a:solidFill>
          </a:ln>
        </p:spPr>
      </p:sp>
      <p:sp>
        <p:nvSpPr>
          <p:cNvPr id="84" name="n-hgalpha-bot"/>
          <p:cNvSpPr/>
          <p:nvPr/>
        </p:nvSpPr>
        <p:spPr>
          <a:xfrm>
            <a:off x="3365500" y="5245100"/>
            <a:ext cx="508000" cy="139700"/>
          </a:xfrm>
          <a:prstGeom prst="triangle">
            <a:avLst/>
          </a:prstGeom>
          <a:solidFill>
            <a:srgbClr val="F6DAD6"/>
          </a:solidFill>
          <a:ln w="12700">
            <a:solidFill>
              <a:srgbClr val="262626"/>
            </a:solidFill>
          </a:ln>
        </p:spPr>
      </p:sp>
      <p:sp>
        <p:nvSpPr>
          <p:cNvPr id="85" name="n-hgbeta-top"/>
          <p:cNvSpPr/>
          <p:nvPr/>
        </p:nvSpPr>
        <p:spPr>
          <a:xfrm flipV="1">
            <a:off x="4127500" y="5105400"/>
            <a:ext cx="508000" cy="139700"/>
          </a:xfrm>
          <a:prstGeom prst="triangle">
            <a:avLst/>
          </a:prstGeom>
          <a:solidFill>
            <a:srgbClr val="CBE6CF"/>
          </a:solidFill>
          <a:ln w="12700">
            <a:solidFill>
              <a:srgbClr val="262626"/>
            </a:solidFill>
          </a:ln>
        </p:spPr>
      </p:sp>
      <p:sp>
        <p:nvSpPr>
          <p:cNvPr id="86" name="n-hgbeta-bot"/>
          <p:cNvSpPr/>
          <p:nvPr/>
        </p:nvSpPr>
        <p:spPr>
          <a:xfrm>
            <a:off x="4127500" y="5245100"/>
            <a:ext cx="508000" cy="139700"/>
          </a:xfrm>
          <a:prstGeom prst="triangle">
            <a:avLst/>
          </a:prstGeom>
          <a:solidFill>
            <a:srgbClr val="CBE6CF"/>
          </a:solidFill>
          <a:ln w="12700">
            <a:solidFill>
              <a:srgbClr val="262626"/>
            </a:solidFill>
          </a:ln>
        </p:spPr>
      </p:sp>
      <p:sp>
        <p:nvSpPr>
          <p:cNvPr id="87" name="n-gate"/>
          <p:cNvSpPr/>
          <p:nvPr/>
        </p:nvSpPr>
        <p:spPr>
          <a:xfrm>
            <a:off x="4978400" y="51816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5875">
            <a:solidFill>
              <a:srgbClr val="C00000"/>
            </a:solidFill>
          </a:ln>
        </p:spPr>
      </p:sp>
      <p:sp>
        <p:nvSpPr>
          <p:cNvPr id="88" name="t-gate"/>
          <p:cNvSpPr txBox="1"/>
          <p:nvPr/>
        </p:nvSpPr>
        <p:spPr>
          <a:xfrm>
            <a:off x="4978400" y="51816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Linear </a:t>
            </a:r>
            <a:r>
              <a:rPr lang="en-US" sz="750" noProof="1" b="1">
                <a:solidFill>
                  <a:srgbClr val="C00000"/>
                </a:solidFill>
                <a:latin typeface="黑体"/>
                <a:ea typeface="黑体"/>
              </a:rPr>
              <a:t>②</a:t>
            </a:r>
            <a:endParaRPr lang="en-US" sz="750" noProof="1"/>
          </a:p>
        </p:txBody>
      </p:sp>
      <p:sp>
        <p:nvSpPr>
          <p:cNvPr id="89" name="a-gate-mul"/>
          <p:cNvSpPr/>
          <p:nvPr>
            <p:extLst>
              <p:ext uri="{F5677B7D-0D2A-4D9B-9A5C-6D8D7D0E5A5D}">
                <pptd:line encoding="base64url">eyJ2aWV3Qm94IjpbMjMyLDE0N10sInBvaW50cyI6IjIzMiwxNDcgMjMyLDAgMCwwIiwiY3VydmUiOiJzaGFycCJ9</pptd:line>
              </p:ext>
            </p:extLst>
          </p:nvPr>
        </p:nvSpPr>
        <p:spPr>
          <a:xfrm>
            <a:off x="2387600" y="3314700"/>
            <a:ext cx="2946400" cy="1866900"/>
          </a:xfrm>
          <a:custGeom>
            <a:avLst/>
            <a:gdLst/>
            <a:ahLst/>
            <a:cxnLst/>
            <a:rect l="l" t="t" r="r" b="b"/>
            <a:pathLst>
              <a:path w="232" h="147">
                <a:moveTo>
                  <a:pt x="232" y="147"/>
                </a:moveTo>
                <a:lnTo>
                  <a:pt x="232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90" name="a-bus"/>
          <p:cNvSpPr/>
          <p:nvPr>
            <p:extLst>
              <p:ext uri="{F5677B7D-0D2A-4D9B-9A5C-6D8D7D0E5A5D}">
                <pptd:line encoding="base64url">eyJ2aWV3Qm94IjpbMzMyLDJdLCJwb2ludHMiOiIwLDEgMzMyLDEiLCJjdXJ2ZSI6InNoYXJwIn0</pptd:line>
              </p:ext>
            </p:extLst>
          </p:nvPr>
        </p:nvSpPr>
        <p:spPr>
          <a:xfrm>
            <a:off x="1130300" y="5384800"/>
            <a:ext cx="4216400" cy="25400"/>
          </a:xfrm>
          <a:custGeom>
            <a:avLst/>
            <a:gdLst/>
            <a:ahLst/>
            <a:cxnLst/>
            <a:rect l="l" t="t" r="r" b="b"/>
            <a:pathLst>
              <a:path w="332" h="2">
                <a:moveTo>
                  <a:pt x="0" y="1"/>
                </a:moveTo>
                <a:lnTo>
                  <a:pt x="332" y="1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91" name="a-in"/>
          <p:cNvSpPr/>
          <p:nvPr>
            <p:extLst>
              <p:ext uri="{F5677B7D-0D2A-4D9B-9A5C-6D8D7D0E5A5D}">
                <pptd:line encoding="base64url">eyJ2aWV3Qm94IjpbMiw3XSwicG9pbnRzIjoiMSw3IDEsMCIsImN1cnZlIjoic2hhcnAifQ</pptd:line>
              </p:ext>
            </p:extLst>
          </p:nvPr>
        </p:nvSpPr>
        <p:spPr>
          <a:xfrm>
            <a:off x="3162300" y="5410200"/>
            <a:ext cx="25400" cy="88900"/>
          </a:xfrm>
          <a:custGeom>
            <a:avLst/>
            <a:gdLst/>
            <a:ahLst/>
            <a:cxnLst/>
            <a:rect l="l" t="t" r="r" b="b"/>
            <a:pathLst>
              <a:path w="2" h="7">
                <a:moveTo>
                  <a:pt x="1" y="7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92" name="param-label"/>
          <p:cNvSpPr txBox="1"/>
          <p:nvPr/>
        </p:nvSpPr>
        <p:spPr>
          <a:xfrm>
            <a:off x="6197600" y="24511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参数、FLOPs 与昇腾诉求</a:t>
            </a:r>
            <a:endParaRPr lang="en-US" sz="1200" noProof="1"/>
          </a:p>
        </p:txBody>
      </p:sp>
      <p:graphicFrame>
        <p:nvGraphicFramePr>
          <p:cNvPr id="93" name="param-table"/>
          <p:cNvGraphicFramePr>
            <a:graphicFrameLocks noGrp="1"/>
          </p:cNvGraphicFramePr>
          <p:nvPr/>
        </p:nvGraphicFramePr>
        <p:xfrm>
          <a:off x="6197600" y="2832100"/>
          <a:ext cx="5537200" cy="2489200"/>
        </p:xfrm>
        <a:graphic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q/k/v 投影 + ShortConv（k=4）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x∈R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7168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 → q,k∈R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H·dk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，v∈R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2d·H(2dk+dv)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遗忘门 z + 写入强度 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低秩 d→r→H·dk；d→H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≈2d·r（占比小）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 GEMM + σ/exp 逐元素 → Vector 核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有界衰减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黑体"/>
                          <a:ea typeface="黑体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g = −5·σ(e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A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·z) ∈(−5, 0)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O(H·dk)，逐元素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纯 Vector；使对角块可上 CUBE，消除 position-pair 标量路径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Chunk 内注意力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A = Tril((Q⊙Γ)(K/Γ)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⊤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)；C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2C(dk+dv)，与 L 无关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全稠密 matmul → CUBE 占比↑（原对角块为 chunk 内主要瓶颈）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跨 chunk 状态传播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S ∈ 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dk×dv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，chunk 间串行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小矩阵 + 串行依赖 → 并行度低，需 kernel 内流水掩盖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全秩输出门 + 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黑体"/>
                          <a:ea typeface="黑体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g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: d×H·dv；W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: H·dv×d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4d·H·dv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新增标准稠密 GEMM → CUBE 友好；参数量 +d·H·dv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4" name="param-note"/>
          <p:cNvSpPr txBox="1"/>
          <p:nvPr/>
        </p:nvSpPr>
        <p:spPr>
          <a:xfrm>
            <a:off x="6197600" y="53975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显存：KDA 每层状态 H·dk·dv×2B（定长，与 L 无关）；24 层 MLA 的 KV Cache 随 L 线性增长，1M 上下文下为主要显存项。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注：d = 7168、H = 96（报告 Table 1）；dk / dv 以 checkpoint config 为准；FLOPs 按 chunkwise 公式推算。</a:t>
            </a:r>
            <a:endParaRPr lang="en-US" sz="750" noProof="1"/>
          </a:p>
        </p:txBody>
      </p:sp>
      <p:sp>
        <p:nvSpPr>
          <p:cNvPr id="95" name="dev-label"/>
          <p:cNvSpPr txBox="1"/>
          <p:nvPr/>
        </p:nvSpPr>
        <p:spPr>
          <a:xfrm>
            <a:off x="558800" y="55245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96" name="dev-bullets"/>
          <p:cNvSpPr txBox="1"/>
          <p:nvPr/>
        </p:nvSpPr>
        <p:spPr>
          <a:xfrm>
            <a:off x="558800" y="58039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：FlashKDA 为 CUTLASS 实现（CUDA 专用），昇腾需对等 Ascend C 融合算子 —— chunkwise prefill（intra-chunk matmul 上 CUBE + 跨 chunk 状态传播流水交叠）、fused recurrent decode；vllm-ascend 现状为 Triton 版（ops/triton/kda/，12+ kernel，约 3,000 行），CUBE 调度深度受限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门控融合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：NPU recurrent kernel 未融合衰减门计算（vllm-ascend gate.py 需 host 侧 apply_kda_gate 预处理），safe-gate 路径应下沉融合进 kernel，消除显存往返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：vllm-ascend 已注册 kimi_k3 模型适配；待补 KDA state 的 MTP 投机解码回滚（只缓存投影输入、片上重建）、KDA checkpoint 与 MLA KV 统一分页的 prefix cache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：竞争点从“并行度”转向“状态管理”——大容量片上状态驻留 + 高效小矩阵乘 + Vector/Cube 异构流水；稠密化使 CUBE 占比持续上升</a:t>
            </a:r>
            <a:endParaRPr lang="en-US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</Slides>
</Properties>
</file>

<file path=docProps/core.xml><?xml version="1.0" encoding="utf-8"?>
<cp:coreProperties xmlns:dc="http://purl.org/dc/elements/1.1/" xmlns:cp="http://schemas.openxmlformats.org/package/2006/metadata/core-properties">
  <dc:title>Kimi K3 模型结构分析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