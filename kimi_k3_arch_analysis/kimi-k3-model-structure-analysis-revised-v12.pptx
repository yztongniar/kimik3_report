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91a16f6ef44e46" /><Relationship Type="http://schemas.openxmlformats.org/officeDocument/2006/relationships/extended-properties" Target="/docProps/app.xml" Id="R154bb166faf84c49" /><Relationship Type="http://schemas.openxmlformats.org/officeDocument/2006/relationships/officeDocument" Target="/ppt/presentation.xml" Id="R74282bddc30742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c5897faee4449e"/>
  </p:sldMasterIdLst>
  <p:notesMasterIdLst>
    <p:notesMasterId xmlns:r="http://schemas.openxmlformats.org/officeDocument/2006/relationships" r:id="R4ec78986d7ca4aad"/>
  </p:notesMasterIdLst>
  <p:sldIdLst>
    <p:sldId xmlns:r="http://schemas.openxmlformats.org/officeDocument/2006/relationships" id="256" r:id="R41845c9f98a842bc"/>
    <p:sldId xmlns:r="http://schemas.openxmlformats.org/officeDocument/2006/relationships" id="257" r:id="R65364e6628114a2e"/>
    <p:sldId xmlns:r="http://schemas.openxmlformats.org/officeDocument/2006/relationships" id="258" r:id="R66b1371d13394e7f"/>
    <p:sldId xmlns:r="http://schemas.openxmlformats.org/officeDocument/2006/relationships" id="259" r:id="R0ca4b88fbc9e4a65"/>
    <p:sldId xmlns:r="http://schemas.openxmlformats.org/officeDocument/2006/relationships" id="260" r:id="Rd11cf68ca8ed4251"/>
    <p:sldId xmlns:r="http://schemas.openxmlformats.org/officeDocument/2006/relationships" id="261" r:id="R14d32d9655fb4e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f59c670213409c" /><Relationship Type="http://schemas.openxmlformats.org/officeDocument/2006/relationships/slideMaster" Target="/ppt/slideMasters/slideMaster1.xml" Id="R6dc5897faee4449e" /><Relationship Type="http://schemas.openxmlformats.org/officeDocument/2006/relationships/notesMaster" Target="/ppt/notesMasters/notesMaster1.xml" Id="R4ec78986d7ca4aad" /><Relationship Type="http://schemas.openxmlformats.org/officeDocument/2006/relationships/presProps" Target="/ppt/presProps.xml" Id="R05d2e438fc2049a8" /><Relationship Type="http://schemas.openxmlformats.org/officeDocument/2006/relationships/viewProps" Target="/ppt/viewProps.xml" Id="R76c9a389ab5a4ed4" /><Relationship Type="http://schemas.openxmlformats.org/officeDocument/2006/relationships/tableStyles" Target="/ppt/tableStyles.xml" Id="R400293a0d7584cde" /><Relationship Type="http://schemas.openxmlformats.org/officeDocument/2006/relationships/slide" Target="/ppt/slides/slide1.xml" Id="R41845c9f98a842bc" /><Relationship Type="http://schemas.openxmlformats.org/officeDocument/2006/relationships/slide" Target="/ppt/slides/slide2.xml" Id="R65364e6628114a2e" /><Relationship Type="http://schemas.openxmlformats.org/officeDocument/2006/relationships/slide" Target="/ppt/slides/slide3.xml" Id="R66b1371d13394e7f" /><Relationship Type="http://schemas.openxmlformats.org/officeDocument/2006/relationships/slide" Target="/ppt/slides/slide4.xml" Id="R0ca4b88fbc9e4a65" /><Relationship Type="http://schemas.openxmlformats.org/officeDocument/2006/relationships/slide" Target="/ppt/slides/slide5.xml" Id="Rd11cf68ca8ed4251" /><Relationship Type="http://schemas.openxmlformats.org/officeDocument/2006/relationships/slide" Target="/ppt/slides/slide6.xml" Id="R14d32d9655fb4e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104d06f1174f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5ab1eee1414c3f" /><Relationship Type="http://schemas.openxmlformats.org/officeDocument/2006/relationships/notesMaster" Target="/ppt/notesMasters/notesMaster1.xml" Id="R11294b00f70a4a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5a2df595bb4a92" /><Relationship Type="http://schemas.openxmlformats.org/officeDocument/2006/relationships/notesMaster" Target="/ppt/notesMasters/notesMaster1.xml" Id="R728dce27deb947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55100d395d41a2" /><Relationship Type="http://schemas.openxmlformats.org/officeDocument/2006/relationships/notesMaster" Target="/ppt/notesMasters/notesMaster1.xml" Id="R78531c882d9f41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c3d74ab03e48d8" /><Relationship Type="http://schemas.openxmlformats.org/officeDocument/2006/relationships/notesMaster" Target="/ppt/notesMasters/notesMaster1.xml" Id="R4817d0665b494f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965b66dda24aa2" /><Relationship Type="http://schemas.openxmlformats.org/officeDocument/2006/relationships/notesMaster" Target="/ppt/notesMasters/notesMaster1.xml" Id="Rfb5b098c48324a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855fae7cfb4f63" /><Relationship Type="http://schemas.openxmlformats.org/officeDocument/2006/relationships/notesMaster" Target="/ppt/notesMasters/notesMaster1.xml" Id="R5828a27548c84e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 README 的 draw_kda_arch.py 与技术报告 Figure 2/§2.1.1 校准；参数以开源 config 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图示按技术报告 §2.1.2/§2.5 校准；vLLM-Ascend Kimi-K3 指南仅将 A3 W4A8 作为当前部署基线，A5为亲和性评估。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图示按技术报告 §5.1 与 vllm-ascend csrc/attention/chunk_kda_fwd/README.md 校准；CUBE/Vector 划分是 NPU 实现假设，需实测确认。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图示按技术报告 §5.4.2、vLLM use_kda_recoverssm 与 Kimi-K3 DSpark 部署说明校准。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图示按技术报告 §2.2/§5.4.2 与 vllm-ascend attn_res_fwd README 校准；A3 支持状态需要专项 benchmark。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图示按技术报告 §2.3/§5.4.2 与 Kimi-K3 A3 W4A8 指南校准；1.49TB 是权重存储需求，不等于运行时 HBM。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17c4b124ab4775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f5408459f74664" /><Relationship Type="http://schemas.openxmlformats.org/officeDocument/2006/relationships/slideLayout" Target="/ppt/slideLayouts/slideLayout1.xml" Id="R49090b3377f5466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090b3377f54661"/>
  </p:sldLayoutIdLst>
</p:sldMaster>
</file>

<file path=ppt/slideMasters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55c64e84e45fb" /><Relationship Type="http://schemas.openxmlformats.org/officeDocument/2006/relationships/image" Target="/ppt/media/image.png" Id="R8d91dbd837164a4b" /><Relationship Type="http://schemas.openxmlformats.org/officeDocument/2006/relationships/notesSlide" Target="/ppt/notesSlides/notesSlide1.xml" Id="R3fbbed3adba648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a65984f66432f" /><Relationship Type="http://schemas.openxmlformats.org/officeDocument/2006/relationships/image" Target="/ppt/media/image2.png" Id="R8753fa5b443743f6" /><Relationship Type="http://schemas.openxmlformats.org/officeDocument/2006/relationships/notesSlide" Target="/ppt/notesSlides/notesSlide2.xml" Id="R20d81b762b5f4d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a0f0a18b44e8f" /><Relationship Type="http://schemas.openxmlformats.org/officeDocument/2006/relationships/image" Target="/ppt/media/image3.png" Id="R0e899c3be4004841" /><Relationship Type="http://schemas.openxmlformats.org/officeDocument/2006/relationships/notesSlide" Target="/ppt/notesSlides/notesSlide3.xml" Id="R7808072e9d524c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7fcf7dd7f4ae8" /><Relationship Type="http://schemas.openxmlformats.org/officeDocument/2006/relationships/image" Target="/ppt/media/image4.png" Id="R633af67b6ed04854" /><Relationship Type="http://schemas.openxmlformats.org/officeDocument/2006/relationships/notesSlide" Target="/ppt/notesSlides/notesSlide4.xml" Id="R522d51d166b24f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043516a3448c7" /><Relationship Type="http://schemas.openxmlformats.org/officeDocument/2006/relationships/image" Target="/ppt/media/image5.png" Id="R7a8a3c8ea8f34e84" /><Relationship Type="http://schemas.openxmlformats.org/officeDocument/2006/relationships/notesSlide" Target="/ppt/notesSlides/notesSlide5.xml" Id="R218bb7cc2d6a45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5db01b95b4549" /><Relationship Type="http://schemas.openxmlformats.org/officeDocument/2006/relationships/image" Target="/ppt/media/image6.png" Id="R8b86b7d7d4d94ad0" /><Relationship Type="http://schemas.openxmlformats.org/officeDocument/2006/relationships/notesSlide" Target="/ppt/notesSlides/notesSlide6.xml" Id="R4818dba2839e48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96F219F-D88C-49C2-A517-08D3564C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77800"/>
            <a:ext cx="6654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§2.1.1 / §5.1；vllm / vllm-ascend 代码仓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48C2D1-5F78-4D12-A0F4-21C53FE8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Kimi Delta Attention（KDA）：逐通道遗忘门 × Delta 规则的线性注意力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99085C38-FB8B-434F-AEB5-C6D272AC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0FC6E042-18E6-4BB0-9E02-94705CDB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9DE85440-6D33-4834-AE1A-694247E6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D1A5D935-B05B-48C2-BC11-348B3BA7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结构定位：开源 config 校准为 93 层注意力（69 KDA + 24 MLA）：23 个模式块×(3 KDA+1 MLA)再加末端 Gated MLA；每层后接 Stable LatentMoE。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数值稳定：g=gmin·σ(e^A·z)，gmin=−5；16-token tile 的累计 log-decay∈(−80,0)，BF16 可保持稳定。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推理负载：prefill 在 C=64 chunk 内并行，decode 以 S 原地更新；若 dk=dv=128，单层状态约3.0MB、69层约217MB，状态不随 L 增长。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硬件含义：全秩门控引入 d→d GEMM，CUBE 占比上升；Vector 的 gate/cumsum/归一化需与 CUBE 片上流水。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879ACEB0-12B5-4DC1-932C-23A85215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254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模块结构与数据流</a:t>
            </a:r>
            <a:endParaRPr sz="1200"/>
          </a:p>
        </p:txBody>
      </p:sp>
      <p:sp>
        <p:nvSpPr>
          <p:cNvPr id="9" name="legend-box">
            <a:extLst xmlns:a="http://schemas.openxmlformats.org/drawingml/2006/main">
              <a:ext uri="{FF2B5EF4-FFF2-40B4-BE49-F238E27FC236}">
                <a16:creationId xmlns:a16="http://schemas.microsoft.com/office/drawing/2014/main" id="{115F7F4E-22E9-494E-A86F-B0DC2970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000" y="2324100"/>
            <a:ext cx="127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00000"/>
            </a:solidFill>
          </a:ln>
        </p:spPr>
      </p:sp>
      <p:sp>
        <p:nvSpPr>
          <p:cNvPr id="10" name="legend-text">
            <a:extLst xmlns:a="http://schemas.openxmlformats.org/drawingml/2006/main">
              <a:ext uri="{FF2B5EF4-FFF2-40B4-BE49-F238E27FC236}">
                <a16:creationId xmlns:a16="http://schemas.microsoft.com/office/drawing/2014/main" id="{C63E1D15-0143-4EB6-BC09-E04A6E63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800" y="22860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红框 = K3 相对 Kimi Linear 的改动</a:t>
            </a:r>
            <a:endParaRPr sz="800"/>
          </a:p>
        </p:txBody>
      </p:sp>
      <p:pic>
        <p:nvPicPr>
          <p:cNvPr id="28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91dbd837164a4b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param-label">
            <a:extLst xmlns:a="http://schemas.openxmlformats.org/drawingml/2006/main">
              <a:ext uri="{FF2B5EF4-FFF2-40B4-BE49-F238E27FC236}">
                <a16:creationId xmlns:a16="http://schemas.microsoft.com/office/drawing/2014/main" id="{FA5536D1-6729-4CB2-B9C1-1EFF1A20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30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q/k/v 投影 + ShortConv（k=4）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7168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→ q,k∈R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H·dk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，v∈R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2d·H(2dk+dv)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稠密 GEMM → CUBE；decode 退化为 GEMV，访存受限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遗忘门 z + 写入强度 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低秩 d→r→H·dk；d→H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≈2d·r（占比小）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 GEMM + σ/exp 逐元素 → Vector 核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有界衰减 </a:t>
                      </a:r>
                      <a:r>
                        <a:rPr sz="80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 = −5·σ(e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·z) ∈(−5, 0)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O(H·dk)，逐元素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 Vector；使对角块可上 CUBE，消除 position-pair 标量路径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Chunk 内注意力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= Tril((Q⊙Γ)(K/Γ)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⊤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)；C = 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2C(dk+dv)，与 L 无关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全稠密 matmul → CUBE 占比↑（原对角块为 chunk 内主要瓶颈）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 chunk 状态传播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 ∈ 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dk×dv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，chunk 间串行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2·dk·dv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小矩阵 + 串行依赖 → 并行度低，需 kernel 内流水掩盖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S：69层≈217MB/序列*；MLA 24.6KB/token，1M≈24.6GB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KDA主项≈2.1M FLOPs/head/chunk（C=64，dk=dv=128*）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CUBE：chunk matmul；Vector：gate/cumsum/RMSNorm；L1/UB驻留 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>
            <a:extLst xmlns:a="http://schemas.openxmlformats.org/drawingml/2006/main">
              <a:ext uri="{FF2B5EF4-FFF2-40B4-BE49-F238E27FC236}">
                <a16:creationId xmlns:a16="http://schemas.microsoft.com/office/drawing/2014/main" id="{01BB286C-CCE9-498E-B589-A223DAE6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5" name="dev-label">
            <a:extLst xmlns:a="http://schemas.openxmlformats.org/drawingml/2006/main">
              <a:ext uri="{FF2B5EF4-FFF2-40B4-BE49-F238E27FC236}">
                <a16:creationId xmlns:a16="http://schemas.microsoft.com/office/drawing/2014/main" id="{AF3326A2-3196-4A33-9242-EFE583AE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6" name="dev-bullets">
            <a:extLst xmlns:a="http://schemas.openxmlformats.org/drawingml/2006/main">
              <a:ext uri="{FF2B5EF4-FFF2-40B4-BE49-F238E27FC236}">
                <a16:creationId xmlns:a16="http://schemas.microsoft.com/office/drawing/2014/main" id="{660186F6-771A-4190-A040-1BA113B3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算子：kda_gate_cumsum、recurrent_gated_delta_rule_v310；gate 支持 safe_gate/gmin、BSND 与 FP32 中间值。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调度：prefill 走 chunk 64/128 + L1/UB 双缓冲，decode 走状态驻留 + 小窗口 replay；状态池纳入 KV cache 预算。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趋势：KDA 长上下文瓶颈转为状态带宽/同步；验收同时看 CUBE 利用率、Vector overlap、L1 命中率和每 token launch 数。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4012312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5661469-D520-4BDF-A02C-6D55E448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77800"/>
            <a:ext cx="6654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§2.1.2；vllm / vllm-ascend 代码仓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D3AF98-57F3-4F6C-9EE2-F43AAC1F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Gated MLA：NoPE 全局注意力 + 全秩输出门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4847A53F-02CA-415F-B48F-2B46E8A6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AC810317-54E7-4667-9DC0-E6050162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3B3BF091-11A2-42FE-86D6-799EDB76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9854C8D6-29CB-40C7-A849-52F22C1A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结构定位：93 层中 24 层为 Gated MLA；K3 MLA 采用 NoPE，由 KDA 提供位置与 recency，保留全局内容检索。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缓存账本：kv_lora_rank=512、q_lora_rank=1536；仅 cₖᵥ 入 KV cache，24×512×2B=24.6KB/token，1M token≈24.6GB。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推理负载：prefill 受 QKᵀ/AV 的序列长度影响；decode 受 latent page、K/V 重建和 Wo/gate GEMM 影响，NoPE 不含 RoPE 分量。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上线判断：A3 MLA/Prefix Cache/FULL_DECODE_ONLY 已有路径；混合 KDA+MLA 的统一 state-aware cache 仍需框架补齐。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D1E85C84-F26F-42A4-999C-223D5ADB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254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模块结构与数据流</a:t>
            </a:r>
            <a:endParaRPr sz="1200"/>
          </a:p>
        </p:txBody>
      </p:sp>
      <p:sp>
        <p:nvSpPr>
          <p:cNvPr id="9" name="legend-box">
            <a:extLst xmlns:a="http://schemas.openxmlformats.org/drawingml/2006/main">
              <a:ext uri="{FF2B5EF4-FFF2-40B4-BE49-F238E27FC236}">
                <a16:creationId xmlns:a16="http://schemas.microsoft.com/office/drawing/2014/main" id="{59C0C907-FC5C-44D8-90E2-DAA585A9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000" y="2324100"/>
            <a:ext cx="127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00000"/>
            </a:solidFill>
          </a:ln>
        </p:spPr>
      </p:sp>
      <p:sp>
        <p:nvSpPr>
          <p:cNvPr id="10" name="legend-text">
            <a:extLst xmlns:a="http://schemas.openxmlformats.org/drawingml/2006/main">
              <a:ext uri="{FF2B5EF4-FFF2-40B4-BE49-F238E27FC236}">
                <a16:creationId xmlns:a16="http://schemas.microsoft.com/office/drawing/2014/main" id="{DB3E9720-77BF-4D7B-9F8B-12456432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800" y="22860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红框 = K3 相对标准 MLA（K2）的改动</a:t>
            </a:r>
            <a:endParaRPr sz="800"/>
          </a:p>
        </p:txBody>
      </p:sp>
      <p:pic>
        <p:nvPicPr>
          <p:cNvPr id="28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3fa5b443743f6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param-label">
            <a:extLst xmlns:a="http://schemas.openxmlformats.org/drawingml/2006/main">
              <a:ext uri="{FF2B5EF4-FFF2-40B4-BE49-F238E27FC236}">
                <a16:creationId xmlns:a16="http://schemas.microsoft.com/office/drawing/2014/main" id="{055F6BF9-D868-4DEF-99AB-A3CFC35B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30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隐向量下投影 W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7168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→ c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稠密 GEMM → CUBE；decode 退化为 GEMV，访存受限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Q/K/V 投影与上投影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q: d→H·dh；k,v: dc→H·dh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2d·H·dh + 4dc·H·dh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decode 可吸收（absorb）上投影、直接以 c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计算，降低 KV 读取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全局注意力 </a:t>
                      </a:r>
                      <a:r>
                        <a:rPr sz="80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q,k,v∈R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H·dh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；L 任意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4L·H·dh，随 L 线性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 matmul + Vector softmax；无 RoPE → 省去旋转 kernel 与 sin/cos 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KV Cache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：dc×2B / token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随 L 线性增长，1M 上下文为主要显存项；NoPE 后单 token 缓存 &lt; 标准 MLA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全秩输出门 </a:t>
                      </a:r>
                      <a:r>
                        <a:rPr sz="80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: d×H·dh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新增标准稠密 GEMM → CUBE 友好；应与注意力输出融合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 cₖᵥ 入 KV：24.6KB/token，1M≈24.6GB；KDA 状态≈217MB/序列（config 假设）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压缩/重建≈2d·dc；QKᵀ/AV 随 L 线性增长；gate≈2d²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CUBE: QKV/up-proj/Wo/gate；Vector: sigmoid/scale；KV page 与 KDA checkpoint 统一回收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>
            <a:extLst xmlns:a="http://schemas.openxmlformats.org/drawingml/2006/main">
              <a:ext uri="{FF2B5EF4-FFF2-40B4-BE49-F238E27FC236}">
                <a16:creationId xmlns:a16="http://schemas.microsoft.com/office/drawing/2014/main" id="{106BB118-80B1-482F-BEA3-E266CD8C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5" name="dev-label">
            <a:extLst xmlns:a="http://schemas.openxmlformats.org/drawingml/2006/main">
              <a:ext uri="{FF2B5EF4-FFF2-40B4-BE49-F238E27FC236}">
                <a16:creationId xmlns:a16="http://schemas.microsoft.com/office/drawing/2014/main" id="{2F2EA3FE-17EF-4F91-B298-021E0D1E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6" name="dev-bullets">
            <a:extLst xmlns:a="http://schemas.openxmlformats.org/drawingml/2006/main">
              <a:ext uri="{FF2B5EF4-FFF2-40B4-BE49-F238E27FC236}">
                <a16:creationId xmlns:a16="http://schemas.microsoft.com/office/drawing/2014/main" id="{7DC0A6EA-D7BD-4254-B0E4-C3294355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框架：AscendMLABackend、MLA no-rope cache、PCP/DCP；KDA-aware prefix cache 同时索引 latent page 与 state checkpoint。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部署：A3 指南固定 TP16/DP4/EP64、max_num_seqs=16、max_num_batched_tokens=8192、FULL_DECODE_ONLY；需按 prefill/decode 分开压测。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缺口：当前 KVPP 主要覆盖非混合 MLA；KDA state checkpoint、MLA page、AttnRes bank 的统一回收与跨 PP/TP 生命周期仍需实现。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趋势：先建立可观测的 bytes/token、HCCL time、tokens/s 和 tail latency，再评估 A5 resident-bank 优势。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2750722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90E87FCE-1534-43B8-AAF0-595270B4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§5.1.1；FlashKDA（MoonshotAI）；vllm-ascend ops/triton/kda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8F8B91-6E7B-415D-886C-1AC99033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FlashKDA：chunkwise 训练 / Prefill 融合算子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145F3ECB-77C7-40B0-B6EB-77E81A2C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6328A4B6-53FC-4BD0-8072-01F36E11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61CA74B6-78D3-4DDD-A73A-074F0A4C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20761175-B2A7-41CC-8F15-3CD7F65B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FlashKDA 把 chunk 内 matmul 与跨 chunk 状态递归流水化：CUBE 处理 A·V，Vector 处理衰减、cumsum 和小矩阵更新。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代码约束：chunk_size=64/128；K/V=128（V 可到256）；支持 raw/activated log gate、safe_gate 与最多1024条逻辑序列。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量化账本：dk=dv=128 时，单 head、单 C=64 chunk 的 intra/state 主项均约2.1M FLOPs；递归只需一次 state handoff。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昇腾路线：当前以 Triton 参考路径为主；A3/A5 Ascend C/CATLASS 融合 kernel 需分别 benchmark 验收。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A8EE2439-7937-47D8-AC86-94C0C552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330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计算 / 状态传播调度交叠</a:t>
            </a:r>
            <a:endParaRPr sz="1200"/>
          </a:p>
        </p:txBody>
      </p:sp>
      <p:pic>
        <p:nvPicPr>
          <p:cNvPr id="24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99c3be4004841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BAABADC4-107D-40F3-B8F9-FA7F917B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26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chunk 内注意力 A·Ṽ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[C,dk]×[dk,C]×[C,dv]，C = 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2C(dk+dv)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稠密 matmul → CUBE；典型 tile 64×128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 chunk 读取 (Γ⊙Q)S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[C,dk]×[dk,dv]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小矩阵乘、CUBE 利用率低 → 与 chunk 内计算双缓冲交叠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状态更新 S←MS+K̄ᵀṼ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[dk,dk]×[dk,dv]；[dk,C]×[C,dv]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≈3dk·dv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串行依赖；S 驻留片上（dk·dv×2B / head）避免 HBM 往返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累积衰减 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[C,dk] / head，log 空间 cumsum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O(C·dk)，逐元素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 Vector；与 matmul 构成异构流水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UT 变换（W / U）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[C,C] 三角求逆 + 小 matmul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O(C·dk)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小尺寸 matmul → CUBE 效率受限，宜融合进主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S≈32KB/head；69层≈217MB*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intra/state≈2.1M FLOPs/head/chunk（C=64）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CUBE：A·V；Vector：decay/mask；chunk 64/128；L1/UB双缓冲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1F3E0A12-5F6A-4E9C-BF6B-1092B147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BB194ED1-FF07-4EBF-9BC1-3B452C76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C5788FCB-20AA-4803-B0C7-890EA120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算子：把 gate、prepare、post-Wu、FwdH、Finalize 合并进单个物理 L0；避免 Python/多 L0 staging。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运行时：暴露 initial_state/final_state/gk，支持最多1024逻辑序列和 BSND layout；prefill/decode 采用不同 tiling。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趋势：以 A3/A5 分别 benchmark；验收项包括 2.1M FLOPs/head/chunk 的有效吞吐、CUBE/Vector overlap、L1 命中率和 HBM 往返。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5363796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C4144F33-DE17-4AB2-A4B7-64B46B78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§5.4.2（KDA）；ReplaySSM [25]；vllm-ascend ops/triton/kda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6DC90A-6CDB-4BBC-95D6-08CC0548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KDA Decoding：可回滚的投机解码融合递归算子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21AD9341-B110-46D3-8453-169C0C9D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0F110715-02E2-4FFC-A28A-0C318490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977AA15F-D33C-4064-B010-2130F521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DC13E33E-2CC9-4FDC-B14D-74870061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KDA decode 将卷积、归一化、门控、递归状态和输出投影合并，减少每 token 的 kernel launch 与状态往返。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RecoverSSM：拒绝的 draft token 只回滚到已验证位置的 S；状态快照必须与 speculative block 绑定，避免重复重算。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推理协同：DSpark 使用 7-token speculative window（Block5 使用5）；vLLM upstream 通过 use_kda_recoverssm 恢复 K3 状态。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昇腾诉求：FULL_DECODE_ONLY 固化 decode shape；D=4 快照约24MB/layer/step，片上 SRAM 决定 replay window。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A8F9BC74-2126-40C2-8D20-6571CB6B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融合算子构成与状态回滚</a:t>
            </a:r>
            <a:endParaRPr sz="1200"/>
          </a:p>
        </p:txBody>
      </p:sp>
      <p:pic>
        <p:nvPicPr>
          <p:cNvPr id="24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af67b6ed04854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ACBD8D32-CEC6-4A74-B790-4D31AA25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26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短卷积（causal，k=4）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[B,H,dk]×4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≈4dk·H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小卷积 → Vector；独立 kernel 不划算，必须融合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门控（safe-gate）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 = −5·σ(e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·z)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O(H·dk)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 Vector；当前 NPU kernel 未融合（host 侧预处理，多一次显存往返）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KDA 递归（rank-1 更新）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S: [H,dk,dv]，逐 token 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≈3H·dk·dv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小矩阵、并行度仅 B×H 维 → 状态驻留片上是关键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状态重建（replay）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 个草稿的投影输入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D×3H·dk·dv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片上重建，免去 D 份状态快照的 HBM 读写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完整状态≈3.0MB/layer（config 假设）；D=4 快照读写约24MB/layer/step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replay≈D×3Hdkdv；投影输入缓存远小于 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片上 replay；HBM 仅 checkpoint/flush；DSpark 7/5 token 与 FULL_DECODE_ONLY 需联调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7AEE0410-6469-4019-9E34-63336FC2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A4D27E31-69E2-40E9-A7F0-00A9E5FC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20DAF891-2DBA-4D17-B603-4C5BD03E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框架：vLLM cache.use_kda_recoverssm 与 DSpark 拒绝回滚打通；snapshot 粒度与 speculative block 对齐。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图编译：FULL_DECODE_ONLY ACL Graph 固定 decode shapes；7-token/5-token draft 分别评测接受率、replay 开销、24MB 快照流量和 SRAM 占用。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验收：正确性需覆盖部分拒绝、连续拒绝、跨 batch；性能同时看 HBM bytes/token、launch 数和状态恢复耗时。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趋势：从“每 token 重算”转向“状态恢复+小窗口 replay”，但 KDA/MLA/AttnRes 三类状态仍需统一 spec-decode 生命周期。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9633439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45F3A8E-8B71-4BF9-847A-7898D3AB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§2.2 / §5.4.2（Block AttnRes）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08715F-1971-4422-9C3F-9408EE0C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Block AttnRes：两阶段调度与通信融合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9FC65AD3-C993-4FCA-9DF4-460B3304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ED1BBC34-D09D-4F51-810E-148866EB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0F0E4D06-90C6-44B3-9E43-5C072DB8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5B50F457-DBDC-4086-BDF3-D3EAA84E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AttnRes 把 93 层深度残差变成 8 个 block 的可学习检索：w 生成伪查询，α=softmax(w·RMSNorm(b))，输出为各 block 表征的加权和。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复杂度：全量深度注意力 O(L²d)，block 化后 O(Nd)，N≈8；嵌入加 8 个 block 共 9 个表示，约 126–129KB/token（BF16）。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Prefill 可拆为 RS+AG 与 intra-block kernel；decode 用 side stream 交错 inter-block 计算，隐藏 HCCL 延迟。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实现边界：attn_res_fwd 合并 BF16 add、residual mix、RMSNorm、writeback；A5 目标路径，A3 性能需实测。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E4687020-D441-41DB-AD79-F4F071C8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深度维注意力机制与执行调度</a:t>
            </a:r>
            <a:endParaRPr sz="1200"/>
          </a:p>
        </p:txBody>
      </p:sp>
      <p:pic>
        <p:nvPicPr>
          <p:cNvPr id="24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a3c8ea8f34e84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9A8ED285-2D5D-455C-9C07-14DE1CF7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26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Inter-block pass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读 N 个 block 表示 [N,d]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O(N·d)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访存为主；批量读一次；decode 放 side stream 交叠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Intra-block 合并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online softmax merge，[d]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O(d)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融合进 TP all-reduce epilogue → 零独立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伪查询与权重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；α = softmax(w·RMSNorm(b))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O(N·d)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 GEMV → Vector；N = 9，计算量极小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Block 表示缓存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N×d×2B / 序列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96 层 → 9 个表示 ≈126KB（BF16）；显存降一个量级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93层→8个 block 表示 + embedding，共9项；约126–129KB/token（BF16）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O(Nd) 小型深度注意力；主要成本是访存/collective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HCCL RS/AG + AICore epilogue；side stream 隐藏 inter-block；A3 需实测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6725385B-5E7C-437B-8674-0B9F5A1D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E462A25E-948B-49CC-B0B1-DD36EB66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A79F9DAA-3720-4059-8F66-DC9D15D5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算子：attn_res_fwd 合并 BF16 add、bank mix、RMSNorm、writeback；提供 RESIDENT/RELOAD、prefill/decode tiling。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通信：Prefill 用 RS+AG，decode 用 side stream；9 个 block 表示的缓存生命周期需与 PP/TP 切分联动。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验收：A3 先建立 126–129KB/token 的带宽与正确性基线，再测 HCCL overlap；A5 resident-bank 只能作为迁移目标。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趋势：AttnRes 是跨层状态的新访存模式，必须纳入统一 cache manager 和内存碎片监控。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9529088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CFF0169F-42E3-4266-93CB-658066E5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§2.3 / §5.4.2（Stable LatentMoE）；WarpDecode [12]；vllm-ascend quantization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DB46E4-D876-46C2-8BA7-6C0D909C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Stable LatentMoE：隐空间专家计算的 GEMM 优化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D054FD55-3ACF-40D2-BFDC-AC927BD7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8C60752C-1477-42E1-8815-4D8A6A8A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99C286DE-95EA-4128-9CA2-5528AF5A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BA71A1A1-3596-41E8-901A-81DA6D96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LatentMoE 先将 d=7168 压到 latent ℓ=3584，再做 896 路由专家中的 top-16，并叠加2个 shared expert；W↑恢复到 d。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通信变化：EP dispatch/combine 在 latent 域，all-to-all payload 约为 d 域 50%；小 batch decode 仍受专家权重流式读取限制。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参数账本：单 expert 约33.0M 参数；BF16≈66MB，W4≈16.5MB；16 routed 激活权重约1.06/0.26GB。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部署边界：A3 W4A8 为4节点 DP4/TP16/EP64、约1.49TB权重存储；HCCL_BUFFSIZE=1024、EP=2048，存储值不等于运行时 HBM。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B6B9EF23-5399-4CAD-88F0-AC9DA9DB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406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隐空间数据流与 decode kernel 设计</a:t>
            </a:r>
            <a:endParaRPr sz="1200"/>
          </a:p>
        </p:txBody>
      </p:sp>
      <p:pic>
        <p:nvPicPr>
          <p:cNvPr id="24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86b7d7d4d94ad0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5D48B5DB-61FF-45DE-A016-D9BAF7E7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26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95044"/>
                <a:gridCol w="1384300"/>
                <a:gridCol w="885952"/>
                <a:gridCol w="1771904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Router + 下投影融合 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[T,d]×[d, ℓ+E]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2T·d·(ℓ+E)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 GEMM → CUBE；省一次中间结果写回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路由专家 GEMM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每专家 [Te,ℓ]×[ℓ,he]，he = 3072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2k·3ℓ·he，k = 16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隐空间 ℓ = 3584（0.5d）→ 计算量较全宽减半；group GEMM → CUBE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上投影 W↑ + AG 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[T,ℓ]×[ℓ,d] + all-gather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2T·ℓ·d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multimem store 融合 AG → 通信隐藏于计算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Decode 权重流读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每专家 3·ℓ·he 权重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≈0（纯访存）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memory-bound：带宽利用率为唯一指标 → token 中心 warp 设计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 expert≈33.0M 参数；BF16≈66MB，W4≈16.5MB；16 routed≈1.06/0.26GB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Router+down≈2T·d(ℓ+E)；16专家 GEMM≈2T·k·ℓ·he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CUBE: latent/expert GEMM；Vector: top-k/SiTU；EP64 latent all-to-all≈50% payload；W4A8 约1.49TB存储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34098CA7-FE16-4388-A248-07393620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EF64635C-45B2-480E-BA44-B7FB49AF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414B5FD4-D1F3-42FD-AEEC-BF4552E1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算子：latent router、top-k、SiTU-GLU、group GEMM、epilogue combine；token-centric WarpDecode 适配小 batch。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框架：EP64 与 latent-width all-to-all；权重预取、W4A8 解量化、HBM 分片、HCCL buffer 要可观测。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验收：拆分 router、dispatch、expert GEMM、combine 四段测量；报告中的 1.49TB 是存储估算，不能替代运行时 HBM/通信预算。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趋势：通信约减半但权重带宽主导 decode；联合优化 HBM、CUBE、HCCL，并以 payload/token、tokens/s 和尾延迟验收。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52954372"/>
      </p:ext>
    </p:extLst>
  </p:cSld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2026-10-09T22:03:37.2330000Z</dcterms:created>
  <dcterms:modified xsi:type="dcterms:W3CDTF">2026-10-09T22:03:37.2330000Z</dcterms:modified>
</coreProperties>
</file>