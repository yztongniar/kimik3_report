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751a6abb06413e" /><Relationship Type="http://schemas.openxmlformats.org/officeDocument/2006/relationships/extended-properties" Target="/docProps/app.xml" Id="R627ff1705725454e" /><Relationship Type="http://schemas.openxmlformats.org/officeDocument/2006/relationships/officeDocument" Target="/ppt/presentation.xml" Id="R754a4e8d38f146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3c37d1541d4c9b"/>
  </p:sldMasterIdLst>
  <p:notesMasterIdLst>
    <p:notesMasterId xmlns:r="http://schemas.openxmlformats.org/officeDocument/2006/relationships" r:id="R842adff6abf146dd"/>
  </p:notesMasterIdLst>
  <p:sldIdLst>
    <p:sldId xmlns:r="http://schemas.openxmlformats.org/officeDocument/2006/relationships" id="256" r:id="Rfaa1eec5fe654ffc"/>
    <p:sldId xmlns:r="http://schemas.openxmlformats.org/officeDocument/2006/relationships" id="257" r:id="R45f78bf4eb5249e9"/>
    <p:sldId xmlns:r="http://schemas.openxmlformats.org/officeDocument/2006/relationships" id="258" r:id="R01a665747a504adc"/>
    <p:sldId xmlns:r="http://schemas.openxmlformats.org/officeDocument/2006/relationships" id="259" r:id="Rcd504bb1a0944b90"/>
    <p:sldId xmlns:r="http://schemas.openxmlformats.org/officeDocument/2006/relationships" id="260" r:id="R49a4253aa28145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05c600bea4481d" /><Relationship Type="http://schemas.openxmlformats.org/officeDocument/2006/relationships/slideMaster" Target="/ppt/slideMasters/slideMaster1.xml" Id="R283c37d1541d4c9b" /><Relationship Type="http://schemas.openxmlformats.org/officeDocument/2006/relationships/notesMaster" Target="/ppt/notesMasters/notesMaster1.xml" Id="R842adff6abf146dd" /><Relationship Type="http://schemas.openxmlformats.org/officeDocument/2006/relationships/presProps" Target="/ppt/presProps.xml" Id="Rbc9017db30d240e5" /><Relationship Type="http://schemas.openxmlformats.org/officeDocument/2006/relationships/viewProps" Target="/ppt/viewProps.xml" Id="R794ddd0d36474ad1" /><Relationship Type="http://schemas.openxmlformats.org/officeDocument/2006/relationships/tableStyles" Target="/ppt/tableStyles.xml" Id="Rbd70eff252234dde" /><Relationship Type="http://schemas.openxmlformats.org/officeDocument/2006/relationships/slide" Target="/ppt/slides/slide1.xml" Id="Rfaa1eec5fe654ffc" /><Relationship Type="http://schemas.openxmlformats.org/officeDocument/2006/relationships/slide" Target="/ppt/slides/slide2.xml" Id="R45f78bf4eb5249e9" /><Relationship Type="http://schemas.openxmlformats.org/officeDocument/2006/relationships/slide" Target="/ppt/slides/slide3.xml" Id="R01a665747a504adc" /><Relationship Type="http://schemas.openxmlformats.org/officeDocument/2006/relationships/slide" Target="/ppt/slides/slide4.xml" Id="Rcd504bb1a0944b90" /><Relationship Type="http://schemas.openxmlformats.org/officeDocument/2006/relationships/slide" Target="/ppt/slides/slide5.xml" Id="R49a4253aa28145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769c8c80374f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2ff5b09c014ee3" /><Relationship Type="http://schemas.openxmlformats.org/officeDocument/2006/relationships/notesMaster" Target="/ppt/notesMasters/notesMaster1.xml" Id="R21dadf34d33b44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b1e5488d9d4979" /><Relationship Type="http://schemas.openxmlformats.org/officeDocument/2006/relationships/notesMaster" Target="/ppt/notesMasters/notesMaster1.xml" Id="R63d3b097616445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671d189003440f" /><Relationship Type="http://schemas.openxmlformats.org/officeDocument/2006/relationships/notesMaster" Target="/ppt/notesMasters/notesMaster1.xml" Id="R57dff209ba6a43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87759641bc49bb" /><Relationship Type="http://schemas.openxmlformats.org/officeDocument/2006/relationships/notesMaster" Target="/ppt/notesMasters/notesMaster1.xml" Id="R0081d5ab1bd048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f399dc4ba649c2" /><Relationship Type="http://schemas.openxmlformats.org/officeDocument/2006/relationships/notesMaster" Target="/ppt/notesMasters/notesMaster1.xml" Id="Rd7df216ab6b348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【技术讲解稿】这一页的核心不是把 KDA 看成一个“省 KV cache 的注意力”，而是理解它把序列建模改写成了带遗忘门的 delta-rule 状态空间。对单个 head，报告 §2.1.1 给出的状态更新是 S_t=(I-β_t k_t k_t^T)Diag(α_t)S_{t-1}+β_t k_t v_t^T，输出为 o~_t=S_t^T q_t。S_t 的形状是 d_k×d_v，因此它的大小与上下文长度无关。第一项先做按 key channel 的衰减，再做 delta-rule 写入；第二项把当前 token 的 k、v 写入状态。这样 Decode 时不需要再读取历史 K/V，只需要把当前 q、k、v 和上一时刻状态送入递归。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报告中的投影路径也决定了硬件负载。q、k、v 都经过 ShortConv 和 Swish，q、k 还要做 L2Norm；β 是 sigmoid 投影，α 的 logit z 由低秩投影 W↑W↓x 加 head bias 产生。右表第二、三行对应的 gate、exp、逐元素乘和累加属于 Vector 负载，而 q/k/v 投影、chunk 内矩阵乘属于 CUBE 负载。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Kimi K3 最关键的改动是有界衰减。Kimi Linear 使用负 Softplus，log-decay 没有下界，chunk 内的倒数累计衰减会溢出，导致 diagonal tile 需要显式 position-pair 计算。K3 使用 g_t=g_min·Sigmoid(e^A z_t)，固定 g_min=-5，所以每个 retention factor 都大于 e^-5≈6.7×10^-3；16-token tile 的累计 log-decay 落在(-80,0)，倒数仍在 BF16 动态范围内。这个数值约束直接改变了算子映射：对角 tile 和非对角 tile 都可以走 dense Tensor Core/CUBE，消除了单独的 diagonal position-pair 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报告的 chunkwise 形式把计算拆成 inter-chunk 和 intra-chunk 两部分：A_t=Tril((Q⊙Γ)(K/Γ)^T)，输出由衰减后的 Q 乘入状态，再加上 A 乘 pseudo-value。Tril 保证 chunk 内因果性，并保留对角线，因为当前 token 的输出要读取更新后的状态。于是 Prefill 具有 chunk 内并行、chunk 间递归；Decode 变成固定状态的读写。软件实现上，KDA forward 需要融合 gate、cumsum、delta rule、RMSNorm，cache manager 需要管理每请求一份的 state slot。性能验收应看状态 bytes/token、Vector/CUBE overlap、L0/UB 驻留和启动次数，而不能只看理论 FLOPs。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【技术讲解稿】Gated MLA 在 K3 中承担“低频但高容量”的全局内容交互。报告 §2.1 规定每个 block 使用 3 个 KDA 层再接 1 个 Gated MLA，比例为 3:1，backbone 末尾还额外放置一个 Gated MLA，保证最后一次信息混合是全局注意力。这个比例说明 KDA 负责高频的局部与递归混合，MLA 负责周期性的全局重检索。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MLA 的基本因子分解是 c_t=W_c x_t，缓存低维 latent c_t，在计算注意力时再通过上投影重建内容 K/V。右表第一、二行的下投影、Q/K/V 投影和上投影，就是把完整 head-specific KV 换成 latent cache 的过程。这样 KV cache 和跨卡通信量不再随完整 K/V 宽度增长，而是随 latent 宽度增长。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K3 与 K2/K2.5 的差异是：所有 MLA 层都采用 NoPE。报告的解释不是“MLA 不需要位置”，而是把位置和 recency 交给中间的 KDA 层，让 NoPE MLA 专注于全局内容交互。这样扩展到更长上下文时，不需要重新调 RoPE base 或 YaRN。右表第三行的 P=softmax(QK^T/√d_h)、O=PV 仍然是全局注意力主计算，Prefill 是 QK/AV 的 CUBE 密集路径，Decode 则因为 batch 小、矩阵窄而更接近 GEMV 和 cache 带宽受限。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K3 还把 output gate 从低秩形式改成 full-rank 的输入相关门控：y_t=W_o[Sigmoid(W_g x_t)⊙o~_t]。这个 gate 逐 channel 调整全局注意力输出，和 KDA 的 full-rank gate 形成一致的数值与算子接口。报告还指出，为修正 flash attention 的 biased rounding，训练时 attention output 保持 FP32；这会把 output tile 的片上占用翻倍，因此训练 kernel 要让 FP32 output tile 与 KV staging buffer 重叠，而不是与 query tile 争抢空间。对昇腾实现来说，这意味着需要单独评估 FP32 累加、UB/L0 容量、KV staging 深度和 HCCL overlap。运行时不能只复用标准 MLA cache：latent page、KDA state checkpoint、NoPE 分支必须统一纳入 state-aware cache ABI。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【技术讲解稿】FlashKDA 解决的是 KDA 的结构性矛盾：递归状态在 chunk 之间串行，但 GPU/CUBE 希望看到宽而均匀的并行。报告 §5.1.1 明确指出，朴素实现会在 chunk 内并行和跨 chunk 状态传播之间交替，状态传播阶段会让大量计算单元空闲。FlashKDA 用 CUTLASS 实现 chunkwise kernel，把 token-parallel 阶段和 head-parallel recurrence 分开调度，并重叠 chunk 内计算与跨 chunk 状态传播；它同时服务训练和 inference prefill，并作为 flash-linear-attention 的 backend 自动分发。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因此右表第一行 gate+prepare 不是一个普通逐元素 kernel，而是要和 L0/UB staging 合并；第二行 chunk 内 A·V 是 CUBE 主负载，C=64/128 是矩阵 tile 利用率与片上状态容量之间的折中；第三行 handoff 的算术量小但有串行依赖，关键是把 incoming/outgoing state 留在片上，避免为一次 handoff 读写 HBM；第四行输出投影则适合 CUBE 加 epilogue 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长上下文时，纯 TP 只切 head，并不会缩短 recurrence，单卡上仍可能出现 SM 空闲。报告因此设计了 intra-device context parallelism：把序列切成多个 segment，每个 segment 先独立计算 transition，随后在设备内合并出精确的 incoming state，不需要跨卡通信。跨设备时使用 KDA Context Parallelism。由于 KDA 的 transition M_t=(I-β_t k_t k_t^T)Diag(α_t) 会作用于 incoming state，不能像 vanilla linear attention 那样简单相加。KCP 为每个 segment 计算两个固定大小的片段：累计 transition M 和从零状态开始产生的 eS；各 rank 只需一次固定大小 all-gather，再用 prefix scan 组合 S←MS+eS。相比 softmax CP 需要交换随序列长度增长的 KV block，KCP 的同步量固定，计算随 context length 线性扩展。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这对 Ascend 的要求是：FlashKDA 负责单卡 CUBE/Vector overlap，KCP 负责跨卡固定状态 all-gather 和 prefix scan，二者需要统一 layout、stream 和 HCCL 调度。开发验收应拆开看 kernel launch、L0 occupancy、state handoff、all-gather bytes 和端到端 tokens/s。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【技术讲解稿】KDA Decode 的难点和 Prefill 完全不同。报告 §5.4.2 说，Prefill 的主要问题是如何暴露并行，而 Decode 的主要问题变成了原地更新的 recurrent state。尤其在 MTP speculative decoding 中，草稿 token 被验证时，状态已经推进；如果拒绝其中一部分 token，直接回滚就需要为每个 draft position 保存完整 state，这会把 state traffic 放大，在在线大 batch 下反而成为主成本。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K3 的解决方法是只缓存 projected inputs，而不缓存每个位置的完整状态。因为接受前缀之后的状态由这些 projected inputs 完全决定，所以 kernel 可以在片上重放已接受的 token，重建正确状态，只把 verified token 和 bonus token 的最终状态写回。报告指出，replayed tokens、bonus token 和下一轮 draft window 共用一个 fused recurrent loop，覆盖 short convolution、input normalization、gating、KDA recurrence 和 output normalization，并且 projection cache 不离开 decode stage。因此 speculative decode 不会改变 prefix cache 和 prefill/decode disaggregation 的 payload。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对应右表，短卷积和 safe-gate 是低算术强度、Vector 主导的部分；KDA 递归是小矩阵加 token 间串行依赖，真正的优化目标是让 S_t 驻留 L0/UB；状态重建 replay 的计算量随 draft 长度增长，但避免了完整 state snapshot 的读写。报告的结论是 verification latency 随验证 token 数量次线性增长，并低于 state-caching baseline。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vLLM-Ascend 侧，speculative block、accepted prefix、bonus token 和 state checkpoint 必须由同一个 request state machine 管理，不能只回滚 token 数而忘记回滚 KDA state。算子侧需要固定 FULL_DECODE_ONLY shape，并把 projection cache 设计成 decode-only 的临时缓冲。验收时建议把接受率、replay bytes、snapshot bytes、SRAM 占用、launch/token 和 tail latency 放在同一张 profile 中，观察状态恢复是否真的消除了 HBM 往返。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【技术讲解稿】Block AttnRes 解决的是深度方向的信息瓶颈。标准 residual 把所有历史层压成一个 h_l，信息流只能沿深度顺序累积。报告 §2.2 把这个问题类比为时间维的 RNN：AttnRes 让每一层用 pseudo-query w_l 对之前的层表示做一次选择性检索。完整 Full AttnRes 的计算量是 O(L^2d)，保存所有层输出的内存是 O(Ld)，还会产生跨 pipeline stage 的通信。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K3 使用 Block AttnRes 把 L 层分成 N 个 block，每个 block 内先把层输出聚合成 b_n，跨 block 只对 N 个 block representation 做 attention，块内再把当前 block 的 partial sum 纳入 online-softmax merge。报告给出的工程配置是 N≈8、每个 block 约 12 层，连同 embedding 计算时总共 9 个 block source。这样深度方向的状态从 O(Ld) 降到 O(Nd)，并且推理状态大小被固定在 block bank 上。右表第一、二行分别对应 inter-block pass 和 intra-block mix，最后两行反映 resident/reload 和整体访存量。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§5.4.2 给出了真正的 kernel 组织。Prefill 采用 sequence parallel，把 TP all-reduce 拆成 reduce-scatter 和 all-gather，并把 intra-block kernel 插到两个 collective 之间。这样每个 token 的 block representation 只在一个 rank 上物化，避免每个 TP rank 重复保存，降低显存和 I/O。Decode 则把 batched inter-block kernel 放到 side stream，与主 stream 的独立计算重叠；intra-block 的输出合并、partial-sum 更新和后续 RMSNorm 直接融合进前面的 TP all-reduce，消掉一个独立 kernel。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 AttnRes 的瓶颈主要是内存访问和通信，而不是矩阵乘 FLOPs。昇腾实现要同时优化 HCCL RS/AG、side stream、bank resident/reload 和融合后的 writeback。vLLM-Ascend 需要把 bank 的 PP/TP 切分、回收、pinning 和碎片整理接入统一 cache manager。最终验收不能只报 O(Nd) 理论复杂度，还要观察 bytes/token、resident 命中率、HCCL overlap、reload 带宽和 decode 尾延迟。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1d56eabc294f5e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5eac9f2c86412e" /><Relationship Type="http://schemas.openxmlformats.org/officeDocument/2006/relationships/slideLayout" Target="/ppt/slideLayouts/slideLayout1.xml" Id="Ra8d8264fa4e8401c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d8264fa4e8401c"/>
  </p:sldLayoutIdLst>
</p:sldMaster>
</file>

<file path=ppt/slideMasters/theme/theme2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723461808427e" /><Relationship Type="http://schemas.openxmlformats.org/officeDocument/2006/relationships/image" Target="/ppt/media/image.png" Id="Rd766b365aafe49e7" /><Relationship Type="http://schemas.openxmlformats.org/officeDocument/2006/relationships/notesSlide" Target="/ppt/notesSlides/notesSlide1.xml" Id="R1b8606694d8c44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8c5eb2def4620" /><Relationship Type="http://schemas.openxmlformats.org/officeDocument/2006/relationships/image" Target="/ppt/media/image2.png" Id="R8d863a750f604b22" /><Relationship Type="http://schemas.openxmlformats.org/officeDocument/2006/relationships/notesSlide" Target="/ppt/notesSlides/notesSlide2.xml" Id="R593530764cb64a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cfe5c596f4c47" /><Relationship Type="http://schemas.openxmlformats.org/officeDocument/2006/relationships/image" Target="/ppt/media/image3.png" Id="R3daccf6c769b4be9" /><Relationship Type="http://schemas.openxmlformats.org/officeDocument/2006/relationships/notesSlide" Target="/ppt/notesSlides/notesSlide3.xml" Id="Rdcbe8747ed824d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9b18ba7e940af" /><Relationship Type="http://schemas.openxmlformats.org/officeDocument/2006/relationships/image" Target="/ppt/media/image4.png" Id="R04571045b2b94b8e" /><Relationship Type="http://schemas.openxmlformats.org/officeDocument/2006/relationships/notesSlide" Target="/ppt/notesSlides/notesSlide4.xml" Id="R8d5b443f7f074a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b059a6439431d" /><Relationship Type="http://schemas.openxmlformats.org/officeDocument/2006/relationships/image" Target="/ppt/media/image5.png" Id="Rfba68f7595a4453c" /><Relationship Type="http://schemas.openxmlformats.org/officeDocument/2006/relationships/notesSlide" Target="/ppt/notesSlides/notesSlide5.xml" Id="R5cbb304ba86944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96F219F-D88C-49C2-A517-08D3564C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77800"/>
            <a:ext cx="6654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§2.1.1 / §5.1；vllm / vllm-ascend 代码仓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48C2D1-5F78-4D12-A0F4-21C53FE8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Kimi Delta Attention（KDA）：逐通道遗忘门 × Delta 规则的线性注意力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99085C38-FB8B-434F-AEB5-C6D272AC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0FC6E042-18E6-4BB0-9E02-94705CDB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9DE85440-6D33-4834-AE1A-694247E6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D1A5D935-B05B-48C2-BC11-348B3BA7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 b="1"/>
            </a:defPPr>
          </a:lstStyle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KDA 用固定大小的递归状态 S_t 汇总历史 token；Decode 每步只读取并更新 S_t，不再逐 token 扫描整段 K/V cache。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Prefill 仍在 chunk 内并行，Decode 状态更新为 O(1)，长上下文缓存压力转化为固定状态的读写压力。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代价是 gate/递归的 Vector 计算与投影 CUBE 计算必须片上协同，状态驻留决定 Decode 吞吐。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879ACEB0-12B5-4DC1-932C-23A85215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254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模块结构与数据流</a:t>
            </a:r>
            <a:endParaRPr sz="1200"/>
          </a:p>
        </p:txBody>
      </p:sp>
      <p:sp>
        <p:nvSpPr>
          <p:cNvPr id="9" name="legend-box">
            <a:extLst xmlns:a="http://schemas.openxmlformats.org/drawingml/2006/main">
              <a:ext uri="{FF2B5EF4-FFF2-40B4-BE49-F238E27FC236}">
                <a16:creationId xmlns:a16="http://schemas.microsoft.com/office/drawing/2014/main" id="{115F7F4E-22E9-494E-A86F-B0DC2970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1000" y="2324100"/>
            <a:ext cx="1270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00000"/>
            </a:solidFill>
          </a:ln>
        </p:spPr>
      </p:sp>
      <p:sp>
        <p:nvSpPr>
          <p:cNvPr id="10" name="legend-text">
            <a:extLst xmlns:a="http://schemas.openxmlformats.org/drawingml/2006/main">
              <a:ext uri="{FF2B5EF4-FFF2-40B4-BE49-F238E27FC236}">
                <a16:creationId xmlns:a16="http://schemas.microsoft.com/office/drawing/2014/main" id="{C63E1D15-0143-4EB6-BC09-E04A6E63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800" y="22860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红框 = K3 相对 Kimi Linear 的改动</a:t>
            </a:r>
            <a:endParaRPr sz="800"/>
          </a:p>
        </p:txBody>
      </p:sp>
      <p:pic>
        <p:nvPicPr>
          <p:cNvPr id="28" name="arch-figure">
            <a:extLst xmlns:a="http://schemas.openxmlformats.org/drawingml/2006/main">
              <a:ext uri="{FF2B5EF4-FFF2-40B4-BE49-F238E27FC236}">
                <a16:creationId xmlns:a16="http://schemas.microsoft.com/office/drawing/2014/main" id="{4CA71559-2B00-49C3-8E01-C6C82D6BF9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6b365aafe49e7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param-label">
            <a:extLst xmlns:a="http://schemas.openxmlformats.org/drawingml/2006/main">
              <a:ext uri="{FF2B5EF4-FFF2-40B4-BE49-F238E27FC236}">
                <a16:creationId xmlns:a16="http://schemas.microsoft.com/office/drawing/2014/main" id="{FA5536D1-6729-4CB2-B9C1-1EFF1A20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30" name="param-table">
            <a:extLst xmlns:a="http://schemas.openxmlformats.org/drawingml/2006/main">
              <a:ext uri="{FF2B5EF4-FFF2-40B4-BE49-F238E27FC236}">
                <a16:creationId xmlns:a16="http://schemas.microsoft.com/office/drawing/2014/main" id="{61DD2B52-C047-4FCD-ACF2-7CE19F23B522}"/>
              </a:ext>
            </a:extLst>
          </p:cNvPr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28928"/>
                <a:gridCol w="1439672"/>
                <a:gridCol w="941324"/>
                <a:gridCol w="1827276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q/k/v 投影 + ShortConv 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x∈ℝ⁷¹⁶⁸ → q,k∈ℝᴴ×ᵈₖ, v∈ℝᴴ×ᵈᵥ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2dH(2dₖ+dᵥ)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Prefill 稠密 GEMM，计算密集，要求 CUBE 算力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Decode 退化为 GEMV，访存密集，要求通信带宽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遗忘门 z + 写入 β 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z=W_zx, β=W_βx; z∈ℝᴴ×ᵈₖ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≈ 2dr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低秩投影计算，要求 CUBE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sigmoid/exp 门控，要求 Vector 融合与稳定累加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有界衰减 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g=−5·σ(eᴬ⊙z)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O(Hdₖ)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衰减计算为 Vector 逐元素负载，要求 FP32 累加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累加存在数值风险，要求安全 gate，避免 BF16 下溢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Chunk 内注意力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A=Tril((Q⊙Q_F)(K/K)ᵀ→p), C=64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2C(dₖ+dᵥ)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Chunk tile matmul，计算密集，要求 CUBE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64/128 tile，要求 L0/UB 双缓冲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 chunk 状态传播 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Sₜ∈ℝᵈₖ×ᵈᵥ; Sₜ₊₁=F(Sₜ,Qₜ,Kₜ,Vₜ)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2dₖdᵥ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小矩阵递归，FLOPs 低但同步敏感，要求状态驻留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状态更新与主计算并行，要求与 CUBE overlap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69 text 层; |S|≈3.0 MB/layer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≈2.1M FLOPs/head/chunk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Decode 状态读写主导，要求低 bytes/token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启动延迟敏感，要求 persistent kernel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param-note">
            <a:extLst xmlns:a="http://schemas.openxmlformats.org/drawingml/2006/main">
              <a:ext uri="{FF2B5EF4-FFF2-40B4-BE49-F238E27FC236}">
                <a16:creationId xmlns:a16="http://schemas.microsoft.com/office/drawing/2014/main" id="{01BB286C-CCE9-498E-B589-A223DAE6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5" name="dev-label">
            <a:extLst xmlns:a="http://schemas.openxmlformats.org/drawingml/2006/main">
              <a:ext uri="{FF2B5EF4-FFF2-40B4-BE49-F238E27FC236}">
                <a16:creationId xmlns:a16="http://schemas.microsoft.com/office/drawing/2014/main" id="{AF3326A2-3196-4A33-9242-EFE583AE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6959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6" name="dev-bullets">
            <a:extLst xmlns:a="http://schemas.openxmlformats.org/drawingml/2006/main">
              <a:ext uri="{FF2B5EF4-FFF2-40B4-BE49-F238E27FC236}">
                <a16:creationId xmlns:a16="http://schemas.microsoft.com/office/drawing/2014/main" id="{660186F6-771A-4190-A040-1BA113B3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9531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990" b="1"/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10"/>
              </a:spcBef>
              <a:buChar char="•"/>
            </a:pPr>
            <a:r>
              <a:rPr sz="99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算子需求：KDA forward 需组织 gate、cumsum、delta rule、RMSNorm 的融合路径，暴露 initial_state/final_state，避免中间态回写。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99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运行时需求：KV cache manager 增加 state slot；Prefill 使用 64/128 chunk，Decode 支持 persistent state；性能看 bytes/token、launch/token、CUBE/Vector overlap。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99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趋势判断：长上下文优化指标从 FLOPs 转向 state bandwidth 与同步，KDA/MLA/AttnRes 需要统一 state-aware cache ABI。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4012312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85661469-D520-4BDF-A02C-6D55E448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77800"/>
            <a:ext cx="6654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§2.1.2；vllm / vllm-ascend 代码仓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D3AF98-57F3-4F6C-9EE2-F43AAC1F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Gated MLA：NoPE 全局注意力 + 全秩输出门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4847A53F-02CA-415F-B48F-2B46E8A6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AC810317-54E7-4667-9DC0-E6050162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3B3BF091-11A2-42FE-86D6-799EDB76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9854C8D6-29CB-40C7-A849-52F22C1A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 b="1"/>
            </a:defPPr>
          </a:lstStyle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Gated MLA 以 NoPE 保留全局内容检索，把位置信息交给 KDA，形成“局部递归 + 全局注意力”的互补结构。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低秩 latent cache 显著降低 KV 存储与通信，长上下文收益主要来自 cache 压缩与吸收式计算。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代价是 latent page、RoPE/NoPE 分支和 TP/PCP/DCP 调度需要统一，Decode 更偏 GEMV 与带宽受限。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D1E85C84-F26F-42A4-999C-223D5ADB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254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模块结构与数据流</a:t>
            </a:r>
            <a:endParaRPr sz="1200"/>
          </a:p>
        </p:txBody>
      </p:sp>
      <p:sp>
        <p:nvSpPr>
          <p:cNvPr id="9" name="legend-box">
            <a:extLst xmlns:a="http://schemas.openxmlformats.org/drawingml/2006/main">
              <a:ext uri="{FF2B5EF4-FFF2-40B4-BE49-F238E27FC236}">
                <a16:creationId xmlns:a16="http://schemas.microsoft.com/office/drawing/2014/main" id="{59C0C907-FC5C-44D8-90E2-DAA585A9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1000" y="2324100"/>
            <a:ext cx="1270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00000"/>
            </a:solidFill>
          </a:ln>
        </p:spPr>
      </p:sp>
      <p:sp>
        <p:nvSpPr>
          <p:cNvPr id="10" name="legend-text">
            <a:extLst xmlns:a="http://schemas.openxmlformats.org/drawingml/2006/main">
              <a:ext uri="{FF2B5EF4-FFF2-40B4-BE49-F238E27FC236}">
                <a16:creationId xmlns:a16="http://schemas.microsoft.com/office/drawing/2014/main" id="{DB3E9720-77BF-4D7B-9F8B-12456432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800" y="2286000"/>
            <a:ext cx="304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红框 = K3 相对标准 MLA（K2）的改动</a:t>
            </a:r>
            <a:endParaRPr sz="800"/>
          </a:p>
        </p:txBody>
      </p:sp>
      <p:pic>
        <p:nvPicPr>
          <p:cNvPr id="28" name="arch-figure">
            <a:extLst xmlns:a="http://schemas.openxmlformats.org/drawingml/2006/main">
              <a:ext uri="{FF2B5EF4-FFF2-40B4-BE49-F238E27FC236}">
                <a16:creationId xmlns:a16="http://schemas.microsoft.com/office/drawing/2014/main" id="{E455AE61-EDD2-485C-8F15-E04EF625E6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863a750f604b22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param-label">
            <a:extLst xmlns:a="http://schemas.openxmlformats.org/drawingml/2006/main">
              <a:ext uri="{FF2B5EF4-FFF2-40B4-BE49-F238E27FC236}">
                <a16:creationId xmlns:a16="http://schemas.microsoft.com/office/drawing/2014/main" id="{055F6BF9-D868-4DEF-99AB-A3CFC35B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30" name="param-table">
            <a:extLst xmlns:a="http://schemas.openxmlformats.org/drawingml/2006/main">
              <a:ext uri="{FF2B5EF4-FFF2-40B4-BE49-F238E27FC236}">
                <a16:creationId xmlns:a16="http://schemas.microsoft.com/office/drawing/2014/main" id="{06FAB85D-3D1A-4949-A695-BC8CA3E1E831}"/>
              </a:ext>
            </a:extLst>
          </p:cNvPr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28928"/>
                <a:gridCol w="1439672"/>
                <a:gridCol w="941324"/>
                <a:gridCol w="1827276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隐向量下投影 Wc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x∈ℝ⁷¹⁶⁸ → cₜ∈ℝ⁵¹²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2dd_c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Prefill 矩阵宽，计算密集，要求 CUBE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Decode 矩阵变窄，要求权重驻留与批量 GEMV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Q/K/V 投影与上投影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q:d→Hd_h; k,v:d_c→Hd_h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2dHd_h+4d_cHd_h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投影与 latent 重建，要求 CUBE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吸收式计算减少 page 读取，要求融合中间回写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NoPE 全局注意力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P=softmax(QKᵀ/√d_h); O=PV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2LHd_h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Prefill QK/AV 随序列增长，要求 CUBE tile + 分块 softmax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Decode 受 cache 带宽约束，要求带宽与访存合并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全秩输出门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g=σ(W_gx), W_g∈ℝᵈ×ᵈ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2d²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大 GEMM，Prefill 计算密集，要求 CUBE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Decode 小 batch GEMV 化，要求 epilogue 融合降 launch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KV cache / 通信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c_KV∈ℝ⁵¹²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24.6 KB/token（BF16）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latent page 读写，要求按 page 管理 cache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PCP/DCP 通信与 QK/AV 重叠，要求 HCCL overlap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24 text-MLA 层; r_q=1536, r_KV=512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按 layer 统计 QKᵀ/√d_h + AV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KDA/MLA 产生两类状态，要求统一 state-aware cache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跨 TP/PP 回收生命周期，要求可观测与可回收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param-note">
            <a:extLst xmlns:a="http://schemas.openxmlformats.org/drawingml/2006/main">
              <a:ext uri="{FF2B5EF4-FFF2-40B4-BE49-F238E27FC236}">
                <a16:creationId xmlns:a16="http://schemas.microsoft.com/office/drawing/2014/main" id="{106BB118-80B1-482F-BEA3-E266CD8C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5" name="dev-label">
            <a:extLst xmlns:a="http://schemas.openxmlformats.org/drawingml/2006/main">
              <a:ext uri="{FF2B5EF4-FFF2-40B4-BE49-F238E27FC236}">
                <a16:creationId xmlns:a16="http://schemas.microsoft.com/office/drawing/2014/main" id="{2F2EA3FE-17EF-4F91-B298-021E0D1E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6959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6" name="dev-bullets">
            <a:extLst xmlns:a="http://schemas.openxmlformats.org/drawingml/2006/main">
              <a:ext uri="{FF2B5EF4-FFF2-40B4-BE49-F238E27FC236}">
                <a16:creationId xmlns:a16="http://schemas.microsoft.com/office/drawing/2014/main" id="{7DC0A6EA-D7BD-4254-B0E4-C3294355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9531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990" b="1"/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10"/>
              </a:spcBef>
              <a:buChar char="•"/>
            </a:pPr>
            <a:r>
              <a:rPr sz="99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缓存需求：latent page 与传统 KV page 分离，支持 NoPE 分支、KDA state checkpoint 的独立生命周期。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99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算子需求：QK/AV absorption、RoPE/NoPE、output gate 提供融合 kernel；Decode 保留小 batch GEMV 路径。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99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趋势判断：以 TP/PCP/DCP 通信、HCCL overlap、cache bytes/token 和 tail latency 建立分阶段基线。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2750722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90E87FCE-1534-43B8-AAF0-595270B4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77800"/>
            <a:ext cx="7035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§5.1.1；FlashKDA（MoonshotAI）；vllm-ascend ops/triton/kda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8F8B91-6E7B-415D-886C-1AC99033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FlashKDA：chunkwise 训练 / Prefill 融合算子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145F3ECB-77C7-40B0-B6EB-77E81A2C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6328A4B6-53FC-4BD0-8072-01F36E11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61CA74B6-78D3-4DDD-A73A-074F0A4C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20761175-B2A7-41CC-8F15-3CD7F65B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 b="1"/>
            </a:defPPr>
          </a:lstStyle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FlashKDA 将 chunk 内 matmul、门控扫描和跨 chunk 状态传播融合为流水，目标是把训练/Prefill 从多次往返变成一次状态 handoff。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CUBE 承担主要矩阵乘，Vector 承担衰减、cumsum 和小矩阵更新；chunk 64/128 是吞吐与片上存储的折中。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核心效果是减少 kernel launch 和 L0 staging，最终收益取决于 CUBE/Vector overlap 与状态连续性。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A8EE2439-7937-47D8-AC86-94C0C552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330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计算 / 状态传播调度交叠</a:t>
            </a:r>
            <a:endParaRPr sz="1200"/>
          </a:p>
        </p:txBody>
      </p:sp>
      <p:pic>
        <p:nvPicPr>
          <p:cNvPr id="24" name="arch-figure">
            <a:extLst xmlns:a="http://schemas.openxmlformats.org/drawingml/2006/main">
              <a:ext uri="{FF2B5EF4-FFF2-40B4-BE49-F238E27FC236}">
                <a16:creationId xmlns:a16="http://schemas.microsoft.com/office/drawing/2014/main" id="{6EBB2F8A-9E76-4FD6-AB7E-152B866E2F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ccf6c769b4be9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param-label">
            <a:extLst xmlns:a="http://schemas.openxmlformats.org/drawingml/2006/main">
              <a:ext uri="{FF2B5EF4-FFF2-40B4-BE49-F238E27FC236}">
                <a16:creationId xmlns:a16="http://schemas.microsoft.com/office/drawing/2014/main" id="{BAABADC4-107D-40F3-B8F9-FA7F917B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26" name="param-table">
            <a:extLst xmlns:a="http://schemas.openxmlformats.org/drawingml/2006/main">
              <a:ext uri="{FF2B5EF4-FFF2-40B4-BE49-F238E27FC236}">
                <a16:creationId xmlns:a16="http://schemas.microsoft.com/office/drawing/2014/main" id="{B248083F-AB63-42E0-B350-417CDB94BADA}"/>
              </a:ext>
            </a:extLst>
          </p:cNvPr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Gate + prepare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X∈ℝᴮ×ᴴ×ᶜ×ᵈₖ, C∈{64,128}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O(BHCdₖ)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cumsum/衰减为 Vector 扫描，要求与 gate/prepare 融合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中间态多次读写，要求 L0/UB staging 合并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Chunk 内 A·V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Q,K∈ℝᶜ×ᵈₖ, V∈ℝᶜ×ᵈᵥ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2C(dₖ+dᵥ)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tile matmul，计算密集，要求 CUBE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64/128 tile 双缓冲，要求提升 CUBE 占用率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 chunk handoff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Sₜ₊₁=F(Sₜ,Qₜ,Kₜ,Vₜ), S∈ℝᵈₖ×ᵈᵥ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2dₖdᵥ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小矩阵串行依赖，计算少、同步敏感，要求状态驻留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handoff 与主计算重叠，要求双缓冲隐藏等待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Finalize / output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Y∈ℝᴮ×ᶜ×ᵈ ← XW_o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2dHdᵥ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输出投影为 Dense GEMM，要求 CUBE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中间张量回写代价高，要求 epilogue 融合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 / Prefill 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N_seq≤1024, C∈{64,128}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≈2.1M/head/chunk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chunk 并行与状态 handoff 并存，要求 CUBE/Vector overlap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长序列吞吐敏感，要求按 1024 逻辑序列验收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部署约束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layout=BSND; state∈ℝᵈₖ×ᵈᵥ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O(1) handoff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Prefill/Decode 形态差异大，要求分别 tiling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状态跨 kernel 传递，要求 initial_state/final_state ABI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>
            <a:extLst xmlns:a="http://schemas.openxmlformats.org/drawingml/2006/main">
              <a:ext uri="{FF2B5EF4-FFF2-40B4-BE49-F238E27FC236}">
                <a16:creationId xmlns:a16="http://schemas.microsoft.com/office/drawing/2014/main" id="{1F3E0A12-5F6A-4E9C-BF6B-1092B147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3" name="dev-label">
            <a:extLst xmlns:a="http://schemas.openxmlformats.org/drawingml/2006/main">
              <a:ext uri="{FF2B5EF4-FFF2-40B4-BE49-F238E27FC236}">
                <a16:creationId xmlns:a16="http://schemas.microsoft.com/office/drawing/2014/main" id="{BB194ED1-FF07-4EBF-9BC1-3B452C76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6959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4" name="dev-bullets">
            <a:extLst xmlns:a="http://schemas.openxmlformats.org/drawingml/2006/main">
              <a:ext uri="{FF2B5EF4-FFF2-40B4-BE49-F238E27FC236}">
                <a16:creationId xmlns:a16="http://schemas.microsoft.com/office/drawing/2014/main" id="{C5788FCB-20AA-4803-B0C7-890EA120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9531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990" b="1"/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10"/>
              </a:spcBef>
              <a:buChar char="•"/>
            </a:pPr>
            <a:r>
              <a:rPr sz="99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算子需求：将 gate、prepare、post-Wu、FwdH、Finalize 组织为物理 L0 kernel，并显式暴露 initial_state/final_state/gk。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99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运行时需求：训练/Prefill 使用 chunk 64/128，Decode 固定 shape；记录 CUBE/Vector overlap、L1 命中率和 state handoff。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99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趋势判断：FlashKDA 的收益来自 staging 与同步削减，需在 A3/A5 分别建立 kernel launch、L0 占用和端到端吞吐基线。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5363796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C4144F33-DE17-4AB2-A4B7-64B46B78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77800"/>
            <a:ext cx="7035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§5.4.2（KDA）；ReplaySSM [25]；vllm-ascend ops/triton/kda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6DC90A-6CDB-4BBC-95D6-08CC0548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KDA Decoding：可回滚的投机解码融合递归算子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21AD9341-B110-46D3-8453-169C0C9D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0F110715-02E2-4FFC-A28A-0C318490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977AA15F-D33C-4064-B010-2130F521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DC13E33E-2CC9-4FDC-B14D-74870061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 b="1"/>
            </a:defPPr>
          </a:lstStyle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KDA Decode 将 ShortConv、gate、递归更新和输出投影合并，目标是降低单 token 的启动次数与状态往返。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RecoverSSM 让投机解码只回滚未验证状态，减少拒绝 token 的重复计算。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瓶颈从 FLOPs 转为状态快照、片上 SRAM 和 persistent graph 的时延，算子必须围绕固定 decode shape 设计。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A8F9BC74-2126-40C2-8D20-6571CB6B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融合算子构成与状态回滚</a:t>
            </a:r>
            <a:endParaRPr sz="1200"/>
          </a:p>
        </p:txBody>
      </p:sp>
      <p:pic>
        <p:nvPicPr>
          <p:cNvPr id="24" name="arch-figure">
            <a:extLst xmlns:a="http://schemas.openxmlformats.org/drawingml/2006/main">
              <a:ext uri="{FF2B5EF4-FFF2-40B4-BE49-F238E27FC236}">
                <a16:creationId xmlns:a16="http://schemas.microsoft.com/office/drawing/2014/main" id="{415E320F-DDC3-424D-9954-941F56CF41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571045b2b94b8e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param-label">
            <a:extLst xmlns:a="http://schemas.openxmlformats.org/drawingml/2006/main">
              <a:ext uri="{FF2B5EF4-FFF2-40B4-BE49-F238E27FC236}">
                <a16:creationId xmlns:a16="http://schemas.microsoft.com/office/drawing/2014/main" id="{ACBD8D32-CEC6-4A74-B790-4D31AA25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26" name="param-table">
            <a:extLst xmlns:a="http://schemas.openxmlformats.org/drawingml/2006/main">
              <a:ext uri="{FF2B5EF4-FFF2-40B4-BE49-F238E27FC236}">
                <a16:creationId xmlns:a16="http://schemas.microsoft.com/office/drawing/2014/main" id="{DA849F70-5B0D-4FC7-B191-D90F49EA5497}"/>
              </a:ext>
            </a:extLst>
          </p:cNvPr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短卷积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Xₜ∈ℝᴮ×ᴴ×ᵈₖ, k=4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≈4Hdₖ/token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小卷积算术强度低，要求 Vector 与 gate/归一化融合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独立 kernel 启动占比高，要求减少 launch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门控 safe-gate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g=−5·σ(eᴬ⊙z)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O(Hdₖ)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逐元素 Vector，指数/累加影响稳定性，要求 FP32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与递归更新同路径，要求安全 gate 融合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KDA 递归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Sₜ∈ℝᴴ×ᵈₖ×ᵈᵥ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≈3Hdₖdᵥ/token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小矩阵 + token 间串行依赖，要求状态驻留 L0/UB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HBM 往返决定时延，要求减少读写与同步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状态重建 replay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D 个草稿 token 的投影输入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D×3Hdₖdᵥ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拒绝 token 触发状态恢复，要求 snapshot 与 speculative block 对齐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replay 延迟敏感，要求片上重建避免 HBM 读取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D=4; snapshot≈24 MB/layer/step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replay≈D×3Hdₖdᵥ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Decode memory/latency bound，要求 FULL_DECODE_ONLY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启动次数敏感，要求 persistent graph 控制 SRAM 与 launch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>
            <a:extLst xmlns:a="http://schemas.openxmlformats.org/drawingml/2006/main">
              <a:ext uri="{FF2B5EF4-FFF2-40B4-BE49-F238E27FC236}">
                <a16:creationId xmlns:a16="http://schemas.microsoft.com/office/drawing/2014/main" id="{7AEE0410-6469-4019-9E34-63336FC2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3" name="dev-label">
            <a:extLst xmlns:a="http://schemas.openxmlformats.org/drawingml/2006/main">
              <a:ext uri="{FF2B5EF4-FFF2-40B4-BE49-F238E27FC236}">
                <a16:creationId xmlns:a16="http://schemas.microsoft.com/office/drawing/2014/main" id="{A4D27E31-69E2-40E9-A7F0-00A9E5FC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6959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4" name="dev-bullets">
            <a:extLst xmlns:a="http://schemas.openxmlformats.org/drawingml/2006/main">
              <a:ext uri="{FF2B5EF4-FFF2-40B4-BE49-F238E27FC236}">
                <a16:creationId xmlns:a16="http://schemas.microsoft.com/office/drawing/2014/main" id="{20DAF891-2DBA-4D17-B603-4C5BD03E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9531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990" b="1"/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10"/>
              </a:spcBef>
              <a:buChar char="•"/>
            </a:pPr>
            <a:r>
              <a:rPr sz="99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框架需求：对齐 use_kda_recoverssm、snapshot 粒度和 speculative block，统一处理部分拒绝、连续拒绝与跨 batch。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99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算子需求：FULL_DECODE_ONLY 固化 shape，snapshot 优先留在 L0/UB；分别统计 7-token/5-token draft 的接受率、replay 流量和 SRAM 占用。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99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趋势判断：推理路径从“每 token 重算”转向“状态恢复 + 小窗口 replay”，需要统一 KDA/MLA/AttnRes 的 speculative state 生命周期。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9633439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045F3A8E-8B71-4BF9-847A-7898D3AB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77800"/>
            <a:ext cx="7035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§2.2 / §5.4.2（Block AttnRes）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08715F-1971-4422-9C3F-9408EE0C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Block AttnRes：两阶段调度与通信融合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9FC65AD3-C993-4FCA-9DF4-460B3304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ED1BBC34-D09D-4F51-810E-148866EB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0F0E4D06-90C6-44B3-9E43-5C072DB8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5B50F457-DBDC-4086-BDF3-D3EAA84E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 b="1"/>
            </a:defPPr>
          </a:lstStyle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AttnRes 把深层残差从逐层累积改成 8 个 block bank 的可学习检索，降低深度维注意力的复杂度。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Prefill 可以把 bank 聚合与 intra-block 计算拆开并行，Decode 通过 side stream 隐藏通信。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核心收益是跨层信息复用，核心风险是 bank 的 resident/reload 生命周期和 HCCL/内存碎片。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E4687020-D441-41DB-AD79-F4F071C8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深度维注意力机制与执行调度</a:t>
            </a:r>
            <a:endParaRPr sz="1200"/>
          </a:p>
        </p:txBody>
      </p:sp>
      <p:pic>
        <p:nvPicPr>
          <p:cNvPr id="24" name="arch-figure">
            <a:extLst xmlns:a="http://schemas.openxmlformats.org/drawingml/2006/main">
              <a:ext uri="{FF2B5EF4-FFF2-40B4-BE49-F238E27FC236}">
                <a16:creationId xmlns:a16="http://schemas.microsoft.com/office/drawing/2014/main" id="{57995FCA-C17A-42DD-B701-625EC909A2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a68f7595a4453c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param-label">
            <a:extLst xmlns:a="http://schemas.openxmlformats.org/drawingml/2006/main">
              <a:ext uri="{FF2B5EF4-FFF2-40B4-BE49-F238E27FC236}">
                <a16:creationId xmlns:a16="http://schemas.microsoft.com/office/drawing/2014/main" id="{9A8ED285-2D5D-455C-9C07-14DE1CF7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26" name="param-table">
            <a:extLst xmlns:a="http://schemas.openxmlformats.org/drawingml/2006/main">
              <a:ext uri="{FF2B5EF4-FFF2-40B4-BE49-F238E27FC236}">
                <a16:creationId xmlns:a16="http://schemas.microsoft.com/office/drawing/2014/main" id="{0F01BD3C-E970-4EBB-BD7D-285E4B23AF1E}"/>
              </a:ext>
            </a:extLst>
          </p:cNvPr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Inter-block pass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R∈ℝᴺ×ᵈ, N≈8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O(Nd)/layer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批量读取 block bank，访存主导，要求 Decode side stream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bank resident 可减少 reload，要求常驻布局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Intra-block mix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w∈ℝᵈ, B∈ℝᴺ×ᵈ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O(Nd)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小 GEMM + softmax，要求 Vector softmax 与 CUBE mix 重叠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小算子 launch 敏感，要求融合执行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Prefill 通信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RS + AG, B∈ℝᴺ×ᵈ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按 block 聚合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跨卡聚合与块内计算并行，要求 HCCL RS+AG overlap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通信尾延迟敏感，要求流水化 handoff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Resident / reload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bank∈ℝᴺ×ᵈ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126–129 KB/token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resident 节省带宽，要求 A5 常驻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reload 受 HBM 限制，要求 A3 走带宽优化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N=8, L=1M context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O(Nd)，非 O(L²d)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跨层状态访存和碎片主导，要求统一 cache manager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长上下文收益取决于 bytes/token 与 HCCL time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>
            <a:extLst xmlns:a="http://schemas.openxmlformats.org/drawingml/2006/main">
              <a:ext uri="{FF2B5EF4-FFF2-40B4-BE49-F238E27FC236}">
                <a16:creationId xmlns:a16="http://schemas.microsoft.com/office/drawing/2014/main" id="{6725385B-5E7C-437B-8674-0B9F5A1D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3" name="dev-label">
            <a:extLst xmlns:a="http://schemas.openxmlformats.org/drawingml/2006/main">
              <a:ext uri="{FF2B5EF4-FFF2-40B4-BE49-F238E27FC236}">
                <a16:creationId xmlns:a16="http://schemas.microsoft.com/office/drawing/2014/main" id="{E462A25E-948B-49CC-B0B1-DD36EB66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6959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4" name="dev-bullets">
            <a:extLst xmlns:a="http://schemas.openxmlformats.org/drawingml/2006/main">
              <a:ext uri="{FF2B5EF4-FFF2-40B4-BE49-F238E27FC236}">
                <a16:creationId xmlns:a16="http://schemas.microsoft.com/office/drawing/2014/main" id="{A79F9DAA-3720-4059-8F66-DC9D15D5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9531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990" b="1"/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10"/>
              </a:spcBef>
              <a:buChar char="•"/>
            </a:pPr>
            <a:r>
              <a:rPr sz="99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算子需求：attn_res_fwd 融合 BF16 add、bank mix、RMSNorm 与 writeback，并提供 RESIDENT/RELOAD 两种 tiling。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99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通信需求：Prefill 采用 RS+AG，Decode 使用 side stream；bank 的 PP/TP 切分与回收接入统一 cache manager。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99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趋势判断：AttnRes 引入跨层状态访存，验收需同时看 HCCL overlap、带宽、resident 命中率和内存碎片。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952908860"/>
      </p:ext>
    </p:extLst>
  </p:cSld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2026-10-12T23:00:01.9800000Z</dcterms:created>
  <dcterms:modified xsi:type="dcterms:W3CDTF">2026-10-12T23:00:01.9800000Z</dcterms:modified>
</coreProperties>
</file>