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d285d868a4d6a" /><Relationship Type="http://schemas.openxmlformats.org/officeDocument/2006/relationships/extended-properties" Target="/docProps/app.xml" Id="R4aaae1c61f824f98" /><Relationship Type="http://schemas.openxmlformats.org/officeDocument/2006/relationships/officeDocument" Target="/ppt/presentation.xml" Id="Rac993e73294b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ad47a1a95c4a69"/>
  </p:sldMasterIdLst>
  <p:notesMasterIdLst>
    <p:notesMasterId xmlns:r="http://schemas.openxmlformats.org/officeDocument/2006/relationships" r:id="Rd4fe824138b8486a"/>
  </p:notesMasterIdLst>
  <p:sldIdLst>
    <p:sldId xmlns:r="http://schemas.openxmlformats.org/officeDocument/2006/relationships" id="256" r:id="Rd9443510432b4397"/>
    <p:sldId xmlns:r="http://schemas.openxmlformats.org/officeDocument/2006/relationships" id="257" r:id="R8d68a9e3c9644628"/>
    <p:sldId xmlns:r="http://schemas.openxmlformats.org/officeDocument/2006/relationships" id="258" r:id="R357a2ec11afa4085"/>
    <p:sldId xmlns:r="http://schemas.openxmlformats.org/officeDocument/2006/relationships" id="259" r:id="R75336dc0c8c948a5"/>
    <p:sldId xmlns:r="http://schemas.openxmlformats.org/officeDocument/2006/relationships" id="260" r:id="R3b3ae22028ce4b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3b58f423ed4d09" /><Relationship Type="http://schemas.openxmlformats.org/officeDocument/2006/relationships/slideMaster" Target="/ppt/slideMasters/slideMaster1.xml" Id="R71ad47a1a95c4a69" /><Relationship Type="http://schemas.openxmlformats.org/officeDocument/2006/relationships/notesMaster" Target="/ppt/notesMasters/notesMaster1.xml" Id="Rd4fe824138b8486a" /><Relationship Type="http://schemas.openxmlformats.org/officeDocument/2006/relationships/presProps" Target="/ppt/presProps.xml" Id="R6c2f343bef784b1b" /><Relationship Type="http://schemas.openxmlformats.org/officeDocument/2006/relationships/viewProps" Target="/ppt/viewProps.xml" Id="Re597829bdc99461b" /><Relationship Type="http://schemas.openxmlformats.org/officeDocument/2006/relationships/tableStyles" Target="/ppt/tableStyles.xml" Id="Rd3df7c4f78e14604" /><Relationship Type="http://schemas.openxmlformats.org/officeDocument/2006/relationships/slide" Target="/ppt/slides/slide1.xml" Id="Rd9443510432b4397" /><Relationship Type="http://schemas.openxmlformats.org/officeDocument/2006/relationships/slide" Target="/ppt/slides/slide2.xml" Id="R8d68a9e3c9644628" /><Relationship Type="http://schemas.openxmlformats.org/officeDocument/2006/relationships/slide" Target="/ppt/slides/slide3.xml" Id="R357a2ec11afa4085" /><Relationship Type="http://schemas.openxmlformats.org/officeDocument/2006/relationships/slide" Target="/ppt/slides/slide4.xml" Id="R75336dc0c8c948a5" /><Relationship Type="http://schemas.openxmlformats.org/officeDocument/2006/relationships/slide" Target="/ppt/slides/slide5.xml" Id="R3b3ae22028ce4b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e348f15cd1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deb65c8a14c03" /><Relationship Type="http://schemas.openxmlformats.org/officeDocument/2006/relationships/notesMaster" Target="/ppt/notesMasters/notesMaster1.xml" Id="Rcc3f64a78cc1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ce47f65e84fab" /><Relationship Type="http://schemas.openxmlformats.org/officeDocument/2006/relationships/notesMaster" Target="/ppt/notesMasters/notesMaster1.xml" Id="R1554a820fcf8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32995ca00b42a4" /><Relationship Type="http://schemas.openxmlformats.org/officeDocument/2006/relationships/notesMaster" Target="/ppt/notesMasters/notesMaster1.xml" Id="Rc37193405d154b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8c4a895cd40a6" /><Relationship Type="http://schemas.openxmlformats.org/officeDocument/2006/relationships/notesMaster" Target="/ppt/notesMasters/notesMaster1.xml" Id="Rf31686ab57c843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09ec056a9c453f" /><Relationship Type="http://schemas.openxmlformats.org/officeDocument/2006/relationships/notesMaster" Target="/ppt/notesMasters/notesMaster1.xml" Id="Rddf51f3daac24b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本页讲解：左图从输入 x 开始，先经过 q/k/v 投影与 ShortConv，对应右表第 1 行。红框①对应遗忘门 z 与写入 β，以及有界衰减/cumsum，对应第 2、3 行；chunk 内注意力对应第 4 行；跨 chunk 的状态 S_t 更新对应第 5 行；右侧层堆叠与状态账本对应第 6 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概念：KDA 用固定大小的递归状态汇总历史。Prefill 仍按 chunk 并行，Decode 只读写固定状态，因此长上下文不再逐 token 扫描整段 K/V。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开发思考：算子侧融合 gate、cumsum、delta rule、RMSNorm，避免中间态落 HBM；运行时把 state slot 纳入 cache manager，优先优化 state bytes/token、状态驻留与 persistent kernel。表格公式已恢复为可编辑的数学文本。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本页讲解：左图红框①是 Gated MLA 主注意力路径，对应右表第 3 行；底部隐向量下投影 Wc 与上投影对应第 1、2 行；右侧输出门对应第 4 行；latent KV cache 与通信对应第 5 行；综合账本对应第 6 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概念：NoPE Gated MLA 负责全局内容检索，KDA 负责位置与递归记忆。低秩 latent cache 压缩 KV 存储和通信，形成局部递归与全局注意力互补。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开发思考：缓存管理需要把 latent page、传统 KV page 和 KDA checkpoint 分开管理；算子侧优先融合 QK/AV absorption、RoPE/NoPE 与 output gate；推理侧围绕 TP/PCP/DCP 通信、HCCL overlap 与 tail latency 建立基线。表格公式保持可编辑文本。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本页讲解：左图上半部分的 gate/prepare 对应右表第 1 行；chunk 内 QK/AV 矩阵计算对应第 2 行；跨 chunk handoff 对应第 3 行；Finalize/output 对应第 4 行；训练/Prefill 账本和部署约束对应第 5、6 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概念：FlashKDA 把 chunk 内矩阵计算、门控扫描和状态 handoff 组织成流水，CUBE 处理主矩阵乘，Vector 处理衰减、cumsum 和小矩阵更新。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开发思考：将 gate、prepare、post-Wu、FwdH、Finalize 组织成物理 L0 kernel，显式暴露 initial_state/final_state/gk；Prefill 使用 64/128 chunk，Decode 固定 shape，并用 CUBE/Vector overlap、L0 占用和状态 handoff 衡量收益。表格公式保持可编辑文本。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本页讲解：左图的短卷积对应右表第 1 行，safe-gate 对应第 2 行，KDA 递归状态对应第 3 行；投机解码中的状态重建 replay 对应第 4 行；综合账本对应第 5 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概念：KDA Decode 将 ShortConv、gate、递归更新和输出投影放入固定路径；RecoverSSM 只回滚未验证状态，减少拒绝 token 的重复计算。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开发思考：框架侧对齐 use_kda_recoverssm、snapshot 粒度和 speculative block；算子侧固化 FULL_DECODE_ONLY shape，让 snapshot 留在 L0/UB；验收同时观察接受率、replay 流量、SRAM 占用和启动延迟。表格公式保持可编辑文本。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本页讲解：左图上方的 inter-block pass 对应右表第 1 行，intra-block mix 对应第 2 行；Prefill 通信链路 RS+AG 对应第 3 行；bank 的 resident/reload 对应第 4 行；右表综合账本对应第 5 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概念：AttnRes 把深层残差组织成 8 个 block bank。Prefill 将 bank 聚合和块内计算拆开并行，Decode 用 side stream 隐藏通信，收益来自跨层信息复用。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开发思考：算子侧融合 BF16 add、bank mix、RMSNorm 和 writeback，并提供 RESIDENT/RELOAD tiling；通信侧把 RS+AG、side stream 和 bank 回收接入统一 cache manager；验收同时看 HCCL overlap、带宽、resident 命中率和内存碎片。表格公式保持可编辑文本。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076906b924448e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9ff236ee884b87" /><Relationship Type="http://schemas.openxmlformats.org/officeDocument/2006/relationships/slideLayout" Target="/ppt/slideLayouts/slideLayout1.xml" Id="R9562a9fa1f0c4d7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2a9fa1f0c4d73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13c07211e4483" /><Relationship Type="http://schemas.openxmlformats.org/officeDocument/2006/relationships/image" Target="/ppt/media/image.png" Id="Rbb8bd149deaa4305" /><Relationship Type="http://schemas.openxmlformats.org/officeDocument/2006/relationships/notesSlide" Target="/ppt/notesSlides/notesSlide1.xml" Id="R660652566cf6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efa0ee4234051" /><Relationship Type="http://schemas.openxmlformats.org/officeDocument/2006/relationships/image" Target="/ppt/media/image2.png" Id="R97f2333540a14255" /><Relationship Type="http://schemas.openxmlformats.org/officeDocument/2006/relationships/notesSlide" Target="/ppt/notesSlides/notesSlide2.xml" Id="R07c7f05f6459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40fd6c3eb4ae8" /><Relationship Type="http://schemas.openxmlformats.org/officeDocument/2006/relationships/image" Target="/ppt/media/image3.png" Id="R742f2a8d7ca543ea" /><Relationship Type="http://schemas.openxmlformats.org/officeDocument/2006/relationships/notesSlide" Target="/ppt/notesSlides/notesSlide3.xml" Id="R982e75f5db6d47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949da194844a8" /><Relationship Type="http://schemas.openxmlformats.org/officeDocument/2006/relationships/image" Target="/ppt/media/image4.png" Id="Rc7d3d0151d844ae4" /><Relationship Type="http://schemas.openxmlformats.org/officeDocument/2006/relationships/notesSlide" Target="/ppt/notesSlides/notesSlide4.xml" Id="R064839eafb8244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c31355612487d" /><Relationship Type="http://schemas.openxmlformats.org/officeDocument/2006/relationships/image" Target="/ppt/media/image5.png" Id="R62ba96bba0374773" /><Relationship Type="http://schemas.openxmlformats.org/officeDocument/2006/relationships/notesSlide" Target="/ppt/notesSlides/notesSlide5.xml" Id="Ref012f160f11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用固定大小的递归状态 S_t 汇总历史 token；Decode 每步只读取并更新 S_t，不再逐 token 扫描整段 K/V cache。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仍在 chunk 内并行，Decode 状态更新为 O(1)，长上下文缓存压力转化为固定状态的读写压力。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代价是 gate/递归的 Vector 计算与投影 CUBE 计算必须片上协同，状态驻留决定 Decode 吞吐。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>
            <a:extLst xmlns:a="http://schemas.openxmlformats.org/drawingml/2006/main">
              <a:ext uri="{FF2B5EF4-FFF2-40B4-BE49-F238E27FC236}">
                <a16:creationId xmlns:a16="http://schemas.microsoft.com/office/drawing/2014/main" id="{15A7D2CC-0AE6-46EE-9DA2-5DDF76F48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bd149deaa4305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>
            <a:extLst xmlns:a="http://schemas.openxmlformats.org/drawingml/2006/main">
              <a:ext uri="{FF2B5EF4-FFF2-40B4-BE49-F238E27FC236}">
                <a16:creationId xmlns:a16="http://schemas.microsoft.com/office/drawing/2014/main" id="{4244492A-D19B-4DB3-91C1-F704C9B8B605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x∈ℝ⁷¹⁶⁸ → q,k∈ℝᴴ×ᵈₖ, v∈ℝᴴ×ᵈᵥ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2dH(2dₖ+dᵥ)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 稠密 GEMM，计算密集，要求 CUBE 算力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退化为 GEMV，访存密集，要求通信带宽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 β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z=W_zx, β=W_βx; z∈ℝᴴ×ᵈₖ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 2dr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低秩投影计算，要求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sigmoid/exp 门控，要求 Vector 融合与稳定累加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g=−5·σ(eᴬ⊙z)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O(Hdₖ)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衰减计算为 Vector 逐元素负载，要求 FP32 累加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累加存在数值风险，要求安全 gate，避免 BF16 下溢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A=Tril((Q⊙Q_F)(K/K)ᵀ→p), C=64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2C(dₖ+dᵥ)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Chunk tile matmul，计算密集，要求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64/128 tile，要求 L0/UB 双缓冲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Sₜ∈ℝᵈₖ×ᵈᵥ; Sₜ₊₁=F(Sₜ,Qₜ,Kₜ,Vₜ)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小矩阵递归，FLOPs 低但同步敏感，要求状态驻留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状态更新与主计算并行，要求与 CUBE overlap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69 text 层; |S|≈3.0 MB/layer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≈2.1M FLOPs/head/chunk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状态读写主导，要求低 bytes/token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启动延迟敏感，要求 persistent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算子需求：KDA forward 需组织 gate、cumsum、delta rule、RMSNorm 的融合路径，暴露 initial_state/final_state，避免中间态回写。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运行时需求：KV cache manager 增加 state slot；Prefill 使用 64/128 chunk，Decode 支持 persistent state；性能看 bytes/token、launch/token、CUBE/Vector overlap。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趋势判断：长上下文优化指标从 FLOPs 转向 state bandwidth 与同步，KDA/MLA/AttnRes 需要统一 state-aware cache ABI。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Gated MLA 以 NoPE 保留全局内容检索，把位置信息交给 KDA，形成“局部递归 + 全局注意力”的互补结构。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低秩 latent cache 显著降低 KV 存储与通信，长上下文收益主要来自 cache 压缩与吸收式计算。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代价是 latent page、RoPE/NoPE 分支和 TP/PCP/DCP 调度需要统一，Decode 更偏 GEMV 与带宽受限。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>
            <a:extLst xmlns:a="http://schemas.openxmlformats.org/drawingml/2006/main">
              <a:ext uri="{FF2B5EF4-FFF2-40B4-BE49-F238E27FC236}">
                <a16:creationId xmlns:a16="http://schemas.microsoft.com/office/drawing/2014/main" id="{D0F4DA3C-DEF8-43E3-9B23-63BD1FA84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2333540a14255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>
            <a:extLst xmlns:a="http://schemas.openxmlformats.org/drawingml/2006/main">
              <a:ext uri="{FF2B5EF4-FFF2-40B4-BE49-F238E27FC236}">
                <a16:creationId xmlns:a16="http://schemas.microsoft.com/office/drawing/2014/main" id="{D4842259-A32D-426C-A059-6A2C94693B99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x∈ℝ⁷¹⁶⁸ → cₜ∈ℝ⁵¹²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2dd_c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 矩阵宽，计算密集，要求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矩阵变窄，要求权重驻留与批量 GEMV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q:d→Hd_h; k,v:d_c→Hd_h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2dHd_h+4d_cHd_h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投影与 latent 重建，要求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吸收式计算减少 page 读取，要求融合中间回写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NoPE 全局注意力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P=softmax(QKᵀ/√d_h); O=PV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2LHd_h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 QK/AV 随序列增长，要求 CUBE tile + 分块 softmax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受 cache 带宽约束，要求带宽与访存合并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g=σ(W_gx), W_g∈ℝᵈ×ᵈ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大 GEMM，Prefill 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小 batch GEMV 化，要求 epilogue 融合降 launch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 /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c_KV∈ℝ⁵¹²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24.6 KB/token（BF16）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latent page 读写，要求按 page 管理 cache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PCP/DCP 通信与 QK/AV 重叠，要求 HCCL overlap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24 text-MLA 层; r_q=1536, r_KV=512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按 layer 统计 QKᵀ/√d_h + AV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KDA/MLA 产生两类状态，要求统一 state-aware cache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跨 TP/PP 回收生命周期，要求可观测与可回收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缓存需求：latent page 与传统 KV page 分离，支持 NoPE 分支、KDA state checkpoint 的独立生命周期。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算子需求：QK/AV absorption、RoPE/NoPE、output gate 提供融合 kernel；Decode 保留小 batch GEMV 路径。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趋势判断：以 TP/PCP/DCP 通信、HCCL overlap、cache bytes/token 和 tail latency 建立分阶段基线。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将 chunk 内 matmul、门控扫描和跨 chunk 状态传播融合为流水，目标是把训练/Prefill 从多次往返变成一次状态 handoff。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CUBE 承担主要矩阵乘，Vector 承担衰减、cumsum 和小矩阵更新；chunk 64/128 是吞吐与片上存储的折中。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核心效果是减少 kernel launch 和 L0 staging，最终收益取决于 CUBE/Vector overlap 与状态连续性。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3C9099D1-154C-4DDD-8DE9-A6E320D0EA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f2a8d7ca543ea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46D0F8DA-B366-44CC-9C9E-8682AEB5B9B1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 + prepare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X∈ℝᴮ×ᴴ×ᶜ×ᵈₖ, C∈{64,128}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O(BHCdₖ)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cumsum/衰减为 Vector 扫描，要求与 gate/prepare 融合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中间态多次读写，要求 L0/UB staging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 A·V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Q,K∈ℝᶜ×ᵈₖ, V∈ℝᶜ×ᵈᵥ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2C(dₖ+dᵥ)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tile matmul，计算密集，要求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64/128 tile 双缓冲，要求提升 CUBE 占用率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handoff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Sₜ₊₁=F(Sₜ,Qₜ,Kₜ,Vₜ), S∈ℝᵈₖ×ᵈᵥ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小矩阵串行依赖，计算少、同步敏感，要求状态驻留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handoff 与主计算重叠，要求双缓冲隐藏等待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Finalize / output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Y∈ℝᴮ×ᶜ×ᵈ ← XW_o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2dHdᵥ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输出投影为 Dense GEMM，要求 CUBE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中间张量回写代价高，要求 epilogue 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Prefill 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N_seq≤1024, C∈{64,128}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≈2.1M/head/chunk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chunk 并行与状态 handoff 并存，要求 CUBE/Vector overlap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长序列吞吐敏感，要求按 1024 逻辑序列验收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layout=BSND; state∈ℝᵈₖ×ᵈᵥ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O(1) handoff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Prefill/Decode 形态差异大，要求分别 tiling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状态跨 kernel 传递，要求 initial_state/final_state ABI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算子需求：将 gate、prepare、post-Wu、FwdH、Finalize 组织为物理 L0 kernel，并显式暴露 initial_state/final_state/gk。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运行时需求：训练/Prefill 使用 chunk 64/128，Decode 固定 shape；记录 CUBE/Vector overlap、L1 命中率和 state handoff。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趋势判断：FlashKDA 的收益来自 staging 与同步削减，需在 A3/A5 分别建立 kernel launch、L0 占用和端到端吞吐基线。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 ShortConv、gate、递归更新和输出投影合并，目标是降低单 token 的启动次数与状态往返。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 让投机解码只回滚未验证状态，减少拒绝 token 的重复计算。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瓶颈从 FLOPs 转为状态快照、片上 SRAM 和 persistent graph 的时延，算子必须围绕固定 decode shape 设计。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1657C580-3AFD-4C80-BC13-47FC2509C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3d0151d844ae4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8064DC50-124E-4A5B-B53B-C501ABECDD34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Xₜ∈ℝᴮ×ᴴ×ᵈₖ, k=4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≈4Hdₖ/token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小卷积算术强度低，要求 Vector 与 gate/归一化融合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独立 kernel 启动占比高，要求减少 launch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 safe-gate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g=−5·σ(eᴬ⊙z)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O(Hdₖ)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逐元素 Vector，指数/累加影响稳定性，要求 FP32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与递归更新同路径，要求安全 gate 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Sₜ∈ℝᴴ×ᵈₖ×ᵈᵥ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≈3Hdₖdᵥ/token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小矩阵 + token 间串行依赖，要求状态驻留 L0/UB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HBM 往返决定时延，要求减少读写与同步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 replay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D 个草稿 token 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D×3Hdₖdᵥ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拒绝 token 触发状态恢复，要求 snapshot 与 speculative block 对齐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replay 延迟敏感，要求片上重建避免 HBM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D=4; snapshot≈24 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replay≈D×3Hdₖdᵥ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Decode memory/latency bound，要求 FULL_DECODE_ONLY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启动次数敏感，要求 persistent graph 控制 SRAM 与 launch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框架需求：对齐 use_kda_recoverssm、snapshot 粒度和 speculative block，统一处理部分拒绝、连续拒绝与跨 batch。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算子需求：FULL_DECODE_ONLY 固化 shape，snapshot 优先留在 L0/UB；分别统计 7-token/5-token draft 的接受率、replay 流量和 SRAM 占用。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趋势判断：推理路径从“每 token 重算”转向“状态恢复 + 小窗口 replay”，需要统一 KDA/MLA/AttnRes 的 speculative state 生命周期。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 b="1"/>
            </a:defPPr>
          </a:lstStyle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把深层残差从逐层累积改成 8 个 block bank 的可学习检索，降低深度维注意力的复杂度。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可以把 bank 聚合与 intra-block 计算拆开并行，Decode 通过 side stream 隐藏通信。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核心收益是跨层信息复用，核心风险是 bank 的 resident/reload 生命周期和 HCCL/内存碎片。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>
            <a:extLst xmlns:a="http://schemas.openxmlformats.org/drawingml/2006/main">
              <a:ext uri="{FF2B5EF4-FFF2-40B4-BE49-F238E27FC236}">
                <a16:creationId xmlns:a16="http://schemas.microsoft.com/office/drawing/2014/main" id="{CFAC22CB-76FA-4320-AE53-8AF08D79E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a96bba0374773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>
            <a:extLst xmlns:a="http://schemas.openxmlformats.org/drawingml/2006/main">
              <a:ext uri="{FF2B5EF4-FFF2-40B4-BE49-F238E27FC236}">
                <a16:creationId xmlns:a16="http://schemas.microsoft.com/office/drawing/2014/main" id="{D4497949-E693-4E10-8000-49E6FD43DE71}"/>
              </a:ext>
            </a:extLst>
          </p:cNvPr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9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R∈ℝᴺ×ᵈ, N≈8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O(Nd)/layer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批量读取 block bank，访存主导，要求 Decode side stream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bank resident 可减少 reload，要求常驻布局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mix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w∈ℝᵈ, B∈ℝᴺ×ᵈ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O(Nd)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 GEMM + softmax，要求 Vector softmax 与 CUBE mix 重叠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小算子 launch 敏感，要求融合执行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RS + AG, B∈ℝᴺ×ᵈ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按 block 聚合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跨卡聚合与块内计算并行，要求 HCCL RS+AG overlap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通信尾延迟敏感，要求流水化 handoff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Resident / reload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bank∈ℝᴺ×ᵈ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126–129 KB/token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resident 节省带宽，要求 A5 常驻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reload 受 HBM 限制，要求 A3 走带宽优化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N=8, L=1M context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30">
                          <a:solidFill>
                            <a:srgbClr val="2626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O(Nd)，非 O(L²d)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跨层状态访存和碎片主导，要求统一 cache manager</a:t>
                      </a:r>
                    </a:p>
                    <a:p>
                      <a:pPr algn="l">
                        <a:buNone/>
                      </a:pPr>
                      <a:r>
                        <a:rPr sz="645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长上下文收益取决于 bytes/token 与 HCCL time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90" b="1"/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算子需求：attn_res_fwd 融合 BF16 add、bank mix、RMSNorm 与 writeback，并提供 RESIDENT/RELOAD 两种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通信需求：Prefill 采用 RS+AG，Decode 使用 side stream；bank 的 PP/TP 切分与回收接入统一 cache manager。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99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趋势判断：AttnRes 引入跨层状态访存，验收需同时看 HCCL overlap、带宽、resident 命中率和内存碎片。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2026-10-12T22:51:44.1060000Z</dcterms:created>
  <dcterms:modified xsi:type="dcterms:W3CDTF">2026-10-12T22:51:44.1060000Z</dcterms:modified>
</coreProperties>
</file>