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7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10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slideLayouts/slideLayout3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slideLayouts/slideLayout36.xml" ContentType="application/vnd.openxmlformats-officedocument.presentationml.slideLayout+xml"/>
  <Override PartName="/ppt/theme/theme1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14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15.xml" ContentType="application/vnd.openxmlformats-officedocument.theme+xml"/>
  <Override PartName="/ppt/slideLayouts/slideLayout46.xml" ContentType="application/vnd.openxmlformats-officedocument.presentationml.slideLayout+xml"/>
  <Override PartName="/ppt/theme/theme16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17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18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19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20.xml" ContentType="application/vnd.openxmlformats-officedocument.theme+xml"/>
  <Override PartName="/ppt/slideLayouts/slideLayout80.xml" ContentType="application/vnd.openxmlformats-officedocument.presentationml.slideLayout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notesSlides/notesSlide1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2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4" r:id="rId3"/>
    <p:sldMasterId id="2147483657" r:id="rId4"/>
    <p:sldMasterId id="2147483663" r:id="rId5"/>
    <p:sldMasterId id="2147483664" r:id="rId6"/>
    <p:sldMasterId id="2147483665" r:id="rId7"/>
    <p:sldMasterId id="2147483672" r:id="rId8"/>
    <p:sldMasterId id="2147483675" r:id="rId9"/>
    <p:sldMasterId id="2147483676" r:id="rId10"/>
    <p:sldMasterId id="2147483692" r:id="rId11"/>
    <p:sldMasterId id="2147483694" r:id="rId12"/>
    <p:sldMasterId id="2147483695" r:id="rId13"/>
    <p:sldMasterId id="2147483697" r:id="rId14"/>
    <p:sldMasterId id="2147483702" r:id="rId15"/>
    <p:sldMasterId id="2147483708" r:id="rId16"/>
    <p:sldMasterId id="2147483710" r:id="rId17"/>
    <p:sldMasterId id="2147483726" r:id="rId18"/>
    <p:sldMasterId id="2147483742" r:id="rId19"/>
    <p:sldMasterId id="2147483743" r:id="rId20"/>
    <p:sldMasterId id="2147483747" r:id="rId21"/>
    <p:sldMasterId id="2147483752" r:id="rId22"/>
  </p:sldMasterIdLst>
  <p:notesMasterIdLst>
    <p:notesMasterId r:id="rId33"/>
  </p:notesMasterIdLst>
  <p:handoutMasterIdLst>
    <p:handoutMasterId r:id="rId34"/>
  </p:handoutMasterIdLst>
  <p:sldIdLst>
    <p:sldId id="16776087" r:id="rId23"/>
    <p:sldId id="16777053" r:id="rId24"/>
    <p:sldId id="16777054" r:id="rId25"/>
    <p:sldId id="256" r:id="rId26"/>
    <p:sldId id="257" r:id="rId27"/>
    <p:sldId id="258" r:id="rId28"/>
    <p:sldId id="259" r:id="rId29"/>
    <p:sldId id="260" r:id="rId30"/>
    <p:sldId id="261" r:id="rId31"/>
    <p:sldId id="16777055" r:id="rId32"/>
  </p:sldIdLst>
  <p:sldSz cx="12196763" cy="6858000"/>
  <p:notesSz cx="6858000" cy="9144000"/>
  <p:custDataLst>
    <p:tags r:id="rId3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1D1A"/>
    <a:srgbClr val="C7C7C7"/>
    <a:srgbClr val="DDDDDD"/>
    <a:srgbClr val="000000"/>
    <a:srgbClr val="B5B5B5"/>
    <a:srgbClr val="0000FF"/>
    <a:srgbClr val="FFFFFF"/>
    <a:srgbClr val="E9002F"/>
    <a:srgbClr val="595757"/>
    <a:srgbClr val="2218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9" autoAdjust="0"/>
    <p:restoredTop sz="84596" autoAdjust="0"/>
  </p:normalViewPr>
  <p:slideViewPr>
    <p:cSldViewPr snapToGrid="0" snapToObjects="1">
      <p:cViewPr varScale="1">
        <p:scale>
          <a:sx n="134" d="100"/>
          <a:sy n="134" d="100"/>
        </p:scale>
        <p:origin x="132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4.xml"/><Relationship Id="rId39" Type="http://schemas.openxmlformats.org/officeDocument/2006/relationships/tableStyles" Target="tableStyles.xml"/><Relationship Id="rId21" Type="http://schemas.openxmlformats.org/officeDocument/2006/relationships/slideMaster" Target="slideMasters/slideMaster21.xml"/><Relationship Id="rId34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3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2.xml"/><Relationship Id="rId32" Type="http://schemas.openxmlformats.org/officeDocument/2006/relationships/slide" Target="slides/slide10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1.xml"/><Relationship Id="rId28" Type="http://schemas.openxmlformats.org/officeDocument/2006/relationships/slide" Target="slides/slide6.xml"/><Relationship Id="rId36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5.xml"/><Relationship Id="rId30" Type="http://schemas.openxmlformats.org/officeDocument/2006/relationships/slide" Target="slides/slide8.xml"/><Relationship Id="rId35" Type="http://schemas.openxmlformats.org/officeDocument/2006/relationships/tags" Target="tags/tag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3565"/>
              </a:lnSpc>
            </a:pPr>
            <a:endParaRPr lang="en-US" altLang="zh-CN" sz="17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48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图示按 README 的 draw_kda_arch.py 与技术报告 Figure 2/§2.1.1 校准；参数以开源 config 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图示按技术报告 §2.1.2/§2.5 校准；vLLM-Ascend Kimi-K3 指南仅将 A3 W4A8 作为当前部署基线，A5为亲和性评估。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图示按技术报告 §5.1 与 vllm-ascend csrc/attention/chunk_kda_fwd/README.md 校准；CUBE/Vector 划分是 NPU 实现假设，需实测确认。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图示按技术报告 §5.4.2、vLLM use_kda_recoverssm 与 Kimi-K3 DSpark 部署说明校准。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图示按技术报告 §2.2/§5.4.2 与 vllm-ascend attn_res_fwd README 校准；A3 支持状态需要专项 benchmark。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图示按技术报告 §2.3/§5.4.2 与 Kimi-K3 A3 W4A8 指南校准；1.49TB 是权重存储需求，不等于运行时 HBM。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BCDF8-355E-164F-61AC-8E83640EC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BB46C-FB32-1350-BD58-32116D4D0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EEA4CE-E8C5-56F5-3DD2-8C457C8EC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图示按 README 的 draw_kda_arch.py 与技术报告 Figure 2/§2.1.1 校准；参数以开源 config 为准。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8B795-24CB-E08C-1874-E9E63A60F76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"/>
            </a:endParaRPr>
          </a:p>
        </p:txBody>
      </p:sp>
    </p:spTree>
    <p:extLst>
      <p:ext uri="{BB962C8B-B14F-4D97-AF65-F5344CB8AC3E}">
        <p14:creationId xmlns:p14="http://schemas.microsoft.com/office/powerpoint/2010/main" val="2287687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0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0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0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2.jpeg"/><Relationship Id="rId5" Type="http://schemas.openxmlformats.org/officeDocument/2006/relationships/slideMaster" Target="../slideMasters/slideMaster10.xml"/><Relationship Id="rId4" Type="http://schemas.openxmlformats.org/officeDocument/2006/relationships/tags" Target="../tags/tag5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8.xml"/><Relationship Id="rId7" Type="http://schemas.openxmlformats.org/officeDocument/2006/relationships/slideMaster" Target="../slideMasters/slideMaster10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7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7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2.jpeg"/><Relationship Id="rId5" Type="http://schemas.openxmlformats.org/officeDocument/2006/relationships/slideMaster" Target="../slideMasters/slideMaster17.xml"/><Relationship Id="rId4" Type="http://schemas.openxmlformats.org/officeDocument/2006/relationships/tags" Target="../tags/tag15.xml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18.xml"/><Relationship Id="rId7" Type="http://schemas.openxmlformats.org/officeDocument/2006/relationships/slideMaster" Target="../slideMasters/slideMaster17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8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12.jpeg"/><Relationship Id="rId5" Type="http://schemas.openxmlformats.org/officeDocument/2006/relationships/slideMaster" Target="../slideMasters/slideMaster18.xml"/><Relationship Id="rId4" Type="http://schemas.openxmlformats.org/officeDocument/2006/relationships/tags" Target="../tags/tag25.xml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28.xml"/><Relationship Id="rId7" Type="http://schemas.openxmlformats.org/officeDocument/2006/relationships/slideMaster" Target="../slideMasters/slideMaster1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048" y="480684"/>
            <a:ext cx="10740640" cy="46440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Font typeface="Arial" panose="020B0604020202090204" pitchFamily="34" charset="0"/>
              <a:buNone/>
              <a:defRPr sz="2400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7450" indent="0" algn="ctr">
              <a:buNone/>
              <a:defRPr sz="2340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7990" indent="0" algn="ctr">
              <a:buNone/>
              <a:defRPr sz="2080"/>
            </a:lvl6pPr>
            <a:lvl7pPr marL="3562350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Box 3"/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9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9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9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9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31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75"/>
            </a:lvl4pPr>
            <a:lvl5pPr marL="2372995" indent="0" algn="ctr">
              <a:buNone/>
              <a:defRPr sz="2075"/>
            </a:lvl5pPr>
            <a:lvl6pPr marL="2966085" indent="0" algn="ctr">
              <a:buNone/>
              <a:defRPr sz="2075"/>
            </a:lvl6pPr>
            <a:lvl7pPr marL="3559175" indent="0" algn="ctr">
              <a:buNone/>
              <a:defRPr sz="2075"/>
            </a:lvl7pPr>
            <a:lvl8pPr marL="4152265" indent="0" algn="ctr">
              <a:buNone/>
              <a:defRPr sz="2075"/>
            </a:lvl8pPr>
            <a:lvl9pPr marL="4745355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11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6500" algn="ctr"/>
              </a:tabLst>
              <a:defRPr sz="17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145" indent="-170815">
              <a:buFont typeface="Arial" panose="020B0604020202090204" pitchFamily="34" charset="0"/>
              <a:buChar char="•"/>
              <a:tabLst>
                <a:tab pos="1206500" algn="ctr"/>
              </a:tabLst>
              <a:defRPr sz="1295" baseline="0"/>
            </a:lvl2pPr>
            <a:lvl3pPr marL="525145" indent="-170815">
              <a:buFont typeface="Arial" panose="020B0604020202090204" pitchFamily="34" charset="0"/>
              <a:buChar char="•"/>
              <a:tabLst>
                <a:tab pos="1206500" algn="ctr"/>
              </a:tabLst>
              <a:defRPr sz="1295" baseline="0"/>
            </a:lvl3pPr>
            <a:lvl4pPr marL="525145" indent="-170815">
              <a:buFont typeface="Arial" panose="020B0604020202090204" pitchFamily="34" charset="0"/>
              <a:buChar char="•"/>
              <a:tabLst>
                <a:tab pos="1206500" algn="ctr"/>
              </a:tabLst>
              <a:defRPr sz="1295" baseline="0"/>
            </a:lvl4pPr>
            <a:lvl5pPr marL="525145" indent="-170815">
              <a:buFont typeface="Arial" panose="020B0604020202090204" pitchFamily="34" charset="0"/>
              <a:buChar char="•"/>
              <a:tabLst>
                <a:tab pos="1206500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048" y="480684"/>
            <a:ext cx="10740640" cy="46440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Font typeface="Arial" panose="020B0604020202090204" pitchFamily="34" charset="0"/>
              <a:buNone/>
              <a:defRPr sz="2400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7450" indent="0" algn="ctr">
              <a:buNone/>
              <a:defRPr sz="2340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7990" indent="0" algn="ctr">
              <a:buNone/>
              <a:defRPr sz="2080"/>
            </a:lvl6pPr>
            <a:lvl7pPr marL="3562350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Box 3"/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048" y="480686"/>
            <a:ext cx="10740640" cy="46440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600"/>
            </a:lvl2pPr>
            <a:lvl3pPr marL="1187450" indent="0" algn="ctr">
              <a:buNone/>
              <a:defRPr sz="2340"/>
            </a:lvl3pPr>
            <a:lvl4pPr marL="1780540" indent="0" algn="ctr">
              <a:buNone/>
              <a:defRPr sz="2080"/>
            </a:lvl4pPr>
            <a:lvl5pPr marL="2373630" indent="0" algn="ctr">
              <a:buNone/>
              <a:defRPr sz="2080"/>
            </a:lvl5pPr>
            <a:lvl6pPr marL="2966720" indent="0" algn="ctr">
              <a:buNone/>
              <a:defRPr sz="2080"/>
            </a:lvl6pPr>
            <a:lvl7pPr marL="3561080" indent="0" algn="ctr">
              <a:buNone/>
              <a:defRPr sz="2080"/>
            </a:lvl7pPr>
            <a:lvl8pPr marL="4154170" indent="0" algn="ctr">
              <a:buNone/>
              <a:defRPr sz="2080"/>
            </a:lvl8pPr>
            <a:lvl9pPr marL="474726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31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75"/>
            </a:lvl4pPr>
            <a:lvl5pPr marL="2372995" indent="0" algn="ctr">
              <a:buNone/>
              <a:defRPr sz="2075"/>
            </a:lvl5pPr>
            <a:lvl6pPr marL="2966085" indent="0" algn="ctr">
              <a:buNone/>
              <a:defRPr sz="2075"/>
            </a:lvl6pPr>
            <a:lvl7pPr marL="3559175" indent="0" algn="ctr">
              <a:buNone/>
              <a:defRPr sz="2075"/>
            </a:lvl7pPr>
            <a:lvl8pPr marL="4152265" indent="0" algn="ctr">
              <a:buNone/>
              <a:defRPr sz="2075"/>
            </a:lvl8pPr>
            <a:lvl9pPr marL="4745355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11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6500" algn="ctr"/>
              </a:tabLst>
              <a:defRPr sz="17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145" indent="-170815">
              <a:buFont typeface="Arial" panose="020B0604020202090204" pitchFamily="34" charset="0"/>
              <a:buChar char="•"/>
              <a:tabLst>
                <a:tab pos="1206500" algn="ctr"/>
              </a:tabLst>
              <a:defRPr sz="1295" baseline="0"/>
            </a:lvl2pPr>
            <a:lvl3pPr marL="525145" indent="-170815">
              <a:buFont typeface="Arial" panose="020B0604020202090204" pitchFamily="34" charset="0"/>
              <a:buChar char="•"/>
              <a:tabLst>
                <a:tab pos="1206500" algn="ctr"/>
              </a:tabLst>
              <a:defRPr sz="1295" baseline="0"/>
            </a:lvl3pPr>
            <a:lvl4pPr marL="525145" indent="-170815">
              <a:buFont typeface="Arial" panose="020B0604020202090204" pitchFamily="34" charset="0"/>
              <a:buChar char="•"/>
              <a:tabLst>
                <a:tab pos="1206500" algn="ctr"/>
              </a:tabLst>
              <a:defRPr sz="1295" baseline="0"/>
            </a:lvl4pPr>
            <a:lvl5pPr marL="525145" indent="-170815">
              <a:buFont typeface="Arial" panose="020B0604020202090204" pitchFamily="34" charset="0"/>
              <a:buChar char="•"/>
              <a:tabLst>
                <a:tab pos="1206500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D8E6A-D239-45DC-8734-7A6B9B319D6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2026/10/13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9318-1D1A-4BA1-918A-91DA8E12362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597" y="1122363"/>
            <a:ext cx="9147572" cy="2387600"/>
          </a:xfrm>
        </p:spPr>
        <p:txBody>
          <a:bodyPr anchor="b"/>
          <a:lstStyle>
            <a:lvl1pPr algn="ctr">
              <a:defRPr sz="59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597" y="3602038"/>
            <a:ext cx="9147572" cy="1655762"/>
          </a:xfrm>
        </p:spPr>
        <p:txBody>
          <a:bodyPr/>
          <a:lstStyle>
            <a:lvl1pPr marL="0" indent="0" algn="ctr">
              <a:buNone/>
              <a:defRPr sz="2395"/>
            </a:lvl1pPr>
            <a:lvl2pPr marL="456565" indent="0" algn="ctr">
              <a:buNone/>
              <a:defRPr sz="1995"/>
            </a:lvl2pPr>
            <a:lvl3pPr marL="912495" indent="0" algn="ctr">
              <a:buNone/>
              <a:defRPr sz="1795"/>
            </a:lvl3pPr>
            <a:lvl4pPr marL="1369060" indent="0" algn="ctr">
              <a:buNone/>
              <a:defRPr sz="1595"/>
            </a:lvl4pPr>
            <a:lvl5pPr marL="1826260" indent="0" algn="ctr">
              <a:buNone/>
              <a:defRPr sz="1595"/>
            </a:lvl5pPr>
            <a:lvl6pPr marL="2282190" indent="0" algn="ctr">
              <a:buNone/>
              <a:defRPr sz="1595"/>
            </a:lvl6pPr>
            <a:lvl7pPr marL="2738755" indent="0" algn="ctr">
              <a:buNone/>
              <a:defRPr sz="1595"/>
            </a:lvl7pPr>
            <a:lvl8pPr marL="3194685" indent="0" algn="ctr">
              <a:buNone/>
              <a:defRPr sz="1595"/>
            </a:lvl8pPr>
            <a:lvl9pPr marL="3651250" indent="0" algn="ctr">
              <a:buNone/>
              <a:defRPr sz="15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/>
            <a:fld id="{D997B5FA-0921-464F-AAE1-844C04324D75}" type="datetimeFigureOut">
              <a:rPr lang="zh-CN" altLang="en-US" smtClean="0">
                <a:solidFill>
                  <a:srgbClr val="1D1D1A"/>
                </a:solidFill>
              </a:rPr>
              <a:t>2026/10/13</a:t>
            </a:fld>
            <a:endParaRPr lang="zh-CN" altLang="en-US">
              <a:solidFill>
                <a:srgbClr val="1D1D1A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endParaRPr lang="zh-CN" altLang="en-US">
              <a:solidFill>
                <a:srgbClr val="1D1D1A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565CE74E-AB26-4998-AD42-012C4C1AD076}" type="slidenum">
              <a:rPr lang="zh-CN" altLang="en-US" smtClean="0">
                <a:solidFill>
                  <a:srgbClr val="1D1D1A"/>
                </a:solidFill>
              </a:rPr>
              <a:t>‹#›</a:t>
            </a:fld>
            <a:endParaRPr lang="zh-CN" altLang="en-US">
              <a:solidFill>
                <a:srgbClr val="1D1D1A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2615" y="447469"/>
            <a:ext cx="11301062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9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/>
            <a:fld id="{A5D3794B-289A-4A80-97D7-111025398D45}" type="datetimeFigureOut">
              <a:rPr lang="en-US" dirty="0">
                <a:solidFill>
                  <a:prstClr val="black">
                    <a:lumMod val="95000"/>
                    <a:lumOff val="5000"/>
                  </a:prstClr>
                </a:solidFill>
              </a:rPr>
              <a:t>10/13/2026</a:t>
            </a:fld>
            <a:endParaRPr lang="en-US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endParaRPr lang="en-US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4FAB73BC-B049-4115-A692-8D63A059BFB8}" type="slidenum">
              <a:rPr lang="en-US" dirty="0">
                <a:solidFill>
                  <a:prstClr val="black">
                    <a:lumMod val="95000"/>
                    <a:lumOff val="5000"/>
                  </a:prstClr>
                </a:solidFill>
              </a:rPr>
              <a:t>‹#›</a:t>
            </a:fld>
            <a:endParaRPr lang="en-US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4306" y="161890"/>
            <a:ext cx="11165422" cy="800100"/>
          </a:xfrm>
          <a:prstGeom prst="rect">
            <a:avLst/>
          </a:prstGeom>
        </p:spPr>
        <p:txBody>
          <a:bodyPr anchor="ctr"/>
          <a:lstStyle>
            <a:lvl1pPr>
              <a:defRPr sz="2795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2246133" y="84098"/>
            <a:ext cx="239116" cy="1927858"/>
            <a:chOff x="12246130" y="1518075"/>
            <a:chExt cx="239116" cy="3627664"/>
          </a:xfrm>
        </p:grpSpPr>
        <p:sp>
          <p:nvSpPr>
            <p:cNvPr id="5" name="矩形 9"/>
            <p:cNvSpPr/>
            <p:nvPr userDrawn="1"/>
          </p:nvSpPr>
          <p:spPr>
            <a:xfrm>
              <a:off x="12246130" y="3376754"/>
              <a:ext cx="239116" cy="839646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6" name="矩形 10"/>
            <p:cNvSpPr/>
            <p:nvPr userDrawn="1"/>
          </p:nvSpPr>
          <p:spPr>
            <a:xfrm>
              <a:off x="12246130" y="2447415"/>
              <a:ext cx="239116" cy="839646"/>
            </a:xfrm>
            <a:prstGeom prst="rect">
              <a:avLst/>
            </a:prstGeom>
            <a:solidFill>
              <a:srgbClr val="7CBF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7" name="矩形 11"/>
            <p:cNvSpPr/>
            <p:nvPr userDrawn="1"/>
          </p:nvSpPr>
          <p:spPr>
            <a:xfrm>
              <a:off x="12246130" y="1518075"/>
              <a:ext cx="239116" cy="839646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12246130" y="4306093"/>
              <a:ext cx="239116" cy="839646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87"/>
          <p:cNvGrpSpPr>
            <a:grpSpLocks noChangeAspect="1"/>
          </p:cNvGrpSpPr>
          <p:nvPr userDrawn="1"/>
        </p:nvGrpSpPr>
        <p:grpSpPr>
          <a:xfrm>
            <a:off x="12285673" y="2625399"/>
            <a:ext cx="1962556" cy="4233515"/>
            <a:chOff x="5343885" y="-48857"/>
            <a:chExt cx="3263586" cy="7037279"/>
          </a:xfrm>
        </p:grpSpPr>
        <p:sp>
          <p:nvSpPr>
            <p:cNvPr id="11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196/0/84</a:t>
              </a:r>
            </a:p>
          </p:txBody>
        </p:sp>
        <p:sp>
          <p:nvSpPr>
            <p:cNvPr id="12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249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13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203/55/120</a:t>
              </a:r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237/109/0</a:t>
              </a: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153/54/54</a:t>
              </a:r>
            </a:p>
          </p:txBody>
        </p:sp>
        <p:sp>
          <p:nvSpPr>
            <p:cNvPr id="16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98/178/48</a:t>
              </a:r>
            </a:p>
          </p:txBody>
        </p:sp>
        <p:sp>
          <p:nvSpPr>
            <p:cNvPr id="17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242/137/68</a:t>
              </a:r>
            </a:p>
          </p:txBody>
        </p:sp>
        <p:sp>
          <p:nvSpPr>
            <p:cNvPr id="18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185C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199/0/11  </a:t>
              </a:r>
            </a:p>
          </p:txBody>
        </p:sp>
        <p:sp>
          <p:nvSpPr>
            <p:cNvPr id="19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249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20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186C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200/16/46  </a:t>
              </a:r>
            </a:p>
          </p:txBody>
        </p:sp>
        <p:sp>
          <p:nvSpPr>
            <p:cNvPr id="21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127/0/1</a:t>
              </a:r>
            </a:p>
          </p:txBody>
        </p:sp>
        <p:sp>
          <p:nvSpPr>
            <p:cNvPr id="22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52/200/0</a:t>
              </a:r>
            </a:p>
          </p:txBody>
        </p:sp>
        <p:sp>
          <p:nvSpPr>
            <p:cNvPr id="23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48/181/197</a:t>
              </a:r>
            </a:p>
          </p:txBody>
        </p:sp>
        <p:sp>
          <p:nvSpPr>
            <p:cNvPr id="24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129/193/95</a:t>
              </a:r>
            </a:p>
          </p:txBody>
        </p:sp>
        <p:sp>
          <p:nvSpPr>
            <p:cNvPr id="25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253/211/81</a:t>
              </a:r>
            </a:p>
          </p:txBody>
        </p:sp>
        <p:sp>
          <p:nvSpPr>
            <p:cNvPr id="26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86/196/210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211/57/65</a:t>
              </a:r>
            </a:p>
          </p:txBody>
        </p:sp>
        <p:sp>
          <p:nvSpPr>
            <p:cNvPr id="28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211/56/89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221/128/170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191/128/130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246/183/140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176/216/156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253/227/181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148/218/226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226/129/137</a:t>
              </a:r>
            </a:p>
          </p:txBody>
        </p:sp>
        <p:sp>
          <p:nvSpPr>
            <p:cNvPr id="36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226/129/152</a:t>
              </a:r>
            </a:p>
          </p:txBody>
        </p:sp>
        <p:sp>
          <p:nvSpPr>
            <p:cNvPr id="37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235/179/204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216/179/179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250/211/187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208/232/196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254/238/193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190/23/238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239/178/184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238/179/193</a:t>
              </a:r>
            </a:p>
          </p:txBody>
        </p:sp>
        <p:sp>
          <p:nvSpPr>
            <p:cNvPr id="45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35/24/21</a:t>
              </a:r>
            </a:p>
          </p:txBody>
        </p:sp>
        <p:sp>
          <p:nvSpPr>
            <p:cNvPr id="46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89/87/87</a:t>
              </a:r>
            </a:p>
          </p:txBody>
        </p:sp>
        <p:sp>
          <p:nvSpPr>
            <p:cNvPr id="47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137/137/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</a:t>
              </a:r>
            </a:p>
          </p:txBody>
        </p:sp>
        <p:sp>
          <p:nvSpPr>
            <p:cNvPr id="48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181/181/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</a:t>
              </a:r>
            </a:p>
          </p:txBody>
        </p:sp>
        <p:sp>
          <p:nvSpPr>
            <p:cNvPr id="49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221/221/</a:t>
              </a:r>
              <a:b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221</a:t>
              </a:r>
            </a:p>
          </p:txBody>
        </p:sp>
        <p:sp>
          <p:nvSpPr>
            <p:cNvPr id="50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255/255/</a:t>
              </a:r>
              <a:b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</a:t>
              </a: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9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9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9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9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8" y="1402067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sz="4795" dirty="0">
                <a:solidFill>
                  <a:srgbClr val="1D1D1A"/>
                </a:solidFill>
                <a:latin typeface="FrutigerNext LT Regular" pitchFamily="34" charset="0"/>
                <a:ea typeface="MS PGothic" panose="020B0600070205080204" pitchFamily="34" charset="-128"/>
              </a:rPr>
              <a:t>Thank you.</a:t>
            </a:r>
          </a:p>
        </p:txBody>
      </p:sp>
      <p:sp>
        <p:nvSpPr>
          <p:cNvPr id="3" name="Text Placeholder 1"/>
          <p:cNvSpPr txBox="1"/>
          <p:nvPr userDrawn="1"/>
        </p:nvSpPr>
        <p:spPr>
          <a:xfrm>
            <a:off x="7979359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ts val="1065"/>
              </a:lnSpc>
              <a:spcAft>
                <a:spcPct val="0"/>
              </a:spcAft>
            </a:pPr>
            <a:r>
              <a:rPr kumimoji="1" lang="en-US" altLang="zh-CN" sz="850" b="1" dirty="0">
                <a:solidFill>
                  <a:srgbClr val="1D1D1B"/>
                </a:solidFill>
                <a:latin typeface="Arial" panose="020B0604020202090204"/>
              </a:rPr>
              <a:t>Copyright©2018 Huawei Technologies Co., Ltd.</a:t>
            </a:r>
            <a:br>
              <a:rPr kumimoji="1" lang="en-US" altLang="zh-CN" sz="850" b="1" dirty="0">
                <a:solidFill>
                  <a:srgbClr val="1D1D1B"/>
                </a:solidFill>
                <a:latin typeface="Arial" panose="020B0604020202090204"/>
              </a:rPr>
            </a:br>
            <a:r>
              <a:rPr kumimoji="1" lang="en-US" altLang="zh-CN" sz="850" b="1" dirty="0">
                <a:solidFill>
                  <a:srgbClr val="1D1D1B"/>
                </a:solidFill>
                <a:latin typeface="Arial" panose="020B0604020202090204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Arial" panose="020B0604020202090204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Arial" panose="020B0604020202090204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90204"/>
                <a:cs typeface="Arial" panose="020B0604020202090204" pitchFamily="34" charset="0"/>
              </a:rPr>
              <a:t>The information in this document may contain predictive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90204"/>
                <a:cs typeface="Arial" panose="020B060402020209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90204"/>
                <a:cs typeface="Arial" panose="020B0604020202090204" pitchFamily="34" charset="0"/>
              </a:rPr>
              <a:t>statements including, without limitation, statements regarding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90204"/>
                <a:cs typeface="Arial" panose="020B060402020209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90204"/>
                <a:cs typeface="Arial" panose="020B0604020202090204" pitchFamily="34" charset="0"/>
              </a:rPr>
              <a:t>the future financial and operating results, future product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90204"/>
                <a:cs typeface="Arial" panose="020B060402020209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90204"/>
                <a:cs typeface="Arial" panose="020B0604020202090204" pitchFamily="34" charset="0"/>
              </a:rPr>
              <a:t>portfolio, new technology, etc. There are a number of factors that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90204"/>
                <a:cs typeface="Arial" panose="020B060402020209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90204"/>
                <a:cs typeface="Arial" panose="020B0604020202090204" pitchFamily="34" charset="0"/>
              </a:rPr>
              <a:t>could cause actual results and developments to differ materially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90204"/>
                <a:cs typeface="Arial" panose="020B060402020209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90204"/>
                <a:cs typeface="Arial" panose="020B0604020202090204" pitchFamily="34" charset="0"/>
              </a:rPr>
              <a:t>from those expressed or implied in the predictive statements.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90204"/>
                <a:cs typeface="Arial" panose="020B060402020209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90204"/>
                <a:cs typeface="Arial" panose="020B0604020202090204" pitchFamily="34" charset="0"/>
              </a:rPr>
              <a:t>Therefore, such information is provided for reference purpose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90204"/>
                <a:cs typeface="Arial" panose="020B060402020209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90204"/>
                <a:cs typeface="Arial" panose="020B0604020202090204" pitchFamily="34" charset="0"/>
              </a:rPr>
              <a:t>only and constitutes neither an offer nor an acceptance. Huawei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90204"/>
                <a:cs typeface="Arial" panose="020B060402020209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90204"/>
                <a:cs typeface="Arial" panose="020B0604020202090204" pitchFamily="34" charset="0"/>
              </a:rPr>
              <a:t>may change the information at any time without notice. </a:t>
            </a:r>
          </a:p>
          <a:p>
            <a:pPr fontAlgn="base">
              <a:lnSpc>
                <a:spcPts val="1065"/>
              </a:lnSpc>
              <a:spcAft>
                <a:spcPct val="0"/>
              </a:spcAft>
            </a:pPr>
            <a:endParaRPr kumimoji="1" lang="zh-CN" altLang="en-US" sz="780" dirty="0">
              <a:solidFill>
                <a:srgbClr val="1D1D1B"/>
              </a:solidFill>
              <a:latin typeface="Arial" panose="020B0604020202090204"/>
            </a:endParaRPr>
          </a:p>
        </p:txBody>
      </p:sp>
      <p:sp>
        <p:nvSpPr>
          <p:cNvPr id="5" name="Subtitle 6"/>
          <p:cNvSpPr txBox="1"/>
          <p:nvPr userDrawn="1"/>
        </p:nvSpPr>
        <p:spPr>
          <a:xfrm>
            <a:off x="7987278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ts val="1680"/>
              </a:lnSpc>
              <a:spcBef>
                <a:spcPts val="0"/>
              </a:spcBef>
              <a:spcAft>
                <a:spcPct val="0"/>
              </a:spcAft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6" name="Subtitle 6"/>
          <p:cNvSpPr txBox="1"/>
          <p:nvPr userDrawn="1"/>
        </p:nvSpPr>
        <p:spPr>
          <a:xfrm>
            <a:off x="7977674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ts val="1290"/>
              </a:lnSpc>
              <a:spcAft>
                <a:spcPct val="0"/>
              </a:spcAft>
            </a:pPr>
            <a:r>
              <a:rPr kumimoji="1" lang="en-US" altLang="zh-CN" sz="1200" dirty="0">
                <a:solidFill>
                  <a:srgbClr val="1D1D1B"/>
                </a:solidFill>
                <a:latin typeface="Arial" panose="020B0604020202090204"/>
                <a:cs typeface="Arial" panose="020B060402020209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Arial" panose="020B0604020202090204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Arial" panose="020B0604020202090204"/>
                <a:cs typeface="Arial" panose="020B060402020209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Arial" panose="020B0604020202090204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Arial" panose="020B0604020202090204"/>
                <a:cs typeface="Arial" panose="020B060402020209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Arial" panose="020B0604020202090204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528" y="365129"/>
            <a:ext cx="1051970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528" y="1825625"/>
            <a:ext cx="10519708" cy="43513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530" y="6356366"/>
            <a:ext cx="2744272" cy="365125"/>
          </a:xfrm>
          <a:prstGeom prst="rect">
            <a:avLst/>
          </a:prstGeom>
        </p:spPr>
        <p:txBody>
          <a:bodyPr/>
          <a:lstStyle/>
          <a:p>
            <a:pPr defTabSz="911860" fontAlgn="base">
              <a:spcBef>
                <a:spcPct val="0"/>
              </a:spcBef>
              <a:spcAft>
                <a:spcPct val="0"/>
              </a:spcAft>
            </a:pPr>
            <a:fld id="{CE6777DC-D225-4028-AD0B-277BE12772E8}" type="datetimeFigureOut">
              <a:rPr lang="zh-CN" altLang="en-US" sz="1200" smtClean="0">
                <a:solidFill>
                  <a:srgbClr val="1D1D1A"/>
                </a:solidFill>
                <a:latin typeface="FrutigerNext LT Regular" pitchFamily="34" charset="0"/>
                <a:ea typeface="MS PGothic" panose="020B0600070205080204" pitchFamily="34" charset="-128"/>
              </a:rPr>
              <a:t>2026/10/13</a:t>
            </a:fld>
            <a:endParaRPr lang="zh-CN" altLang="en-US" sz="1200">
              <a:solidFill>
                <a:srgbClr val="1D1D1A"/>
              </a:solidFill>
              <a:latin typeface="FrutigerNext LT Regular" pitchFamily="34" charset="0"/>
              <a:ea typeface="MS PGothic" panose="020B0600070205080204" pitchFamily="34" charset="-128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40178" y="6356366"/>
            <a:ext cx="4116408" cy="365125"/>
          </a:xfrm>
          <a:prstGeom prst="rect">
            <a:avLst/>
          </a:prstGeom>
        </p:spPr>
        <p:txBody>
          <a:bodyPr/>
          <a:lstStyle/>
          <a:p>
            <a:pPr defTabSz="911860" fontAlgn="base">
              <a:spcBef>
                <a:spcPct val="0"/>
              </a:spcBef>
              <a:spcAft>
                <a:spcPct val="0"/>
              </a:spcAft>
            </a:pPr>
            <a:endParaRPr lang="zh-CN" altLang="en-US" sz="1200">
              <a:solidFill>
                <a:srgbClr val="1D1D1A"/>
              </a:solidFill>
              <a:latin typeface="FrutigerNext LT Regular" pitchFamily="34" charset="0"/>
              <a:ea typeface="MS PGothic" panose="020B0600070205080204" pitchFamily="34" charset="-128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3964" y="6356366"/>
            <a:ext cx="2744272" cy="365125"/>
          </a:xfrm>
          <a:prstGeom prst="rect">
            <a:avLst/>
          </a:prstGeom>
        </p:spPr>
        <p:txBody>
          <a:bodyPr/>
          <a:lstStyle/>
          <a:p>
            <a:pPr defTabSz="911860" fontAlgn="base">
              <a:spcBef>
                <a:spcPct val="0"/>
              </a:spcBef>
              <a:spcAft>
                <a:spcPct val="0"/>
              </a:spcAft>
            </a:pPr>
            <a:fld id="{EA071C81-BE34-4A1D-82F0-99073968B939}" type="slidenum">
              <a:rPr lang="zh-CN" altLang="en-US" sz="1200" smtClean="0">
                <a:solidFill>
                  <a:srgbClr val="1D1D1A"/>
                </a:solidFill>
                <a:latin typeface="FrutigerNext LT Regular" pitchFamily="34" charset="0"/>
                <a:ea typeface="MS PGothic" panose="020B0600070205080204" pitchFamily="34" charset="-128"/>
              </a:rPr>
              <a:t>‹#›</a:t>
            </a:fld>
            <a:endParaRPr lang="zh-CN" altLang="en-US" sz="1200">
              <a:solidFill>
                <a:srgbClr val="1D1D1A"/>
              </a:solidFill>
              <a:latin typeface="FrutigerNext LT Regular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14520" y="2129932"/>
            <a:ext cx="10367725" cy="147127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微软雅黑 </a:t>
            </a:r>
            <a:r>
              <a:rPr lang="en-US" altLang="zh-CN" dirty="0"/>
              <a:t>40pt </a:t>
            </a:r>
            <a:r>
              <a:rPr lang="zh-CN" altLang="en-US" dirty="0"/>
              <a:t>，居中，最多两行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分隔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深色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26022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7"/>
            <a:ext cx="10740640" cy="5435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="1"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中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5"/>
            <a:ext cx="10740640" cy="5435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40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2350" indent="0" algn="ctr">
              <a:buNone/>
              <a:defRPr sz="2080"/>
            </a:lvl7pPr>
            <a:lvl8pPr marL="4156075" indent="0" algn="ctr">
              <a:buNone/>
              <a:defRPr sz="2080"/>
            </a:lvl8pPr>
            <a:lvl9pPr marL="4749800" indent="0" algn="ctr">
              <a:buNone/>
              <a:defRPr sz="2080"/>
            </a:lvl9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中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839" y="275172"/>
            <a:ext cx="10977087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81306" y="336815"/>
            <a:ext cx="10458982" cy="75966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393" tIns="45697" rIns="91393" bIns="45697" numCol="1" anchor="ctr" anchorCtr="0" compatLnSpc="1"/>
          <a:lstStyle>
            <a:lvl1pPr marL="0" indent="0">
              <a:buFont typeface="Arial" panose="020B0604020202090204" pitchFamily="34" charset="0"/>
              <a:buNone/>
              <a:defRPr lang="zh-CN" altLang="en-US" sz="3995" b="0" dirty="0">
                <a:solidFill>
                  <a:schemeClr val="tx2"/>
                </a:solidFill>
                <a:latin typeface="FrutigerNext LT Light" pitchFamily="34" charset="0"/>
                <a:ea typeface="黑体" pitchFamily="49" charset="-122"/>
              </a:defRPr>
            </a:lvl1pPr>
          </a:lstStyle>
          <a:p>
            <a:pPr lvl="0"/>
            <a:r>
              <a:rPr lang="en-US" altLang="zh-CN" dirty="0"/>
              <a:t>HEADLINE TEXT TO BE PLACED</a:t>
            </a:r>
            <a:endParaRPr lang="zh-CN" alt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927" y="449287"/>
            <a:ext cx="10180910" cy="871537"/>
          </a:xfrm>
          <a:prstGeom prst="rect">
            <a:avLst/>
          </a:prstGeom>
        </p:spPr>
        <p:txBody>
          <a:bodyPr lIns="91434" tIns="45717" rIns="91434" bIns="45717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1019183" y="1628384"/>
            <a:ext cx="10158399" cy="4584744"/>
          </a:xfrm>
          <a:prstGeom prst="rect">
            <a:avLst/>
          </a:prstGeom>
        </p:spPr>
        <p:txBody>
          <a:bodyPr lIns="91434" tIns="45717" rIns="91434" bIns="45717"/>
          <a:lstStyle>
            <a:lvl1pPr>
              <a:defRPr sz="3200"/>
            </a:lvl1pPr>
            <a:lvl2pPr>
              <a:defRPr sz="2665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 advClick="0" advTm="8000">
    <p:fade thruBlk="1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>
            <p:custDataLst>
              <p:tags r:id="rId2"/>
            </p:custDataLst>
          </p:nvPr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en-US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单击此处添加文本</a:t>
            </a:r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2310" y="258793"/>
            <a:ext cx="10996146" cy="49170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b="1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-1982311" y="750499"/>
            <a:ext cx="10996146" cy="4797904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Text Box 5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870312" y="6471876"/>
            <a:ext cx="2506524" cy="2746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104210" tIns="52106" rIns="104210" bIns="52106">
            <a:spAutoFit/>
          </a:bodyPr>
          <a:lstStyle/>
          <a:p>
            <a:pPr defTabSz="10433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FrutigerNext LT Bold" pitchFamily="1" charset="0"/>
                <a:ea typeface="MS PGothic" panose="020B0600070205080204" pitchFamily="34" charset="-128"/>
              </a:rPr>
              <a:t>HUAWEI TECHNOLOGIES Co., Ltd.</a:t>
            </a:r>
            <a:endParaRPr lang="en-US" altLang="zh-CN" sz="1800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  <p:sp>
        <p:nvSpPr>
          <p:cNvPr id="11" name="Rectangle 7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4882997" y="6471884"/>
            <a:ext cx="1632730" cy="2745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104202" tIns="52098" rIns="104202" bIns="52098">
            <a:spAutoFit/>
          </a:bodyPr>
          <a:lstStyle/>
          <a:p>
            <a:pPr defTabSz="10433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FrutigerNext LT Bold" pitchFamily="1" charset="0"/>
                <a:ea typeface="MS PGothic" panose="020B0600070205080204" pitchFamily="34" charset="-128"/>
              </a:rPr>
              <a:t>HUAWEI Confidential </a:t>
            </a:r>
          </a:p>
        </p:txBody>
      </p:sp>
      <p:sp>
        <p:nvSpPr>
          <p:cNvPr id="12" name="Rectangle 86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8173896" y="6484776"/>
            <a:ext cx="1409884" cy="2488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0" tIns="0" rIns="0" bIns="0" anchor="ctr" anchorCtr="0"/>
          <a:lstStyle/>
          <a:p>
            <a:pPr defTabSz="78232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>
                <a:solidFill>
                  <a:srgbClr val="000000">
                    <a:lumMod val="95000"/>
                    <a:lumOff val="5000"/>
                  </a:srgbClr>
                </a:solidFill>
                <a:latin typeface="Calibri" pitchFamily="34" charset="0"/>
                <a:ea typeface="MS PGothic" panose="020B0600070205080204" pitchFamily="34" charset="-128"/>
              </a:rPr>
              <a:t>Page </a:t>
            </a:r>
            <a:fld id="{E68EC476-442B-4BB7-9603-F1440C241F3D}" type="slidenum">
              <a:rPr lang="de-DE" sz="1200">
                <a:solidFill>
                  <a:srgbClr val="000000">
                    <a:lumMod val="95000"/>
                    <a:lumOff val="5000"/>
                  </a:srgbClr>
                </a:solidFill>
                <a:latin typeface="Calibri" pitchFamily="34" charset="0"/>
                <a:ea typeface="MS PGothic" panose="020B0600070205080204" pitchFamily="34" charset="-128"/>
              </a:rPr>
              <a:t>‹#›</a:t>
            </a:fld>
            <a:endParaRPr lang="en-GB" sz="1200">
              <a:solidFill>
                <a:srgbClr val="000000">
                  <a:lumMod val="95000"/>
                  <a:lumOff val="5000"/>
                </a:srgbClr>
              </a:solidFill>
              <a:latin typeface="Calibri" pitchFamily="34" charset="0"/>
              <a:ea typeface="MS PGothic" panose="020B0600070205080204" pitchFamily="34" charset="-128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449" y="6474438"/>
            <a:ext cx="1231806" cy="269502"/>
          </a:xfrm>
          <a:prstGeom prst="rect">
            <a:avLst/>
          </a:prstGeom>
        </p:spPr>
      </p:pic>
    </p:spTree>
  </p:cSld>
  <p:clrMapOvr>
    <a:masterClrMapping/>
  </p:clrMapOvr>
  <p:transition advClick="0" advTm="8000">
    <p:fade thruBlk="1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2395" b="1" baseline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2455" indent="0" algn="ctr">
              <a:buNone/>
              <a:defRPr sz="2590"/>
            </a:lvl2pPr>
            <a:lvl3pPr marL="1184910" indent="0" algn="ctr">
              <a:buNone/>
              <a:defRPr sz="2330"/>
            </a:lvl3pPr>
            <a:lvl4pPr marL="1777365" indent="0" algn="ctr">
              <a:buNone/>
              <a:defRPr sz="2075"/>
            </a:lvl4pPr>
            <a:lvl5pPr marL="2369820" indent="0" algn="ctr">
              <a:buNone/>
              <a:defRPr sz="2075"/>
            </a:lvl5pPr>
            <a:lvl6pPr marL="2962275" indent="0" algn="ctr">
              <a:buNone/>
              <a:defRPr sz="2075"/>
            </a:lvl6pPr>
            <a:lvl7pPr marL="3554730" indent="0" algn="ctr">
              <a:buNone/>
              <a:defRPr sz="2075"/>
            </a:lvl7pPr>
            <a:lvl8pPr marL="4147185" indent="0" algn="ctr">
              <a:buNone/>
              <a:defRPr sz="2075"/>
            </a:lvl8pPr>
            <a:lvl9pPr marL="473964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7" y="1512881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7640" algn="l" defTabSz="11849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90204" pitchFamily="34" charset="0"/>
              <a:buChar char="•"/>
              <a:tabLst>
                <a:tab pos="1204595" algn="ctr"/>
              </a:tabLst>
              <a:defRPr sz="17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328295" marR="0" indent="-167640" algn="l" defTabSz="11849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4595" algn="ctr"/>
              </a:tabLst>
              <a:defRPr sz="15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6010" marR="0" indent="-167640" algn="l" defTabSz="11849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4595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4510" indent="-170815">
              <a:buFont typeface="Arial" panose="020B0604020202090204" pitchFamily="34" charset="0"/>
              <a:buChar char="•"/>
              <a:tabLst>
                <a:tab pos="1205230" algn="ctr"/>
              </a:tabLst>
              <a:defRPr sz="1295" baseline="0"/>
            </a:lvl4pPr>
            <a:lvl5pPr marL="524510" indent="-170815">
              <a:buFont typeface="Arial" panose="020B0604020202090204" pitchFamily="34" charset="0"/>
              <a:buChar char="•"/>
              <a:tabLst>
                <a:tab pos="1205230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295" marR="0" lvl="1" indent="-167640" algn="l" defTabSz="11849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90204" pitchFamily="34" charset="0"/>
              <a:buChar char="•"/>
              <a:tabLst>
                <a:tab pos="120459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6010" marR="0" lvl="2" indent="-167640" algn="l" defTabSz="11849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90204" pitchFamily="34" charset="0"/>
              <a:buChar char="•"/>
              <a:tabLst>
                <a:tab pos="120459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6010" marR="0" lvl="2" indent="-167640" algn="l" defTabSz="11849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90204" pitchFamily="34" charset="0"/>
              <a:buChar char="•"/>
              <a:tabLst>
                <a:tab pos="1204595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596" y="1122363"/>
            <a:ext cx="9147572" cy="2387600"/>
          </a:xfrm>
          <a:prstGeom prst="rect">
            <a:avLst/>
          </a:prstGeom>
        </p:spPr>
        <p:txBody>
          <a:bodyPr anchor="b"/>
          <a:lstStyle>
            <a:lvl1pPr algn="ctr">
              <a:defRPr sz="598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596" y="3602038"/>
            <a:ext cx="914757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395"/>
            </a:lvl1pPr>
            <a:lvl2pPr marL="455930" indent="0" algn="ctr">
              <a:buNone/>
              <a:defRPr sz="1995"/>
            </a:lvl2pPr>
            <a:lvl3pPr marL="911860" indent="0" algn="ctr">
              <a:buNone/>
              <a:defRPr sz="1795"/>
            </a:lvl3pPr>
            <a:lvl4pPr marL="1367790" indent="0" algn="ctr">
              <a:buNone/>
              <a:defRPr sz="1595"/>
            </a:lvl4pPr>
            <a:lvl5pPr marL="1823720" indent="0" algn="ctr">
              <a:buNone/>
              <a:defRPr sz="1595"/>
            </a:lvl5pPr>
            <a:lvl6pPr marL="2279650" indent="0" algn="ctr">
              <a:buNone/>
              <a:defRPr sz="1595"/>
            </a:lvl6pPr>
            <a:lvl7pPr marL="2735580" indent="0" algn="ctr">
              <a:buNone/>
              <a:defRPr sz="1595"/>
            </a:lvl7pPr>
            <a:lvl8pPr marL="3191510" indent="0" algn="ctr">
              <a:buNone/>
              <a:defRPr sz="1595"/>
            </a:lvl8pPr>
            <a:lvl9pPr marL="3647440" indent="0" algn="ctr">
              <a:buNone/>
              <a:defRPr sz="15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0540" indent="0" algn="ctr">
              <a:buNone/>
              <a:defRPr sz="2080"/>
            </a:lvl4pPr>
            <a:lvl5pPr marL="2374265" indent="0" algn="ctr">
              <a:buNone/>
              <a:defRPr sz="2080"/>
            </a:lvl5pPr>
            <a:lvl6pPr marL="2967990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853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3" y="151287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90204" pitchFamily="34" charset="0"/>
              <a:buChar char="•"/>
              <a:tabLst>
                <a:tab pos="120650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32893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50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915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500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145" indent="-170815">
              <a:buFont typeface="Arial" panose="020B0604020202090204" pitchFamily="34" charset="0"/>
              <a:buChar char="•"/>
              <a:tabLst>
                <a:tab pos="1207135" algn="ctr"/>
              </a:tabLst>
              <a:defRPr sz="1295" baseline="0"/>
            </a:lvl4pPr>
            <a:lvl5pPr marL="525145" indent="-170815">
              <a:buFont typeface="Arial" panose="020B0604020202090204" pitchFamily="34" charset="0"/>
              <a:buChar char="•"/>
              <a:tabLst>
                <a:tab pos="1207135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9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9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90204" pitchFamily="34" charset="0"/>
              <a:buChar char="•"/>
              <a:tabLst>
                <a:tab pos="120650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6414" y="296417"/>
            <a:ext cx="10442348" cy="87153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6414" y="1196975"/>
            <a:ext cx="10442348" cy="4927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484801" y="6525344"/>
            <a:ext cx="1359463" cy="457200"/>
          </a:xfrm>
          <a:prstGeom prst="rect">
            <a:avLst/>
          </a:prstGeom>
        </p:spPr>
        <p:txBody>
          <a:bodyPr lIns="84883" tIns="42441" rIns="84883" bIns="42441"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GB" sz="1865" b="1" dirty="0">
              <a:solidFill>
                <a:srgbClr val="B2B2B2"/>
              </a:solidFill>
              <a:latin typeface="Arial" panose="020B0604020202090204" pitchFamily="34" charset="0"/>
              <a:ea typeface="宋体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9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9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9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9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8415" y="23627"/>
            <a:ext cx="11316431" cy="668544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575341" y="6525359"/>
            <a:ext cx="141082" cy="1177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4F06BD-4024-4D54-AE9D-8C5333DEF8AE}" type="slidenum">
              <a:rPr lang="de-DE" altLang="zh-CN" smtClean="0">
                <a:solidFill>
                  <a:prstClr val="black"/>
                </a:solidFill>
              </a:rPr>
              <a:t>‹#›</a:t>
            </a:fld>
            <a:endParaRPr lang="en-GB" altLang="zh-CN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1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9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446405" marR="0" indent="-285750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+mn-lt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+mn-lt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90204" pitchFamily="34" charset="0"/>
              <a:buChar char="•"/>
              <a:tabLst>
                <a:tab pos="1207770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90204" pitchFamily="34" charset="0"/>
              <a:buChar char="•"/>
              <a:tabLst>
                <a:tab pos="1207770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9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596" y="1122363"/>
            <a:ext cx="914757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596" y="3602038"/>
            <a:ext cx="914757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7381-FF4A-4E33-8597-9E7D48B791F8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2026/10/13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E9B32-B6B7-458E-99FC-201F3722513B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14520" y="2129932"/>
            <a:ext cx="10367725" cy="147127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微软雅黑 </a:t>
            </a:r>
            <a:r>
              <a:rPr lang="en-US" altLang="zh-CN" dirty="0"/>
              <a:t>40pt </a:t>
            </a:r>
            <a:r>
              <a:rPr lang="zh-CN" altLang="en-US" dirty="0"/>
              <a:t>，居中，最多两行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分隔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深色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26022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7"/>
            <a:ext cx="10740640" cy="5435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="1"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中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5"/>
            <a:ext cx="10740640" cy="5435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40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2350" indent="0" algn="ctr">
              <a:buNone/>
              <a:defRPr sz="2080"/>
            </a:lvl7pPr>
            <a:lvl8pPr marL="4156075" indent="0" algn="ctr">
              <a:buNone/>
              <a:defRPr sz="2080"/>
            </a:lvl8pPr>
            <a:lvl9pPr marL="4749800" indent="0" algn="ctr">
              <a:buNone/>
              <a:defRPr sz="2080"/>
            </a:lvl9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中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839" y="275172"/>
            <a:ext cx="10977087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81306" y="336815"/>
            <a:ext cx="10458982" cy="75966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393" tIns="45697" rIns="91393" bIns="45697" numCol="1" anchor="ctr" anchorCtr="0" compatLnSpc="1"/>
          <a:lstStyle>
            <a:lvl1pPr marL="0" indent="0">
              <a:buFont typeface="Arial" panose="020B0604020202090204" pitchFamily="34" charset="0"/>
              <a:buNone/>
              <a:defRPr lang="zh-CN" altLang="en-US" sz="3995" b="0" dirty="0">
                <a:solidFill>
                  <a:schemeClr val="tx2"/>
                </a:solidFill>
                <a:latin typeface="FrutigerNext LT Light" pitchFamily="34" charset="0"/>
                <a:ea typeface="黑体" pitchFamily="49" charset="-122"/>
              </a:defRPr>
            </a:lvl1pPr>
          </a:lstStyle>
          <a:p>
            <a:pPr lvl="0"/>
            <a:r>
              <a:rPr lang="en-US" altLang="zh-CN" dirty="0"/>
              <a:t>HEADLINE TEXT TO BE PLACED</a:t>
            </a:r>
            <a:endParaRPr lang="zh-CN" alt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927" y="449287"/>
            <a:ext cx="10180910" cy="871537"/>
          </a:xfrm>
          <a:prstGeom prst="rect">
            <a:avLst/>
          </a:prstGeom>
        </p:spPr>
        <p:txBody>
          <a:bodyPr lIns="91434" tIns="45717" rIns="91434" bIns="45717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1019183" y="1628384"/>
            <a:ext cx="10158399" cy="4584744"/>
          </a:xfrm>
          <a:prstGeom prst="rect">
            <a:avLst/>
          </a:prstGeom>
        </p:spPr>
        <p:txBody>
          <a:bodyPr lIns="91434" tIns="45717" rIns="91434" bIns="45717"/>
          <a:lstStyle>
            <a:lvl1pPr>
              <a:defRPr sz="3200"/>
            </a:lvl1pPr>
            <a:lvl2pPr>
              <a:defRPr sz="2665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 advClick="0" advTm="8000">
    <p:fade thruBlk="1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>
            <p:custDataLst>
              <p:tags r:id="rId2"/>
            </p:custDataLst>
          </p:nvPr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en-US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单击此处添加文本</a:t>
            </a:r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2310" y="258793"/>
            <a:ext cx="10996146" cy="49170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b="1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-1982311" y="750499"/>
            <a:ext cx="10996146" cy="4797904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Text Box 5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870312" y="6471876"/>
            <a:ext cx="2506524" cy="2746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104210" tIns="52106" rIns="104210" bIns="52106">
            <a:spAutoFit/>
          </a:bodyPr>
          <a:lstStyle/>
          <a:p>
            <a:pPr defTabSz="10433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FrutigerNext LT Bold" pitchFamily="1" charset="0"/>
                <a:ea typeface="MS PGothic" panose="020B0600070205080204" pitchFamily="34" charset="-128"/>
              </a:rPr>
              <a:t>HUAWEI TECHNOLOGIES Co., Ltd.</a:t>
            </a:r>
            <a:endParaRPr lang="en-US" altLang="zh-CN" sz="1800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  <p:sp>
        <p:nvSpPr>
          <p:cNvPr id="11" name="Rectangle 7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4882997" y="6471884"/>
            <a:ext cx="1632730" cy="2745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104202" tIns="52098" rIns="104202" bIns="52098">
            <a:spAutoFit/>
          </a:bodyPr>
          <a:lstStyle/>
          <a:p>
            <a:pPr defTabSz="10433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FrutigerNext LT Bold" pitchFamily="1" charset="0"/>
                <a:ea typeface="MS PGothic" panose="020B0600070205080204" pitchFamily="34" charset="-128"/>
              </a:rPr>
              <a:t>HUAWEI Confidential </a:t>
            </a:r>
          </a:p>
        </p:txBody>
      </p:sp>
      <p:sp>
        <p:nvSpPr>
          <p:cNvPr id="12" name="Rectangle 86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8173896" y="6484776"/>
            <a:ext cx="1409884" cy="2488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0" tIns="0" rIns="0" bIns="0" anchor="ctr" anchorCtr="0"/>
          <a:lstStyle/>
          <a:p>
            <a:pPr defTabSz="78232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>
                <a:solidFill>
                  <a:srgbClr val="000000">
                    <a:lumMod val="95000"/>
                    <a:lumOff val="5000"/>
                  </a:srgbClr>
                </a:solidFill>
                <a:latin typeface="Calibri" pitchFamily="34" charset="0"/>
                <a:ea typeface="MS PGothic" panose="020B0600070205080204" pitchFamily="34" charset="-128"/>
              </a:rPr>
              <a:t>Page </a:t>
            </a:r>
            <a:fld id="{E68EC476-442B-4BB7-9603-F1440C241F3D}" type="slidenum">
              <a:rPr lang="de-DE" sz="1200">
                <a:solidFill>
                  <a:srgbClr val="000000">
                    <a:lumMod val="95000"/>
                    <a:lumOff val="5000"/>
                  </a:srgbClr>
                </a:solidFill>
                <a:latin typeface="Calibri" pitchFamily="34" charset="0"/>
                <a:ea typeface="MS PGothic" panose="020B0600070205080204" pitchFamily="34" charset="-128"/>
              </a:rPr>
              <a:t>‹#›</a:t>
            </a:fld>
            <a:endParaRPr lang="en-GB" sz="1200">
              <a:solidFill>
                <a:srgbClr val="000000">
                  <a:lumMod val="95000"/>
                  <a:lumOff val="5000"/>
                </a:srgbClr>
              </a:solidFill>
              <a:latin typeface="Calibri" pitchFamily="34" charset="0"/>
              <a:ea typeface="MS PGothic" panose="020B0600070205080204" pitchFamily="34" charset="-128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449" y="6474438"/>
            <a:ext cx="1231806" cy="269502"/>
          </a:xfrm>
          <a:prstGeom prst="rect">
            <a:avLst/>
          </a:prstGeom>
        </p:spPr>
      </p:pic>
    </p:spTree>
  </p:cSld>
  <p:clrMapOvr>
    <a:masterClrMapping/>
  </p:clrMapOvr>
  <p:transition advClick="0" advTm="8000">
    <p:fade thruBlk="1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14520" y="2129932"/>
            <a:ext cx="10367725" cy="147127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微软雅黑 </a:t>
            </a:r>
            <a:r>
              <a:rPr lang="en-US" altLang="zh-CN" dirty="0"/>
              <a:t>40pt </a:t>
            </a:r>
            <a:r>
              <a:rPr lang="zh-CN" altLang="en-US" dirty="0"/>
              <a:t>，居中，最多两行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分隔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深色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26022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7"/>
            <a:ext cx="10740640" cy="5435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="1"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中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5"/>
            <a:ext cx="10740640" cy="5435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40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2350" indent="0" algn="ctr">
              <a:buNone/>
              <a:defRPr sz="2080"/>
            </a:lvl7pPr>
            <a:lvl8pPr marL="4156075" indent="0" algn="ctr">
              <a:buNone/>
              <a:defRPr sz="2080"/>
            </a:lvl8pPr>
            <a:lvl9pPr marL="4749800" indent="0" algn="ctr">
              <a:buNone/>
              <a:defRPr sz="2080"/>
            </a:lvl9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中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839" y="275172"/>
            <a:ext cx="10977087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81306" y="336815"/>
            <a:ext cx="10458982" cy="75966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393" tIns="45697" rIns="91393" bIns="45697" numCol="1" anchor="ctr" anchorCtr="0" compatLnSpc="1"/>
          <a:lstStyle>
            <a:lvl1pPr marL="0" indent="0">
              <a:buFont typeface="Arial" panose="020B0604020202090204" pitchFamily="34" charset="0"/>
              <a:buNone/>
              <a:defRPr lang="zh-CN" altLang="en-US" sz="3995" b="0" dirty="0">
                <a:solidFill>
                  <a:schemeClr val="tx2"/>
                </a:solidFill>
                <a:latin typeface="FrutigerNext LT Light" pitchFamily="34" charset="0"/>
                <a:ea typeface="黑体" pitchFamily="49" charset="-122"/>
              </a:defRPr>
            </a:lvl1pPr>
          </a:lstStyle>
          <a:p>
            <a:pPr lvl="0"/>
            <a:r>
              <a:rPr lang="en-US" altLang="zh-CN" dirty="0"/>
              <a:t>HEADLINE TEXT TO BE PLACED</a:t>
            </a:r>
            <a:endParaRPr lang="zh-CN" alt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927" y="449287"/>
            <a:ext cx="10180910" cy="871537"/>
          </a:xfrm>
          <a:prstGeom prst="rect">
            <a:avLst/>
          </a:prstGeom>
        </p:spPr>
        <p:txBody>
          <a:bodyPr lIns="91434" tIns="45717" rIns="91434" bIns="45717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1019183" y="1628384"/>
            <a:ext cx="10158399" cy="4584744"/>
          </a:xfrm>
          <a:prstGeom prst="rect">
            <a:avLst/>
          </a:prstGeom>
        </p:spPr>
        <p:txBody>
          <a:bodyPr lIns="91434" tIns="45717" rIns="91434" bIns="45717"/>
          <a:lstStyle>
            <a:lvl1pPr>
              <a:defRPr sz="3200"/>
            </a:lvl1pPr>
            <a:lvl2pPr>
              <a:defRPr sz="2665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 advClick="0" advTm="8000">
    <p:fade thruBlk="1"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>
            <p:custDataLst>
              <p:tags r:id="rId2"/>
            </p:custDataLst>
          </p:nvPr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en-US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单击此处添加文本</a:t>
            </a:r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2310" y="258793"/>
            <a:ext cx="10996146" cy="49170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b="1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-1982311" y="750499"/>
            <a:ext cx="10996146" cy="4797904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Text Box 5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870312" y="6471876"/>
            <a:ext cx="2506524" cy="2746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104210" tIns="52106" rIns="104210" bIns="52106">
            <a:spAutoFit/>
          </a:bodyPr>
          <a:lstStyle/>
          <a:p>
            <a:pPr defTabSz="10433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FrutigerNext LT Bold" pitchFamily="1" charset="0"/>
                <a:ea typeface="MS PGothic" panose="020B0600070205080204" pitchFamily="34" charset="-128"/>
              </a:rPr>
              <a:t>HUAWEI TECHNOLOGIES Co., Ltd.</a:t>
            </a:r>
            <a:endParaRPr lang="en-US" altLang="zh-CN" sz="1800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  <p:sp>
        <p:nvSpPr>
          <p:cNvPr id="11" name="Rectangle 7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4882997" y="6471884"/>
            <a:ext cx="1632730" cy="2745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104202" tIns="52098" rIns="104202" bIns="52098">
            <a:spAutoFit/>
          </a:bodyPr>
          <a:lstStyle/>
          <a:p>
            <a:pPr defTabSz="10433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FrutigerNext LT Bold" pitchFamily="1" charset="0"/>
                <a:ea typeface="MS PGothic" panose="020B0600070205080204" pitchFamily="34" charset="-128"/>
              </a:rPr>
              <a:t>HUAWEI Confidential </a:t>
            </a:r>
          </a:p>
        </p:txBody>
      </p:sp>
      <p:sp>
        <p:nvSpPr>
          <p:cNvPr id="12" name="Rectangle 86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8173896" y="6484776"/>
            <a:ext cx="1409884" cy="2488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0" tIns="0" rIns="0" bIns="0" anchor="ctr" anchorCtr="0"/>
          <a:lstStyle/>
          <a:p>
            <a:pPr defTabSz="78232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>
                <a:solidFill>
                  <a:srgbClr val="000000">
                    <a:lumMod val="95000"/>
                    <a:lumOff val="5000"/>
                  </a:srgbClr>
                </a:solidFill>
                <a:latin typeface="Calibri" pitchFamily="34" charset="0"/>
                <a:ea typeface="MS PGothic" panose="020B0600070205080204" pitchFamily="34" charset="-128"/>
              </a:rPr>
              <a:t>Page </a:t>
            </a:r>
            <a:fld id="{E68EC476-442B-4BB7-9603-F1440C241F3D}" type="slidenum">
              <a:rPr lang="de-DE" sz="1200">
                <a:solidFill>
                  <a:srgbClr val="000000">
                    <a:lumMod val="95000"/>
                    <a:lumOff val="5000"/>
                  </a:srgbClr>
                </a:solidFill>
                <a:latin typeface="Calibri" pitchFamily="34" charset="0"/>
                <a:ea typeface="MS PGothic" panose="020B0600070205080204" pitchFamily="34" charset="-128"/>
              </a:rPr>
              <a:t>‹#›</a:t>
            </a:fld>
            <a:endParaRPr lang="en-GB" sz="1200">
              <a:solidFill>
                <a:srgbClr val="000000">
                  <a:lumMod val="95000"/>
                  <a:lumOff val="5000"/>
                </a:srgbClr>
              </a:solidFill>
              <a:latin typeface="Calibri" pitchFamily="34" charset="0"/>
              <a:ea typeface="MS PGothic" panose="020B0600070205080204" pitchFamily="34" charset="-128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449" y="6474438"/>
            <a:ext cx="1231806" cy="269502"/>
          </a:xfrm>
          <a:prstGeom prst="rect">
            <a:avLst/>
          </a:prstGeom>
        </p:spPr>
      </p:pic>
    </p:spTree>
  </p:cSld>
  <p:clrMapOvr>
    <a:masterClrMapping/>
  </p:clrMapOvr>
  <p:transition advClick="0" advTm="8000">
    <p:fade thruBlk="1"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6140" y="260357"/>
            <a:ext cx="11164484" cy="539749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 defTabSz="91376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6140" y="908056"/>
            <a:ext cx="11164484" cy="54006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7970" indent="-267970" algn="l" defTabSz="913765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Wingdings 2" panose="05020102010507070707" pitchFamily="18" charset="2"/>
              <a:buChar char="¡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43865" indent="-175895" algn="l" defTabSz="913765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Clr>
                <a:schemeClr val="tx1">
                  <a:lumMod val="50000"/>
                  <a:lumOff val="50000"/>
                </a:schemeClr>
              </a:buClr>
              <a:buFont typeface="微软雅黑" panose="020B0503020204020204" pitchFamily="34" charset="-122"/>
              <a:buChar char="›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628015" indent="-184150" algn="l" defTabSz="913765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Clr>
                <a:schemeClr val="tx1">
                  <a:lumMod val="50000"/>
                  <a:lumOff val="50000"/>
                </a:schemeClr>
              </a:buClr>
              <a:buFont typeface="FrutigerNext LT Regular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598930" indent="-228600" algn="l" defTabSz="913765" rtl="0" eaLnBrk="1" latinLnBrk="0" hangingPunct="1">
              <a:lnSpc>
                <a:spcPct val="130000"/>
              </a:lnSpc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n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6130" indent="-228600" algn="l" defTabSz="913765" rtl="0" eaLnBrk="1" latinLnBrk="0" hangingPunct="1">
              <a:lnSpc>
                <a:spcPct val="130000"/>
              </a:lnSpc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n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2695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9895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646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366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2796" y="150675"/>
            <a:ext cx="11164484" cy="539749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l" defTabSz="91376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0070" y="108001"/>
            <a:ext cx="11164484" cy="539749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 defTabSz="91376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13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tif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tiff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tiff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tiff"/></Relationships>
</file>

<file path=ppt/slideMasters/_rels/slideMaster9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image" Target="../media/image8.png"/><Relationship Id="rId2" Type="http://schemas.openxmlformats.org/officeDocument/2006/relationships/slideLayout" Target="../slideLayouts/slideLayout21.xml"/><Relationship Id="rId16" Type="http://schemas.openxmlformats.org/officeDocument/2006/relationships/theme" Target="../theme/theme10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35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36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14.png"/><Relationship Id="rId5" Type="http://schemas.openxmlformats.org/officeDocument/2006/relationships/theme" Target="../theme/theme14.xml"/><Relationship Id="rId4" Type="http://schemas.openxmlformats.org/officeDocument/2006/relationships/slideLayout" Target="../slideLayouts/slideLayout40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.xml"/><Relationship Id="rId7" Type="http://schemas.openxmlformats.org/officeDocument/2006/relationships/image" Target="../media/image1.tiff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46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9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8.xml"/><Relationship Id="rId17" Type="http://schemas.openxmlformats.org/officeDocument/2006/relationships/image" Target="../media/image8.png"/><Relationship Id="rId2" Type="http://schemas.openxmlformats.org/officeDocument/2006/relationships/slideLayout" Target="../slideLayouts/slideLayout48.xml"/><Relationship Id="rId16" Type="http://schemas.openxmlformats.org/officeDocument/2006/relationships/theme" Target="../theme/theme17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17" Type="http://schemas.openxmlformats.org/officeDocument/2006/relationships/image" Target="../media/image8.png"/><Relationship Id="rId2" Type="http://schemas.openxmlformats.org/officeDocument/2006/relationships/slideLayout" Target="../slideLayouts/slideLayout63.xml"/><Relationship Id="rId16" Type="http://schemas.openxmlformats.org/officeDocument/2006/relationships/theme" Target="../theme/theme18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5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9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5" Type="http://schemas.openxmlformats.org/officeDocument/2006/relationships/image" Target="../media/image1.tiff"/><Relationship Id="rId4" Type="http://schemas.openxmlformats.org/officeDocument/2006/relationships/theme" Target="../theme/theme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80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theme" Target="../theme/theme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90204" pitchFamily="34" charset="0"/>
              <a:ea typeface="+mn-ea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Arial" panose="020B060402020209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" y="0"/>
            <a:ext cx="12192000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631" y="5956007"/>
            <a:ext cx="1973225" cy="4315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hdr="0" ftr="0" dt="0"/>
  <p:txStyles>
    <p:titleStyle>
      <a:lvl1pPr algn="l" defTabSz="913765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3765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90204" pitchFamily="34" charset="0"/>
          <a:ea typeface="微软雅黑" panose="020B0503020204020204" pitchFamily="34" charset="-122"/>
          <a:cs typeface="Arial" panose="020B0604020202090204" pitchFamily="34" charset="0"/>
        </a:defRPr>
      </a:lvl1pPr>
      <a:lvl2pPr marL="456565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2pPr>
      <a:lvl3pPr marL="913765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3pPr>
      <a:lvl4pPr marL="1370330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4pPr>
      <a:lvl5pPr marL="1827530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5pPr>
      <a:lvl6pPr marL="25126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26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46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02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0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86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42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35/24/21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00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905"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186C</a:t>
                </a:r>
              </a:p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185C</a:t>
                </a:r>
              </a:p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4400"/>
                <a:r>
                  <a:rPr kumimoji="1" lang="zh-CN" altLang="en-US" sz="10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4400"/>
                <a:r>
                  <a:rPr kumimoji="1" lang="zh-CN" altLang="en-US" sz="10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255/255/255</a:t>
                </a: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9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90204" pitchFamily="34" charset="0"/>
              <a:ea typeface="+mn-ea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3" y="6402809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1" y="2625392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681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5826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135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444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426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108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4789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sz="90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905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4400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185C</a:t>
              </a: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4400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186C</a:t>
              </a: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70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1D1D1B"/>
                </a:solidFill>
                <a:latin typeface="FrutigerNext LT Regular" pitchFamily="34" charset="0"/>
                <a:ea typeface="MS PGothic" panose="020B0600070205080204" pitchFamily="34" charset="-128"/>
                <a:cs typeface="Arial" panose="020B060402020209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4" y="6402812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635" fontAlgn="base">
              <a:spcBef>
                <a:spcPct val="0"/>
              </a:spcBef>
              <a:spcAft>
                <a:spcPct val="0"/>
              </a:spcAft>
              <a:defRPr/>
            </a:pPr>
            <a:fld id="{C3837181-38C6-AD4F-B8BA-B444770388BB}" type="slidenum">
              <a:rPr lang="en-US" sz="900">
                <a:solidFill>
                  <a:srgbClr val="1D1D1B"/>
                </a:solidFill>
                <a:latin typeface="FrutigerNext LT Regular" pitchFamily="34" charset="0"/>
                <a:ea typeface="MS PGothic" panose="020B0600070205080204" pitchFamily="34" charset="-128"/>
                <a:cs typeface="Arial" panose="020B060402020209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FrutigerNext LT Regular" pitchFamily="34" charset="0"/>
              <a:ea typeface="MS PGothic" panose="020B0600070205080204" pitchFamily="34" charset="-128"/>
              <a:cs typeface="Arial" panose="020B0604020202090204" pitchFamily="34" charset="0"/>
            </a:endParaRPr>
          </a:p>
        </p:txBody>
      </p: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 ftr="0" dt="0"/>
  <p:txStyles>
    <p:titleStyle>
      <a:lvl1pPr algn="l" defTabSz="1186180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180" rtl="0" eaLnBrk="1" latinLnBrk="0" hangingPunct="1">
        <a:lnSpc>
          <a:spcPct val="90000"/>
        </a:lnSpc>
        <a:spcBef>
          <a:spcPts val="1295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89635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2725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645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6954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263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572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4881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190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09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18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7927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299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608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5917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226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535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5467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cs typeface="Arial" panose="020B060402020209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905">
              <a:defRPr/>
            </a:pPr>
            <a:fld id="{C3837181-38C6-AD4F-B8BA-B444770388BB}" type="slidenum">
              <a:rPr lang="en-US" sz="900" smtClean="0">
                <a:solidFill>
                  <a:srgbClr val="FFFFFF"/>
                </a:solidFill>
                <a:cs typeface="Arial" panose="020B0604020202090204" pitchFamily="34" charset="0"/>
              </a:rPr>
              <a:t>‹#›</a:t>
            </a:fld>
            <a:endParaRPr lang="en-US" sz="900" dirty="0">
              <a:solidFill>
                <a:srgbClr val="FFFFFF"/>
              </a:solidFill>
              <a:cs typeface="Arial" panose="020B060402020209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255</a:t>
              </a:r>
            </a:p>
          </p:txBody>
        </p:sp>
      </p:grpSp>
      <p:pic>
        <p:nvPicPr>
          <p:cNvPr id="46" name="图片 4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082" y="6250494"/>
            <a:ext cx="1390166" cy="41247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72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130"/>
            <a:r>
              <a:rPr lang="en-US" altLang="zh-CN" sz="90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6" y="640281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000">
              <a:defRPr/>
            </a:pPr>
            <a:fld id="{C3837181-38C6-AD4F-B8BA-B444770388BB}" type="slidenum">
              <a:rPr lang="en-US" sz="90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9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130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185C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130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186C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hf hdr="0" ftr="0" dt="0"/>
  <p:txStyles>
    <p:titleStyle>
      <a:lvl1pPr algn="l" defTabSz="1185545" rtl="0" eaLnBrk="1" latinLnBrk="0" hangingPunct="1">
        <a:lnSpc>
          <a:spcPct val="90000"/>
        </a:lnSpc>
        <a:spcBef>
          <a:spcPct val="0"/>
        </a:spcBef>
        <a:buNone/>
        <a:defRPr sz="57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5545" rtl="0" eaLnBrk="1" latinLnBrk="0" hangingPunct="1">
        <a:lnSpc>
          <a:spcPct val="90000"/>
        </a:lnSpc>
        <a:spcBef>
          <a:spcPts val="1295"/>
        </a:spcBef>
        <a:buFont typeface="Arial" panose="020B0604020202090204" pitchFamily="34" charset="0"/>
        <a:buChar char="•"/>
        <a:defRPr sz="3630" kern="12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2090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4545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67000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0090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2545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45635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38090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2455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5545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78000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1090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3545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56000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49090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1545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71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130"/>
            <a:r>
              <a:rPr lang="en-US" sz="90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368374" y="6402814"/>
            <a:ext cx="62915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635">
              <a:defRPr/>
            </a:pPr>
            <a:r>
              <a:rPr lang="en-US" altLang="zh-CN" sz="90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Page </a:t>
            </a:r>
            <a:fld id="{C3837181-38C6-AD4F-B8BA-B444770388BB}" type="slidenum">
              <a:rPr lang="en-US" sz="90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‹#›</a:t>
            </a:fld>
            <a:r>
              <a:rPr lang="en-US" sz="90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/21</a:t>
            </a: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1" y="2625397"/>
            <a:ext cx="1963323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130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185C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130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186C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35/24/21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 defTabSz="91313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6180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180" rtl="0" eaLnBrk="1" latinLnBrk="0" hangingPunct="1">
        <a:lnSpc>
          <a:spcPct val="90000"/>
        </a:lnSpc>
        <a:spcBef>
          <a:spcPts val="1295"/>
        </a:spcBef>
        <a:buFont typeface="Arial" panose="020B0604020202090204" pitchFamily="34" charset="0"/>
        <a:buChar char="•"/>
        <a:defRPr sz="3630" kern="1200">
          <a:solidFill>
            <a:schemeClr val="tx1"/>
          </a:solidFill>
          <a:latin typeface="+mn-lt"/>
          <a:ea typeface="+mn-ea"/>
          <a:cs typeface="+mn-cs"/>
        </a:defRPr>
      </a:lvl1pPr>
      <a:lvl2pPr marL="889635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209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518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6827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136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445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46905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39995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09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18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7863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172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481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5790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036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345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73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2495"/>
            <a:r>
              <a:rPr lang="en-US" sz="90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368376" y="6402818"/>
            <a:ext cx="62915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000">
              <a:defRPr/>
            </a:pPr>
            <a:r>
              <a:rPr lang="en-US" altLang="zh-CN" sz="90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Page </a:t>
            </a:r>
            <a:fld id="{C3837181-38C6-AD4F-B8BA-B444770388BB}" type="slidenum">
              <a:rPr lang="en-US" sz="90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‹#›</a:t>
            </a:fld>
            <a:r>
              <a:rPr lang="en-US" sz="90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/21</a:t>
            </a: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1" y="2625401"/>
            <a:ext cx="1963323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249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185C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249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186C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35/24/21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 defTabSz="91249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hf hdr="0" ftr="0" dt="0"/>
  <p:txStyles>
    <p:titleStyle>
      <a:lvl1pPr algn="l" defTabSz="1184910" rtl="0" eaLnBrk="1" latinLnBrk="0" hangingPunct="1">
        <a:lnSpc>
          <a:spcPct val="90000"/>
        </a:lnSpc>
        <a:spcBef>
          <a:spcPct val="0"/>
        </a:spcBef>
        <a:buNone/>
        <a:defRPr sz="57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4910" rtl="0" eaLnBrk="1" latinLnBrk="0" hangingPunct="1">
        <a:lnSpc>
          <a:spcPct val="90000"/>
        </a:lnSpc>
        <a:spcBef>
          <a:spcPts val="1295"/>
        </a:spcBef>
        <a:buFont typeface="Arial" panose="020B0604020202090204" pitchFamily="34" charset="0"/>
        <a:buChar char="•"/>
        <a:defRPr sz="3630" kern="12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296545" algn="l" defTabSz="118491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10" kern="1200">
          <a:solidFill>
            <a:schemeClr val="tx1"/>
          </a:solidFill>
          <a:latin typeface="+mn-lt"/>
          <a:ea typeface="+mn-ea"/>
          <a:cs typeface="+mn-cs"/>
        </a:defRPr>
      </a:lvl2pPr>
      <a:lvl3pPr marL="1481455" indent="-296545" algn="l" defTabSz="118491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590" kern="1200">
          <a:solidFill>
            <a:schemeClr val="tx1"/>
          </a:solidFill>
          <a:latin typeface="+mn-lt"/>
          <a:ea typeface="+mn-ea"/>
          <a:cs typeface="+mn-cs"/>
        </a:defRPr>
      </a:lvl3pPr>
      <a:lvl4pPr marL="2073910" indent="-296545" algn="l" defTabSz="118491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4pPr>
      <a:lvl5pPr marL="2666365" indent="-296545" algn="l" defTabSz="118491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5pPr>
      <a:lvl6pPr marL="3258820" indent="-296545" algn="l" defTabSz="118491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6pPr>
      <a:lvl7pPr marL="3851275" indent="-296545" algn="l" defTabSz="118491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7pPr>
      <a:lvl8pPr marL="4443730" indent="-296545" algn="l" defTabSz="118491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8pPr>
      <a:lvl9pPr marL="5036185" indent="-296545" algn="l" defTabSz="1184910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4910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1pPr>
      <a:lvl2pPr marL="592455" algn="l" defTabSz="1184910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84910" algn="l" defTabSz="1184910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3pPr>
      <a:lvl4pPr marL="1777365" algn="l" defTabSz="1184910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4pPr>
      <a:lvl5pPr marL="2369820" algn="l" defTabSz="1184910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5pPr>
      <a:lvl6pPr marL="2962275" algn="l" defTabSz="1184910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6pPr>
      <a:lvl7pPr marL="3554730" algn="l" defTabSz="1184910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7pPr>
      <a:lvl8pPr marL="4147185" algn="l" defTabSz="1184910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8pPr>
      <a:lvl9pPr marL="4739640" algn="l" defTabSz="1184910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905"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186C</a:t>
                </a: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185C</a:t>
                </a: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255/255/255</a:t>
                </a: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90204" pitchFamily="34" charset="0"/>
              <a:ea typeface="+mn-ea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baseline="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368370" y="6402806"/>
            <a:ext cx="62915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90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Page </a:t>
            </a: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‹#›</a:t>
            </a:fld>
            <a:r>
              <a:rPr lang="en-US" sz="90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/32</a:t>
            </a: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35/24/21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5467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cs typeface="Arial" panose="020B060402020209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905">
              <a:defRPr/>
            </a:pPr>
            <a:fld id="{C3837181-38C6-AD4F-B8BA-B444770388BB}" type="slidenum">
              <a:rPr lang="en-US" sz="900" smtClean="0">
                <a:solidFill>
                  <a:srgbClr val="FFFFFF"/>
                </a:solidFill>
                <a:cs typeface="Arial" panose="020B0604020202090204" pitchFamily="34" charset="0"/>
              </a:rPr>
              <a:t>‹#›</a:t>
            </a:fld>
            <a:endParaRPr lang="en-US" sz="900" dirty="0">
              <a:solidFill>
                <a:srgbClr val="FFFFFF"/>
              </a:solidFill>
              <a:cs typeface="Arial" panose="020B060402020209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255</a:t>
              </a:r>
            </a:p>
          </p:txBody>
        </p:sp>
      </p:grpSp>
      <p:pic>
        <p:nvPicPr>
          <p:cNvPr id="46" name="图片 4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082" y="6250494"/>
            <a:ext cx="1390166" cy="41247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5467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cs typeface="Arial" panose="020B060402020209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905">
              <a:defRPr/>
            </a:pPr>
            <a:fld id="{C3837181-38C6-AD4F-B8BA-B444770388BB}" type="slidenum">
              <a:rPr lang="en-US" sz="900" smtClean="0">
                <a:solidFill>
                  <a:srgbClr val="FFFFFF"/>
                </a:solidFill>
                <a:cs typeface="Arial" panose="020B0604020202090204" pitchFamily="34" charset="0"/>
              </a:rPr>
              <a:t>‹#›</a:t>
            </a:fld>
            <a:endParaRPr lang="en-US" sz="900" dirty="0">
              <a:solidFill>
                <a:srgbClr val="FFFFFF"/>
              </a:solidFill>
              <a:cs typeface="Arial" panose="020B060402020209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ea typeface="Arial" panose="020B0604020202090204" pitchFamily="34" charset="0"/>
                  <a:cs typeface="Arial" panose="020B0604020202090204" pitchFamily="34" charset="0"/>
                </a:rPr>
                <a:t>255</a:t>
              </a:r>
            </a:p>
          </p:txBody>
        </p:sp>
      </p:grpSp>
      <p:pic>
        <p:nvPicPr>
          <p:cNvPr id="46" name="图片 4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082" y="6250494"/>
            <a:ext cx="1390166" cy="41247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90204" pitchFamily="34" charset="0"/>
              <a:ea typeface="+mn-ea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335584" y="651260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  <a:endParaRPr lang="en-US" sz="90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180763" y="6558779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000">
              <a:defRPr/>
            </a:pPr>
            <a:fld id="{C3837181-38C6-AD4F-B8BA-B444770388BB}" type="slidenum">
              <a:rPr lang="en-US" sz="90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9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249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788" y="6511261"/>
            <a:ext cx="1072831" cy="2321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</p:sldLayoutIdLst>
  <p:hf hdr="0" ftr="0" dt="0"/>
  <p:txStyles>
    <p:titleStyle>
      <a:lvl1pPr algn="l" defTabSz="1185545" rtl="0" eaLnBrk="1" latinLnBrk="0" hangingPunct="1">
        <a:lnSpc>
          <a:spcPct val="90000"/>
        </a:lnSpc>
        <a:spcBef>
          <a:spcPct val="0"/>
        </a:spcBef>
        <a:buNone/>
        <a:defRPr sz="57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5545" rtl="0" eaLnBrk="1" latinLnBrk="0" hangingPunct="1">
        <a:lnSpc>
          <a:spcPct val="90000"/>
        </a:lnSpc>
        <a:spcBef>
          <a:spcPts val="1295"/>
        </a:spcBef>
        <a:buFont typeface="Arial" panose="020B0604020202090204" pitchFamily="34" charset="0"/>
        <a:buChar char="•"/>
        <a:defRPr sz="3630" kern="12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2090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4545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67000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0090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2545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45635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38090" indent="-296545" algn="l" defTabSz="118554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2455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5545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78000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1090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3545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56000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49090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1545" algn="l" defTabSz="118554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2056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1699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5471962" y="2055861"/>
            <a:ext cx="5333198" cy="13394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ts val="344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defTabSz="913765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KIMI K3</a:t>
            </a:r>
            <a:r>
              <a:rPr lang="en-US" altLang="zh-CN" sz="2400" b="1" dirty="0">
                <a:solidFill>
                  <a:schemeClr val="bg1"/>
                </a:solidFill>
              </a:rPr>
              <a:t> </a:t>
            </a:r>
            <a:r>
              <a:rPr lang="zh-CN" altLang="en-US" sz="2400" b="1" dirty="0">
                <a:solidFill>
                  <a:srgbClr val="1D1D1A"/>
                </a:solidFill>
              </a:rPr>
              <a:t>模型结构分析</a:t>
            </a:r>
            <a:endParaRPr lang="en-US" altLang="zh-CN" sz="2400" b="1" dirty="0">
              <a:solidFill>
                <a:srgbClr val="1D1D1A"/>
              </a:solidFill>
            </a:endParaRPr>
          </a:p>
          <a:p>
            <a:pPr defTabSz="913765">
              <a:lnSpc>
                <a:spcPct val="150000"/>
              </a:lnSpc>
            </a:pPr>
            <a:endParaRPr lang="en-US" altLang="zh-CN" sz="2400" b="1" dirty="0">
              <a:solidFill>
                <a:srgbClr val="1D1D1A"/>
              </a:solidFill>
            </a:endParaRPr>
          </a:p>
          <a:p>
            <a:pPr defTabSz="913765">
              <a:lnSpc>
                <a:spcPct val="150000"/>
              </a:lnSpc>
            </a:pPr>
            <a:endParaRPr lang="en-US" altLang="zh-CN" sz="2400" b="1" dirty="0">
              <a:solidFill>
                <a:srgbClr val="1D1D1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171450" y="73118"/>
            <a:ext cx="12267344" cy="550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038" tIns="39019" rIns="78038" bIns="39019" numCol="1" anchor="ctr" anchorCtr="0" compatLnSpc="1"/>
          <a:lstStyle>
            <a:lvl1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+mj-lt"/>
                <a:ea typeface="+mj-ea"/>
                <a:cs typeface="+mj-cs"/>
              </a:defRPr>
            </a:lvl1pPr>
            <a:lvl2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5930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1860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68425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4355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lvl="0" indent="0" algn="l" defTabSz="913130" rtl="0" latinLnBrk="0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KIMI K3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2.8T 参数开源模型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Agentic 8 项 SOTA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开源阵营首个 WebDev Arena 登顶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6" name="矩形 305"/>
          <p:cNvSpPr/>
          <p:nvPr/>
        </p:nvSpPr>
        <p:spPr>
          <a:xfrm>
            <a:off x="171450" y="547370"/>
            <a:ext cx="707390" cy="414020"/>
          </a:xfrm>
          <a:prstGeom prst="rect">
            <a:avLst/>
          </a:prstGeom>
          <a:solidFill>
            <a:srgbClr val="C00000"/>
          </a:solidFill>
          <a:ln w="3175" cap="flat">
            <a:noFill/>
            <a:miter lim="400000"/>
          </a:ln>
          <a:effectLst/>
        </p:spPr>
        <p:txBody>
          <a:bodyPr wrap="square" lIns="35949" tIns="35949" rIns="35949" bIns="35949" numCol="1" anchor="ctr">
            <a:noAutofit/>
          </a:bodyPr>
          <a:lstStyle/>
          <a:p>
            <a:pPr algn="ctr" defTabSz="1718310"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亮点</a:t>
            </a:r>
          </a:p>
        </p:txBody>
      </p:sp>
      <p:sp>
        <p:nvSpPr>
          <p:cNvPr id="307" name="矩形 306"/>
          <p:cNvSpPr/>
          <p:nvPr/>
        </p:nvSpPr>
        <p:spPr>
          <a:xfrm>
            <a:off x="902970" y="544195"/>
            <a:ext cx="11081385" cy="417195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indent="-171450" defTabSz="91313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2.8T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参数开源模型,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Agentic 8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 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SOTA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，开源阵营首个 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WebDev Arena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登顶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rcRect t="6837"/>
          <a:stretch>
            <a:fillRect/>
          </a:stretch>
        </p:blipFill>
        <p:spPr>
          <a:xfrm>
            <a:off x="277495" y="1113790"/>
            <a:ext cx="5170170" cy="29127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3672" y="4102100"/>
            <a:ext cx="5080000" cy="30670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lang="en-US" altLang="zh-CN" sz="700" b="0">
                <a:solidFill>
                  <a:schemeClr val="bg1"/>
                </a:solidFill>
                <a:latin typeface="-apple-system"/>
                <a:ea typeface="-apple-system"/>
              </a:rPr>
              <a:t>Kimi K3 </a:t>
            </a:r>
            <a:r>
              <a:rPr lang="zh-CN" altLang="en-US" sz="700" b="0">
                <a:solidFill>
                  <a:schemeClr val="bg1"/>
                </a:solidFill>
                <a:latin typeface="-apple-system"/>
                <a:ea typeface="-apple-system"/>
              </a:rPr>
              <a:t>在 </a:t>
            </a:r>
            <a:r>
              <a:rPr lang="en-US" altLang="zh-CN" sz="700" b="0">
                <a:solidFill>
                  <a:schemeClr val="bg1"/>
                </a:solidFill>
                <a:latin typeface="-apple-system"/>
                <a:ea typeface="-apple-system"/>
              </a:rPr>
              <a:t>66 </a:t>
            </a:r>
            <a:r>
              <a:rPr lang="zh-CN" altLang="en-US" sz="700" b="0">
                <a:solidFill>
                  <a:schemeClr val="bg1"/>
                </a:solidFill>
                <a:latin typeface="-apple-system"/>
                <a:ea typeface="-apple-system"/>
              </a:rPr>
              <a:t>项基准中 </a:t>
            </a:r>
            <a:r>
              <a:rPr lang="en-US" altLang="zh-CN" sz="700" b="0">
                <a:solidFill>
                  <a:schemeClr val="bg1"/>
                </a:solidFill>
                <a:latin typeface="-apple-system"/>
                <a:ea typeface="-apple-system"/>
              </a:rPr>
              <a:t>41 </a:t>
            </a:r>
            <a:r>
              <a:rPr lang="zh-CN" altLang="en-US" sz="700" b="0">
                <a:solidFill>
                  <a:schemeClr val="bg1"/>
                </a:solidFill>
                <a:latin typeface="-apple-system"/>
                <a:ea typeface="-apple-system"/>
              </a:rPr>
              <a:t>项居对比首位</a:t>
            </a:r>
            <a:r>
              <a:rPr lang="en-US" altLang="zh-CN" sz="700" b="0">
                <a:solidFill>
                  <a:schemeClr val="bg1"/>
                </a:solidFill>
                <a:latin typeface="-apple-system"/>
                <a:ea typeface="-apple-system"/>
              </a:rPr>
              <a:t>,</a:t>
            </a:r>
            <a:r>
              <a:rPr lang="zh-CN" altLang="en-US" sz="700" b="0">
                <a:solidFill>
                  <a:schemeClr val="bg1"/>
                </a:solidFill>
                <a:latin typeface="-apple-system"/>
                <a:ea typeface="-apple-system"/>
              </a:rPr>
              <a:t>分 </a:t>
            </a:r>
            <a:r>
              <a:rPr lang="en-US" altLang="zh-CN" sz="700" b="0">
                <a:solidFill>
                  <a:schemeClr val="bg1"/>
                </a:solidFill>
                <a:latin typeface="-apple-system"/>
                <a:ea typeface="-apple-system"/>
              </a:rPr>
              <a:t>Coding </a:t>
            </a:r>
            <a:r>
              <a:rPr lang="zh-CN" altLang="en-US" sz="700" b="0">
                <a:solidFill>
                  <a:schemeClr val="bg1"/>
                </a:solidFill>
                <a:latin typeface="-apple-system"/>
                <a:ea typeface="-apple-system"/>
              </a:rPr>
              <a:t>与 </a:t>
            </a:r>
            <a:r>
              <a:rPr lang="en-US" altLang="zh-CN" sz="700" b="0">
                <a:solidFill>
                  <a:schemeClr val="bg1"/>
                </a:solidFill>
                <a:latin typeface="-apple-system"/>
                <a:ea typeface="-apple-system"/>
              </a:rPr>
              <a:t>General &amp; Visual Agents </a:t>
            </a:r>
            <a:r>
              <a:rPr lang="zh-CN" altLang="en-US" sz="700" b="0">
                <a:solidFill>
                  <a:schemeClr val="bg1"/>
                </a:solidFill>
                <a:latin typeface="-apple-system"/>
                <a:ea typeface="-apple-system"/>
              </a:rPr>
              <a:t>两组</a:t>
            </a:r>
            <a:r>
              <a:rPr lang="en-US" altLang="zh-CN" sz="700" b="0">
                <a:solidFill>
                  <a:schemeClr val="bg1"/>
                </a:solidFill>
                <a:latin typeface="-apple-system"/>
                <a:ea typeface="-apple-system"/>
              </a:rPr>
              <a:t>,</a:t>
            </a:r>
            <a:r>
              <a:rPr lang="zh-CN" altLang="en-US" sz="700" b="0">
                <a:solidFill>
                  <a:schemeClr val="bg1"/>
                </a:solidFill>
                <a:latin typeface="-apple-system"/>
                <a:ea typeface="-apple-system"/>
              </a:rPr>
              <a:t>对照 </a:t>
            </a:r>
            <a:r>
              <a:rPr lang="en-US" altLang="zh-CN" sz="700" b="0">
                <a:solidFill>
                  <a:schemeClr val="bg1"/>
                </a:solidFill>
                <a:latin typeface="-apple-system"/>
                <a:ea typeface="-apple-system"/>
              </a:rPr>
              <a:t>Fable 5 / GPT-5.6 Sol / Opus 4.8 / GLM-5.2(</a:t>
            </a:r>
            <a:r>
              <a:rPr lang="zh-CN" altLang="en-US" sz="700" b="0">
                <a:solidFill>
                  <a:schemeClr val="bg1"/>
                </a:solidFill>
                <a:latin typeface="-apple-system"/>
                <a:ea typeface="-apple-system"/>
              </a:rPr>
              <a:t>来源</a:t>
            </a:r>
            <a:r>
              <a:rPr lang="en-US" altLang="zh-CN" sz="700" b="0">
                <a:solidFill>
                  <a:schemeClr val="bg1"/>
                </a:solidFill>
                <a:latin typeface="-apple-system"/>
                <a:ea typeface="-apple-system"/>
              </a:rPr>
              <a:t>:Kimi K3 tech report v2,Figure 1)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77495" y="4557395"/>
            <a:ext cx="4931410" cy="19234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2720" indent="-172720" algn="l">
              <a:lnSpc>
                <a:spcPct val="125000"/>
              </a:lnSpc>
              <a:buFont typeface="Wingdings" panose="05000000000000000000" charset="0"/>
              <a:buChar char=""/>
            </a:pPr>
            <a:r>
              <a:rPr kumimoji="1" lang="zh-CN" altLang="en-US" sz="1000" b="1" dirty="0">
                <a:solidFill>
                  <a:srgbClr val="000000"/>
                </a:solidFill>
                <a:latin typeface="微软雅黑"/>
                <a:ea typeface="微软雅黑"/>
                <a:sym typeface="+mn-ea"/>
              </a:rPr>
              <a:t>8 项</a:t>
            </a:r>
            <a:r>
              <a:rPr kumimoji="1" lang="en-US" altLang="zh-CN" sz="1000" b="1" dirty="0">
                <a:solidFill>
                  <a:srgbClr val="000000"/>
                </a:solidFill>
                <a:latin typeface="微软雅黑"/>
                <a:ea typeface="微软雅黑"/>
                <a:sym typeface="+mn-ea"/>
              </a:rPr>
              <a:t>SOTA</a:t>
            </a:r>
            <a:r>
              <a:rPr kumimoji="1" lang="zh-CN" altLang="en-US" sz="1000" dirty="0">
                <a:solidFill>
                  <a:srgbClr val="000000"/>
                </a:solidFill>
                <a:latin typeface="微软雅黑"/>
                <a:ea typeface="微软雅黑"/>
                <a:sym typeface="+mn-ea"/>
              </a:rPr>
              <a:t>：</a:t>
            </a:r>
            <a:r>
              <a:rPr kumimoji="1" lang="en-US" altLang="zh-CN" sz="1000" dirty="0">
                <a:solidFill>
                  <a:srgbClr val="000000"/>
                </a:solidFill>
                <a:latin typeface="微软雅黑"/>
                <a:ea typeface="微软雅黑"/>
                <a:sym typeface="+mn-ea"/>
              </a:rPr>
              <a:t>ProgramBench 77.8 · SWE-Marathon 42.0 · BrowseComp 91.2 · MCPMark 94.5 · AutomationBench 30.8 · Harvey 94.6 · OmniDocBench 91.1 · Video-MME 90.0</a:t>
            </a:r>
          </a:p>
          <a:p>
            <a:pPr marL="172720" indent="-172720" algn="l">
              <a:lnSpc>
                <a:spcPct val="125000"/>
              </a:lnSpc>
              <a:buFont typeface="Wingdings" panose="05000000000000000000" charset="0"/>
              <a:buChar char=""/>
            </a:pPr>
            <a:endParaRPr kumimoji="1" lang="zh-CN" altLang="en-US" sz="1000" b="1" dirty="0">
              <a:solidFill>
                <a:srgbClr val="000000"/>
              </a:solidFill>
              <a:latin typeface="微软雅黑"/>
              <a:ea typeface="微软雅黑"/>
              <a:sym typeface="+mn-ea"/>
            </a:endParaRPr>
          </a:p>
          <a:p>
            <a:pPr marL="172720" indent="-172720" algn="l">
              <a:lnSpc>
                <a:spcPct val="125000"/>
              </a:lnSpc>
              <a:buFont typeface="Wingdings" panose="05000000000000000000" charset="0"/>
              <a:buChar char=""/>
            </a:pPr>
            <a:r>
              <a:rPr kumimoji="1" lang="zh-CN" altLang="en-US" sz="1000" b="1" dirty="0">
                <a:solidFill>
                  <a:srgbClr val="000000"/>
                </a:solidFill>
                <a:latin typeface="微软雅黑"/>
                <a:ea typeface="微软雅黑"/>
                <a:sym typeface="+mn-ea"/>
              </a:rPr>
              <a:t>对标闭源旗舰</a:t>
            </a:r>
            <a:r>
              <a:rPr kumimoji="1" lang="zh-CN" altLang="en-US" sz="1000" dirty="0">
                <a:solidFill>
                  <a:srgbClr val="000000"/>
                </a:solidFill>
                <a:latin typeface="微软雅黑"/>
                <a:ea typeface="微软雅黑"/>
                <a:sym typeface="+mn-ea"/>
              </a:rPr>
              <a:t>：</a:t>
            </a:r>
            <a:r>
              <a:rPr kumimoji="1" lang="en-US" altLang="zh-CN" sz="1000" dirty="0">
                <a:solidFill>
                  <a:srgbClr val="000000"/>
                </a:solidFill>
                <a:latin typeface="微软雅黑"/>
                <a:ea typeface="微软雅黑"/>
                <a:sym typeface="+mn-ea"/>
              </a:rPr>
              <a:t>GPQA 93.5 / HLE 56.0 / Terminal-Bench 88.3 / FrontierSWE 81.2 </a:t>
            </a:r>
            <a:r>
              <a:rPr kumimoji="1" lang="zh-CN" altLang="en-US" sz="1000" dirty="0">
                <a:solidFill>
                  <a:srgbClr val="000000"/>
                </a:solidFill>
                <a:latin typeface="微软雅黑"/>
                <a:ea typeface="微软雅黑"/>
                <a:sym typeface="+mn-ea"/>
              </a:rPr>
              <a:t>等全面接近两大闭源旗舰</a:t>
            </a:r>
          </a:p>
          <a:p>
            <a:pPr marL="172720" indent="-172720" algn="l">
              <a:lnSpc>
                <a:spcPct val="125000"/>
              </a:lnSpc>
              <a:buFont typeface="Wingdings" panose="05000000000000000000" charset="0"/>
              <a:buChar char=""/>
            </a:pPr>
            <a:endParaRPr kumimoji="1" lang="zh-CN" altLang="en-US" sz="1000" b="1" dirty="0">
              <a:solidFill>
                <a:srgbClr val="000000"/>
              </a:solidFill>
              <a:latin typeface="微软雅黑"/>
              <a:ea typeface="微软雅黑"/>
              <a:sym typeface="+mn-ea"/>
            </a:endParaRPr>
          </a:p>
          <a:p>
            <a:pPr marL="172720" indent="-172720" algn="l">
              <a:lnSpc>
                <a:spcPct val="125000"/>
              </a:lnSpc>
              <a:buFont typeface="Wingdings" panose="05000000000000000000" charset="0"/>
              <a:buChar char=""/>
            </a:pPr>
            <a:r>
              <a:rPr kumimoji="1" lang="zh-CN" altLang="en-US" sz="1000" b="1" dirty="0">
                <a:solidFill>
                  <a:srgbClr val="000000"/>
                </a:solidFill>
                <a:latin typeface="微软雅黑"/>
                <a:ea typeface="微软雅黑"/>
                <a:sym typeface="+mn-ea"/>
              </a:rPr>
              <a:t>开源第一</a:t>
            </a:r>
            <a:r>
              <a:rPr kumimoji="1" lang="zh-CN" altLang="en-US" sz="1000" dirty="0">
                <a:solidFill>
                  <a:srgbClr val="000000"/>
                </a:solidFill>
                <a:latin typeface="微软雅黑"/>
                <a:ea typeface="微软雅黑"/>
                <a:sym typeface="+mn-ea"/>
              </a:rPr>
              <a:t>：全球首个开源 3</a:t>
            </a:r>
            <a:r>
              <a:rPr kumimoji="1" lang="en-US" altLang="zh-CN" sz="1000" dirty="0">
                <a:solidFill>
                  <a:srgbClr val="000000"/>
                </a:solidFill>
                <a:latin typeface="微软雅黑"/>
                <a:ea typeface="微软雅黑"/>
                <a:sym typeface="+mn-ea"/>
              </a:rPr>
              <a:t>T </a:t>
            </a:r>
            <a:r>
              <a:rPr kumimoji="1" lang="zh-CN" altLang="en-US" sz="1000" dirty="0">
                <a:solidFill>
                  <a:srgbClr val="000000"/>
                </a:solidFill>
                <a:latin typeface="微软雅黑"/>
                <a:ea typeface="微软雅黑"/>
                <a:sym typeface="+mn-ea"/>
              </a:rPr>
              <a:t>级模型即进入第一梯队，权重 </a:t>
            </a:r>
            <a:r>
              <a:rPr kumimoji="1" lang="en-US" altLang="zh-CN" sz="1000" dirty="0">
                <a:solidFill>
                  <a:srgbClr val="000000"/>
                </a:solidFill>
                <a:latin typeface="微软雅黑"/>
                <a:ea typeface="微软雅黑"/>
                <a:sym typeface="+mn-ea"/>
              </a:rPr>
              <a:t>MXFP4 </a:t>
            </a:r>
            <a:r>
              <a:rPr kumimoji="1" lang="zh-CN" altLang="en-US" sz="1000" dirty="0">
                <a:solidFill>
                  <a:srgbClr val="000000"/>
                </a:solidFill>
                <a:latin typeface="微软雅黑"/>
                <a:ea typeface="微软雅黑"/>
                <a:sym typeface="+mn-ea"/>
              </a:rPr>
              <a:t>开源（</a:t>
            </a:r>
            <a:r>
              <a:rPr kumimoji="1" lang="en-US" altLang="zh-CN" sz="1000" dirty="0">
                <a:solidFill>
                  <a:srgbClr val="000000"/>
                </a:solidFill>
                <a:latin typeface="微软雅黑"/>
                <a:ea typeface="微软雅黑"/>
                <a:sym typeface="+mn-ea"/>
              </a:rPr>
              <a:t>HF/ModelScope）</a:t>
            </a:r>
          </a:p>
          <a:p>
            <a:pPr marL="172720" indent="-172720" algn="l">
              <a:lnSpc>
                <a:spcPct val="125000"/>
              </a:lnSpc>
            </a:pPr>
            <a:endParaRPr kumimoji="1" lang="en-US" altLang="zh-CN" sz="1000" dirty="0">
              <a:solidFill>
                <a:srgbClr val="000000"/>
              </a:solidFill>
              <a:latin typeface="微软雅黑"/>
              <a:ea typeface="微软雅黑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61685" y="1113790"/>
            <a:ext cx="4065270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buFont typeface="Wingdings" panose="05000000000000000000" charset="0"/>
              <a:buChar char=""/>
            </a:pPr>
            <a:r>
              <a: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K2 </a:t>
            </a: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K3</a:t>
            </a: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：七个维度全线放大，智能与速度同提效</a:t>
            </a:r>
          </a:p>
        </p:txBody>
      </p:sp>
      <p:graphicFrame>
        <p:nvGraphicFramePr>
          <p:cNvPr id="16" name="表格 15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2929374"/>
              </p:ext>
            </p:extLst>
          </p:nvPr>
        </p:nvGraphicFramePr>
        <p:xfrm>
          <a:off x="5861685" y="1350010"/>
          <a:ext cx="5932170" cy="2206940"/>
        </p:xfrm>
        <a:graphic>
          <a:graphicData uri="http://schemas.openxmlformats.org/drawingml/2006/table">
            <a:tbl>
              <a:tblPr/>
              <a:tblGrid>
                <a:gridCol w="1445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dirty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K2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K3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变化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dirty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层数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61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93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52%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总参数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1.04T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2.78T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167%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激活参数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dirty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32.6B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104.2B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220%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路由专家数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384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896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133%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 </a:t>
                      </a:r>
                      <a:r>
                        <a:rPr lang="en-US" altLang="zh-CN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token </a:t>
                      </a:r>
                      <a:r>
                        <a:rPr lang="zh-CN" altLang="en-US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激活专家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dirty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16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注意力头数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64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dirty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96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50%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训练上下文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128K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dirty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1M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8×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135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单位算力的智能产出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zh-CN" altLang="en-US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约为 </a:t>
                      </a:r>
                      <a:r>
                        <a:rPr lang="en-US" altLang="zh-CN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K2 </a:t>
                      </a:r>
                      <a:r>
                        <a:rPr lang="zh-CN" altLang="en-US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的 </a:t>
                      </a:r>
                      <a:r>
                        <a:rPr lang="en-US" altLang="zh-CN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2.5 </a:t>
                      </a:r>
                      <a:r>
                        <a:rPr lang="zh-CN" altLang="en-US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倍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百万</a:t>
                      </a:r>
                      <a:r>
                        <a:rPr lang="en-US" altLang="zh-CN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token</a:t>
                      </a:r>
                      <a:r>
                        <a:rPr lang="zh-CN" altLang="en-US" sz="1000" b="0" i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解码速度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zh-CN" altLang="en-US" sz="1000" b="0" i="0" dirty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最快 </a:t>
                      </a:r>
                      <a:r>
                        <a:rPr lang="en-US" altLang="zh-CN" sz="1000" b="0" i="0" dirty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6.3×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000" b="0" i="0" dirty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H20 </a:t>
                      </a:r>
                      <a:r>
                        <a:rPr lang="zh-CN" altLang="en-US" sz="1000" b="0" i="0" dirty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上 </a:t>
                      </a:r>
                      <a:r>
                        <a:rPr lang="en-US" altLang="zh-CN" sz="1000" b="0" i="0" dirty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prefill </a:t>
                      </a:r>
                      <a:r>
                        <a:rPr lang="zh-CN" altLang="en-US" sz="1000" b="0" i="0" dirty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提速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altLang="zh-CN" sz="1000" b="0" i="0" dirty="0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1.72-2.22×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/>
          <p:nvPr>
            <p:custDataLst>
              <p:tags r:id="rId2"/>
            </p:custDataLst>
          </p:nvPr>
        </p:nvGraphicFramePr>
        <p:xfrm>
          <a:off x="5861685" y="4026535"/>
          <a:ext cx="5952490" cy="2453640"/>
        </p:xfrm>
        <a:graphic>
          <a:graphicData uri="http://schemas.openxmlformats.org/drawingml/2006/table">
            <a:tbl>
              <a:tblPr/>
              <a:tblGrid>
                <a:gridCol w="1158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4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891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创新点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功能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效果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695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KDA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混合线性注意力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93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层中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69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层用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KDA: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固定大小状态取代逐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token KV cache,1M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上下文显存不再随序列长度膨胀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百万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token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上下文解码最快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6.3×(vs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等效全注意力模型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,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官方口径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)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555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Attention Residuals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深度方向也用注意力</a:t>
                      </a:r>
                      <a:r>
                        <a:rPr lang="en-US" altLang="zh-CN" sz="1000" b="0" i="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:</a:t>
                      </a:r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每层按需读取前层表示</a:t>
                      </a:r>
                      <a:r>
                        <a:rPr lang="en-US" altLang="zh-CN" sz="1000" b="0" i="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,</a:t>
                      </a:r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替代均匀累加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1×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算力匹配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1.25×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算力基线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;GPQA-Diamond 36.9→44.4(+7.5);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额外开销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&lt;2%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Stable LatentMoE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896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路由专家每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token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选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16,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再加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个全宽共享专家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;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专家走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3584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宽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latent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通道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稀疏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56×,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激活率约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1.8%,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激活参数仅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104B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per-head Muon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优化器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Muon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更新按注意力头分块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,2.8T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规模预训练全程稳定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官方定性结论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: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大规模训练稳定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quantile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负载均衡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用分位数估计替代逐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micro-batch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的原始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margin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交换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,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稳住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896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专家负载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通信开销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&lt;1%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MXFP4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全量量化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QAT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自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SFT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阶段起步、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group 32;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量化权重即训练产物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,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不是事后压缩</a:t>
                      </a: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权重 </a:t>
                      </a:r>
                      <a:r>
                        <a:rPr lang="en-US" altLang="zh-CN" sz="1000" b="0" i="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1.56TB</a:t>
                      </a:r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、单机 </a:t>
                      </a:r>
                      <a:r>
                        <a:rPr lang="en-US" altLang="zh-CN" sz="1000" b="0" i="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8×B300 </a:t>
                      </a:r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可跑</a:t>
                      </a:r>
                      <a:endParaRPr lang="en-US" altLang="zh-CN" sz="1000" b="0" i="0" dirty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5861685" y="3763645"/>
            <a:ext cx="4065270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buFont typeface="Wingdings" panose="05000000000000000000" charset="0"/>
              <a:buChar char=""/>
            </a:pP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核心改进：六项创新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995930" y="1461770"/>
            <a:ext cx="2520315" cy="5200015"/>
            <a:chOff x="5013" y="2397"/>
            <a:chExt cx="3969" cy="8189"/>
          </a:xfrm>
        </p:grpSpPr>
        <p:sp>
          <p:nvSpPr>
            <p:cNvPr id="214" name="矩形: 圆角 176"/>
            <p:cNvSpPr/>
            <p:nvPr/>
          </p:nvSpPr>
          <p:spPr>
            <a:xfrm rot="21600000">
              <a:off x="6813" y="2779"/>
              <a:ext cx="1138" cy="22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7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LM head</a:t>
              </a:r>
              <a:endParaRPr lang="zh-CN" altLang="en-US" sz="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22" name="直接箭头连接符 221"/>
            <p:cNvCxnSpPr>
              <a:stCxn id="209" idx="0"/>
              <a:endCxn id="214" idx="2"/>
            </p:cNvCxnSpPr>
            <p:nvPr/>
          </p:nvCxnSpPr>
          <p:spPr>
            <a:xfrm flipH="1" flipV="1">
              <a:off x="7382" y="3004"/>
              <a:ext cx="2" cy="1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矩形: 圆角 176"/>
            <p:cNvSpPr/>
            <p:nvPr/>
          </p:nvSpPr>
          <p:spPr>
            <a:xfrm rot="21600000">
              <a:off x="6813" y="2397"/>
              <a:ext cx="1138" cy="225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7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output</a:t>
              </a:r>
              <a:endParaRPr lang="zh-CN" altLang="en-US" sz="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24" name="直接箭头连接符 223"/>
            <p:cNvCxnSpPr>
              <a:stCxn id="214" idx="0"/>
              <a:endCxn id="223" idx="2"/>
            </p:cNvCxnSpPr>
            <p:nvPr/>
          </p:nvCxnSpPr>
          <p:spPr>
            <a:xfrm flipV="1">
              <a:off x="7382" y="2622"/>
              <a:ext cx="0" cy="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矩形 87"/>
            <p:cNvSpPr/>
            <p:nvPr/>
          </p:nvSpPr>
          <p:spPr>
            <a:xfrm rot="16200000">
              <a:off x="4300" y="4530"/>
              <a:ext cx="5708" cy="349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>
                <a:sym typeface="+mn-ea"/>
              </a:endParaRPr>
            </a:p>
          </p:txBody>
        </p:sp>
        <p:sp>
          <p:nvSpPr>
            <p:cNvPr id="5" name="矩形: 圆角 22"/>
            <p:cNvSpPr/>
            <p:nvPr/>
          </p:nvSpPr>
          <p:spPr>
            <a:xfrm>
              <a:off x="6059" y="9982"/>
              <a:ext cx="1118" cy="199"/>
            </a:xfrm>
            <a:prstGeom prst="round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embedding</a:t>
              </a:r>
            </a:p>
          </p:txBody>
        </p:sp>
        <p:cxnSp>
          <p:nvCxnSpPr>
            <p:cNvPr id="7" name="连接符: 肘形 183"/>
            <p:cNvCxnSpPr>
              <a:stCxn id="4" idx="0"/>
              <a:endCxn id="9" idx="2"/>
            </p:cNvCxnSpPr>
            <p:nvPr/>
          </p:nvCxnSpPr>
          <p:spPr>
            <a:xfrm rot="16200000">
              <a:off x="7672" y="9883"/>
              <a:ext cx="197" cy="808"/>
            </a:xfrm>
            <a:prstGeom prst="bentConnector3">
              <a:avLst>
                <a:gd name="adj1" fmla="val 3401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: 圆角 22"/>
            <p:cNvSpPr/>
            <p:nvPr/>
          </p:nvSpPr>
          <p:spPr>
            <a:xfrm>
              <a:off x="7366" y="9989"/>
              <a:ext cx="1616" cy="199"/>
            </a:xfrm>
            <a:prstGeom prst="round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KimiK3VisionTower</a:t>
              </a:r>
            </a:p>
          </p:txBody>
        </p:sp>
        <p:sp>
          <p:nvSpPr>
            <p:cNvPr id="10" name="矩形: 圆角 22"/>
            <p:cNvSpPr/>
            <p:nvPr/>
          </p:nvSpPr>
          <p:spPr>
            <a:xfrm>
              <a:off x="6201" y="9514"/>
              <a:ext cx="2331" cy="199"/>
            </a:xfrm>
            <a:prstGeom prst="round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merge text + vision tokens</a:t>
              </a:r>
            </a:p>
          </p:txBody>
        </p:sp>
        <p:sp>
          <p:nvSpPr>
            <p:cNvPr id="4" name="矩形: 圆角 22"/>
            <p:cNvSpPr/>
            <p:nvPr/>
          </p:nvSpPr>
          <p:spPr>
            <a:xfrm>
              <a:off x="6860" y="10385"/>
              <a:ext cx="1011" cy="201"/>
            </a:xfrm>
            <a:prstGeom prst="round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Input</a:t>
              </a:r>
            </a:p>
          </p:txBody>
        </p:sp>
        <p:cxnSp>
          <p:nvCxnSpPr>
            <p:cNvPr id="3" name="连接符: 肘形 183"/>
            <p:cNvCxnSpPr>
              <a:stCxn id="4" idx="0"/>
              <a:endCxn id="5" idx="2"/>
            </p:cNvCxnSpPr>
            <p:nvPr/>
          </p:nvCxnSpPr>
          <p:spPr>
            <a:xfrm rot="16200000" flipV="1">
              <a:off x="6890" y="9909"/>
              <a:ext cx="204" cy="748"/>
            </a:xfrm>
            <a:prstGeom prst="bentConnector3">
              <a:avLst>
                <a:gd name="adj1" fmla="val 3431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矩形: 圆角 176"/>
            <p:cNvSpPr/>
            <p:nvPr/>
          </p:nvSpPr>
          <p:spPr>
            <a:xfrm>
              <a:off x="6878" y="3110"/>
              <a:ext cx="1011" cy="20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6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RMSNorm</a:t>
              </a:r>
            </a:p>
          </p:txBody>
        </p:sp>
        <p:cxnSp>
          <p:nvCxnSpPr>
            <p:cNvPr id="211" name="直接箭头连接符 210"/>
            <p:cNvCxnSpPr>
              <a:stCxn id="191" idx="6"/>
              <a:endCxn id="209" idx="2"/>
            </p:cNvCxnSpPr>
            <p:nvPr/>
          </p:nvCxnSpPr>
          <p:spPr>
            <a:xfrm flipH="1" flipV="1">
              <a:off x="7384" y="3311"/>
              <a:ext cx="3" cy="27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矩形 261"/>
            <p:cNvSpPr/>
            <p:nvPr/>
          </p:nvSpPr>
          <p:spPr>
            <a:xfrm rot="16200000">
              <a:off x="6102" y="6394"/>
              <a:ext cx="2606" cy="264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/>
            </a:p>
          </p:txBody>
        </p:sp>
        <p:sp>
          <p:nvSpPr>
            <p:cNvPr id="139" name="矩形: 圆角 176"/>
            <p:cNvSpPr/>
            <p:nvPr/>
          </p:nvSpPr>
          <p:spPr>
            <a:xfrm>
              <a:off x="6819" y="6857"/>
              <a:ext cx="1136" cy="293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6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Stable LatentMoE</a:t>
              </a:r>
            </a:p>
          </p:txBody>
        </p:sp>
        <p:sp>
          <p:nvSpPr>
            <p:cNvPr id="149" name="矩形: 圆角 30"/>
            <p:cNvSpPr/>
            <p:nvPr/>
          </p:nvSpPr>
          <p:spPr>
            <a:xfrm>
              <a:off x="6461" y="8757"/>
              <a:ext cx="1823" cy="20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7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ResAttention</a:t>
              </a:r>
            </a:p>
          </p:txBody>
        </p:sp>
        <p:sp>
          <p:nvSpPr>
            <p:cNvPr id="150" name="矩形: 圆角 176"/>
            <p:cNvSpPr/>
            <p:nvPr/>
          </p:nvSpPr>
          <p:spPr>
            <a:xfrm>
              <a:off x="6867" y="8380"/>
              <a:ext cx="1011" cy="17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6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RMSNorm</a:t>
              </a:r>
            </a:p>
          </p:txBody>
        </p:sp>
        <p:cxnSp>
          <p:nvCxnSpPr>
            <p:cNvPr id="151" name="直接箭头连接符 150"/>
            <p:cNvCxnSpPr>
              <a:stCxn id="149" idx="0"/>
              <a:endCxn id="150" idx="2"/>
            </p:cNvCxnSpPr>
            <p:nvPr/>
          </p:nvCxnSpPr>
          <p:spPr>
            <a:xfrm flipV="1">
              <a:off x="7373" y="8558"/>
              <a:ext cx="0" cy="1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矩形: 圆角 30"/>
            <p:cNvSpPr/>
            <p:nvPr/>
          </p:nvSpPr>
          <p:spPr>
            <a:xfrm>
              <a:off x="6813" y="8015"/>
              <a:ext cx="1119" cy="19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7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KDA</a:t>
              </a:r>
            </a:p>
          </p:txBody>
        </p:sp>
        <p:cxnSp>
          <p:nvCxnSpPr>
            <p:cNvPr id="155" name="直接箭头连接符 154"/>
            <p:cNvCxnSpPr>
              <a:stCxn id="150" idx="0"/>
              <a:endCxn id="154" idx="2"/>
            </p:cNvCxnSpPr>
            <p:nvPr/>
          </p:nvCxnSpPr>
          <p:spPr>
            <a:xfrm flipV="1">
              <a:off x="7373" y="8206"/>
              <a:ext cx="0" cy="17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矩形: 圆角 176"/>
            <p:cNvSpPr/>
            <p:nvPr/>
          </p:nvSpPr>
          <p:spPr>
            <a:xfrm>
              <a:off x="6867" y="7264"/>
              <a:ext cx="1011" cy="17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6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RMSNorm</a:t>
              </a:r>
            </a:p>
          </p:txBody>
        </p:sp>
        <p:cxnSp>
          <p:nvCxnSpPr>
            <p:cNvPr id="157" name="直接箭头连接符 156"/>
            <p:cNvCxnSpPr>
              <a:stCxn id="154" idx="0"/>
              <a:endCxn id="158" idx="2"/>
            </p:cNvCxnSpPr>
            <p:nvPr/>
          </p:nvCxnSpPr>
          <p:spPr>
            <a:xfrm flipH="1" flipV="1">
              <a:off x="7363" y="7806"/>
              <a:ext cx="10" cy="2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流程图: 或者 157"/>
            <p:cNvSpPr/>
            <p:nvPr/>
          </p:nvSpPr>
          <p:spPr>
            <a:xfrm rot="16200000">
              <a:off x="7262" y="7596"/>
              <a:ext cx="202" cy="218"/>
            </a:xfrm>
            <a:prstGeom prst="flowChartOr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/>
            </a:p>
          </p:txBody>
        </p:sp>
        <p:cxnSp>
          <p:nvCxnSpPr>
            <p:cNvPr id="159" name="直接箭头连接符 158"/>
            <p:cNvCxnSpPr>
              <a:stCxn id="158" idx="6"/>
              <a:endCxn id="156" idx="2"/>
            </p:cNvCxnSpPr>
            <p:nvPr/>
          </p:nvCxnSpPr>
          <p:spPr>
            <a:xfrm flipV="1">
              <a:off x="7363" y="7442"/>
              <a:ext cx="10" cy="1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箭头连接符 160"/>
            <p:cNvCxnSpPr>
              <a:stCxn id="156" idx="0"/>
            </p:cNvCxnSpPr>
            <p:nvPr/>
          </p:nvCxnSpPr>
          <p:spPr>
            <a:xfrm flipV="1">
              <a:off x="7373" y="7065"/>
              <a:ext cx="0" cy="1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流程图: 或者 161"/>
            <p:cNvSpPr/>
            <p:nvPr/>
          </p:nvSpPr>
          <p:spPr>
            <a:xfrm rot="16200000">
              <a:off x="7271" y="6500"/>
              <a:ext cx="202" cy="218"/>
            </a:xfrm>
            <a:prstGeom prst="flowChartOr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/>
            </a:p>
          </p:txBody>
        </p:sp>
        <p:cxnSp>
          <p:nvCxnSpPr>
            <p:cNvPr id="163" name="直接箭头连接符 162"/>
            <p:cNvCxnSpPr>
              <a:endCxn id="162" idx="2"/>
            </p:cNvCxnSpPr>
            <p:nvPr/>
          </p:nvCxnSpPr>
          <p:spPr>
            <a:xfrm flipV="1">
              <a:off x="7372" y="6710"/>
              <a:ext cx="0" cy="20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连接符: 肘形 270"/>
            <p:cNvCxnSpPr/>
            <p:nvPr/>
          </p:nvCxnSpPr>
          <p:spPr>
            <a:xfrm rot="10800000" flipH="1">
              <a:off x="7278" y="6621"/>
              <a:ext cx="9" cy="1096"/>
            </a:xfrm>
            <a:prstGeom prst="bentConnector3">
              <a:avLst>
                <a:gd name="adj1" fmla="val -839999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连接符: 肘形 270"/>
            <p:cNvCxnSpPr>
              <a:stCxn id="149" idx="3"/>
              <a:endCxn id="158" idx="4"/>
            </p:cNvCxnSpPr>
            <p:nvPr/>
          </p:nvCxnSpPr>
          <p:spPr>
            <a:xfrm flipH="1" flipV="1">
              <a:off x="7472" y="7705"/>
              <a:ext cx="812" cy="1153"/>
            </a:xfrm>
            <a:prstGeom prst="bentConnector3">
              <a:avLst>
                <a:gd name="adj1" fmla="val -46182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文本框 266"/>
            <p:cNvSpPr txBox="1"/>
            <p:nvPr/>
          </p:nvSpPr>
          <p:spPr>
            <a:xfrm>
              <a:off x="6147" y="6452"/>
              <a:ext cx="1491" cy="16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en-US" altLang="zh-CN" sz="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Linear Attention</a:t>
              </a:r>
            </a:p>
          </p:txBody>
        </p:sp>
        <p:sp>
          <p:nvSpPr>
            <p:cNvPr id="253" name="矩形 252"/>
            <p:cNvSpPr/>
            <p:nvPr/>
          </p:nvSpPr>
          <p:spPr>
            <a:xfrm rot="16200000">
              <a:off x="6013" y="3570"/>
              <a:ext cx="2774" cy="264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>
                <a:sym typeface="+mn-ea"/>
              </a:endParaRPr>
            </a:p>
          </p:txBody>
        </p:sp>
        <p:sp>
          <p:nvSpPr>
            <p:cNvPr id="169" name="矩形: 圆角 176"/>
            <p:cNvSpPr/>
            <p:nvPr/>
          </p:nvSpPr>
          <p:spPr>
            <a:xfrm>
              <a:off x="6824" y="3960"/>
              <a:ext cx="1136" cy="293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6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Stable LatentMoE</a:t>
              </a:r>
            </a:p>
          </p:txBody>
        </p:sp>
        <p:sp>
          <p:nvSpPr>
            <p:cNvPr id="174" name="矩形: 圆角 30"/>
            <p:cNvSpPr/>
            <p:nvPr/>
          </p:nvSpPr>
          <p:spPr>
            <a:xfrm>
              <a:off x="6466" y="6011"/>
              <a:ext cx="1823" cy="20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7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ResAttention</a:t>
              </a:r>
            </a:p>
          </p:txBody>
        </p:sp>
        <p:sp>
          <p:nvSpPr>
            <p:cNvPr id="176" name="矩形: 圆角 176"/>
            <p:cNvSpPr/>
            <p:nvPr/>
          </p:nvSpPr>
          <p:spPr>
            <a:xfrm>
              <a:off x="6872" y="5650"/>
              <a:ext cx="1011" cy="17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6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RMSNorm</a:t>
              </a:r>
            </a:p>
          </p:txBody>
        </p:sp>
        <p:cxnSp>
          <p:nvCxnSpPr>
            <p:cNvPr id="178" name="直接箭头连接符 177"/>
            <p:cNvCxnSpPr>
              <a:stCxn id="174" idx="0"/>
              <a:endCxn id="176" idx="2"/>
            </p:cNvCxnSpPr>
            <p:nvPr/>
          </p:nvCxnSpPr>
          <p:spPr>
            <a:xfrm flipV="1">
              <a:off x="7378" y="5828"/>
              <a:ext cx="0" cy="1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矩形: 圆角 30"/>
            <p:cNvSpPr/>
            <p:nvPr/>
          </p:nvSpPr>
          <p:spPr>
            <a:xfrm>
              <a:off x="6713" y="5143"/>
              <a:ext cx="1342" cy="357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7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GatedMLA Attention</a:t>
              </a:r>
            </a:p>
          </p:txBody>
        </p:sp>
        <p:sp>
          <p:nvSpPr>
            <p:cNvPr id="182" name="矩形: 圆角 176"/>
            <p:cNvSpPr/>
            <p:nvPr/>
          </p:nvSpPr>
          <p:spPr>
            <a:xfrm>
              <a:off x="6872" y="4408"/>
              <a:ext cx="1011" cy="17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6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RMSNorm</a:t>
              </a:r>
            </a:p>
          </p:txBody>
        </p:sp>
        <p:cxnSp>
          <p:nvCxnSpPr>
            <p:cNvPr id="183" name="直接箭头连接符 182"/>
            <p:cNvCxnSpPr>
              <a:stCxn id="179" idx="0"/>
              <a:endCxn id="185" idx="2"/>
            </p:cNvCxnSpPr>
            <p:nvPr/>
          </p:nvCxnSpPr>
          <p:spPr>
            <a:xfrm flipH="1" flipV="1">
              <a:off x="7378" y="4935"/>
              <a:ext cx="6" cy="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流程图: 或者 184"/>
            <p:cNvSpPr/>
            <p:nvPr/>
          </p:nvSpPr>
          <p:spPr>
            <a:xfrm rot="16200000">
              <a:off x="7276" y="4755"/>
              <a:ext cx="202" cy="218"/>
            </a:xfrm>
            <a:prstGeom prst="flowChartOr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/>
            </a:p>
          </p:txBody>
        </p:sp>
        <p:cxnSp>
          <p:nvCxnSpPr>
            <p:cNvPr id="186" name="直接箭头连接符 185"/>
            <p:cNvCxnSpPr>
              <a:stCxn id="185" idx="6"/>
              <a:endCxn id="182" idx="2"/>
            </p:cNvCxnSpPr>
            <p:nvPr/>
          </p:nvCxnSpPr>
          <p:spPr>
            <a:xfrm flipV="1">
              <a:off x="7377" y="4586"/>
              <a:ext cx="1" cy="1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箭头连接符 188"/>
            <p:cNvCxnSpPr>
              <a:stCxn id="182" idx="0"/>
            </p:cNvCxnSpPr>
            <p:nvPr/>
          </p:nvCxnSpPr>
          <p:spPr>
            <a:xfrm flipV="1">
              <a:off x="7378" y="4209"/>
              <a:ext cx="0" cy="1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流程图: 或者 190"/>
            <p:cNvSpPr/>
            <p:nvPr/>
          </p:nvSpPr>
          <p:spPr>
            <a:xfrm rot="16200000">
              <a:off x="7286" y="3574"/>
              <a:ext cx="202" cy="218"/>
            </a:xfrm>
            <a:prstGeom prst="flowChartOr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/>
            </a:p>
          </p:txBody>
        </p:sp>
        <p:cxnSp>
          <p:nvCxnSpPr>
            <p:cNvPr id="193" name="直接箭头连接符 192"/>
            <p:cNvCxnSpPr>
              <a:stCxn id="169" idx="0"/>
              <a:endCxn id="191" idx="2"/>
            </p:cNvCxnSpPr>
            <p:nvPr/>
          </p:nvCxnSpPr>
          <p:spPr>
            <a:xfrm flipH="1" flipV="1">
              <a:off x="7387" y="3784"/>
              <a:ext cx="5" cy="1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连接符: 肘形 270"/>
            <p:cNvCxnSpPr>
              <a:stCxn id="185" idx="0"/>
              <a:endCxn id="191" idx="0"/>
            </p:cNvCxnSpPr>
            <p:nvPr/>
          </p:nvCxnSpPr>
          <p:spPr>
            <a:xfrm rot="10800000" flipH="1">
              <a:off x="7268" y="3683"/>
              <a:ext cx="10" cy="1181"/>
            </a:xfrm>
            <a:prstGeom prst="bentConnector3">
              <a:avLst>
                <a:gd name="adj1" fmla="val -75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箭头连接符 207"/>
            <p:cNvCxnSpPr>
              <a:stCxn id="176" idx="0"/>
              <a:endCxn id="179" idx="2"/>
            </p:cNvCxnSpPr>
            <p:nvPr/>
          </p:nvCxnSpPr>
          <p:spPr>
            <a:xfrm flipV="1">
              <a:off x="7378" y="5500"/>
              <a:ext cx="6" cy="1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连接符: 肘形 270"/>
            <p:cNvCxnSpPr>
              <a:stCxn id="174" idx="3"/>
              <a:endCxn id="185" idx="4"/>
            </p:cNvCxnSpPr>
            <p:nvPr/>
          </p:nvCxnSpPr>
          <p:spPr>
            <a:xfrm flipH="1" flipV="1">
              <a:off x="7486" y="4864"/>
              <a:ext cx="803" cy="1248"/>
            </a:xfrm>
            <a:prstGeom prst="bentConnector3">
              <a:avLst>
                <a:gd name="adj1" fmla="val -467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文本框 268"/>
            <p:cNvSpPr txBox="1"/>
            <p:nvPr/>
          </p:nvSpPr>
          <p:spPr>
            <a:xfrm>
              <a:off x="6124" y="3506"/>
              <a:ext cx="1930" cy="16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en-US" altLang="zh-CN" sz="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Full Attention</a:t>
              </a:r>
            </a:p>
          </p:txBody>
        </p:sp>
        <p:sp>
          <p:nvSpPr>
            <p:cNvPr id="47" name="矩形: 圆角 22"/>
            <p:cNvSpPr/>
            <p:nvPr/>
          </p:nvSpPr>
          <p:spPr>
            <a:xfrm>
              <a:off x="6201" y="9162"/>
              <a:ext cx="2331" cy="199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7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KDA + Dense MLP</a:t>
              </a:r>
            </a:p>
          </p:txBody>
        </p:sp>
        <p:cxnSp>
          <p:nvCxnSpPr>
            <p:cNvPr id="49" name="肘形连接符 48"/>
            <p:cNvCxnSpPr>
              <a:stCxn id="5" idx="0"/>
              <a:endCxn id="10" idx="2"/>
            </p:cNvCxnSpPr>
            <p:nvPr/>
          </p:nvCxnSpPr>
          <p:spPr>
            <a:xfrm rot="16200000">
              <a:off x="6858" y="9474"/>
              <a:ext cx="269" cy="748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肘形连接符 52"/>
            <p:cNvCxnSpPr>
              <a:stCxn id="9" idx="0"/>
              <a:endCxn id="10" idx="2"/>
            </p:cNvCxnSpPr>
            <p:nvPr/>
          </p:nvCxnSpPr>
          <p:spPr>
            <a:xfrm rot="16200000" flipV="1">
              <a:off x="7632" y="9447"/>
              <a:ext cx="277" cy="807"/>
            </a:xfrm>
            <a:prstGeom prst="bentConnector3">
              <a:avLst>
                <a:gd name="adj1" fmla="val 49838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/>
            <p:cNvCxnSpPr>
              <a:stCxn id="162" idx="6"/>
              <a:endCxn id="174" idx="2"/>
            </p:cNvCxnSpPr>
            <p:nvPr/>
          </p:nvCxnSpPr>
          <p:spPr>
            <a:xfrm flipV="1">
              <a:off x="7372" y="6212"/>
              <a:ext cx="6" cy="2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箭头连接符 76"/>
            <p:cNvCxnSpPr>
              <a:stCxn id="10" idx="0"/>
              <a:endCxn id="47" idx="2"/>
            </p:cNvCxnSpPr>
            <p:nvPr/>
          </p:nvCxnSpPr>
          <p:spPr>
            <a:xfrm flipV="1">
              <a:off x="7367" y="9361"/>
              <a:ext cx="0" cy="1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箭头连接符 81"/>
            <p:cNvCxnSpPr>
              <a:stCxn id="47" idx="0"/>
              <a:endCxn id="149" idx="2"/>
            </p:cNvCxnSpPr>
            <p:nvPr/>
          </p:nvCxnSpPr>
          <p:spPr>
            <a:xfrm flipV="1">
              <a:off x="7367" y="8958"/>
              <a:ext cx="6" cy="2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/>
            <p:cNvSpPr txBox="1"/>
            <p:nvPr/>
          </p:nvSpPr>
          <p:spPr>
            <a:xfrm>
              <a:off x="5481" y="3573"/>
              <a:ext cx="469" cy="1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kumimoji="1" lang="en-US" altLang="zh-CN" sz="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Block</a:t>
              </a: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5728" y="4778"/>
              <a:ext cx="331" cy="1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kumimoji="1" lang="en-US" altLang="zh-CN" sz="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kumimoji="1" lang="en-US" altLang="zh-CN" sz="700" dirty="0">
                  <a:solidFill>
                    <a:srgbClr val="0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×</a:t>
              </a:r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5728" y="7604"/>
              <a:ext cx="331" cy="1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kumimoji="1" lang="en-US" altLang="zh-CN" sz="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kumimoji="1" lang="en-US" altLang="zh-CN" sz="700" dirty="0">
                  <a:solidFill>
                    <a:srgbClr val="0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×</a:t>
              </a: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5013" y="5336"/>
              <a:ext cx="331" cy="1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kumimoji="1" lang="en-US" altLang="zh-CN" sz="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23</a:t>
              </a:r>
              <a:r>
                <a:rPr kumimoji="1" lang="en-US" altLang="zh-CN" sz="700" dirty="0">
                  <a:solidFill>
                    <a:srgbClr val="0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×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04800" y="1456055"/>
            <a:ext cx="2429510" cy="2551430"/>
            <a:chOff x="666" y="2537"/>
            <a:chExt cx="3826" cy="4018"/>
          </a:xfrm>
        </p:grpSpPr>
        <p:sp>
          <p:nvSpPr>
            <p:cNvPr id="227" name="矩形 226"/>
            <p:cNvSpPr/>
            <p:nvPr/>
          </p:nvSpPr>
          <p:spPr>
            <a:xfrm rot="16200000">
              <a:off x="570" y="2633"/>
              <a:ext cx="4018" cy="3827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10000"/>
              </a:schemeClr>
            </a:solidFill>
            <a:ln cap="rnd">
              <a:solidFill>
                <a:srgbClr val="221815">
                  <a:alpha val="20000"/>
                </a:srgb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>
                <a:sym typeface="+mn-ea"/>
              </a:endParaRPr>
            </a:p>
          </p:txBody>
        </p:sp>
        <p:sp>
          <p:nvSpPr>
            <p:cNvPr id="97" name="矩形: 圆角 176"/>
            <p:cNvSpPr/>
            <p:nvPr/>
          </p:nvSpPr>
          <p:spPr>
            <a:xfrm>
              <a:off x="1706" y="3777"/>
              <a:ext cx="1136" cy="30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6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6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RMSNorm</a:t>
              </a:r>
            </a:p>
          </p:txBody>
        </p:sp>
        <p:sp>
          <p:nvSpPr>
            <p:cNvPr id="98" name="矩形: 圆角 30"/>
            <p:cNvSpPr/>
            <p:nvPr/>
          </p:nvSpPr>
          <p:spPr>
            <a:xfrm>
              <a:off x="1355" y="5759"/>
              <a:ext cx="1823" cy="30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3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QKV proj</a:t>
              </a:r>
            </a:p>
          </p:txBody>
        </p:sp>
        <p:sp>
          <p:nvSpPr>
            <p:cNvPr id="109" name="矩形: 圆角 176"/>
            <p:cNvSpPr/>
            <p:nvPr/>
          </p:nvSpPr>
          <p:spPr>
            <a:xfrm>
              <a:off x="1586" y="5273"/>
              <a:ext cx="1363" cy="30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4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6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QKV ShortConv</a:t>
              </a:r>
            </a:p>
          </p:txBody>
        </p:sp>
        <p:cxnSp>
          <p:nvCxnSpPr>
            <p:cNvPr id="110" name="直接箭头连接符 109"/>
            <p:cNvCxnSpPr>
              <a:stCxn id="98" idx="0"/>
              <a:endCxn id="109" idx="2"/>
            </p:cNvCxnSpPr>
            <p:nvPr/>
          </p:nvCxnSpPr>
          <p:spPr>
            <a:xfrm flipV="1">
              <a:off x="2267" y="5577"/>
              <a:ext cx="1" cy="1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矩形: 圆角 30"/>
            <p:cNvSpPr/>
            <p:nvPr/>
          </p:nvSpPr>
          <p:spPr>
            <a:xfrm>
              <a:off x="1602" y="4753"/>
              <a:ext cx="1342" cy="30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7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Q/K L2Norm</a:t>
              </a:r>
            </a:p>
          </p:txBody>
        </p:sp>
        <p:sp>
          <p:nvSpPr>
            <p:cNvPr id="114" name="矩形: 圆角 176"/>
            <p:cNvSpPr/>
            <p:nvPr/>
          </p:nvSpPr>
          <p:spPr>
            <a:xfrm>
              <a:off x="1769" y="4262"/>
              <a:ext cx="1011" cy="30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4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KDA core</a:t>
              </a:r>
            </a:p>
          </p:txBody>
        </p:sp>
        <p:cxnSp>
          <p:nvCxnSpPr>
            <p:cNvPr id="115" name="直接箭头连接符 114"/>
            <p:cNvCxnSpPr>
              <a:stCxn id="111" idx="0"/>
              <a:endCxn id="114" idx="2"/>
            </p:cNvCxnSpPr>
            <p:nvPr/>
          </p:nvCxnSpPr>
          <p:spPr>
            <a:xfrm flipV="1">
              <a:off x="2273" y="4567"/>
              <a:ext cx="2" cy="18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箭头连接符 137"/>
            <p:cNvCxnSpPr>
              <a:stCxn id="114" idx="0"/>
              <a:endCxn id="97" idx="2"/>
            </p:cNvCxnSpPr>
            <p:nvPr/>
          </p:nvCxnSpPr>
          <p:spPr>
            <a:xfrm flipV="1">
              <a:off x="2275" y="4082"/>
              <a:ext cx="0" cy="1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箭头连接符 140"/>
            <p:cNvCxnSpPr>
              <a:endCxn id="166" idx="1"/>
            </p:cNvCxnSpPr>
            <p:nvPr/>
          </p:nvCxnSpPr>
          <p:spPr>
            <a:xfrm flipV="1">
              <a:off x="2276" y="3520"/>
              <a:ext cx="0" cy="2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箭头连接符 145"/>
            <p:cNvCxnSpPr>
              <a:stCxn id="109" idx="0"/>
              <a:endCxn id="111" idx="2"/>
            </p:cNvCxnSpPr>
            <p:nvPr/>
          </p:nvCxnSpPr>
          <p:spPr>
            <a:xfrm flipV="1">
              <a:off x="2268" y="5057"/>
              <a:ext cx="5" cy="2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矩形: 圆角 176"/>
            <p:cNvSpPr/>
            <p:nvPr/>
          </p:nvSpPr>
          <p:spPr>
            <a:xfrm>
              <a:off x="1706" y="2798"/>
              <a:ext cx="1136" cy="30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6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6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o_proj</a:t>
              </a:r>
            </a:p>
          </p:txBody>
        </p:sp>
        <p:sp>
          <p:nvSpPr>
            <p:cNvPr id="166" name="流程图: 或者 165"/>
            <p:cNvSpPr/>
            <p:nvPr/>
          </p:nvSpPr>
          <p:spPr>
            <a:xfrm rot="13328590">
              <a:off x="2169" y="3314"/>
              <a:ext cx="205" cy="207"/>
            </a:xfrm>
            <a:prstGeom prst="flowChartOr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/>
            </a:p>
          </p:txBody>
        </p:sp>
        <p:cxnSp>
          <p:nvCxnSpPr>
            <p:cNvPr id="181" name="直接箭头连接符 180"/>
            <p:cNvCxnSpPr>
              <a:stCxn id="166" idx="5"/>
              <a:endCxn id="165" idx="2"/>
            </p:cNvCxnSpPr>
            <p:nvPr/>
          </p:nvCxnSpPr>
          <p:spPr>
            <a:xfrm flipV="1">
              <a:off x="2267" y="3103"/>
              <a:ext cx="8" cy="2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流程图: 或者 196"/>
            <p:cNvSpPr/>
            <p:nvPr/>
          </p:nvSpPr>
          <p:spPr>
            <a:xfrm rot="13328590">
              <a:off x="2169" y="6271"/>
              <a:ext cx="205" cy="207"/>
            </a:xfrm>
            <a:prstGeom prst="flowChartOr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/>
            </a:p>
          </p:txBody>
        </p:sp>
        <p:cxnSp>
          <p:nvCxnSpPr>
            <p:cNvPr id="202" name="直接箭头连接符 201"/>
            <p:cNvCxnSpPr>
              <a:stCxn id="197" idx="5"/>
              <a:endCxn id="98" idx="2"/>
            </p:cNvCxnSpPr>
            <p:nvPr/>
          </p:nvCxnSpPr>
          <p:spPr>
            <a:xfrm flipV="1">
              <a:off x="2267" y="6063"/>
              <a:ext cx="0" cy="2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肘形连接符 212"/>
            <p:cNvCxnSpPr>
              <a:stCxn id="197" idx="3"/>
              <a:endCxn id="225" idx="2"/>
            </p:cNvCxnSpPr>
            <p:nvPr/>
          </p:nvCxnSpPr>
          <p:spPr>
            <a:xfrm rot="16200000">
              <a:off x="2305" y="4863"/>
              <a:ext cx="1577" cy="1436"/>
            </a:xfrm>
            <a:prstGeom prst="bentConnector3">
              <a:avLst>
                <a:gd name="adj1" fmla="val 25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矩形: 圆角 30"/>
            <p:cNvSpPr/>
            <p:nvPr/>
          </p:nvSpPr>
          <p:spPr>
            <a:xfrm>
              <a:off x="3351" y="4369"/>
              <a:ext cx="919" cy="42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3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Output gate</a:t>
              </a:r>
            </a:p>
          </p:txBody>
        </p:sp>
        <p:cxnSp>
          <p:nvCxnSpPr>
            <p:cNvPr id="226" name="肘形连接符 225"/>
            <p:cNvCxnSpPr>
              <a:stCxn id="225" idx="0"/>
              <a:endCxn id="166" idx="3"/>
            </p:cNvCxnSpPr>
            <p:nvPr/>
          </p:nvCxnSpPr>
          <p:spPr>
            <a:xfrm rot="16200000" flipV="1">
              <a:off x="2615" y="3173"/>
              <a:ext cx="957" cy="1436"/>
            </a:xfrm>
            <a:prstGeom prst="bentConnector3">
              <a:avLst>
                <a:gd name="adj1" fmla="val 99791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" name="文本框 326"/>
            <p:cNvSpPr txBox="1"/>
            <p:nvPr/>
          </p:nvSpPr>
          <p:spPr>
            <a:xfrm>
              <a:off x="790" y="2578"/>
              <a:ext cx="1929" cy="20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kumimoji="1" lang="en-US" altLang="zh-CN" sz="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KDA - Kimi Delta Attention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04800" y="4080510"/>
            <a:ext cx="2429510" cy="2284730"/>
            <a:chOff x="789" y="7066"/>
            <a:chExt cx="3826" cy="3598"/>
          </a:xfrm>
        </p:grpSpPr>
        <p:sp>
          <p:nvSpPr>
            <p:cNvPr id="326" name="矩形 325"/>
            <p:cNvSpPr/>
            <p:nvPr/>
          </p:nvSpPr>
          <p:spPr>
            <a:xfrm rot="16200000">
              <a:off x="903" y="6952"/>
              <a:ext cx="3599" cy="3826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10000"/>
              </a:schemeClr>
            </a:solidFill>
            <a:ln cap="rnd">
              <a:solidFill>
                <a:schemeClr val="accent6">
                  <a:lumMod val="40000"/>
                  <a:lumOff val="6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>
                <a:sym typeface="+mn-ea"/>
              </a:endParaRPr>
            </a:p>
          </p:txBody>
        </p:sp>
        <p:sp>
          <p:nvSpPr>
            <p:cNvPr id="302" name="矩形: 圆角 30"/>
            <p:cNvSpPr/>
            <p:nvPr/>
          </p:nvSpPr>
          <p:spPr>
            <a:xfrm>
              <a:off x="1764" y="9792"/>
              <a:ext cx="1823" cy="30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3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Latent Down</a:t>
              </a:r>
            </a:p>
          </p:txBody>
        </p:sp>
        <p:sp>
          <p:nvSpPr>
            <p:cNvPr id="303" name="矩形: 圆角 176"/>
            <p:cNvSpPr/>
            <p:nvPr/>
          </p:nvSpPr>
          <p:spPr>
            <a:xfrm>
              <a:off x="1996" y="9316"/>
              <a:ext cx="1363" cy="30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4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6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Routed Experts</a:t>
              </a:r>
            </a:p>
            <a:p>
              <a:pPr algn="ctr"/>
              <a:r>
                <a:rPr lang="en-US" altLang="zh-CN" sz="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SiTU</a:t>
              </a:r>
            </a:p>
          </p:txBody>
        </p:sp>
        <p:cxnSp>
          <p:nvCxnSpPr>
            <p:cNvPr id="304" name="直接箭头连接符 303"/>
            <p:cNvCxnSpPr>
              <a:stCxn id="302" idx="0"/>
              <a:endCxn id="303" idx="2"/>
            </p:cNvCxnSpPr>
            <p:nvPr/>
          </p:nvCxnSpPr>
          <p:spPr>
            <a:xfrm flipV="1">
              <a:off x="2676" y="9620"/>
              <a:ext cx="2" cy="1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5" name="矩形: 圆角 30"/>
            <p:cNvSpPr/>
            <p:nvPr/>
          </p:nvSpPr>
          <p:spPr>
            <a:xfrm>
              <a:off x="2011" y="8770"/>
              <a:ext cx="1342" cy="30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7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RMSNorm</a:t>
              </a:r>
            </a:p>
          </p:txBody>
        </p:sp>
        <p:sp>
          <p:nvSpPr>
            <p:cNvPr id="306" name="矩形: 圆角 176"/>
            <p:cNvSpPr/>
            <p:nvPr/>
          </p:nvSpPr>
          <p:spPr>
            <a:xfrm>
              <a:off x="2179" y="8285"/>
              <a:ext cx="1011" cy="30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4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Latent Up</a:t>
              </a:r>
            </a:p>
          </p:txBody>
        </p:sp>
        <p:cxnSp>
          <p:nvCxnSpPr>
            <p:cNvPr id="307" name="直接箭头连接符 306"/>
            <p:cNvCxnSpPr>
              <a:stCxn id="305" idx="0"/>
              <a:endCxn id="306" idx="2"/>
            </p:cNvCxnSpPr>
            <p:nvPr/>
          </p:nvCxnSpPr>
          <p:spPr>
            <a:xfrm flipV="1">
              <a:off x="2682" y="8589"/>
              <a:ext cx="3" cy="1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直接箭头连接符 307"/>
            <p:cNvCxnSpPr>
              <a:stCxn id="306" idx="0"/>
              <a:endCxn id="320" idx="2"/>
            </p:cNvCxnSpPr>
            <p:nvPr/>
          </p:nvCxnSpPr>
          <p:spPr>
            <a:xfrm flipH="1" flipV="1">
              <a:off x="2674" y="8039"/>
              <a:ext cx="10" cy="2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箭头连接符 309"/>
            <p:cNvCxnSpPr>
              <a:stCxn id="303" idx="0"/>
              <a:endCxn id="305" idx="2"/>
            </p:cNvCxnSpPr>
            <p:nvPr/>
          </p:nvCxnSpPr>
          <p:spPr>
            <a:xfrm flipV="1">
              <a:off x="2678" y="9074"/>
              <a:ext cx="4" cy="2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矩形: 圆角 176"/>
            <p:cNvSpPr/>
            <p:nvPr/>
          </p:nvSpPr>
          <p:spPr>
            <a:xfrm>
              <a:off x="2108" y="7360"/>
              <a:ext cx="1136" cy="30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6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6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FFN delta</a:t>
              </a:r>
            </a:p>
          </p:txBody>
        </p:sp>
        <p:cxnSp>
          <p:nvCxnSpPr>
            <p:cNvPr id="313" name="直接箭头连接符 312"/>
            <p:cNvCxnSpPr>
              <a:stCxn id="320" idx="6"/>
              <a:endCxn id="311" idx="2"/>
            </p:cNvCxnSpPr>
            <p:nvPr/>
          </p:nvCxnSpPr>
          <p:spPr>
            <a:xfrm flipV="1">
              <a:off x="2673" y="7664"/>
              <a:ext cx="3" cy="17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流程图: 或者 313"/>
            <p:cNvSpPr/>
            <p:nvPr/>
          </p:nvSpPr>
          <p:spPr>
            <a:xfrm rot="13328590">
              <a:off x="2579" y="10284"/>
              <a:ext cx="205" cy="207"/>
            </a:xfrm>
            <a:prstGeom prst="flowChartOr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/>
            </a:p>
          </p:txBody>
        </p:sp>
        <p:cxnSp>
          <p:nvCxnSpPr>
            <p:cNvPr id="315" name="直接箭头连接符 314"/>
            <p:cNvCxnSpPr>
              <a:stCxn id="314" idx="5"/>
              <a:endCxn id="302" idx="2"/>
            </p:cNvCxnSpPr>
            <p:nvPr/>
          </p:nvCxnSpPr>
          <p:spPr>
            <a:xfrm flipH="1" flipV="1">
              <a:off x="2676" y="10096"/>
              <a:ext cx="1" cy="18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" name="矩形: 圆角 30"/>
            <p:cNvSpPr/>
            <p:nvPr/>
          </p:nvSpPr>
          <p:spPr>
            <a:xfrm>
              <a:off x="3513" y="8392"/>
              <a:ext cx="1011" cy="42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3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Shared x2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SiTU</a:t>
              </a:r>
            </a:p>
          </p:txBody>
        </p:sp>
        <p:sp>
          <p:nvSpPr>
            <p:cNvPr id="320" name="流程图: 或者 319"/>
            <p:cNvSpPr/>
            <p:nvPr/>
          </p:nvSpPr>
          <p:spPr>
            <a:xfrm rot="16200000">
              <a:off x="2572" y="7829"/>
              <a:ext cx="202" cy="218"/>
            </a:xfrm>
            <a:prstGeom prst="flowChartOr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/>
            </a:p>
          </p:txBody>
        </p:sp>
        <p:cxnSp>
          <p:nvCxnSpPr>
            <p:cNvPr id="321" name="肘形连接符 320"/>
            <p:cNvCxnSpPr>
              <a:stCxn id="317" idx="0"/>
              <a:endCxn id="320" idx="4"/>
            </p:cNvCxnSpPr>
            <p:nvPr/>
          </p:nvCxnSpPr>
          <p:spPr>
            <a:xfrm rot="16200000" flipV="1">
              <a:off x="3173" y="7547"/>
              <a:ext cx="454" cy="1235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肘形连接符 321"/>
            <p:cNvCxnSpPr>
              <a:stCxn id="314" idx="3"/>
              <a:endCxn id="317" idx="2"/>
            </p:cNvCxnSpPr>
            <p:nvPr/>
          </p:nvCxnSpPr>
          <p:spPr>
            <a:xfrm rot="16200000">
              <a:off x="2619" y="8982"/>
              <a:ext cx="1567" cy="1234"/>
            </a:xfrm>
            <a:prstGeom prst="bentConnector3">
              <a:avLst>
                <a:gd name="adj1" fmla="val -191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3" name="矩形: 圆角 30"/>
            <p:cNvSpPr/>
            <p:nvPr/>
          </p:nvSpPr>
          <p:spPr>
            <a:xfrm>
              <a:off x="789" y="9266"/>
              <a:ext cx="887" cy="41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3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Router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Top-16</a:t>
              </a:r>
            </a:p>
          </p:txBody>
        </p:sp>
        <p:cxnSp>
          <p:nvCxnSpPr>
            <p:cNvPr id="324" name="肘形连接符 323"/>
            <p:cNvCxnSpPr/>
            <p:nvPr/>
          </p:nvCxnSpPr>
          <p:spPr>
            <a:xfrm rot="10800000">
              <a:off x="1233" y="9676"/>
              <a:ext cx="1345" cy="716"/>
            </a:xfrm>
            <a:prstGeom prst="bentConnector3">
              <a:avLst>
                <a:gd name="adj1" fmla="val 10022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直接箭头连接符 324"/>
            <p:cNvCxnSpPr>
              <a:stCxn id="323" idx="3"/>
              <a:endCxn id="303" idx="1"/>
            </p:cNvCxnSpPr>
            <p:nvPr/>
          </p:nvCxnSpPr>
          <p:spPr>
            <a:xfrm flipV="1">
              <a:off x="1676" y="9468"/>
              <a:ext cx="320" cy="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8" name="文本框 327"/>
            <p:cNvSpPr txBox="1"/>
            <p:nvPr/>
          </p:nvSpPr>
          <p:spPr>
            <a:xfrm>
              <a:off x="789" y="7156"/>
              <a:ext cx="1929" cy="20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kumimoji="1" lang="en-US" altLang="zh-CN" sz="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Stable LententMoE</a:t>
              </a:r>
            </a:p>
          </p:txBody>
        </p:sp>
      </p:grpSp>
      <p:graphicFrame>
        <p:nvGraphicFramePr>
          <p:cNvPr id="6" name="表格 5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1990949"/>
              </p:ext>
            </p:extLst>
          </p:nvPr>
        </p:nvGraphicFramePr>
        <p:xfrm>
          <a:off x="6118860" y="1566545"/>
          <a:ext cx="5290185" cy="3072123"/>
        </p:xfrm>
        <a:graphic>
          <a:graphicData uri="http://schemas.openxmlformats.org/drawingml/2006/table">
            <a:tbl>
              <a:tblPr/>
              <a:tblGrid>
                <a:gridCol w="1270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070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1" i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参数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模型身份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KimiK3ForConditionalGeneration</a:t>
                      </a:r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，原生多模态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总参数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2.78T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每 </a:t>
                      </a:r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token </a:t>
                      </a:r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激活参数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104.2B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层数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93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注意力构成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69 KDA + 24 Gated MLA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hidden / </a:t>
                      </a:r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头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7168 / 96 </a:t>
                      </a:r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头 </a:t>
                      </a:r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× 128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MoE </a:t>
                      </a:r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配置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路由专家 </a:t>
                      </a:r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896 </a:t>
                      </a:r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激活 </a:t>
                      </a:r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16</a:t>
                      </a:r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，共享 </a:t>
                      </a:r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</a:t>
                      </a:r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；</a:t>
                      </a:r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latent 3584</a:t>
                      </a:r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；专家 </a:t>
                      </a:r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3072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词表 </a:t>
                      </a:r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 </a:t>
                      </a:r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上下文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163840 / 1M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三大机制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KDA &amp; Gated MLA</a:t>
                      </a:r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；</a:t>
                      </a:r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AttnRes 8 </a:t>
                      </a:r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块 </a:t>
                      </a:r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× 12 </a:t>
                      </a:r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层；</a:t>
                      </a:r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Stable LatentMoE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激活函数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SiTU-GLU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视觉塔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MoonViT-V2</a:t>
                      </a:r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401M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量化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专家 </a:t>
                      </a:r>
                      <a:r>
                        <a:rPr lang="en-US" altLang="zh-CN" sz="1000" b="0" i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MXFP4 + </a:t>
                      </a:r>
                      <a:r>
                        <a:rPr lang="zh-CN" altLang="en-US" sz="1000" b="0" i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激活 </a:t>
                      </a:r>
                      <a:r>
                        <a:rPr lang="en-US" altLang="zh-CN" sz="1000" b="0" i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MXFP8</a:t>
                      </a:r>
                      <a:r>
                        <a:rPr lang="zh-CN" altLang="en-US" sz="1000" b="0" i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，其余 </a:t>
                      </a:r>
                      <a:r>
                        <a:rPr lang="en-US" altLang="zh-CN" sz="1000" b="0" i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BF16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原生权重体积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1.56TB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MLA KV cache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27.6 KB/token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KDA </a:t>
                      </a:r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递归状态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414 MiB/</a:t>
                      </a:r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请求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每 </a:t>
                      </a:r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token </a:t>
                      </a:r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计算量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208.4 GFLOPs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推荐推理引擎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dirty="0" err="1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vLLM</a:t>
                      </a:r>
                      <a:r>
                        <a:rPr lang="en-US" altLang="zh-CN" sz="1000" b="0" i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 / </a:t>
                      </a:r>
                      <a:r>
                        <a:rPr lang="en-US" altLang="zh-CN" sz="1000" b="0" i="0" dirty="0" err="1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SGLang</a:t>
                      </a:r>
                      <a:r>
                        <a:rPr lang="en-US" altLang="zh-CN" sz="1000" b="0" i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 / </a:t>
                      </a:r>
                      <a:r>
                        <a:rPr lang="en-US" altLang="zh-CN" sz="1000" b="0" i="0" dirty="0" err="1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TokenSpeed</a:t>
                      </a:r>
                      <a:endParaRPr lang="en-US" altLang="zh-CN" sz="1000" b="0" i="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26412478"/>
              </p:ext>
            </p:extLst>
          </p:nvPr>
        </p:nvGraphicFramePr>
        <p:xfrm>
          <a:off x="6118225" y="5041265"/>
          <a:ext cx="5290820" cy="1555430"/>
        </p:xfrm>
        <a:graphic>
          <a:graphicData uri="http://schemas.openxmlformats.org/drawingml/2006/table">
            <a:tbl>
              <a:tblPr/>
              <a:tblGrid>
                <a:gridCol w="1703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4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5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92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层 </a:t>
                      </a:r>
                      <a:r>
                        <a:rPr lang="en-US" altLang="zh-CN" sz="1000" b="1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 </a:t>
                      </a:r>
                      <a:r>
                        <a:rPr lang="zh-CN" altLang="en-US" sz="1000" b="1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模块类型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数量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参数量 总</a:t>
                      </a:r>
                      <a:r>
                        <a:rPr lang="en-US" altLang="zh-CN" sz="1000" b="1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000" b="1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激活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每 </a:t>
                      </a:r>
                      <a:r>
                        <a:rPr lang="en-US" altLang="zh-CN" sz="1000" b="1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token FLOPs/</a:t>
                      </a:r>
                      <a:r>
                        <a:rPr lang="zh-CN" altLang="en-US" sz="1000" b="1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层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solidFill>
                      <a:srgbClr val="C7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L1</a:t>
                      </a:r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：</a:t>
                      </a:r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KDA + Dense FFN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1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1.17B/1.17B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2.35 GF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50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KDA + LatentMoE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68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30.23B/1.16B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2.34 GF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Gated MLA + LatentMoE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24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30.02B/0.95B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1.90 GF + 0.209 MF×n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Embedding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1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1.17B/—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0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dirty="0" err="1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lm_head</a:t>
                      </a:r>
                      <a:endParaRPr lang="en-US" altLang="zh-CN" sz="1000" b="0" i="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1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1.17B/1.17B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2.35 GF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MoonViT-V2 + projector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1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0.45B/—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按图像计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全网合计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93 + 3 </a:t>
                      </a:r>
                      <a:endParaRPr lang="zh-CN" altLang="en-US" sz="1000" b="1" i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2.78T/104.2B</a:t>
                      </a: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209.2 GF + 5.01 </a:t>
                      </a:r>
                      <a:r>
                        <a:rPr lang="en-US" altLang="zh-CN" sz="1000" b="1" i="0" dirty="0" err="1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MF×n</a:t>
                      </a:r>
                      <a:endParaRPr lang="en-US" altLang="zh-CN" sz="1000" b="1" i="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>
                    <a:lnL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标题 1"/>
          <p:cNvSpPr txBox="1"/>
          <p:nvPr/>
        </p:nvSpPr>
        <p:spPr bwMode="auto">
          <a:xfrm>
            <a:off x="171450" y="70578"/>
            <a:ext cx="12267344" cy="550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038" tIns="39019" rIns="78038" bIns="39019" numCol="1" anchor="ctr" anchorCtr="0" compatLnSpc="1"/>
          <a:lstStyle>
            <a:lvl1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+mj-lt"/>
                <a:ea typeface="+mj-ea"/>
                <a:cs typeface="+mj-cs"/>
              </a:defRPr>
            </a:lvl1pPr>
            <a:lvl2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5930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1860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68425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4355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lvl="0" indent="0" algn="l" defTabSz="913130" rtl="0" latinLnBrk="0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KIMI K3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三比一混合注意力 × 超稀疏潜在专家：2.8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参数、104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激活、1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 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上下文</a:t>
            </a:r>
          </a:p>
        </p:txBody>
      </p:sp>
      <p:sp>
        <p:nvSpPr>
          <p:cNvPr id="12" name="矩形 11"/>
          <p:cNvSpPr/>
          <p:nvPr/>
        </p:nvSpPr>
        <p:spPr>
          <a:xfrm>
            <a:off x="164465" y="506095"/>
            <a:ext cx="707390" cy="791845"/>
          </a:xfrm>
          <a:prstGeom prst="rect">
            <a:avLst/>
          </a:prstGeom>
          <a:solidFill>
            <a:srgbClr val="C00000"/>
          </a:solidFill>
          <a:ln w="3175" cap="flat">
            <a:noFill/>
            <a:miter lim="400000"/>
          </a:ln>
          <a:effectLst/>
        </p:spPr>
        <p:txBody>
          <a:bodyPr wrap="square" lIns="35949" tIns="35949" rIns="35949" bIns="35949" numCol="1" anchor="ctr">
            <a:noAutofit/>
          </a:bodyPr>
          <a:lstStyle/>
          <a:p>
            <a:pPr algn="ctr" defTabSz="1718310"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  <a:p>
            <a:pPr algn="ctr" defTabSz="1718310"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</a:t>
            </a:r>
          </a:p>
        </p:txBody>
      </p:sp>
      <p:sp>
        <p:nvSpPr>
          <p:cNvPr id="13" name="矩形 12"/>
          <p:cNvSpPr/>
          <p:nvPr/>
        </p:nvSpPr>
        <p:spPr>
          <a:xfrm>
            <a:off x="902970" y="506095"/>
            <a:ext cx="11081385" cy="791845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indent="-171450" defTabSz="91313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模型概览：93 层 3:1 混合注意力；2.8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T/104B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激活；896 专家选 16+2 共享；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AttnRes 8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块残差；1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上下文多模态。</a:t>
            </a:r>
          </a:p>
          <a:p>
            <a:pPr marL="171450" indent="-171450" defTabSz="91313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Attention：KDA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线性注意力定长递归状态、解码 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O(1)；MLA NoPE、KV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压缩至 576 维。</a:t>
            </a:r>
          </a:p>
          <a:p>
            <a:pPr marL="171450" indent="-171450" defTabSz="91313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MoE：Stable LatentMoE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半宽路由专家+全宽共享专家；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SiTU-GLU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有界激活；分位数负载均衡。</a:t>
            </a:r>
          </a:p>
          <a:p>
            <a:pPr marL="171450" indent="-171450" defTabSz="91313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量化：路由专家 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MXFP4+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激活 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MXFP8 QAT，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其余 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BF16；DSpark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投机解码 3.14×。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115685" y="1351280"/>
            <a:ext cx="4065270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buFont typeface="Wingdings" panose="05000000000000000000" charset="0"/>
              <a:buChar char=""/>
            </a:pP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架构参数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118225" y="4819015"/>
            <a:ext cx="4065270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buFont typeface="Wingdings" panose="05000000000000000000" charset="0"/>
              <a:buChar char=""/>
            </a:pP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参数量</a:t>
            </a:r>
            <a:r>
              <a: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/Flops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>
            <a:extLst>
              <a:ext uri="{FF2B5EF4-FFF2-40B4-BE49-F238E27FC236}">
                <a16:creationId xmlns:a16="http://schemas.microsoft.com/office/drawing/2014/main" id="{A96F219F-D88C-49C2-A517-08D3564C69B0}"/>
              </a:ext>
            </a:extLst>
          </p:cNvPr>
          <p:cNvSpPr>
            <a:spLocks noGrp="1"/>
          </p:cNvSpPr>
          <p:nvPr/>
        </p:nvSpPr>
        <p:spPr>
          <a:xfrm>
            <a:off x="5082381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§2.1.1 / §5.1；vllm / vllm-ascend 代码仓</a:t>
            </a:r>
            <a:endParaRPr sz="8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048C2D1-5F78-4D12-A0F4-21C53FE8D969}"/>
              </a:ext>
            </a:extLst>
          </p:cNvPr>
          <p:cNvSpPr>
            <a:spLocks noGrp="1"/>
          </p:cNvSpPr>
          <p:nvPr/>
        </p:nvSpPr>
        <p:spPr>
          <a:xfrm>
            <a:off x="561181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Kimi Delta </a:t>
            </a:r>
            <a:r>
              <a:rPr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Attention（KDA</a:t>
            </a:r>
            <a:r>
              <a:rPr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）：</a:t>
            </a:r>
            <a:r>
              <a:rPr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逐通道遗忘门</a:t>
            </a:r>
            <a:r>
              <a:rPr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 × Delta </a:t>
            </a:r>
            <a:r>
              <a:rPr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规则的线性注意力</a:t>
            </a:r>
            <a:endParaRPr dirty="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4" name="concl-label-bg">
            <a:extLst>
              <a:ext uri="{FF2B5EF4-FFF2-40B4-BE49-F238E27FC236}">
                <a16:creationId xmlns:a16="http://schemas.microsoft.com/office/drawing/2014/main" id="{99085C38-FB8B-434F-AEB5-C6D272AC0FD9}"/>
              </a:ext>
            </a:extLst>
          </p:cNvPr>
          <p:cNvSpPr>
            <a:spLocks noGrp="1"/>
          </p:cNvSpPr>
          <p:nvPr/>
        </p:nvSpPr>
        <p:spPr>
          <a:xfrm>
            <a:off x="561181" y="736600"/>
            <a:ext cx="1117600" cy="13335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concl-label">
            <a:extLst>
              <a:ext uri="{FF2B5EF4-FFF2-40B4-BE49-F238E27FC236}">
                <a16:creationId xmlns:a16="http://schemas.microsoft.com/office/drawing/2014/main" id="{0FC6E042-18E6-4BB0-9E02-94705CDB7F6B}"/>
              </a:ext>
            </a:extLst>
          </p:cNvPr>
          <p:cNvSpPr>
            <a:spLocks noGrp="1"/>
          </p:cNvSpPr>
          <p:nvPr/>
        </p:nvSpPr>
        <p:spPr>
          <a:xfrm>
            <a:off x="561181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</a:pPr>
            <a:r>
              <a:rPr sz="14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 dirty="0">
              <a:solidFill>
                <a:srgbClr val="000000"/>
              </a:solidFill>
              <a:latin typeface="MiSans"/>
            </a:endParaRPr>
          </a:p>
          <a:p>
            <a:pPr algn="ctr">
              <a:lnSpc>
                <a:spcPct val="120000"/>
              </a:lnSpc>
            </a:pPr>
            <a:r>
              <a:rPr sz="14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 dirty="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6" name="concl-body-bg">
            <a:extLst>
              <a:ext uri="{FF2B5EF4-FFF2-40B4-BE49-F238E27FC236}">
                <a16:creationId xmlns:a16="http://schemas.microsoft.com/office/drawing/2014/main" id="{9DE85440-6D33-4834-AE1A-694247E6FC77}"/>
              </a:ext>
            </a:extLst>
          </p:cNvPr>
          <p:cNvSpPr>
            <a:spLocks noGrp="1"/>
          </p:cNvSpPr>
          <p:nvPr/>
        </p:nvSpPr>
        <p:spPr>
          <a:xfrm>
            <a:off x="1780381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concl-bullets">
            <a:extLst>
              <a:ext uri="{FF2B5EF4-FFF2-40B4-BE49-F238E27FC236}">
                <a16:creationId xmlns:a16="http://schemas.microsoft.com/office/drawing/2014/main" id="{D1A5D935-B05B-48C2-BC11-348B3BA7DB4B}"/>
              </a:ext>
            </a:extLst>
          </p:cNvPr>
          <p:cNvSpPr>
            <a:spLocks noGrp="1"/>
          </p:cNvSpPr>
          <p:nvPr/>
        </p:nvSpPr>
        <p:spPr>
          <a:xfrm>
            <a:off x="1831181" y="800100"/>
            <a:ext cx="9779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171450" indent="-171450" defTabSz="913130" eaLnBrk="0" fontAlgn="base" hangingPunct="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结构定位：开源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config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校准为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93 层注意力（69 KDA + 24 MLA）：23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个模式块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×(3 KDA+1 MLA)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再加末端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Gated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MLA；每层后接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Stable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LatentMoE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171450" indent="-171450" defTabSz="913130" eaLnBrk="0" fontAlgn="base" hangingPunct="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数值稳定：g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gmin·σ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e^A·z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)，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gmin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=−5；16-token tile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的累计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log-decay∈(−80,0)，BF16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可保持稳定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171450" indent="-171450" defTabSz="913130" eaLnBrk="0" fontAlgn="base" hangingPunct="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推理负载：prefill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在 C=64 chunk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内并行，decode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以 S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原地更新；若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dk=dv=128，单层状态约3.0MB、69层约217MB，状态不随 L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增长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171450" indent="-171450" defTabSz="913130" eaLnBrk="0" fontAlgn="base" hangingPunct="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硬件含义：全秩门控引入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d→d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GEMM，CUBE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占比上升；Vector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的 gate/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cumsum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归一化需与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CUBE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片上流水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" name="arch-label">
            <a:extLst>
              <a:ext uri="{FF2B5EF4-FFF2-40B4-BE49-F238E27FC236}">
                <a16:creationId xmlns:a16="http://schemas.microsoft.com/office/drawing/2014/main" id="{879ACEB0-12B5-4DC1-932C-23A85215CFEC}"/>
              </a:ext>
            </a:extLst>
          </p:cNvPr>
          <p:cNvSpPr>
            <a:spLocks noGrp="1"/>
          </p:cNvSpPr>
          <p:nvPr/>
        </p:nvSpPr>
        <p:spPr>
          <a:xfrm>
            <a:off x="561181" y="22860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模块结构与数据流</a:t>
            </a:r>
            <a:endParaRPr sz="12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9" name="legend-box">
            <a:extLst>
              <a:ext uri="{FF2B5EF4-FFF2-40B4-BE49-F238E27FC236}">
                <a16:creationId xmlns:a16="http://schemas.microsoft.com/office/drawing/2014/main" id="{115F7F4E-22E9-494E-A86F-B0DC29702D1B}"/>
              </a:ext>
            </a:extLst>
          </p:cNvPr>
          <p:cNvSpPr>
            <a:spLocks noGrp="1"/>
          </p:cNvSpPr>
          <p:nvPr/>
        </p:nvSpPr>
        <p:spPr>
          <a:xfrm>
            <a:off x="2923381" y="2324100"/>
            <a:ext cx="1270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legend-text">
            <a:extLst>
              <a:ext uri="{FF2B5EF4-FFF2-40B4-BE49-F238E27FC236}">
                <a16:creationId xmlns:a16="http://schemas.microsoft.com/office/drawing/2014/main" id="{C63E1D15-0143-4EB6-BC09-E04A6E63ED3C}"/>
              </a:ext>
            </a:extLst>
          </p:cNvPr>
          <p:cNvSpPr>
            <a:spLocks noGrp="1"/>
          </p:cNvSpPr>
          <p:nvPr/>
        </p:nvSpPr>
        <p:spPr>
          <a:xfrm>
            <a:off x="3101181" y="22860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红框 = K3 相对 Kimi Linear 的改动</a:t>
            </a:r>
            <a:endParaRPr sz="800">
              <a:solidFill>
                <a:srgbClr val="000000"/>
              </a:solidFill>
              <a:latin typeface="MiSans"/>
            </a:endParaRPr>
          </a:p>
        </p:txBody>
      </p:sp>
      <p:pic>
        <p:nvPicPr>
          <p:cNvPr id="28" name="arch-figur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3352" y="2507088"/>
            <a:ext cx="5380313" cy="2768600"/>
          </a:xfrm>
          <a:prstGeom prst="rect">
            <a:avLst/>
          </a:prstGeom>
          <a:ln>
            <a:noFill/>
          </a:ln>
        </p:spPr>
      </p:pic>
      <p:sp>
        <p:nvSpPr>
          <p:cNvPr id="12" name="param-label">
            <a:extLst>
              <a:ext uri="{FF2B5EF4-FFF2-40B4-BE49-F238E27FC236}">
                <a16:creationId xmlns:a16="http://schemas.microsoft.com/office/drawing/2014/main" id="{FA5536D1-6729-4CB2-B9C1-1EFF1A20A9B6}"/>
              </a:ext>
            </a:extLst>
          </p:cNvPr>
          <p:cNvSpPr>
            <a:spLocks noGrp="1"/>
          </p:cNvSpPr>
          <p:nvPr/>
        </p:nvSpPr>
        <p:spPr>
          <a:xfrm>
            <a:off x="6199981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>
              <a:solidFill>
                <a:srgbClr val="000000"/>
              </a:solidFill>
              <a:latin typeface="MiSans"/>
            </a:endParaRPr>
          </a:p>
        </p:txBody>
      </p:sp>
      <p:graphicFrame>
        <p:nvGraphicFramePr>
          <p:cNvPr id="30" name="param-table"/>
          <p:cNvGraphicFramePr/>
          <p:nvPr>
            <p:extLst>
              <p:ext uri="{D42A27DB-BD31-4B8C-83A1-F6EECF244321}">
                <p14:modId xmlns:p14="http://schemas.microsoft.com/office/powerpoint/2010/main" val="643234222"/>
              </p:ext>
            </p:extLst>
          </p:nvPr>
        </p:nvGraphicFramePr>
        <p:xfrm>
          <a:off x="6176865" y="2641600"/>
          <a:ext cx="5560316" cy="2694940"/>
        </p:xfrm>
        <a:graphic>
          <a:graphicData uri="http://schemas.openxmlformats.org/drawingml/2006/table">
            <a:tbl>
              <a:tblPr/>
              <a:tblGrid>
                <a:gridCol w="1352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72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组件</a:t>
                      </a:r>
                      <a:endParaRPr sz="800" b="1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张量形状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FLOPs/token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负载特征</a:t>
                      </a:r>
                      <a:r>
                        <a:rPr sz="800" b="1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 → </a:t>
                      </a:r>
                      <a:r>
                        <a:rPr sz="800" b="1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昇腾诉求</a:t>
                      </a:r>
                      <a:endParaRPr sz="800" b="1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q/k/v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投影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 +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ShortConv（k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=4）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x∈R7168 →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q,k∈RH·dk，v∈RH·dv</a:t>
                      </a:r>
                      <a:endParaRPr sz="80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2d·H(2dk+dv)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稠密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 GEMM → CUBE；</a:t>
                      </a:r>
                      <a:endParaRPr lang="en-US" sz="80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+mn-cs"/>
                      </a:endParaRPr>
                    </a:p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decode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退化为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GEMV，访存受限</a:t>
                      </a:r>
                      <a:endParaRPr sz="80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遗忘门 z + 写入强度 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低秩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d→r→H·dk；d→H</a:t>
                      </a:r>
                      <a:endParaRPr sz="80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≈2d·r（占比小）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小 GEMM + σ/exp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逐元素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 → Vector 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有界衰减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 </a:t>
                      </a:r>
                      <a:r>
                        <a:rPr sz="800" dirty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+mn-cs"/>
                        </a:rPr>
                        <a:t>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g = −5·σ(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eA·z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) ∈(−5, 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O(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H·dk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)，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逐元素</a:t>
                      </a:r>
                      <a:endParaRPr sz="80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纯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Vector；使对角块可上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CUBE，消除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 position-pair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标量路径</a:t>
                      </a:r>
                      <a:endParaRPr sz="80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Chunk 内注意力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A =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Tril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((Q⊙Γ)(K/Γ)⊤)；C = 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2C(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dk+dv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)，与 L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无关</a:t>
                      </a:r>
                      <a:endParaRPr sz="80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全稠密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matmul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 → CUBE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占比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↑（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原对角块为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 chunk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内主要瓶颈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跨 chunk 状态传播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S ∈ Rdk×dv，chunk 间串行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2·dk·dv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小矩阵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 +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串行依赖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 →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并行度低，需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 kernel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内流水掩盖</a:t>
                      </a:r>
                      <a:endParaRPr sz="80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综合账本</a:t>
                      </a:r>
                      <a:endParaRPr sz="80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S：69层≈217MB/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序列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*；MLA 24.6KB/token，1M≈24.6GB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KDA主项≈2.1M FLOPs/head/chunk（C=64，dk=dv=128*）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CUBE：chunk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matmul；Vector：gate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/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cumsum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/RMSNorm；L1/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UB驻留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+mn-cs"/>
                        </a:rPr>
                        <a:t> 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param-note">
            <a:extLst>
              <a:ext uri="{FF2B5EF4-FFF2-40B4-BE49-F238E27FC236}">
                <a16:creationId xmlns:a16="http://schemas.microsoft.com/office/drawing/2014/main" id="{01BB286C-CCE9-498E-B589-A223DAE64274}"/>
              </a:ext>
            </a:extLst>
          </p:cNvPr>
          <p:cNvSpPr>
            <a:spLocks noGrp="1"/>
          </p:cNvSpPr>
          <p:nvPr/>
        </p:nvSpPr>
        <p:spPr>
          <a:xfrm>
            <a:off x="6200013" y="5219700"/>
            <a:ext cx="5537168" cy="38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35000"/>
              </a:lnSpc>
            </a:pPr>
            <a:endParaRPr sz="7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5" name="dev-label">
            <a:extLst>
              <a:ext uri="{FF2B5EF4-FFF2-40B4-BE49-F238E27FC236}">
                <a16:creationId xmlns:a16="http://schemas.microsoft.com/office/drawing/2014/main" id="{AF3326A2-3196-4A33-9242-EFE583AE0EC1}"/>
              </a:ext>
            </a:extLst>
          </p:cNvPr>
          <p:cNvSpPr>
            <a:spLocks noGrp="1"/>
          </p:cNvSpPr>
          <p:nvPr/>
        </p:nvSpPr>
        <p:spPr>
          <a:xfrm>
            <a:off x="561213" y="5695950"/>
            <a:ext cx="111252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1200"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 dirty="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6" name="dev-bullets">
            <a:extLst>
              <a:ext uri="{FF2B5EF4-FFF2-40B4-BE49-F238E27FC236}">
                <a16:creationId xmlns:a16="http://schemas.microsoft.com/office/drawing/2014/main" id="{660186F6-771A-4190-A040-1BA113B328F3}"/>
              </a:ext>
            </a:extLst>
          </p:cNvPr>
          <p:cNvSpPr>
            <a:spLocks noGrp="1"/>
          </p:cNvSpPr>
          <p:nvPr/>
        </p:nvSpPr>
        <p:spPr>
          <a:xfrm>
            <a:off x="586581" y="5930187"/>
            <a:ext cx="11125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8000"/>
              </a:lnSpc>
              <a:spcBef>
                <a:spcPts val="10"/>
              </a:spcBef>
              <a:buFontTx/>
              <a:buChar char="•"/>
            </a:pP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算子：kda_gate_cumsum、recurrent_gated_delta_rule_v310；gate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支持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safe_gate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gmin、BSND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与 FP32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中间值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800" dirty="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调度：prefill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走 chunk 64/128 + L1/UB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双缓冲，decode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走状态驻留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小窗口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replay；状态池纳入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KV cache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预算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800" dirty="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趋势：KDA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长上下文瓶颈转为状态带宽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同步；验收同时看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CUBE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利用率、Vector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overlap、L1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命中率和每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token launch 数。</a:t>
            </a:r>
            <a:endParaRPr sz="800" dirty="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5E5F983-B635-43A9-B0D2-4550855F2EC6}"/>
              </a:ext>
            </a:extLst>
          </p:cNvPr>
          <p:cNvSpPr txBox="1"/>
          <p:nvPr/>
        </p:nvSpPr>
        <p:spPr>
          <a:xfrm>
            <a:off x="5271528" y="2145864"/>
            <a:ext cx="5201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分析结论：</a:t>
            </a:r>
            <a:r>
              <a:rPr lang="en-US" altLang="zh-CN" dirty="0" err="1"/>
              <a:t>highlevel</a:t>
            </a:r>
            <a:r>
              <a:rPr lang="zh-CN" altLang="en-US" dirty="0"/>
              <a:t>（方法论，到达成的效果），不要太多细节。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表格形式很好，公式，格式，改一下</a:t>
            </a:r>
            <a:r>
              <a:rPr lang="en-US" altLang="zh-CN" dirty="0"/>
              <a:t>latex</a:t>
            </a:r>
            <a:r>
              <a:rPr lang="zh-CN" altLang="en-US" dirty="0"/>
              <a:t>格式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开发需求和趋势思考在深入一些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表格中，结构性表达（按条，下结论式的短语）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1231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>
            <a:extLst>
              <a:ext uri="{FF2B5EF4-FFF2-40B4-BE49-F238E27FC236}">
                <a16:creationId xmlns:a16="http://schemas.microsoft.com/office/drawing/2014/main" id="{85661469-D520-4BDF-A02C-6D55E448EEF4}"/>
              </a:ext>
            </a:extLst>
          </p:cNvPr>
          <p:cNvSpPr>
            <a:spLocks noGrp="1"/>
          </p:cNvSpPr>
          <p:nvPr/>
        </p:nvSpPr>
        <p:spPr>
          <a:xfrm>
            <a:off x="5082381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§2.1.2；vllm / vllm-ascend 代码仓</a:t>
            </a:r>
            <a:endParaRPr sz="8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5D3AF98-57F3-4F6C-9EE2-F43AAC1F68EC}"/>
              </a:ext>
            </a:extLst>
          </p:cNvPr>
          <p:cNvSpPr>
            <a:spLocks noGrp="1"/>
          </p:cNvSpPr>
          <p:nvPr/>
        </p:nvSpPr>
        <p:spPr>
          <a:xfrm>
            <a:off x="561181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Gated MLA：NoPE 全局注意力 + 全秩输出门</a:t>
            </a:r>
            <a:endParaRPr>
              <a:solidFill>
                <a:srgbClr val="000000"/>
              </a:solidFill>
              <a:latin typeface="MiSans"/>
            </a:endParaRPr>
          </a:p>
        </p:txBody>
      </p:sp>
      <p:sp>
        <p:nvSpPr>
          <p:cNvPr id="4" name="concl-label-bg">
            <a:extLst>
              <a:ext uri="{FF2B5EF4-FFF2-40B4-BE49-F238E27FC236}">
                <a16:creationId xmlns:a16="http://schemas.microsoft.com/office/drawing/2014/main" id="{4847A53F-02CA-415F-B48F-2B46E8A6A7CB}"/>
              </a:ext>
            </a:extLst>
          </p:cNvPr>
          <p:cNvSpPr>
            <a:spLocks noGrp="1"/>
          </p:cNvSpPr>
          <p:nvPr/>
        </p:nvSpPr>
        <p:spPr>
          <a:xfrm>
            <a:off x="561181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concl-label">
            <a:extLst>
              <a:ext uri="{FF2B5EF4-FFF2-40B4-BE49-F238E27FC236}">
                <a16:creationId xmlns:a16="http://schemas.microsoft.com/office/drawing/2014/main" id="{AC810317-54E7-4667-9DC0-E6050162A5EC}"/>
              </a:ext>
            </a:extLst>
          </p:cNvPr>
          <p:cNvSpPr>
            <a:spLocks noGrp="1"/>
          </p:cNvSpPr>
          <p:nvPr/>
        </p:nvSpPr>
        <p:spPr>
          <a:xfrm>
            <a:off x="561181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>
              <a:solidFill>
                <a:srgbClr val="000000"/>
              </a:solidFill>
              <a:latin typeface="MiSans"/>
            </a:endParaRP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6" name="concl-body-bg">
            <a:extLst>
              <a:ext uri="{FF2B5EF4-FFF2-40B4-BE49-F238E27FC236}">
                <a16:creationId xmlns:a16="http://schemas.microsoft.com/office/drawing/2014/main" id="{3B3BF091-11A2-42FE-86D6-799EDB76F4B7}"/>
              </a:ext>
            </a:extLst>
          </p:cNvPr>
          <p:cNvSpPr>
            <a:spLocks noGrp="1"/>
          </p:cNvSpPr>
          <p:nvPr/>
        </p:nvSpPr>
        <p:spPr>
          <a:xfrm>
            <a:off x="1780381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concl-bullets">
            <a:extLst>
              <a:ext uri="{FF2B5EF4-FFF2-40B4-BE49-F238E27FC236}">
                <a16:creationId xmlns:a16="http://schemas.microsoft.com/office/drawing/2014/main" id="{9854C8D6-29CB-40C7-A849-52F22C1A8DA3}"/>
              </a:ext>
            </a:extLst>
          </p:cNvPr>
          <p:cNvSpPr>
            <a:spLocks noGrp="1"/>
          </p:cNvSpPr>
          <p:nvPr/>
        </p:nvSpPr>
        <p:spPr>
          <a:xfrm>
            <a:off x="1958181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171450" indent="-171450" defTabSz="913130" eaLnBrk="0" fontAlgn="base" hangingPunct="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结构定位：93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层中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24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层为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Gated MLA；K3 MLA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NoPE，由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KDA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提供位置与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recency，保留全局内容检索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171450" indent="-171450" defTabSz="913130" eaLnBrk="0" fontAlgn="base" hangingPunct="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缓存账本：kv_lora_rank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=512、q_lora_rank=1536；仅 cₖᵥ 入 KV cache，24×512×2B=24.6KB/token，1M token≈24.6GB。</a:t>
            </a:r>
          </a:p>
          <a:p>
            <a:pPr marL="171450" indent="-171450" defTabSz="913130" eaLnBrk="0" fontAlgn="base" hangingPunct="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推理负载：prefill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受 QKᵀ/AV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的序列长度影响；decode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受 latent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page、K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/V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重建和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Wo/gate GEMM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影响，NoPE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不含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RoPE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分量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171450" indent="-171450" defTabSz="913130" eaLnBrk="0" fontAlgn="base" hangingPunct="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上线判断：A3 MLA/Prefix Cache/FULL_DECODE_ONLY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已有路径；混合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KDA+MLA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的统一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state-aware cache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仍需框架补齐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" name="arch-label">
            <a:extLst>
              <a:ext uri="{FF2B5EF4-FFF2-40B4-BE49-F238E27FC236}">
                <a16:creationId xmlns:a16="http://schemas.microsoft.com/office/drawing/2014/main" id="{D1E85C84-F26F-42A4-999C-223D5ADB7068}"/>
              </a:ext>
            </a:extLst>
          </p:cNvPr>
          <p:cNvSpPr>
            <a:spLocks noGrp="1"/>
          </p:cNvSpPr>
          <p:nvPr/>
        </p:nvSpPr>
        <p:spPr>
          <a:xfrm>
            <a:off x="561181" y="22860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模块结构与数据流</a:t>
            </a:r>
            <a:endParaRPr sz="12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9" name="legend-box">
            <a:extLst>
              <a:ext uri="{FF2B5EF4-FFF2-40B4-BE49-F238E27FC236}">
                <a16:creationId xmlns:a16="http://schemas.microsoft.com/office/drawing/2014/main" id="{59C0C907-FC5C-44D8-90E2-DAA585A94A2B}"/>
              </a:ext>
            </a:extLst>
          </p:cNvPr>
          <p:cNvSpPr>
            <a:spLocks noGrp="1"/>
          </p:cNvSpPr>
          <p:nvPr/>
        </p:nvSpPr>
        <p:spPr>
          <a:xfrm>
            <a:off x="2923381" y="2324100"/>
            <a:ext cx="1270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legend-text">
            <a:extLst>
              <a:ext uri="{FF2B5EF4-FFF2-40B4-BE49-F238E27FC236}">
                <a16:creationId xmlns:a16="http://schemas.microsoft.com/office/drawing/2014/main" id="{DB3E9720-77BF-4D7B-9F8B-12456432E0CE}"/>
              </a:ext>
            </a:extLst>
          </p:cNvPr>
          <p:cNvSpPr>
            <a:spLocks noGrp="1"/>
          </p:cNvSpPr>
          <p:nvPr/>
        </p:nvSpPr>
        <p:spPr>
          <a:xfrm>
            <a:off x="3101181" y="22860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红框 = K3 相对标准 MLA（K2）的改动</a:t>
            </a:r>
            <a:endParaRPr sz="800">
              <a:solidFill>
                <a:srgbClr val="000000"/>
              </a:solidFill>
              <a:latin typeface="MiSans"/>
            </a:endParaRPr>
          </a:p>
        </p:txBody>
      </p:sp>
      <p:pic>
        <p:nvPicPr>
          <p:cNvPr id="28" name="arch-figure"/>
          <p:cNvPicPr>
            <a:picLocks noChangeAspect="1"/>
          </p:cNvPicPr>
          <p:nvPr/>
        </p:nvPicPr>
        <p:blipFill rotWithShape="1">
          <a:blip r:embed="rId3"/>
          <a:srcRect r="42329"/>
          <a:stretch/>
        </p:blipFill>
        <p:spPr>
          <a:xfrm>
            <a:off x="510350" y="2476500"/>
            <a:ext cx="3725009" cy="3323665"/>
          </a:xfrm>
          <a:prstGeom prst="rect">
            <a:avLst/>
          </a:prstGeom>
          <a:ln>
            <a:noFill/>
          </a:ln>
        </p:spPr>
      </p:pic>
      <p:sp>
        <p:nvSpPr>
          <p:cNvPr id="12" name="param-label">
            <a:extLst>
              <a:ext uri="{FF2B5EF4-FFF2-40B4-BE49-F238E27FC236}">
                <a16:creationId xmlns:a16="http://schemas.microsoft.com/office/drawing/2014/main" id="{055F6BF9-D868-4DEF-99AB-A3CFC35B70EE}"/>
              </a:ext>
            </a:extLst>
          </p:cNvPr>
          <p:cNvSpPr>
            <a:spLocks noGrp="1"/>
          </p:cNvSpPr>
          <p:nvPr/>
        </p:nvSpPr>
        <p:spPr>
          <a:xfrm>
            <a:off x="6199981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>
              <a:solidFill>
                <a:srgbClr val="000000"/>
              </a:solidFill>
              <a:latin typeface="MiSans"/>
            </a:endParaRPr>
          </a:p>
        </p:txBody>
      </p:sp>
      <p:graphicFrame>
        <p:nvGraphicFramePr>
          <p:cNvPr id="30" name="param-table"/>
          <p:cNvGraphicFramePr/>
          <p:nvPr>
            <p:extLst>
              <p:ext uri="{D42A27DB-BD31-4B8C-83A1-F6EECF244321}">
                <p14:modId xmlns:p14="http://schemas.microsoft.com/office/powerpoint/2010/main" val="3831051010"/>
              </p:ext>
            </p:extLst>
          </p:nvPr>
        </p:nvGraphicFramePr>
        <p:xfrm>
          <a:off x="6022181" y="2618074"/>
          <a:ext cx="5537200" cy="2984500"/>
        </p:xfrm>
        <a:graphic>
          <a:graphicData uri="http://schemas.openxmlformats.org/drawingml/2006/table">
            <a:tbl>
              <a:tblPr/>
              <a:tblGrid>
                <a:gridCol w="1328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72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FLOPs/token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隐向量下投影 Wc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x∈R7168 → ct∈Rdc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2d·dc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稠密 GEMM → CUBE；decode 退化为 GEMV，访存受限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Q/K/V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投影与上投影</a:t>
                      </a:r>
                      <a:endParaRPr sz="80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q: d→H·dh；k,v: dc→H·dh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2d·H·dh + 4dc·H·dh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decode 可吸收（absorb）上投影、直接以 ct 计算，降低 KV 读取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全局注意力 </a:t>
                      </a:r>
                      <a:r>
                        <a:rPr sz="80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q,k,v∈RH·dh；L 任意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4L·H·dh，随 L 线性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 matmul + Vector softmax；无 RoPE → 省去旋转 kernel 与 sin/cos 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 Cache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ct：dc×2B / token / 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随 L 线性增长，1M 上下文为主要显存项；NoPE 后单 token 缓存 &lt; 标准 MLA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全秩输出门 </a:t>
                      </a:r>
                      <a:r>
                        <a:rPr sz="80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Wg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: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d×H·dh</a:t>
                      </a:r>
                      <a:endParaRPr sz="80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2d·H·dh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新增标准稠密 GEMM → CUBE 友好；应与注意力输出融合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 cₖᵥ 入 KV：24.6KB/token，1M≈24.6GB；KDA 状态≈217MB/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序列（config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假设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压缩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/重建≈2d·dc；QKᵀ/AV 随 L 线性增长；gate≈2d²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CUBE: QKV/up-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proj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/Wo/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gate；Vector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: sigmoid/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scale；KV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page 与 KDA checkpoint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统一回收</a:t>
                      </a:r>
                      <a:endParaRPr sz="80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param-note">
            <a:extLst>
              <a:ext uri="{FF2B5EF4-FFF2-40B4-BE49-F238E27FC236}">
                <a16:creationId xmlns:a16="http://schemas.microsoft.com/office/drawing/2014/main" id="{106BB118-80B1-482F-BEA3-E266CD8C5116}"/>
              </a:ext>
            </a:extLst>
          </p:cNvPr>
          <p:cNvSpPr>
            <a:spLocks noGrp="1"/>
          </p:cNvSpPr>
          <p:nvPr/>
        </p:nvSpPr>
        <p:spPr>
          <a:xfrm>
            <a:off x="6199981" y="5219700"/>
            <a:ext cx="5537168" cy="38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35000"/>
              </a:lnSpc>
            </a:pPr>
            <a:endParaRPr sz="7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5" name="dev-label">
            <a:extLst>
              <a:ext uri="{FF2B5EF4-FFF2-40B4-BE49-F238E27FC236}">
                <a16:creationId xmlns:a16="http://schemas.microsoft.com/office/drawing/2014/main" id="{2F2EA3FE-17EF-4F91-B298-021E0D1E4FD6}"/>
              </a:ext>
            </a:extLst>
          </p:cNvPr>
          <p:cNvSpPr>
            <a:spLocks noGrp="1"/>
          </p:cNvSpPr>
          <p:nvPr/>
        </p:nvSpPr>
        <p:spPr>
          <a:xfrm>
            <a:off x="561213" y="5695950"/>
            <a:ext cx="111252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6" name="dev-bullets">
            <a:extLst>
              <a:ext uri="{FF2B5EF4-FFF2-40B4-BE49-F238E27FC236}">
                <a16:creationId xmlns:a16="http://schemas.microsoft.com/office/drawing/2014/main" id="{7DC0A6EA-D7BD-4254-B0E4-C3294355B584}"/>
              </a:ext>
            </a:extLst>
          </p:cNvPr>
          <p:cNvSpPr>
            <a:spLocks noGrp="1"/>
          </p:cNvSpPr>
          <p:nvPr/>
        </p:nvSpPr>
        <p:spPr>
          <a:xfrm>
            <a:off x="561213" y="5953125"/>
            <a:ext cx="11125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8000"/>
              </a:lnSpc>
              <a:spcBef>
                <a:spcPts val="10"/>
              </a:spcBef>
              <a:buFontTx/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框架：AscendMLABackend、MLA no-rope cache、PCP/DCP；KDA-aware prefix cache 同时索引 latent page 与 state checkpoint。</a:t>
            </a:r>
            <a:endParaRPr sz="80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部署：A3 指南固定 TP16/DP4/EP64、max_num_seqs=16、max_num_batched_tokens=8192、FULL_DECODE_ONLY；需按 prefill/decode 分开压测。</a:t>
            </a:r>
            <a:endParaRPr sz="80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缺口：当前 KVPP 主要覆盖非混合 MLA；KDA state checkpoint、MLA page、AttnRes bank 的统一回收与跨 PP/TP 生命周期仍需实现。</a:t>
            </a:r>
            <a:endParaRPr sz="80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趋势：先建立可观测的 bytes/token、HCCL time、tokens/s 和 tail latency，再评估 A5 resident-bank 优势。</a:t>
            </a:r>
            <a:endParaRPr sz="800">
              <a:solidFill>
                <a:srgbClr val="000000"/>
              </a:solidFill>
              <a:latin typeface="MiSans"/>
            </a:endParaRPr>
          </a:p>
        </p:txBody>
      </p:sp>
    </p:spTree>
    <p:extLst>
      <p:ext uri="{BB962C8B-B14F-4D97-AF65-F5344CB8AC3E}">
        <p14:creationId xmlns:p14="http://schemas.microsoft.com/office/powerpoint/2010/main" val="1275072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>
            <a:extLst>
              <a:ext uri="{FF2B5EF4-FFF2-40B4-BE49-F238E27FC236}">
                <a16:creationId xmlns:a16="http://schemas.microsoft.com/office/drawing/2014/main" id="{90E87FCE-1534-43B8-AAF0-595270B4B351}"/>
              </a:ext>
            </a:extLst>
          </p:cNvPr>
          <p:cNvSpPr>
            <a:spLocks noGrp="1"/>
          </p:cNvSpPr>
          <p:nvPr/>
        </p:nvSpPr>
        <p:spPr>
          <a:xfrm>
            <a:off x="4701381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§5.1.1；FlashKDA（MoonshotAI）；vllm-ascend ops/triton/kda</a:t>
            </a:r>
            <a:endParaRPr sz="8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B8F8B91-6E7B-415D-886C-1AC990335E15}"/>
              </a:ext>
            </a:extLst>
          </p:cNvPr>
          <p:cNvSpPr>
            <a:spLocks noGrp="1"/>
          </p:cNvSpPr>
          <p:nvPr/>
        </p:nvSpPr>
        <p:spPr>
          <a:xfrm>
            <a:off x="561181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FlashKDA：chunkwise 训练 / Prefill 融合算子</a:t>
            </a:r>
            <a:endParaRPr>
              <a:solidFill>
                <a:srgbClr val="000000"/>
              </a:solidFill>
              <a:latin typeface="MiSans"/>
            </a:endParaRPr>
          </a:p>
        </p:txBody>
      </p:sp>
      <p:sp>
        <p:nvSpPr>
          <p:cNvPr id="4" name="concl-label-bg">
            <a:extLst>
              <a:ext uri="{FF2B5EF4-FFF2-40B4-BE49-F238E27FC236}">
                <a16:creationId xmlns:a16="http://schemas.microsoft.com/office/drawing/2014/main" id="{145F3ECB-77C7-40B0-B6EB-77E81A2C3C7A}"/>
              </a:ext>
            </a:extLst>
          </p:cNvPr>
          <p:cNvSpPr>
            <a:spLocks noGrp="1"/>
          </p:cNvSpPr>
          <p:nvPr/>
        </p:nvSpPr>
        <p:spPr>
          <a:xfrm>
            <a:off x="561181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concl-label">
            <a:extLst>
              <a:ext uri="{FF2B5EF4-FFF2-40B4-BE49-F238E27FC236}">
                <a16:creationId xmlns:a16="http://schemas.microsoft.com/office/drawing/2014/main" id="{6328A4B6-53FC-4BD0-8072-01F36E116A71}"/>
              </a:ext>
            </a:extLst>
          </p:cNvPr>
          <p:cNvSpPr>
            <a:spLocks noGrp="1"/>
          </p:cNvSpPr>
          <p:nvPr/>
        </p:nvSpPr>
        <p:spPr>
          <a:xfrm>
            <a:off x="561181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>
              <a:solidFill>
                <a:srgbClr val="000000"/>
              </a:solidFill>
              <a:latin typeface="MiSans"/>
            </a:endParaRP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6" name="concl-body-bg">
            <a:extLst>
              <a:ext uri="{FF2B5EF4-FFF2-40B4-BE49-F238E27FC236}">
                <a16:creationId xmlns:a16="http://schemas.microsoft.com/office/drawing/2014/main" id="{61CA74B6-78D3-4DDD-A73A-074F0A4CE215}"/>
              </a:ext>
            </a:extLst>
          </p:cNvPr>
          <p:cNvSpPr>
            <a:spLocks noGrp="1"/>
          </p:cNvSpPr>
          <p:nvPr/>
        </p:nvSpPr>
        <p:spPr>
          <a:xfrm>
            <a:off x="1780381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concl-bullets">
            <a:extLst>
              <a:ext uri="{FF2B5EF4-FFF2-40B4-BE49-F238E27FC236}">
                <a16:creationId xmlns:a16="http://schemas.microsoft.com/office/drawing/2014/main" id="{20761175-B2A7-41CC-8F15-3CD7F65B1E87}"/>
              </a:ext>
            </a:extLst>
          </p:cNvPr>
          <p:cNvSpPr>
            <a:spLocks noGrp="1"/>
          </p:cNvSpPr>
          <p:nvPr/>
        </p:nvSpPr>
        <p:spPr>
          <a:xfrm>
            <a:off x="1958181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lnSpc>
                <a:spcPct val="135000"/>
              </a:lnSpc>
              <a:spcBef>
                <a:spcPts val="10"/>
              </a:spcBef>
              <a:buFontTx/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FlashKDA 把 chunk 内 matmul 与跨 chunk 状态递归流水化：CUBE 处理 A·V，Vector 处理衰减、cumsum 和小矩阵更新。</a:t>
            </a:r>
            <a:endParaRPr sz="90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35000"/>
              </a:lnSpc>
              <a:spcBef>
                <a:spcPts val="400"/>
              </a:spcBef>
              <a:buFontTx/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代码约束：chunk_size=64/128；K/V=128（V 可到256）；支持 raw/activated log gate、safe_gate 与最多1024条逻辑序列。</a:t>
            </a:r>
            <a:endParaRPr sz="90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35000"/>
              </a:lnSpc>
              <a:spcBef>
                <a:spcPts val="400"/>
              </a:spcBef>
              <a:buFontTx/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量化账本：dk=dv=128 时，单 head、单 C=64 chunk 的 intra/state 主项均约2.1M FLOPs；递归只需一次 state handoff。</a:t>
            </a:r>
            <a:endParaRPr sz="90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35000"/>
              </a:lnSpc>
              <a:spcBef>
                <a:spcPts val="400"/>
              </a:spcBef>
              <a:buFontTx/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昇腾路线：当前以 Triton 参考路径为主；A3/A5 Ascend C/CATLASS 融合 kernel 需分别 benchmark 验收。</a:t>
            </a:r>
            <a:endParaRPr sz="9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8" name="arch-label">
            <a:extLst>
              <a:ext uri="{FF2B5EF4-FFF2-40B4-BE49-F238E27FC236}">
                <a16:creationId xmlns:a16="http://schemas.microsoft.com/office/drawing/2014/main" id="{A8EE2439-7937-47D8-AC86-94C0C55274DD}"/>
              </a:ext>
            </a:extLst>
          </p:cNvPr>
          <p:cNvSpPr>
            <a:spLocks noGrp="1"/>
          </p:cNvSpPr>
          <p:nvPr/>
        </p:nvSpPr>
        <p:spPr>
          <a:xfrm>
            <a:off x="561181" y="2286000"/>
            <a:ext cx="3302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计算 / 状态传播调度交叠</a:t>
            </a:r>
            <a:endParaRPr sz="1200">
              <a:solidFill>
                <a:srgbClr val="000000"/>
              </a:solidFill>
              <a:latin typeface="MiSans"/>
            </a:endParaRPr>
          </a:p>
        </p:txBody>
      </p:sp>
      <p:pic>
        <p:nvPicPr>
          <p:cNvPr id="24" name="arch-figur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7226" y="2514600"/>
            <a:ext cx="5392653" cy="2774950"/>
          </a:xfrm>
          <a:prstGeom prst="rect">
            <a:avLst/>
          </a:prstGeom>
          <a:ln>
            <a:noFill/>
          </a:ln>
        </p:spPr>
      </p:pic>
      <p:sp>
        <p:nvSpPr>
          <p:cNvPr id="10" name="param-label">
            <a:extLst>
              <a:ext uri="{FF2B5EF4-FFF2-40B4-BE49-F238E27FC236}">
                <a16:creationId xmlns:a16="http://schemas.microsoft.com/office/drawing/2014/main" id="{BAABADC4-107D-40F3-B8F9-FA7F917B7B22}"/>
              </a:ext>
            </a:extLst>
          </p:cNvPr>
          <p:cNvSpPr>
            <a:spLocks noGrp="1"/>
          </p:cNvSpPr>
          <p:nvPr/>
        </p:nvSpPr>
        <p:spPr>
          <a:xfrm>
            <a:off x="6199981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>
              <a:solidFill>
                <a:srgbClr val="000000"/>
              </a:solidFill>
              <a:latin typeface="MiSans"/>
            </a:endParaRPr>
          </a:p>
        </p:txBody>
      </p:sp>
      <p:graphicFrame>
        <p:nvGraphicFramePr>
          <p:cNvPr id="26" name="param-table"/>
          <p:cNvGraphicFramePr/>
          <p:nvPr/>
        </p:nvGraphicFramePr>
        <p:xfrm>
          <a:off x="6199981" y="2641600"/>
          <a:ext cx="5537200" cy="2816860"/>
        </p:xfrm>
        <a:graphic>
          <a:graphicData uri="http://schemas.openxmlformats.org/drawingml/2006/table">
            <a:tbl>
              <a:tblPr/>
              <a:tblGrid>
                <a:gridCol w="1439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5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1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FLOPs/token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chunk 内注意力 A·Ṽ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[C,dk]×[dk,C]×[C,dv]，C = 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2C(dk+dv)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稠密 matmul → CUBE；典型 tile 64×128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 chunk 读取 (Γ⊙Q)S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[C,dk]×[dk,dv]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2dk·dv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小矩阵乘、CUBE 利用率低 → 与 chunk 内计算双缓冲交叠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状态更新 S←MS+K̄ᵀṼ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[dk,dk]×[dk,dv]；[dk,C]×[C,dv]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≈3dk·dv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串行依赖；S 驻留片上（dk·dv×2B / head）避免 HBM 往返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累积衰减 Γ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[C,dk] / head，log 空间 cumsum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O(C·dk)，逐元素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 Vector；与 matmul 构成异构流水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UT 变换（W / U）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[C,C] 三角求逆 + 小 matmul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O(C·dk)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小尺寸 matmul → CUBE 效率受限，宜融合进主 kernel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S≈32KB/head；69层≈217MB*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intra/state≈2.1M FLOPs/head/chunk（C=64）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CUBE：A·V；Vector：decay/mask；chunk 64/128；L1/UB双缓冲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param-note">
            <a:extLst>
              <a:ext uri="{FF2B5EF4-FFF2-40B4-BE49-F238E27FC236}">
                <a16:creationId xmlns:a16="http://schemas.microsoft.com/office/drawing/2014/main" id="{1F3E0A12-5F6A-4E9C-BF6B-1092B14792C0}"/>
              </a:ext>
            </a:extLst>
          </p:cNvPr>
          <p:cNvSpPr>
            <a:spLocks noGrp="1"/>
          </p:cNvSpPr>
          <p:nvPr/>
        </p:nvSpPr>
        <p:spPr>
          <a:xfrm>
            <a:off x="6200013" y="5219700"/>
            <a:ext cx="5537168" cy="38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35000"/>
              </a:lnSpc>
            </a:pPr>
            <a:endParaRPr sz="7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3" name="dev-label">
            <a:extLst>
              <a:ext uri="{FF2B5EF4-FFF2-40B4-BE49-F238E27FC236}">
                <a16:creationId xmlns:a16="http://schemas.microsoft.com/office/drawing/2014/main" id="{BB194ED1-FF07-4EBF-9BC1-3B452C768766}"/>
              </a:ext>
            </a:extLst>
          </p:cNvPr>
          <p:cNvSpPr>
            <a:spLocks noGrp="1"/>
          </p:cNvSpPr>
          <p:nvPr/>
        </p:nvSpPr>
        <p:spPr>
          <a:xfrm>
            <a:off x="561213" y="5695950"/>
            <a:ext cx="111252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4" name="dev-bullets">
            <a:extLst>
              <a:ext uri="{FF2B5EF4-FFF2-40B4-BE49-F238E27FC236}">
                <a16:creationId xmlns:a16="http://schemas.microsoft.com/office/drawing/2014/main" id="{C5788FCB-20AA-4803-B0C7-890EA120E689}"/>
              </a:ext>
            </a:extLst>
          </p:cNvPr>
          <p:cNvSpPr>
            <a:spLocks noGrp="1"/>
          </p:cNvSpPr>
          <p:nvPr/>
        </p:nvSpPr>
        <p:spPr>
          <a:xfrm>
            <a:off x="561213" y="5953125"/>
            <a:ext cx="11125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8000"/>
              </a:lnSpc>
              <a:spcBef>
                <a:spcPts val="10"/>
              </a:spcBef>
              <a:buFontTx/>
              <a:buChar char="•"/>
            </a:pP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算子：把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gate、prepare、post-Wu、FwdH、Finalize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合并进单个物理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L0；避免 Python/多 L0 staging。</a:t>
            </a:r>
            <a:endParaRPr sz="800" dirty="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运行时：暴露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initial_state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final_state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/gk，支持最多1024逻辑序列和 BSND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layout；prefill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/decode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采用不同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tiling。</a:t>
            </a:r>
            <a:endParaRPr sz="800" dirty="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趋势：以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A3/A5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分别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benchmark；验收项包括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2.1M FLOPs/head/chunk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的有效吞吐、CUBE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/Vector overlap、L1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命中率和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HBM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往返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800" dirty="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5AEDEE-73F7-4468-BE05-D8362D936718}"/>
              </a:ext>
            </a:extLst>
          </p:cNvPr>
          <p:cNvSpPr txBox="1"/>
          <p:nvPr/>
        </p:nvSpPr>
        <p:spPr>
          <a:xfrm>
            <a:off x="2861388" y="2529324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这个图有点问题，其他同上</a:t>
            </a:r>
          </a:p>
        </p:txBody>
      </p:sp>
    </p:spTree>
    <p:extLst>
      <p:ext uri="{BB962C8B-B14F-4D97-AF65-F5344CB8AC3E}">
        <p14:creationId xmlns:p14="http://schemas.microsoft.com/office/powerpoint/2010/main" val="536379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>
            <a:extLst>
              <a:ext uri="{FF2B5EF4-FFF2-40B4-BE49-F238E27FC236}">
                <a16:creationId xmlns:a16="http://schemas.microsoft.com/office/drawing/2014/main" id="{C4144F33-DE17-4AB2-A4B7-64B46B78EF07}"/>
              </a:ext>
            </a:extLst>
          </p:cNvPr>
          <p:cNvSpPr>
            <a:spLocks noGrp="1"/>
          </p:cNvSpPr>
          <p:nvPr/>
        </p:nvSpPr>
        <p:spPr>
          <a:xfrm>
            <a:off x="4701381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§5.4.2（KDA）；ReplaySSM [25]；vllm-ascend ops/triton/kda</a:t>
            </a:r>
            <a:endParaRPr sz="8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56DC90A-6CDB-4BBC-95D6-08CC0548F304}"/>
              </a:ext>
            </a:extLst>
          </p:cNvPr>
          <p:cNvSpPr>
            <a:spLocks noGrp="1"/>
          </p:cNvSpPr>
          <p:nvPr/>
        </p:nvSpPr>
        <p:spPr>
          <a:xfrm>
            <a:off x="561181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KDA Decoding：可回滚的投机解码融合递归算子</a:t>
            </a:r>
            <a:endParaRPr>
              <a:solidFill>
                <a:srgbClr val="000000"/>
              </a:solidFill>
              <a:latin typeface="MiSans"/>
            </a:endParaRPr>
          </a:p>
        </p:txBody>
      </p:sp>
      <p:sp>
        <p:nvSpPr>
          <p:cNvPr id="4" name="concl-label-bg">
            <a:extLst>
              <a:ext uri="{FF2B5EF4-FFF2-40B4-BE49-F238E27FC236}">
                <a16:creationId xmlns:a16="http://schemas.microsoft.com/office/drawing/2014/main" id="{21AD9341-B110-46D3-8453-169C0C9D6888}"/>
              </a:ext>
            </a:extLst>
          </p:cNvPr>
          <p:cNvSpPr>
            <a:spLocks noGrp="1"/>
          </p:cNvSpPr>
          <p:nvPr/>
        </p:nvSpPr>
        <p:spPr>
          <a:xfrm>
            <a:off x="561181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concl-label">
            <a:extLst>
              <a:ext uri="{FF2B5EF4-FFF2-40B4-BE49-F238E27FC236}">
                <a16:creationId xmlns:a16="http://schemas.microsoft.com/office/drawing/2014/main" id="{0F110715-02E2-4FFC-A28A-0C31849034B2}"/>
              </a:ext>
            </a:extLst>
          </p:cNvPr>
          <p:cNvSpPr>
            <a:spLocks noGrp="1"/>
          </p:cNvSpPr>
          <p:nvPr/>
        </p:nvSpPr>
        <p:spPr>
          <a:xfrm>
            <a:off x="561181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>
              <a:solidFill>
                <a:srgbClr val="000000"/>
              </a:solidFill>
              <a:latin typeface="MiSans"/>
            </a:endParaRP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6" name="concl-body-bg">
            <a:extLst>
              <a:ext uri="{FF2B5EF4-FFF2-40B4-BE49-F238E27FC236}">
                <a16:creationId xmlns:a16="http://schemas.microsoft.com/office/drawing/2014/main" id="{977AA15F-D33C-4064-B010-2130F521FC62}"/>
              </a:ext>
            </a:extLst>
          </p:cNvPr>
          <p:cNvSpPr>
            <a:spLocks noGrp="1"/>
          </p:cNvSpPr>
          <p:nvPr/>
        </p:nvSpPr>
        <p:spPr>
          <a:xfrm>
            <a:off x="1780381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concl-bullets">
            <a:extLst>
              <a:ext uri="{FF2B5EF4-FFF2-40B4-BE49-F238E27FC236}">
                <a16:creationId xmlns:a16="http://schemas.microsoft.com/office/drawing/2014/main" id="{DC13E33E-2CC9-4FDC-B14D-748700614A46}"/>
              </a:ext>
            </a:extLst>
          </p:cNvPr>
          <p:cNvSpPr>
            <a:spLocks noGrp="1"/>
          </p:cNvSpPr>
          <p:nvPr/>
        </p:nvSpPr>
        <p:spPr>
          <a:xfrm>
            <a:off x="1958181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lnSpc>
                <a:spcPct val="135000"/>
              </a:lnSpc>
              <a:spcBef>
                <a:spcPts val="10"/>
              </a:spcBef>
              <a:buFontTx/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KDA decode 将卷积、归一化、门控、递归状态和输出投影合并，减少每 token 的 kernel launch 与状态往返。</a:t>
            </a:r>
            <a:endParaRPr sz="90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35000"/>
              </a:lnSpc>
              <a:spcBef>
                <a:spcPts val="400"/>
              </a:spcBef>
              <a:buFontTx/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RecoverSSM：拒绝的 draft token 只回滚到已验证位置的 S；状态快照必须与 speculative block 绑定，避免重复重算。</a:t>
            </a:r>
            <a:endParaRPr sz="90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35000"/>
              </a:lnSpc>
              <a:spcBef>
                <a:spcPts val="400"/>
              </a:spcBef>
              <a:buFontTx/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推理协同：DSpark 使用 7-token speculative window（Block5 使用5）；vLLM upstream 通过 use_kda_recoverssm 恢复 K3 状态。</a:t>
            </a:r>
            <a:endParaRPr sz="90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35000"/>
              </a:lnSpc>
              <a:spcBef>
                <a:spcPts val="400"/>
              </a:spcBef>
              <a:buFontTx/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昇腾诉求：FULL_DECODE_ONLY 固化 decode shape；D=4 快照约24MB/layer/step，片上 SRAM 决定 replay window。</a:t>
            </a:r>
            <a:endParaRPr sz="9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8" name="arch-label">
            <a:extLst>
              <a:ext uri="{FF2B5EF4-FFF2-40B4-BE49-F238E27FC236}">
                <a16:creationId xmlns:a16="http://schemas.microsoft.com/office/drawing/2014/main" id="{A8F9BC74-2126-40C2-8D20-6571CB6B7A04}"/>
              </a:ext>
            </a:extLst>
          </p:cNvPr>
          <p:cNvSpPr>
            <a:spLocks noGrp="1"/>
          </p:cNvSpPr>
          <p:nvPr/>
        </p:nvSpPr>
        <p:spPr>
          <a:xfrm>
            <a:off x="561181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融合算子构成与状态回滚</a:t>
            </a:r>
            <a:endParaRPr sz="1200">
              <a:solidFill>
                <a:srgbClr val="000000"/>
              </a:solidFill>
              <a:latin typeface="MiSans"/>
            </a:endParaRPr>
          </a:p>
        </p:txBody>
      </p:sp>
      <p:pic>
        <p:nvPicPr>
          <p:cNvPr id="24" name="arch-figur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7226" y="2514600"/>
            <a:ext cx="5380313" cy="2768600"/>
          </a:xfrm>
          <a:prstGeom prst="rect">
            <a:avLst/>
          </a:prstGeom>
          <a:ln>
            <a:noFill/>
          </a:ln>
        </p:spPr>
      </p:pic>
      <p:sp>
        <p:nvSpPr>
          <p:cNvPr id="10" name="param-label">
            <a:extLst>
              <a:ext uri="{FF2B5EF4-FFF2-40B4-BE49-F238E27FC236}">
                <a16:creationId xmlns:a16="http://schemas.microsoft.com/office/drawing/2014/main" id="{ACBD8D32-CEC6-4A74-B790-4D31AA254B71}"/>
              </a:ext>
            </a:extLst>
          </p:cNvPr>
          <p:cNvSpPr>
            <a:spLocks noGrp="1"/>
          </p:cNvSpPr>
          <p:nvPr/>
        </p:nvSpPr>
        <p:spPr>
          <a:xfrm>
            <a:off x="6199981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>
              <a:solidFill>
                <a:srgbClr val="000000"/>
              </a:solidFill>
              <a:latin typeface="MiSans"/>
            </a:endParaRPr>
          </a:p>
        </p:txBody>
      </p:sp>
      <p:graphicFrame>
        <p:nvGraphicFramePr>
          <p:cNvPr id="26" name="param-table"/>
          <p:cNvGraphicFramePr/>
          <p:nvPr/>
        </p:nvGraphicFramePr>
        <p:xfrm>
          <a:off x="6199981" y="2641600"/>
          <a:ext cx="5537200" cy="2629408"/>
        </p:xfrm>
        <a:graphic>
          <a:graphicData uri="http://schemas.openxmlformats.org/drawingml/2006/table">
            <a:tbl>
              <a:tblPr/>
              <a:tblGrid>
                <a:gridCol w="1439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5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1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短卷积（causal，k=4）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[B,H,dk]×4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≈4dk·H / token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小卷积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Vector；独立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kernel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不划算，必须融合</a:t>
                      </a:r>
                      <a:endParaRPr sz="80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门控（safe-gate）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 = −5·σ(eA·z)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O(H·dk)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 Vector；当前 NPU kernel 未融合（host 侧预处理，多一次显存往返）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KDA 递归（rank-1 更新）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S: [H,dk,dv]，逐 token 串行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≈3H·dk·dv / token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小矩阵、并行度仅 B×H 维 → 状态驻留片上是关键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状态重建（replay）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 个草稿的投影输入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D×3H·dk·dv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片上重建，免去 D 份状态快照的 HBM 读写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完整状态≈3.0MB/layer（config 假设）；D=4 快照读写约24MB/layer/step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replay≈D×3Hdkdv；投影输入缓存远小于 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片上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replay；HBM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仅 checkpoint/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flush；DSpark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7/5 token 与 FULL_DECODE_ONLY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需联调</a:t>
                      </a:r>
                      <a:endParaRPr sz="80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param-note">
            <a:extLst>
              <a:ext uri="{FF2B5EF4-FFF2-40B4-BE49-F238E27FC236}">
                <a16:creationId xmlns:a16="http://schemas.microsoft.com/office/drawing/2014/main" id="{7AEE0410-6469-4019-9E34-63336FC2111A}"/>
              </a:ext>
            </a:extLst>
          </p:cNvPr>
          <p:cNvSpPr>
            <a:spLocks noGrp="1"/>
          </p:cNvSpPr>
          <p:nvPr/>
        </p:nvSpPr>
        <p:spPr>
          <a:xfrm>
            <a:off x="6200013" y="5219700"/>
            <a:ext cx="5537168" cy="38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35000"/>
              </a:lnSpc>
            </a:pPr>
            <a:endParaRPr sz="7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3" name="dev-label">
            <a:extLst>
              <a:ext uri="{FF2B5EF4-FFF2-40B4-BE49-F238E27FC236}">
                <a16:creationId xmlns:a16="http://schemas.microsoft.com/office/drawing/2014/main" id="{A4D27E31-69E2-40E9-A7F0-00A9E5FC09F3}"/>
              </a:ext>
            </a:extLst>
          </p:cNvPr>
          <p:cNvSpPr>
            <a:spLocks noGrp="1"/>
          </p:cNvSpPr>
          <p:nvPr/>
        </p:nvSpPr>
        <p:spPr>
          <a:xfrm>
            <a:off x="561213" y="5695950"/>
            <a:ext cx="111252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4" name="dev-bullets">
            <a:extLst>
              <a:ext uri="{FF2B5EF4-FFF2-40B4-BE49-F238E27FC236}">
                <a16:creationId xmlns:a16="http://schemas.microsoft.com/office/drawing/2014/main" id="{20DAF891-2DBA-4D17-B603-4C5BD03EDE56}"/>
              </a:ext>
            </a:extLst>
          </p:cNvPr>
          <p:cNvSpPr>
            <a:spLocks noGrp="1"/>
          </p:cNvSpPr>
          <p:nvPr/>
        </p:nvSpPr>
        <p:spPr>
          <a:xfrm>
            <a:off x="561213" y="5953125"/>
            <a:ext cx="11125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8000"/>
              </a:lnSpc>
              <a:spcBef>
                <a:spcPts val="10"/>
              </a:spcBef>
              <a:buFontTx/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框架：vLLM cache.use_kda_recoverssm 与 DSpark 拒绝回滚打通；snapshot 粒度与 speculative block 对齐。</a:t>
            </a:r>
            <a:endParaRPr sz="80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图编译：FULL_DECODE_ONLY ACL Graph 固定 decode shapes；7-token/5-token draft 分别评测接受率、replay 开销、24MB 快照流量和 SRAM 占用。</a:t>
            </a:r>
            <a:endParaRPr sz="80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验收：正确性需覆盖部分拒绝、连续拒绝、跨 batch；性能同时看 HBM bytes/token、launch 数和状态恢复耗时。</a:t>
            </a:r>
            <a:endParaRPr sz="80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趋势：从“每 token 重算”转向“状态恢复+小窗口 replay”，但 KDA/MLA/AttnRes 三类状态仍需统一 spec-decode 生命周期。</a:t>
            </a:r>
            <a:endParaRPr sz="8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AF9EE74-A395-4700-BC8A-5CD2FEBC9870}"/>
              </a:ext>
            </a:extLst>
          </p:cNvPr>
          <p:cNvSpPr txBox="1"/>
          <p:nvPr/>
        </p:nvSpPr>
        <p:spPr>
          <a:xfrm>
            <a:off x="2861388" y="2529324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这个图有点问题，其他同上</a:t>
            </a:r>
          </a:p>
        </p:txBody>
      </p:sp>
    </p:spTree>
    <p:extLst>
      <p:ext uri="{BB962C8B-B14F-4D97-AF65-F5344CB8AC3E}">
        <p14:creationId xmlns:p14="http://schemas.microsoft.com/office/powerpoint/2010/main" val="1963343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>
            <a:extLst>
              <a:ext uri="{FF2B5EF4-FFF2-40B4-BE49-F238E27FC236}">
                <a16:creationId xmlns:a16="http://schemas.microsoft.com/office/drawing/2014/main" id="{045F3A8E-8B71-4BF9-847A-7898D3ABDD5D}"/>
              </a:ext>
            </a:extLst>
          </p:cNvPr>
          <p:cNvSpPr>
            <a:spLocks noGrp="1"/>
          </p:cNvSpPr>
          <p:nvPr/>
        </p:nvSpPr>
        <p:spPr>
          <a:xfrm>
            <a:off x="4701381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§2.2 / §5.4.2（Block AttnRes）</a:t>
            </a:r>
            <a:endParaRPr sz="8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708715F-1971-4422-9C3F-9408EE0CD0FA}"/>
              </a:ext>
            </a:extLst>
          </p:cNvPr>
          <p:cNvSpPr>
            <a:spLocks noGrp="1"/>
          </p:cNvSpPr>
          <p:nvPr/>
        </p:nvSpPr>
        <p:spPr>
          <a:xfrm>
            <a:off x="561181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Block AttnRes：两阶段调度与通信融合</a:t>
            </a:r>
            <a:endParaRPr>
              <a:solidFill>
                <a:srgbClr val="000000"/>
              </a:solidFill>
              <a:latin typeface="MiSans"/>
            </a:endParaRPr>
          </a:p>
        </p:txBody>
      </p:sp>
      <p:sp>
        <p:nvSpPr>
          <p:cNvPr id="4" name="concl-label-bg">
            <a:extLst>
              <a:ext uri="{FF2B5EF4-FFF2-40B4-BE49-F238E27FC236}">
                <a16:creationId xmlns:a16="http://schemas.microsoft.com/office/drawing/2014/main" id="{9FC65AD3-C993-4FCA-9DF4-460B3304FB2B}"/>
              </a:ext>
            </a:extLst>
          </p:cNvPr>
          <p:cNvSpPr>
            <a:spLocks noGrp="1"/>
          </p:cNvSpPr>
          <p:nvPr/>
        </p:nvSpPr>
        <p:spPr>
          <a:xfrm>
            <a:off x="561181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concl-label">
            <a:extLst>
              <a:ext uri="{FF2B5EF4-FFF2-40B4-BE49-F238E27FC236}">
                <a16:creationId xmlns:a16="http://schemas.microsoft.com/office/drawing/2014/main" id="{ED1BBC34-D09D-4F51-810E-148866EB427E}"/>
              </a:ext>
            </a:extLst>
          </p:cNvPr>
          <p:cNvSpPr>
            <a:spLocks noGrp="1"/>
          </p:cNvSpPr>
          <p:nvPr/>
        </p:nvSpPr>
        <p:spPr>
          <a:xfrm>
            <a:off x="561181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>
              <a:solidFill>
                <a:srgbClr val="000000"/>
              </a:solidFill>
              <a:latin typeface="MiSans"/>
            </a:endParaRP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6" name="concl-body-bg">
            <a:extLst>
              <a:ext uri="{FF2B5EF4-FFF2-40B4-BE49-F238E27FC236}">
                <a16:creationId xmlns:a16="http://schemas.microsoft.com/office/drawing/2014/main" id="{0F0E4D06-90C6-44B3-9E43-5C072DB81DD4}"/>
              </a:ext>
            </a:extLst>
          </p:cNvPr>
          <p:cNvSpPr>
            <a:spLocks noGrp="1"/>
          </p:cNvSpPr>
          <p:nvPr/>
        </p:nvSpPr>
        <p:spPr>
          <a:xfrm>
            <a:off x="1780381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concl-bullets">
            <a:extLst>
              <a:ext uri="{FF2B5EF4-FFF2-40B4-BE49-F238E27FC236}">
                <a16:creationId xmlns:a16="http://schemas.microsoft.com/office/drawing/2014/main" id="{5B50F457-DBDC-4086-BDF3-D3EAA84EB739}"/>
              </a:ext>
            </a:extLst>
          </p:cNvPr>
          <p:cNvSpPr>
            <a:spLocks noGrp="1"/>
          </p:cNvSpPr>
          <p:nvPr/>
        </p:nvSpPr>
        <p:spPr>
          <a:xfrm>
            <a:off x="1958181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lnSpc>
                <a:spcPct val="135000"/>
              </a:lnSpc>
              <a:spcBef>
                <a:spcPts val="10"/>
              </a:spcBef>
              <a:buFontTx/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AttnRes 把 93 层深度残差变成 8 个 block 的可学习检索：w 生成伪查询，α=softmax(w·RMSNorm(b))，输出为各 block 表征的加权和。</a:t>
            </a:r>
            <a:endParaRPr sz="90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35000"/>
              </a:lnSpc>
              <a:spcBef>
                <a:spcPts val="400"/>
              </a:spcBef>
              <a:buFontTx/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复杂度：全量深度注意力 O(L²d)，block 化后 O(Nd)，N≈8；嵌入加 8 个 block 共 9 个表示，约 126–129KB/token（BF16）。</a:t>
            </a:r>
            <a:endParaRPr sz="90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35000"/>
              </a:lnSpc>
              <a:spcBef>
                <a:spcPts val="400"/>
              </a:spcBef>
              <a:buFontTx/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Prefill 可拆为 RS+AG 与 intra-block kernel；decode 用 side stream 交错 inter-block 计算，隐藏 HCCL 延迟。</a:t>
            </a:r>
            <a:endParaRPr sz="90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35000"/>
              </a:lnSpc>
              <a:spcBef>
                <a:spcPts val="400"/>
              </a:spcBef>
              <a:buFontTx/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实现边界：attn_res_fwd 合并 BF16 add、residual mix、RMSNorm、writeback；A5 目标路径，A3 性能需实测。</a:t>
            </a:r>
            <a:endParaRPr sz="9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8" name="arch-label">
            <a:extLst>
              <a:ext uri="{FF2B5EF4-FFF2-40B4-BE49-F238E27FC236}">
                <a16:creationId xmlns:a16="http://schemas.microsoft.com/office/drawing/2014/main" id="{E4687020-D441-41DB-AD79-F4F071C8189E}"/>
              </a:ext>
            </a:extLst>
          </p:cNvPr>
          <p:cNvSpPr>
            <a:spLocks noGrp="1"/>
          </p:cNvSpPr>
          <p:nvPr/>
        </p:nvSpPr>
        <p:spPr>
          <a:xfrm>
            <a:off x="561181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深度维注意力机制与执行调度</a:t>
            </a:r>
            <a:endParaRPr sz="1200">
              <a:solidFill>
                <a:srgbClr val="000000"/>
              </a:solidFill>
              <a:latin typeface="MiSans"/>
            </a:endParaRPr>
          </a:p>
        </p:txBody>
      </p:sp>
      <p:pic>
        <p:nvPicPr>
          <p:cNvPr id="24" name="arch-figur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7226" y="2514600"/>
            <a:ext cx="5380313" cy="2768600"/>
          </a:xfrm>
          <a:prstGeom prst="rect">
            <a:avLst/>
          </a:prstGeom>
          <a:ln>
            <a:noFill/>
          </a:ln>
        </p:spPr>
      </p:pic>
      <p:sp>
        <p:nvSpPr>
          <p:cNvPr id="10" name="param-label">
            <a:extLst>
              <a:ext uri="{FF2B5EF4-FFF2-40B4-BE49-F238E27FC236}">
                <a16:creationId xmlns:a16="http://schemas.microsoft.com/office/drawing/2014/main" id="{9A8ED285-2D5D-455C-9C07-14DE1CF71EE6}"/>
              </a:ext>
            </a:extLst>
          </p:cNvPr>
          <p:cNvSpPr>
            <a:spLocks noGrp="1"/>
          </p:cNvSpPr>
          <p:nvPr/>
        </p:nvSpPr>
        <p:spPr>
          <a:xfrm>
            <a:off x="6199981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>
              <a:solidFill>
                <a:srgbClr val="000000"/>
              </a:solidFill>
              <a:latin typeface="MiSans"/>
            </a:endParaRPr>
          </a:p>
        </p:txBody>
      </p:sp>
      <p:graphicFrame>
        <p:nvGraphicFramePr>
          <p:cNvPr id="26" name="param-table"/>
          <p:cNvGraphicFramePr/>
          <p:nvPr/>
        </p:nvGraphicFramePr>
        <p:xfrm>
          <a:off x="6199981" y="2641600"/>
          <a:ext cx="5537200" cy="2620264"/>
        </p:xfrm>
        <a:graphic>
          <a:graphicData uri="http://schemas.openxmlformats.org/drawingml/2006/table">
            <a:tbl>
              <a:tblPr/>
              <a:tblGrid>
                <a:gridCol w="1439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5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1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Inter-block 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 N 个 block 表示 [N,d]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O(N·d) / 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访存为主；批量读一次；decode 放 side stream 交叠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Intra-block 合并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online softmax merge，[d]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O(d) / 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融合进 TP all-reduce epilogue → 零独立 kernel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伪查询与权重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w∈Rd；α = softmax(w·RMSNorm(b))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O(N·d)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 GEMV → Vector；N = 9，计算量极小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Block 表示缓存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N×d×2B / 序列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 层 → 9 个表示 ≈126KB（BF16）；显存降一个量级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93层→8个 block 表示 + embedding，共9项；约126–129KB/token（BF16）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O(Nd) 小型深度注意力；主要成本是访存/collective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HCCL RS/AG + AICore epilogue；side stream 隐藏 inter-block；A3 需实测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param-note">
            <a:extLst>
              <a:ext uri="{FF2B5EF4-FFF2-40B4-BE49-F238E27FC236}">
                <a16:creationId xmlns:a16="http://schemas.microsoft.com/office/drawing/2014/main" id="{6725385B-5E7C-437B-8674-0B9F5A1D3916}"/>
              </a:ext>
            </a:extLst>
          </p:cNvPr>
          <p:cNvSpPr>
            <a:spLocks noGrp="1"/>
          </p:cNvSpPr>
          <p:nvPr/>
        </p:nvSpPr>
        <p:spPr>
          <a:xfrm>
            <a:off x="6200013" y="5219700"/>
            <a:ext cx="5537168" cy="38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35000"/>
              </a:lnSpc>
            </a:pPr>
            <a:endParaRPr sz="7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3" name="dev-label">
            <a:extLst>
              <a:ext uri="{FF2B5EF4-FFF2-40B4-BE49-F238E27FC236}">
                <a16:creationId xmlns:a16="http://schemas.microsoft.com/office/drawing/2014/main" id="{E462A25E-948B-49CC-B0B1-DD36EB66B320}"/>
              </a:ext>
            </a:extLst>
          </p:cNvPr>
          <p:cNvSpPr>
            <a:spLocks noGrp="1"/>
          </p:cNvSpPr>
          <p:nvPr/>
        </p:nvSpPr>
        <p:spPr>
          <a:xfrm>
            <a:off x="561213" y="5695950"/>
            <a:ext cx="111252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4" name="dev-bullets">
            <a:extLst>
              <a:ext uri="{FF2B5EF4-FFF2-40B4-BE49-F238E27FC236}">
                <a16:creationId xmlns:a16="http://schemas.microsoft.com/office/drawing/2014/main" id="{A79F9DAA-3720-4059-8F66-DC9D15D5506C}"/>
              </a:ext>
            </a:extLst>
          </p:cNvPr>
          <p:cNvSpPr>
            <a:spLocks noGrp="1"/>
          </p:cNvSpPr>
          <p:nvPr/>
        </p:nvSpPr>
        <p:spPr>
          <a:xfrm>
            <a:off x="561213" y="5953125"/>
            <a:ext cx="11125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8000"/>
              </a:lnSpc>
              <a:spcBef>
                <a:spcPts val="10"/>
              </a:spcBef>
              <a:buFontTx/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算子：attn_res_fwd 合并 BF16 add、bank mix、RMSNorm、writeback；提供 RESIDENT/RELOAD、prefill/decode tiling。</a:t>
            </a:r>
            <a:endParaRPr sz="80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通信：Prefill 用 RS+AG，decode 用 side stream；9 个 block 表示的缓存生命周期需与 PP/TP 切分联动。</a:t>
            </a:r>
            <a:endParaRPr sz="80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验收：A3 先建立 126–129KB/token 的带宽与正确性基线，再测 HCCL overlap；A5 resident-bank 只能作为迁移目标。</a:t>
            </a:r>
            <a:endParaRPr sz="80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趋势：AttnRes 是跨层状态的新访存模式，必须纳入统一 cache manager 和内存碎片监控。</a:t>
            </a:r>
            <a:endParaRPr sz="800">
              <a:solidFill>
                <a:srgbClr val="000000"/>
              </a:solidFill>
              <a:latin typeface="MiSans"/>
            </a:endParaRPr>
          </a:p>
        </p:txBody>
      </p:sp>
    </p:spTree>
    <p:extLst>
      <p:ext uri="{BB962C8B-B14F-4D97-AF65-F5344CB8AC3E}">
        <p14:creationId xmlns:p14="http://schemas.microsoft.com/office/powerpoint/2010/main" val="1952908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>
            <a:extLst>
              <a:ext uri="{FF2B5EF4-FFF2-40B4-BE49-F238E27FC236}">
                <a16:creationId xmlns:a16="http://schemas.microsoft.com/office/drawing/2014/main" id="{CFF0169F-42E3-4266-93CB-658066E5A7A6}"/>
              </a:ext>
            </a:extLst>
          </p:cNvPr>
          <p:cNvSpPr>
            <a:spLocks noGrp="1"/>
          </p:cNvSpPr>
          <p:nvPr/>
        </p:nvSpPr>
        <p:spPr>
          <a:xfrm>
            <a:off x="4701381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§2.3 / §5.4.2（Stable LatentMoE）；WarpDecode [12]；vllm-ascend quantization</a:t>
            </a:r>
            <a:endParaRPr sz="8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7DB46E4-D876-46C2-8BA7-6C0D909C994B}"/>
              </a:ext>
            </a:extLst>
          </p:cNvPr>
          <p:cNvSpPr>
            <a:spLocks noGrp="1"/>
          </p:cNvSpPr>
          <p:nvPr/>
        </p:nvSpPr>
        <p:spPr>
          <a:xfrm>
            <a:off x="561181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Stable LatentMoE：隐空间专家计算的 GEMM 优化</a:t>
            </a:r>
            <a:endParaRPr>
              <a:solidFill>
                <a:srgbClr val="000000"/>
              </a:solidFill>
              <a:latin typeface="MiSans"/>
            </a:endParaRPr>
          </a:p>
        </p:txBody>
      </p:sp>
      <p:sp>
        <p:nvSpPr>
          <p:cNvPr id="4" name="concl-label-bg">
            <a:extLst>
              <a:ext uri="{FF2B5EF4-FFF2-40B4-BE49-F238E27FC236}">
                <a16:creationId xmlns:a16="http://schemas.microsoft.com/office/drawing/2014/main" id="{D054FD55-3ACF-40D2-BFDC-AC927BD7143F}"/>
              </a:ext>
            </a:extLst>
          </p:cNvPr>
          <p:cNvSpPr>
            <a:spLocks noGrp="1"/>
          </p:cNvSpPr>
          <p:nvPr/>
        </p:nvSpPr>
        <p:spPr>
          <a:xfrm>
            <a:off x="561181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concl-label">
            <a:extLst>
              <a:ext uri="{FF2B5EF4-FFF2-40B4-BE49-F238E27FC236}">
                <a16:creationId xmlns:a16="http://schemas.microsoft.com/office/drawing/2014/main" id="{8C60752C-1477-42E1-8815-4D8A6A8A1982}"/>
              </a:ext>
            </a:extLst>
          </p:cNvPr>
          <p:cNvSpPr>
            <a:spLocks noGrp="1"/>
          </p:cNvSpPr>
          <p:nvPr/>
        </p:nvSpPr>
        <p:spPr>
          <a:xfrm>
            <a:off x="561181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>
              <a:solidFill>
                <a:srgbClr val="000000"/>
              </a:solidFill>
              <a:latin typeface="MiSans"/>
            </a:endParaRP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6" name="concl-body-bg">
            <a:extLst>
              <a:ext uri="{FF2B5EF4-FFF2-40B4-BE49-F238E27FC236}">
                <a16:creationId xmlns:a16="http://schemas.microsoft.com/office/drawing/2014/main" id="{99C286DE-95EA-4128-9CA2-5528AF5A83AE}"/>
              </a:ext>
            </a:extLst>
          </p:cNvPr>
          <p:cNvSpPr>
            <a:spLocks noGrp="1"/>
          </p:cNvSpPr>
          <p:nvPr/>
        </p:nvSpPr>
        <p:spPr>
          <a:xfrm>
            <a:off x="1780381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concl-bullets">
            <a:extLst>
              <a:ext uri="{FF2B5EF4-FFF2-40B4-BE49-F238E27FC236}">
                <a16:creationId xmlns:a16="http://schemas.microsoft.com/office/drawing/2014/main" id="{BA71A1A1-3596-41E8-901A-81DA6D96B150}"/>
              </a:ext>
            </a:extLst>
          </p:cNvPr>
          <p:cNvSpPr>
            <a:spLocks noGrp="1"/>
          </p:cNvSpPr>
          <p:nvPr/>
        </p:nvSpPr>
        <p:spPr>
          <a:xfrm>
            <a:off x="1958181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lnSpc>
                <a:spcPct val="135000"/>
              </a:lnSpc>
              <a:spcBef>
                <a:spcPts val="10"/>
              </a:spcBef>
              <a:buFontTx/>
              <a:buChar char="•"/>
            </a:pPr>
            <a:r>
              <a:rPr sz="90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LatentMoE</a:t>
            </a:r>
            <a:r>
              <a:rPr sz="90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先将</a:t>
            </a:r>
            <a:r>
              <a:rPr sz="90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d=7168 </a:t>
            </a:r>
            <a:r>
              <a:rPr sz="90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压到</a:t>
            </a:r>
            <a:r>
              <a:rPr sz="90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latent ℓ=3584，再做 896 </a:t>
            </a:r>
            <a:r>
              <a:rPr sz="90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路由专家中的</a:t>
            </a:r>
            <a:r>
              <a:rPr sz="90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top-16，并叠加2个 shared </a:t>
            </a:r>
            <a:r>
              <a:rPr sz="90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expert；W↑恢复到</a:t>
            </a:r>
            <a:r>
              <a:rPr sz="90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d。</a:t>
            </a:r>
            <a:endParaRPr sz="900" dirty="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35000"/>
              </a:lnSpc>
              <a:spcBef>
                <a:spcPts val="400"/>
              </a:spcBef>
              <a:buFontTx/>
              <a:buChar char="•"/>
            </a:pPr>
            <a:r>
              <a:rPr sz="90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通信变化：EP</a:t>
            </a:r>
            <a:r>
              <a:rPr sz="90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dispatch/combine 在 latent </a:t>
            </a:r>
            <a:r>
              <a:rPr sz="90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域，all-to-all</a:t>
            </a:r>
            <a:r>
              <a:rPr sz="90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payload </a:t>
            </a:r>
            <a:r>
              <a:rPr sz="90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约为</a:t>
            </a:r>
            <a:r>
              <a:rPr sz="90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d 域 50%；小 batch decode </a:t>
            </a:r>
            <a:r>
              <a:rPr sz="90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仍受专家权重流式读取限制</a:t>
            </a:r>
            <a:r>
              <a:rPr sz="90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900" dirty="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35000"/>
              </a:lnSpc>
              <a:spcBef>
                <a:spcPts val="400"/>
              </a:spcBef>
              <a:buFontTx/>
              <a:buChar char="•"/>
            </a:pPr>
            <a:r>
              <a:rPr sz="90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参数账本：单</a:t>
            </a:r>
            <a:r>
              <a:rPr sz="90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expert 约33.0M 参数；BF16≈66MB，W4≈16.5MB；16 routed 激活权重约1.06/0.26GB。</a:t>
            </a:r>
            <a:endParaRPr sz="900" dirty="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35000"/>
              </a:lnSpc>
              <a:spcBef>
                <a:spcPts val="400"/>
              </a:spcBef>
              <a:buFontTx/>
              <a:buChar char="•"/>
            </a:pPr>
            <a:r>
              <a:rPr sz="90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部署边界：A3 W4A8 为4节点 DP4/TP16/EP64、约1.49TB权重存储；HCCL_BUFFSIZE=1024、EP=2048，存储值不等于运行时 HBM。</a:t>
            </a:r>
            <a:endParaRPr sz="900" dirty="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8" name="arch-label">
            <a:extLst>
              <a:ext uri="{FF2B5EF4-FFF2-40B4-BE49-F238E27FC236}">
                <a16:creationId xmlns:a16="http://schemas.microsoft.com/office/drawing/2014/main" id="{B6B9EF23-5399-4CAD-88F0-AC9DA9DB3C9C}"/>
              </a:ext>
            </a:extLst>
          </p:cNvPr>
          <p:cNvSpPr>
            <a:spLocks noGrp="1"/>
          </p:cNvSpPr>
          <p:nvPr/>
        </p:nvSpPr>
        <p:spPr>
          <a:xfrm>
            <a:off x="561181" y="2286000"/>
            <a:ext cx="4064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隐空间数据流与 decode kernel 设计</a:t>
            </a:r>
            <a:endParaRPr sz="1200">
              <a:solidFill>
                <a:srgbClr val="000000"/>
              </a:solidFill>
              <a:latin typeface="MiSans"/>
            </a:endParaRPr>
          </a:p>
        </p:txBody>
      </p:sp>
      <p:pic>
        <p:nvPicPr>
          <p:cNvPr id="24" name="arch-figur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7226" y="2514600"/>
            <a:ext cx="5380313" cy="2768600"/>
          </a:xfrm>
          <a:prstGeom prst="rect">
            <a:avLst/>
          </a:prstGeom>
          <a:ln>
            <a:noFill/>
          </a:ln>
        </p:spPr>
      </p:pic>
      <p:sp>
        <p:nvSpPr>
          <p:cNvPr id="10" name="param-label">
            <a:extLst>
              <a:ext uri="{FF2B5EF4-FFF2-40B4-BE49-F238E27FC236}">
                <a16:creationId xmlns:a16="http://schemas.microsoft.com/office/drawing/2014/main" id="{5D48B5DB-61FF-45DE-A016-D9BAF7E78A5D}"/>
              </a:ext>
            </a:extLst>
          </p:cNvPr>
          <p:cNvSpPr>
            <a:spLocks noGrp="1"/>
          </p:cNvSpPr>
          <p:nvPr/>
        </p:nvSpPr>
        <p:spPr>
          <a:xfrm>
            <a:off x="6199981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>
              <a:solidFill>
                <a:srgbClr val="000000"/>
              </a:solidFill>
              <a:latin typeface="MiSans"/>
            </a:endParaRPr>
          </a:p>
        </p:txBody>
      </p:sp>
      <p:graphicFrame>
        <p:nvGraphicFramePr>
          <p:cNvPr id="26" name="param-table"/>
          <p:cNvGraphicFramePr/>
          <p:nvPr/>
        </p:nvGraphicFramePr>
        <p:xfrm>
          <a:off x="6199981" y="2641600"/>
          <a:ext cx="5537200" cy="2751328"/>
        </p:xfrm>
        <a:graphic>
          <a:graphicData uri="http://schemas.openxmlformats.org/drawingml/2006/table">
            <a:tbl>
              <a:tblPr/>
              <a:tblGrid>
                <a:gridCol w="1495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5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1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Router + 下投影融合 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[T,d]×[d, ℓ+E]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2T·d·(ℓ+E)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 GEMM → CUBE；省一次中间结果写回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路由专家 GEMM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每专家 [Te,ℓ]×[ℓ,he]，he = 3072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2k·3ℓ·he，k = 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隐空间 ℓ = 3584（0.5d）→ 计算量较全宽减半；group GEMM → CUBE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上投影 W↑ + AG 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[T,ℓ]×[ℓ,d] + all-gather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2T·ℓ·d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multimem store 融合 AG → 通信隐藏于计算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Decode 权重流读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每专家 3·ℓ·he 权重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≈0（纯访存）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memory-bound：带宽利用率为唯一指标 → token 中心 warp 设计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 expert≈33.0M 参数；BF16≈66MB，W4≈16.5MB；16 routed≈1.06/0.26GB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Router+down≈2T·d(ℓ+E)；16专家 GEMM≈2T·k·ℓ·he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CUBE: latent/expert GEMM；Vector: top-k/SiTU；EP64 latent all-to-all≈50% payload；W4A8 约1.49TB存储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param-note">
            <a:extLst>
              <a:ext uri="{FF2B5EF4-FFF2-40B4-BE49-F238E27FC236}">
                <a16:creationId xmlns:a16="http://schemas.microsoft.com/office/drawing/2014/main" id="{34098CA7-FE16-4388-A248-073936202C66}"/>
              </a:ext>
            </a:extLst>
          </p:cNvPr>
          <p:cNvSpPr>
            <a:spLocks noGrp="1"/>
          </p:cNvSpPr>
          <p:nvPr/>
        </p:nvSpPr>
        <p:spPr>
          <a:xfrm>
            <a:off x="6200013" y="5219700"/>
            <a:ext cx="5537168" cy="38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35000"/>
              </a:lnSpc>
            </a:pPr>
            <a:endParaRPr sz="7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3" name="dev-label">
            <a:extLst>
              <a:ext uri="{FF2B5EF4-FFF2-40B4-BE49-F238E27FC236}">
                <a16:creationId xmlns:a16="http://schemas.microsoft.com/office/drawing/2014/main" id="{EF64635C-45B2-480E-BA44-B7FB49AFF727}"/>
              </a:ext>
            </a:extLst>
          </p:cNvPr>
          <p:cNvSpPr>
            <a:spLocks noGrp="1"/>
          </p:cNvSpPr>
          <p:nvPr/>
        </p:nvSpPr>
        <p:spPr>
          <a:xfrm>
            <a:off x="561213" y="5695950"/>
            <a:ext cx="111252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4" name="dev-bullets">
            <a:extLst>
              <a:ext uri="{FF2B5EF4-FFF2-40B4-BE49-F238E27FC236}">
                <a16:creationId xmlns:a16="http://schemas.microsoft.com/office/drawing/2014/main" id="{414B5FD4-D1F3-42FD-AEEC-BF4552E1F5F6}"/>
              </a:ext>
            </a:extLst>
          </p:cNvPr>
          <p:cNvSpPr>
            <a:spLocks noGrp="1"/>
          </p:cNvSpPr>
          <p:nvPr/>
        </p:nvSpPr>
        <p:spPr>
          <a:xfrm>
            <a:off x="561213" y="5953125"/>
            <a:ext cx="11125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8000"/>
              </a:lnSpc>
              <a:spcBef>
                <a:spcPts val="10"/>
              </a:spcBef>
              <a:buFontTx/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算子：latent router、top-k、SiTU-GLU、group GEMM、epilogue combine；token-centric WarpDecode 适配小 batch。</a:t>
            </a:r>
            <a:endParaRPr sz="80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框架：EP64 与 latent-width all-to-all；权重预取、W4A8 解量化、HBM 分片、HCCL buffer 要可观测。</a:t>
            </a:r>
            <a:endParaRPr sz="80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验收：拆分 router、dispatch、expert GEMM、combine 四段测量；报告中的 1.49TB 是存储估算，不能替代运行时 HBM/通信预算。</a:t>
            </a:r>
            <a:endParaRPr sz="80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趋势：通信约减半但权重带宽主导 decode；联合优化 HBM、CUBE、HCCL，并以 payload/token、tokens/s 和尾延迟验收。</a:t>
            </a:r>
            <a:endParaRPr sz="800">
              <a:solidFill>
                <a:srgbClr val="000000"/>
              </a:solidFill>
              <a:latin typeface="MiSans"/>
            </a:endParaRPr>
          </a:p>
        </p:txBody>
      </p:sp>
    </p:spTree>
    <p:extLst>
      <p:ext uri="{BB962C8B-B14F-4D97-AF65-F5344CB8AC3E}">
        <p14:creationId xmlns:p14="http://schemas.microsoft.com/office/powerpoint/2010/main" val="52954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BA8BB-B031-72D0-CBE6-37129C166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>
            <a:extLst>
              <a:ext uri="{FF2B5EF4-FFF2-40B4-BE49-F238E27FC236}">
                <a16:creationId xmlns:a16="http://schemas.microsoft.com/office/drawing/2014/main" id="{63EB9DD8-1AC5-BBF4-3C35-F40CC11DC4DA}"/>
              </a:ext>
            </a:extLst>
          </p:cNvPr>
          <p:cNvSpPr>
            <a:spLocks noGrp="1"/>
          </p:cNvSpPr>
          <p:nvPr/>
        </p:nvSpPr>
        <p:spPr>
          <a:xfrm>
            <a:off x="5082381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§2.1.1 / §5.1；vllm / vllm-ascend 代码仓</a:t>
            </a:r>
            <a:endParaRPr sz="8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06997F9-CCAF-0E2E-4D60-40FD271D2176}"/>
              </a:ext>
            </a:extLst>
          </p:cNvPr>
          <p:cNvSpPr>
            <a:spLocks noGrp="1"/>
          </p:cNvSpPr>
          <p:nvPr/>
        </p:nvSpPr>
        <p:spPr>
          <a:xfrm>
            <a:off x="561181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Kimi Delta </a:t>
            </a:r>
            <a:r>
              <a:rPr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Attention（KDA</a:t>
            </a:r>
            <a:r>
              <a:rPr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）：</a:t>
            </a:r>
            <a:r>
              <a:rPr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逐通道遗忘门</a:t>
            </a:r>
            <a:r>
              <a:rPr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 × Delta </a:t>
            </a:r>
            <a:r>
              <a:rPr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规则的线性注意力</a:t>
            </a:r>
            <a:endParaRPr dirty="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4" name="concl-label-bg">
            <a:extLst>
              <a:ext uri="{FF2B5EF4-FFF2-40B4-BE49-F238E27FC236}">
                <a16:creationId xmlns:a16="http://schemas.microsoft.com/office/drawing/2014/main" id="{6153A600-AAF0-1F94-3682-7D97CE4C1965}"/>
              </a:ext>
            </a:extLst>
          </p:cNvPr>
          <p:cNvSpPr>
            <a:spLocks noGrp="1"/>
          </p:cNvSpPr>
          <p:nvPr/>
        </p:nvSpPr>
        <p:spPr>
          <a:xfrm>
            <a:off x="561181" y="736600"/>
            <a:ext cx="1117600" cy="13335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concl-label">
            <a:extLst>
              <a:ext uri="{FF2B5EF4-FFF2-40B4-BE49-F238E27FC236}">
                <a16:creationId xmlns:a16="http://schemas.microsoft.com/office/drawing/2014/main" id="{1486CD87-C234-723E-53A8-2E75F968D856}"/>
              </a:ext>
            </a:extLst>
          </p:cNvPr>
          <p:cNvSpPr>
            <a:spLocks noGrp="1"/>
          </p:cNvSpPr>
          <p:nvPr/>
        </p:nvSpPr>
        <p:spPr>
          <a:xfrm>
            <a:off x="561181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>
              <a:solidFill>
                <a:srgbClr val="000000"/>
              </a:solidFill>
              <a:latin typeface="MiSans"/>
            </a:endParaRP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6" name="concl-body-bg">
            <a:extLst>
              <a:ext uri="{FF2B5EF4-FFF2-40B4-BE49-F238E27FC236}">
                <a16:creationId xmlns:a16="http://schemas.microsoft.com/office/drawing/2014/main" id="{4E93C55C-499E-99A2-A6EB-5A2C5DE183E4}"/>
              </a:ext>
            </a:extLst>
          </p:cNvPr>
          <p:cNvSpPr>
            <a:spLocks noGrp="1"/>
          </p:cNvSpPr>
          <p:nvPr/>
        </p:nvSpPr>
        <p:spPr>
          <a:xfrm>
            <a:off x="1780381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concl-bullets">
            <a:extLst>
              <a:ext uri="{FF2B5EF4-FFF2-40B4-BE49-F238E27FC236}">
                <a16:creationId xmlns:a16="http://schemas.microsoft.com/office/drawing/2014/main" id="{318B464F-E211-1A8E-EE1A-1EBE369647A9}"/>
              </a:ext>
            </a:extLst>
          </p:cNvPr>
          <p:cNvSpPr>
            <a:spLocks noGrp="1"/>
          </p:cNvSpPr>
          <p:nvPr/>
        </p:nvSpPr>
        <p:spPr>
          <a:xfrm>
            <a:off x="1831181" y="800100"/>
            <a:ext cx="9779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171450" indent="-171450" defTabSz="913130" eaLnBrk="0" fontAlgn="base" hangingPunct="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结构定位：开源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config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校准为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93 层注意力（69 KDA + 24 MLA）：23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个模式块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×(3 KDA+1 MLA)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再加末端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Gated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MLA；每层后接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Stable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LatentMoE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171450" indent="-171450" defTabSz="913130" eaLnBrk="0" fontAlgn="base" hangingPunct="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数值稳定：g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gmin·σ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e^A·z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)，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gmin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=−5；16-token tile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的累计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log-decay∈(−80,0)，BF16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可保持稳定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171450" indent="-171450" defTabSz="913130" eaLnBrk="0" fontAlgn="base" hangingPunct="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推理负载：prefill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在 C=64 chunk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内并行，decode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以 S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原地更新；若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dk=dv=128，单层状态约3.0MB、69层约217MB，状态不随 L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增长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171450" indent="-171450" defTabSz="913130" eaLnBrk="0" fontAlgn="base" hangingPunct="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硬件含义：全秩门控引入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d→d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GEMM，CUBE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占比上升；Vector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的 gate/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cumsum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归一化需与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CUBE </a:t>
            </a:r>
            <a:r>
              <a:rPr sz="12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片上流水</a:t>
            </a:r>
            <a:r>
              <a:rPr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" name="arch-label">
            <a:extLst>
              <a:ext uri="{FF2B5EF4-FFF2-40B4-BE49-F238E27FC236}">
                <a16:creationId xmlns:a16="http://schemas.microsoft.com/office/drawing/2014/main" id="{05CFB2A0-215E-44C3-30C4-32813438DF0D}"/>
              </a:ext>
            </a:extLst>
          </p:cNvPr>
          <p:cNvSpPr>
            <a:spLocks noGrp="1"/>
          </p:cNvSpPr>
          <p:nvPr/>
        </p:nvSpPr>
        <p:spPr>
          <a:xfrm>
            <a:off x="561181" y="22860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模块结构与数据流</a:t>
            </a:r>
            <a:endParaRPr sz="120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9" name="legend-box">
            <a:extLst>
              <a:ext uri="{FF2B5EF4-FFF2-40B4-BE49-F238E27FC236}">
                <a16:creationId xmlns:a16="http://schemas.microsoft.com/office/drawing/2014/main" id="{D98AF279-5757-BA2B-18B0-694E6BBC091B}"/>
              </a:ext>
            </a:extLst>
          </p:cNvPr>
          <p:cNvSpPr>
            <a:spLocks noGrp="1"/>
          </p:cNvSpPr>
          <p:nvPr/>
        </p:nvSpPr>
        <p:spPr>
          <a:xfrm>
            <a:off x="2923381" y="2324100"/>
            <a:ext cx="1270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legend-text">
            <a:extLst>
              <a:ext uri="{FF2B5EF4-FFF2-40B4-BE49-F238E27FC236}">
                <a16:creationId xmlns:a16="http://schemas.microsoft.com/office/drawing/2014/main" id="{DB8E5686-6CD6-7CD2-01EC-D7524719261E}"/>
              </a:ext>
            </a:extLst>
          </p:cNvPr>
          <p:cNvSpPr>
            <a:spLocks noGrp="1"/>
          </p:cNvSpPr>
          <p:nvPr/>
        </p:nvSpPr>
        <p:spPr>
          <a:xfrm>
            <a:off x="3101181" y="22860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红框 = K3 相对 Kimi Linear 的改动</a:t>
            </a:r>
            <a:endParaRPr sz="800">
              <a:solidFill>
                <a:srgbClr val="000000"/>
              </a:solidFill>
              <a:latin typeface="MiSans"/>
            </a:endParaRPr>
          </a:p>
        </p:txBody>
      </p:sp>
      <p:pic>
        <p:nvPicPr>
          <p:cNvPr id="28" name="arch-figure">
            <a:extLst>
              <a:ext uri="{FF2B5EF4-FFF2-40B4-BE49-F238E27FC236}">
                <a16:creationId xmlns:a16="http://schemas.microsoft.com/office/drawing/2014/main" id="{5A36D3A2-2596-363B-C744-B22A3AEF0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3352" y="2507088"/>
            <a:ext cx="5380313" cy="2768600"/>
          </a:xfrm>
          <a:prstGeom prst="rect">
            <a:avLst/>
          </a:prstGeom>
          <a:ln>
            <a:noFill/>
          </a:ln>
        </p:spPr>
      </p:pic>
      <p:sp>
        <p:nvSpPr>
          <p:cNvPr id="12" name="param-label">
            <a:extLst>
              <a:ext uri="{FF2B5EF4-FFF2-40B4-BE49-F238E27FC236}">
                <a16:creationId xmlns:a16="http://schemas.microsoft.com/office/drawing/2014/main" id="{5462E4C5-C29F-C8A4-C55A-8FA60B55285F}"/>
              </a:ext>
            </a:extLst>
          </p:cNvPr>
          <p:cNvSpPr>
            <a:spLocks noGrp="1"/>
          </p:cNvSpPr>
          <p:nvPr/>
        </p:nvSpPr>
        <p:spPr>
          <a:xfrm>
            <a:off x="6199981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>
              <a:solidFill>
                <a:srgbClr val="000000"/>
              </a:solidFill>
              <a:latin typeface="MiSans"/>
            </a:endParaRPr>
          </a:p>
        </p:txBody>
      </p:sp>
      <p:graphicFrame>
        <p:nvGraphicFramePr>
          <p:cNvPr id="30" name="param-table">
            <a:extLst>
              <a:ext uri="{FF2B5EF4-FFF2-40B4-BE49-F238E27FC236}">
                <a16:creationId xmlns:a16="http://schemas.microsoft.com/office/drawing/2014/main" id="{39B26599-A67C-2719-C59A-93D009AA792A}"/>
              </a:ext>
            </a:extLst>
          </p:cNvPr>
          <p:cNvGraphicFramePr/>
          <p:nvPr/>
        </p:nvGraphicFramePr>
        <p:xfrm>
          <a:off x="6176865" y="2641600"/>
          <a:ext cx="5560316" cy="2694940"/>
        </p:xfrm>
        <a:graphic>
          <a:graphicData uri="http://schemas.openxmlformats.org/drawingml/2006/table">
            <a:tbl>
              <a:tblPr/>
              <a:tblGrid>
                <a:gridCol w="1352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72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FLOPs/token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</a:t>
                      </a:r>
                      <a:r>
                        <a:rPr sz="800" b="1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</a:t>
                      </a:r>
                      <a:r>
                        <a:rPr sz="800" b="1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昇腾诉求</a:t>
                      </a:r>
                      <a:endParaRPr sz="800" b="1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q/k/v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投影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+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ShortConv（k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=4）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x∈R7168 →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q,k∈RH·dk，v∈RH·dv</a:t>
                      </a:r>
                      <a:endParaRPr sz="80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2d·H(2dk+dv)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稠密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GEMM → CUBE；</a:t>
                      </a:r>
                      <a:endParaRPr lang="en-US" sz="80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decode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退化为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GEMV，访存受限</a:t>
                      </a:r>
                      <a:endParaRPr sz="80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遗忘门 z + 写入强度 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低秩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d→r→H·dk；d→H</a:t>
                      </a:r>
                      <a:endParaRPr sz="80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≈2d·r（占比小）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 GEMM + σ/exp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逐元素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Vector 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有界衰减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800" dirty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 = −5·σ(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eA·z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) ∈(−5, 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O(H·dk)，逐元素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Vector；使对角块可上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CUBE，消除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position-pair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标量路径</a:t>
                      </a:r>
                      <a:endParaRPr sz="80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Chunk 内注意力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=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Tril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((Q⊙Γ)(K/Γ)⊤)；C = 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2C(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dk+dv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)，与 L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无关</a:t>
                      </a:r>
                      <a:endParaRPr sz="80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全稠密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matmul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CUBE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占比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↑（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原对角块为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chunk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内主要瓶颈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 chunk 状态传播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 ∈ Rdk×dv，chunk 间串行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2·dk·dv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小矩阵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+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串行依赖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并行度低，需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kernel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内流水掩盖</a:t>
                      </a:r>
                      <a:endParaRPr sz="80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  <a:endParaRPr sz="80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S：69层≈217MB/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序列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*；MLA 24.6KB/token，1M≈24.6GB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KDA主项≈2.1M FLOPs/head/chunk（C=64，dk=dv=128*）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CUBE：chunk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matmul；Vector：gate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cumsum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/RMSNorm；L1/</a:t>
                      </a:r>
                      <a:r>
                        <a:rPr sz="80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UB驻留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param-note">
            <a:extLst>
              <a:ext uri="{FF2B5EF4-FFF2-40B4-BE49-F238E27FC236}">
                <a16:creationId xmlns:a16="http://schemas.microsoft.com/office/drawing/2014/main" id="{A84656BF-D5C2-AB30-1051-2812C01238B4}"/>
              </a:ext>
            </a:extLst>
          </p:cNvPr>
          <p:cNvSpPr>
            <a:spLocks noGrp="1"/>
          </p:cNvSpPr>
          <p:nvPr/>
        </p:nvSpPr>
        <p:spPr>
          <a:xfrm>
            <a:off x="6200013" y="5219700"/>
            <a:ext cx="5537168" cy="38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35000"/>
              </a:lnSpc>
            </a:pPr>
            <a:endParaRPr sz="75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5" name="dev-label">
            <a:extLst>
              <a:ext uri="{FF2B5EF4-FFF2-40B4-BE49-F238E27FC236}">
                <a16:creationId xmlns:a16="http://schemas.microsoft.com/office/drawing/2014/main" id="{952E1D86-BEE9-1619-F20C-AD8A8AA16224}"/>
              </a:ext>
            </a:extLst>
          </p:cNvPr>
          <p:cNvSpPr>
            <a:spLocks noGrp="1"/>
          </p:cNvSpPr>
          <p:nvPr/>
        </p:nvSpPr>
        <p:spPr>
          <a:xfrm>
            <a:off x="561213" y="5695950"/>
            <a:ext cx="111252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lnSpc>
                <a:spcPct val="120000"/>
              </a:lnSpc>
            </a:pPr>
            <a:r>
              <a:rPr sz="1200"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 dirty="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6" name="dev-bullets">
            <a:extLst>
              <a:ext uri="{FF2B5EF4-FFF2-40B4-BE49-F238E27FC236}">
                <a16:creationId xmlns:a16="http://schemas.microsoft.com/office/drawing/2014/main" id="{E0B979EA-1716-1DE6-9F8E-2647251FAC9B}"/>
              </a:ext>
            </a:extLst>
          </p:cNvPr>
          <p:cNvSpPr>
            <a:spLocks noGrp="1"/>
          </p:cNvSpPr>
          <p:nvPr/>
        </p:nvSpPr>
        <p:spPr>
          <a:xfrm>
            <a:off x="586581" y="5930187"/>
            <a:ext cx="11125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8000"/>
              </a:lnSpc>
              <a:spcBef>
                <a:spcPts val="10"/>
              </a:spcBef>
              <a:buFontTx/>
              <a:buChar char="•"/>
            </a:pP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算子：kda_gate_cumsum、recurrent_gated_delta_rule_v310；gate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支持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safe_gate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gmin、BSND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与 FP32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中间值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800" dirty="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调度：prefill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走 chunk 64/128 + L1/UB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双缓冲，decode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走状态驻留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小窗口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replay；状态池纳入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KV cache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预算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800" dirty="0">
              <a:solidFill>
                <a:srgbClr val="000000"/>
              </a:solidFill>
              <a:latin typeface="MiSans"/>
            </a:endParaRPr>
          </a:p>
          <a:p>
            <a:pPr>
              <a:lnSpc>
                <a:spcPct val="108000"/>
              </a:lnSpc>
              <a:spcBef>
                <a:spcPts val="300"/>
              </a:spcBef>
              <a:buFontTx/>
              <a:buChar char="•"/>
            </a:pP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趋势：KDA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长上下文瓶颈转为状态带宽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同步；验收同时看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CUBE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利用率、Vector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overlap、L1 </a:t>
            </a:r>
            <a:r>
              <a:rPr sz="1050" b="1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命中率和每</a:t>
            </a:r>
            <a:r>
              <a:rPr sz="1050" b="1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token launch 数。</a:t>
            </a:r>
            <a:endParaRPr sz="800" dirty="0">
              <a:solidFill>
                <a:srgbClr val="000000"/>
              </a:solidFill>
              <a:latin typeface="MiSan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F7FA2BF-7030-2B83-D4E9-FD9C7DFDB96F}"/>
              </a:ext>
            </a:extLst>
          </p:cNvPr>
          <p:cNvSpPr txBox="1"/>
          <p:nvPr/>
        </p:nvSpPr>
        <p:spPr>
          <a:xfrm>
            <a:off x="5271528" y="2145864"/>
            <a:ext cx="5201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分析结论：</a:t>
            </a:r>
            <a:r>
              <a:rPr lang="en-US" altLang="zh-CN" dirty="0" err="1"/>
              <a:t>highlevel</a:t>
            </a:r>
            <a:r>
              <a:rPr lang="zh-CN" altLang="en-US" dirty="0"/>
              <a:t>（方法论，到达成的效果），不要太多细节。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表格形式很好，公式，格式，改一下</a:t>
            </a:r>
            <a:r>
              <a:rPr lang="en-US" altLang="zh-CN" dirty="0"/>
              <a:t>latex</a:t>
            </a:r>
            <a:r>
              <a:rPr lang="zh-CN" altLang="en-US" dirty="0"/>
              <a:t>格式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开发需求和趋势思考在深入一些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表格中，结构性表达（按条，下结论式的短语）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93751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FkYWQzYThhZTUwOTllOWY2NjM4OTNhZmIyMWEzZG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67*177"/>
  <p:tag name="TABLE_ENDDRAG_RECT" val="461*106*467*17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68*193"/>
  <p:tag name="TABLE_ENDDRAG_RECT" val="461*317*468*19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6*235"/>
  <p:tag name="TABLE_ENDDRAG_RECT" val="481*109*416*23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6*123"/>
  <p:tag name="TABLE_ENDDRAG_RECT" val="481*387*416*123"/>
</p:tagLst>
</file>

<file path=ppt/theme/theme1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fidpmvyv">
      <a:majorFont>
        <a:latin typeface="Huawei Sans"/>
        <a:ea typeface="微软雅黑"/>
        <a:cs typeface=""/>
      </a:majorFont>
      <a:minorFont>
        <a:latin typeface="Huawei Sans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8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flat" cmpd="sng" algn="ctr">
          <a:solidFill>
            <a:sysClr val="windowText" lastClr="000000"/>
          </a:solidFill>
          <a:prstDash val="solid"/>
        </a:ln>
      </a:spPr>
      <a:bodyPr rtlCol="0" anchor="ctr"/>
      <a:lstStyle>
        <a:defPPr algn="ctr" defTabSz="1219200">
          <a:defRPr sz="1100" b="1" kern="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  <a:prstDash val="dash"/>
        </a:ln>
      </a:spPr>
      <a:bodyPr wrap="square" lIns="36000" tIns="36000" rIns="36000" bIns="36000" rtlCol="0">
        <a:noAutofit/>
      </a:bodyPr>
      <a:lstStyle>
        <a:defPPr algn="l">
          <a:defRPr kumimoji="1" sz="1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8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9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9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ejifg51g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le0gjcjy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6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6350">
          <a:solidFill>
            <a:schemeClr val="bg2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l">
          <a:defRPr sz="10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65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48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sz="12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5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le0gjcjy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le0gjcjy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21_章节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4472</Words>
  <Application>Microsoft Office PowerPoint</Application>
  <PresentationFormat>自定义</PresentationFormat>
  <Paragraphs>507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22</vt:i4>
      </vt:variant>
      <vt:variant>
        <vt:lpstr>幻灯片标题</vt:lpstr>
      </vt:variant>
      <vt:variant>
        <vt:i4>10</vt:i4>
      </vt:variant>
    </vt:vector>
  </HeadingPairs>
  <TitlesOfParts>
    <vt:vector size="40" baseType="lpstr">
      <vt:lpstr>.AppleSystemUIFont</vt:lpstr>
      <vt:lpstr>-apple-system</vt:lpstr>
      <vt:lpstr>FrutigerNext LT Regular</vt:lpstr>
      <vt:lpstr>MiSans</vt:lpstr>
      <vt:lpstr>微软雅黑</vt:lpstr>
      <vt:lpstr>Arial</vt:lpstr>
      <vt:lpstr>Calibri</vt:lpstr>
      <vt:lpstr>Wingdings</vt:lpstr>
      <vt:lpstr>章节页</vt:lpstr>
      <vt:lpstr>结束页</vt:lpstr>
      <vt:lpstr>2_Title Slide</vt:lpstr>
      <vt:lpstr>18_章节页</vt:lpstr>
      <vt:lpstr>8_Chart page</vt:lpstr>
      <vt:lpstr>49_章节页</vt:lpstr>
      <vt:lpstr>19_章节页</vt:lpstr>
      <vt:lpstr>43_章节页</vt:lpstr>
      <vt:lpstr>Chart page</vt:lpstr>
      <vt:lpstr>14_章节页</vt:lpstr>
      <vt:lpstr>64_章节页</vt:lpstr>
      <vt:lpstr>65_章节页</vt:lpstr>
      <vt:lpstr>48_章节页</vt:lpstr>
      <vt:lpstr>4_Chart page</vt:lpstr>
      <vt:lpstr>1_章节页</vt:lpstr>
      <vt:lpstr>2_章节页</vt:lpstr>
      <vt:lpstr>15_章节页</vt:lpstr>
      <vt:lpstr>16_章节页</vt:lpstr>
      <vt:lpstr>3_章节页</vt:lpstr>
      <vt:lpstr>21_章节页</vt:lpstr>
      <vt:lpstr>PPTD</vt:lpstr>
      <vt:lpstr>4_章节页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Minimax模型洞察</dc:title>
  <dc:creator>lijun (DH)</dc:creator>
  <cp:lastModifiedBy>雨周 童</cp:lastModifiedBy>
  <cp:revision>73</cp:revision>
  <dcterms:created xsi:type="dcterms:W3CDTF">2026-10-11T04:30:13Z</dcterms:created>
  <dcterms:modified xsi:type="dcterms:W3CDTF">2026-10-12T23:10:12Z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(3)VXXKR1BJTvsxJMfSzaGvZ9TWd3dGGu5HJxwT2Qbi2iDifN3X2X9mt6jwnmwbxhVep9YVax8o
x3ZNZOPxo1hMqtnoz3FnvtRfvyA41mJtI7mJbGUSs/Pe4ckhFn60wIIhOI8pW22vz+GWC8yd
o8w59dqWAuIK2yJ7l28Z2/oUshWIpaOqSKkHAroBiiPOtgvVlAYYZEiFq36zWGSjLTSoAjHG
WSQjYiEyz3UMVx3BPg</vt:lpwstr>
  </property>
  <property fmtid="{D5CDD505-2E9C-101B-9397-08002B2CF9AE}" pid="3" name="_2015_ms_pID_7253431">
    <vt:lpwstr>CIH8RxNjWjQkNEXqSqgn9AbYrVXQgnsSzRv1/DftYsOiPPocIvifux
5yytRZYh9yc8LkZnwkn6I/HLR0qKyX2Ry+IlalI8Mz4zvTYRAzsfGk7038GvuBSGliObiP2Y
PBm0D+vF1ogDJCMXCIOaPxTsFd6pLBs1vo3l6Juv7jqVoDg1kM2ewoMsKoJwaiY0b/2Wpt0D
mlA+dDj2se/NlH5Ag4/e3CMn0NDouwDaN//X</vt:lpwstr>
  </property>
  <property fmtid="{D5CDD505-2E9C-101B-9397-08002B2CF9AE}" pid="4" name="_2015_ms_pID_7253432">
    <vt:lpwstr>Hkg2XTWV636RXWEli0k6I/E=</vt:lpwstr>
  </property>
  <property fmtid="{D5CDD505-2E9C-101B-9397-08002B2CF9AE}" pid="5" name="ICV">
    <vt:lpwstr>5499D3B76E2137422B00CA6A2B27C041_43</vt:lpwstr>
  </property>
  <property fmtid="{D5CDD505-2E9C-101B-9397-08002B2CF9AE}" pid="6" name="KSOProductBuildVer">
    <vt:lpwstr>2052-12.1.28496.28496</vt:lpwstr>
  </property>
  <property fmtid="{D5CDD505-2E9C-101B-9397-08002B2CF9AE}" pid="7" name="_readonly">
    <vt:lpwstr/>
  </property>
  <property fmtid="{D5CDD505-2E9C-101B-9397-08002B2CF9AE}" pid="8" name="_change">
    <vt:lpwstr/>
  </property>
  <property fmtid="{D5CDD505-2E9C-101B-9397-08002B2CF9AE}" pid="9" name="_full-control">
    <vt:lpwstr/>
  </property>
  <property fmtid="{D5CDD505-2E9C-101B-9397-08002B2CF9AE}" pid="10" name="sflag">
    <vt:lpwstr>1742387002</vt:lpwstr>
  </property>
</Properties>
</file>