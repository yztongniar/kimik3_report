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10.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3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slideLayouts/slideLayout36.xml" ContentType="application/vnd.openxmlformats-officedocument.presentationml.slideLayout+xml"/>
  <Override PartName="/ppt/theme/theme1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1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15.xml" ContentType="application/vnd.openxmlformats-officedocument.theme+xml"/>
  <Override PartName="/ppt/slideLayouts/slideLayout46.xml" ContentType="application/vnd.openxmlformats-officedocument.presentationml.slideLayout+xml"/>
  <Override PartName="/ppt/theme/theme16.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17.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8.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19.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20.xml" ContentType="application/vnd.openxmlformats-officedocument.theme+xml"/>
  <Override PartName="/ppt/slideLayouts/slideLayout80.xml" ContentType="application/vnd.openxmlformats-officedocument.presentationml.slideLayout+xml"/>
  <Override PartName="/ppt/theme/theme21.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22.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3.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notesSlides/notesSlide1.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2.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 id="2147483654" r:id="rId3"/>
    <p:sldMasterId id="2147483657" r:id="rId4"/>
    <p:sldMasterId id="2147483663" r:id="rId5"/>
    <p:sldMasterId id="2147483664" r:id="rId6"/>
    <p:sldMasterId id="2147483665" r:id="rId7"/>
    <p:sldMasterId id="2147483672" r:id="rId8"/>
    <p:sldMasterId id="2147483675" r:id="rId9"/>
    <p:sldMasterId id="2147483676" r:id="rId10"/>
    <p:sldMasterId id="2147483692" r:id="rId11"/>
    <p:sldMasterId id="2147483694" r:id="rId12"/>
    <p:sldMasterId id="2147483695" r:id="rId13"/>
    <p:sldMasterId id="2147483697" r:id="rId14"/>
    <p:sldMasterId id="2147483702" r:id="rId15"/>
    <p:sldMasterId id="2147483708" r:id="rId16"/>
    <p:sldMasterId id="2147483710" r:id="rId17"/>
    <p:sldMasterId id="2147483726" r:id="rId18"/>
    <p:sldMasterId id="2147483742" r:id="rId19"/>
    <p:sldMasterId id="2147483743" r:id="rId20"/>
    <p:sldMasterId id="2147483747" r:id="rId21"/>
    <p:sldMasterId id="2147483749" r:id="rId22"/>
    <p:sldMasterId id="2147483752" r:id="rId23"/>
    <p:sldMasterId id="2147483755" r:id="rId24"/>
  </p:sldMasterIdLst>
  <p:notesMasterIdLst>
    <p:notesMasterId r:id="rId50"/>
  </p:notesMasterIdLst>
  <p:handoutMasterIdLst>
    <p:handoutMasterId r:id="rId51"/>
  </p:handoutMasterIdLst>
  <p:sldIdLst>
    <p:sldId id="16776087" r:id="rId25"/>
    <p:sldId id="16777053" r:id="rId26"/>
    <p:sldId id="16777054" r:id="rId27"/>
    <p:sldId id="256" r:id="rId28"/>
    <p:sldId id="257" r:id="rId29"/>
    <p:sldId id="258" r:id="rId30"/>
    <p:sldId id="259" r:id="rId31"/>
    <p:sldId id="260" r:id="rId32"/>
    <p:sldId id="261" r:id="rId33"/>
    <p:sldId id="16777055" r:id="rId34"/>
    <p:sldId id="16777056" r:id="rId35"/>
    <p:sldId id="16777057" r:id="rId36"/>
    <p:sldId id="16777058" r:id="rId37"/>
    <p:sldId id="16777059" r:id="rId38"/>
    <p:sldId id="285" r:id="rId39"/>
    <p:sldId id="20001" r:id="rId40"/>
    <p:sldId id="20002" r:id="rId41"/>
    <p:sldId id="16777060" r:id="rId42"/>
    <p:sldId id="16777061" r:id="rId43"/>
    <p:sldId id="16777062" r:id="rId44"/>
    <p:sldId id="16777063" r:id="rId45"/>
    <p:sldId id="16777064" r:id="rId46"/>
    <p:sldId id="16777065" r:id="rId47"/>
    <p:sldId id="262" r:id="rId48"/>
    <p:sldId id="16777066" r:id="rId49"/>
  </p:sldIdLst>
  <p:sldSz cx="12196763" cy="6858000"/>
  <p:notesSz cx="6858000" cy="9144000"/>
  <p:custDataLst>
    <p:tags r:id="rId5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D1A"/>
    <a:srgbClr val="C7C7C7"/>
    <a:srgbClr val="DDDDDD"/>
    <a:srgbClr val="000000"/>
    <a:srgbClr val="B5B5B5"/>
    <a:srgbClr val="0000FF"/>
    <a:srgbClr val="FFFFFF"/>
    <a:srgbClr val="E9002F"/>
    <a:srgbClr val="595757"/>
    <a:srgbClr val="2218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9" autoAdjust="0"/>
    <p:restoredTop sz="84596" autoAdjust="0"/>
  </p:normalViewPr>
  <p:slideViewPr>
    <p:cSldViewPr snapToGrid="0" snapToObjects="1">
      <p:cViewPr varScale="1">
        <p:scale>
          <a:sx n="136" d="100"/>
          <a:sy n="136" d="100"/>
        </p:scale>
        <p:origin x="1236" y="12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6" d="100"/>
          <a:sy n="96" d="100"/>
        </p:scale>
        <p:origin x="3104"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2.xml"/><Relationship Id="rId39" Type="http://schemas.openxmlformats.org/officeDocument/2006/relationships/slide" Target="slides/slide15.xml"/><Relationship Id="rId21" Type="http://schemas.openxmlformats.org/officeDocument/2006/relationships/slideMaster" Target="slideMasters/slideMaster21.xml"/><Relationship Id="rId34" Type="http://schemas.openxmlformats.org/officeDocument/2006/relationships/slide" Target="slides/slide10.xml"/><Relationship Id="rId42" Type="http://schemas.openxmlformats.org/officeDocument/2006/relationships/slide" Target="slides/slide18.xml"/><Relationship Id="rId47" Type="http://schemas.openxmlformats.org/officeDocument/2006/relationships/slide" Target="slides/slide2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5.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8.xml"/><Relationship Id="rId37" Type="http://schemas.openxmlformats.org/officeDocument/2006/relationships/slide" Target="slides/slide13.xml"/><Relationship Id="rId40" Type="http://schemas.openxmlformats.org/officeDocument/2006/relationships/slide" Target="slides/slide16.xml"/><Relationship Id="rId45" Type="http://schemas.openxmlformats.org/officeDocument/2006/relationships/slide" Target="slides/slide21.xml"/><Relationship Id="rId53"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7.xml"/><Relationship Id="rId44" Type="http://schemas.openxmlformats.org/officeDocument/2006/relationships/slide" Target="slides/slide20.xml"/><Relationship Id="rId52" Type="http://schemas.openxmlformats.org/officeDocument/2006/relationships/tags" Target="tags/tag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3.xml"/><Relationship Id="rId30" Type="http://schemas.openxmlformats.org/officeDocument/2006/relationships/slide" Target="slides/slide6.xml"/><Relationship Id="rId35" Type="http://schemas.openxmlformats.org/officeDocument/2006/relationships/slide" Target="slides/slide11.xml"/><Relationship Id="rId43" Type="http://schemas.openxmlformats.org/officeDocument/2006/relationships/slide" Target="slides/slide19.xml"/><Relationship Id="rId48" Type="http://schemas.openxmlformats.org/officeDocument/2006/relationships/slide" Target="slides/slide24.xml"/><Relationship Id="rId56"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1.xml"/><Relationship Id="rId33" Type="http://schemas.openxmlformats.org/officeDocument/2006/relationships/slide" Target="slides/slide9.xml"/><Relationship Id="rId38" Type="http://schemas.openxmlformats.org/officeDocument/2006/relationships/slide" Target="slides/slide14.xml"/><Relationship Id="rId46" Type="http://schemas.openxmlformats.org/officeDocument/2006/relationships/slide" Target="slides/slide22.xml"/><Relationship Id="rId20" Type="http://schemas.openxmlformats.org/officeDocument/2006/relationships/slideMaster" Target="slideMasters/slideMaster20.xml"/><Relationship Id="rId41" Type="http://schemas.openxmlformats.org/officeDocument/2006/relationships/slide" Target="slides/slide17.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 Target="slides/slide4.xml"/><Relationship Id="rId36" Type="http://schemas.openxmlformats.org/officeDocument/2006/relationships/slide" Target="slides/slide12.xml"/><Relationship Id="rId4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CF71B8-DF2A-2E41-BE66-2E18A767DA8A}" type="datetimeFigureOut">
              <a:rPr lang="en-US" smtClean="0"/>
              <a:t>10/12/2026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D60A27-BF12-6744-9E93-932A0E34D8BB}"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7326F3-4732-B74B-9C70-D0992466E499}"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ts val="3565"/>
              </a:lnSpc>
            </a:pPr>
            <a:endParaRPr lang="en-US" altLang="zh-CN" sz="1700" dirty="0">
              <a:highlight>
                <a:srgbClr val="FFFF00"/>
              </a:highlight>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pPr marL="0" marR="0" lvl="0" indent="0" algn="r" defTabSz="948055"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07326F3-4732-B74B-9C70-D0992466E49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图示按 README 的 draw_kda_arch.py 与技术报告 Figure 2/§2.1.1 校准；参数以开源 config 为准。</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Mi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图示按技术报告 §2.1.2/§2.5 校准；vLLM-Ascend Kimi-K3 指南仅将 A3 W4A8 作为当前部署基线，A5为亲和性评估。</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Mi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图示按技术报告 §5.1 与 vllm-ascend csrc/attention/chunk_kda_fwd/README.md 校准；CUBE/Vector 划分是 NPU 实现假设，需实测确认。</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Mi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图示按技术报告 §5.4.2、vLLM use_kda_recoverssm 与 Kimi-K3 DSpark 部署说明校准。</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Mi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图示按技术报告 §2.2/§5.4.2 与 vllm-ascend attn_res_fwd README 校准；A3 支持状态需要专项 benchmark。</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Mi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图示按技术报告 §2.3/§5.4.2 与 Kimi-K3 A3 W4A8 指南校准；1.49TB 是权重存储需求，不等于运行时 HBM。</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Mi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https://arxiv.org/abs/2607.24653v2</a:t>
            </a:r>
          </a:p>
          <a:p>
            <a:r>
              <a:t>https://huggingface.co/moonshotai/Kimi-K3/blob/main/config.json</a:t>
            </a:r>
          </a:p>
          <a:p>
            <a:r>
              <a:t>https://huggingface.co/moonshotai/Kimi-K3/blob/main/modeling_kimi_linear.py</a:t>
            </a:r>
          </a:p>
          <a:p>
            <a:r>
              <a:t>https://huggingface.co/moonshotai/Kimi-K2.6</a:t>
            </a:r>
          </a:p>
          <a:p>
            <a:r>
              <a:t>https://huggingface.co/moonshotai/Kimi-K2.6/blob/main/config.json</a:t>
            </a:r>
          </a:p>
          <a:p>
            <a:r>
              <a:t>https://huggingface.co/moonshotai/Kimi-K2.6/blob/main/modeling_deepseek.py</a:t>
            </a:r>
          </a:p>
          <a:p>
            <a:r>
              <a:t>https://github.com/MoonshotAI/MoonEP</a:t>
            </a:r>
          </a:p>
          <a:p>
            <a:r>
              <a:t>https://arxiv.org/abs/2601.18089</a:t>
            </a:r>
          </a:p>
          <a:p>
            <a:r>
              <a:t>https://research.nvidia.com/labs/nemotron/LatentMoE/</a:t>
            </a:r>
          </a:p>
          <a:p>
            <a:r>
              <a:t>https://www.hiascend.com/doc_center/source/en/CANNCommunityEdition/900/programug/Ascendcopdevg/atlas_ascendc_10_0008.html</a:t>
            </a:r>
          </a:p>
          <a:p>
            <a:endParaRPr/>
          </a:p>
          <a:p>
            <a:r>
              <a:t>Evidence and audit, 2026-09-30. Original visual is K3 report Figure2 StableLatentMoE subfigure, cropped only, content unchanged. K3 §2.3/Eq11 and official implementation: x has width d7168; router/shared experts read full-width x; route dispatch happens after W-down, with latent width l3584; expert output/combine remains latent until RMSNorm and W-up. K3 config d7168,l3584,f3072,n896,k16,Ns2. K2.6 official model card and config independently confirm d7168,f2048,n384,k8,Ns1 and SwiGLU; official model implementation contains full-width routed experts and no latent projections. Official K2.6 card describes same architecture as K2.5; its1T/32B reported totals are rounded. Do not relabel K3 Table1's K2 exact1.04T/32.6B as K2.6. This revision omits that aggregate total comparison.</a:t>
            </a:r>
          </a:p>
          <a:p>
            <a:endParaRPr/>
          </a:p>
          <a:p>
            <a:r>
              <a:t>Forward dense matmul only per MoE layer per token, FMA=2, excludes activation, normalization, sorting, reduction and communication: K3 F=2[3*k*l*f+3*Ns*d*f+2*d*l+d*n]=1,436,811,264. Routed1,056,964,608; shared264,241,152; latent down/up102,760,448; router12,845,056. K2.6 F=2[3*8*7168*2048+3*1*7168*2048+7168*384]=798,228,480. Ratio1.8, not fullmodel compute or throughput. The counterfactual full-width K3 uses same k16,f3072,n896,Ns2 but l=d and no latent projections:2,391,015,424; reduction39.9079%.</a:t>
            </a:r>
          </a:p>
          <a:p>
            <a:endParaRPr/>
          </a:p>
          <a:p>
            <a:r>
              <a:t>Per routed expert matrices3*l*f=33,030,144 parameters forK3; BF16 equivalent66,060,288B=63MiB. K2.6:3*d*2048=44,040,192 parameters;88,080,384B=84MiB. Per layer all routed experts: K3 n*3*l*f=29,595,009,024 parameters -&gt;55.125GiB BF16 equivalent; K2.6=16,911,433,728 parameters -&gt;31.5GiB. This excludes shared experts, projections, router, activation, gradients, optimizer, and cache; it is a common BF16 normalization, not actual deployed memory. Official checkpoints use quantization (K2.6 nativeINT4; K3MXFP4 expert weights), so actual deployment footprint differs.</a:t>
            </a:r>
          </a:p>
          <a:p>
            <a:endParaRPr/>
          </a:p>
          <a:p>
            <a:r>
              <a:t>Logical activation payload deliberately counts each selected expert route once per dispatch and once per combine, BF16=2B/element. K3=2*16*3584*2=229376B=224KiB; K2.6=2*8*7168*2=229376B=224KiB. Samek16 full-width7168 counterfactual448KiB -&gt;50% lower. This is not measured link/wire bytes; exclude local routes, rank-level token deduplication or aggregation, routing metadata, padding, protocol/hops, gradient/parameter migration and latent projection collectives. Width in actual latent dispatch is3584, not hidden_size7168. Actual destination rank count depends on expert placement, EP degree and selected experts; top-k2x does not imply rank fanout2x.</a:t>
            </a:r>
          </a:p>
          <a:p>
            <a:endParaRPr/>
          </a:p>
          <a:p>
            <a:r>
              <a:t>K3 report §5.4.2 (pp24-25) directly states expert pool and active count raise scheduling/coordination overhead. Inference optimizations: fuse latent down-projection with router GEMM; shard latent weights; fuse output all-gather into GEMM epilogue; overlap communication with shared expert computation. §5.2.1 (pp19-20) trainingMoonEP adds online redundant-expert planning/prefetch and gradient return, zero-copy direct placement and static shapes. These add requirements beyond logical token payload. Ascend implications on Cube/Vector/GM and interconnect are engineering recommendations, not Ascend benchmark claims; multimem GPU implementation is not claimed to directly port. Source Figure2 attribution retained here per request to remove visible references.</a:t>
            </a:r>
          </a:p>
          <a:p>
            <a:r>
              <a:t>The logical payload estimate is 224 KiB per token per MoE layer for both models under the common BF16 per-route dispatch+combine convention, not measured wire traffic. The memory comparison is the routed expert pool per MoE layer, normalized to BF16, not total model memory or actual quantized deployment memory.
2026-10-08 clarification: K2.6 expert dispatch/return vector dimension is 7168; K3 is 3584, so each per-route vector halves under common BF16. Top-k grows from 8 to 16, doubling expert assignments. Thus expert-expanded dispatch plus combine payload is 2 * k * width * 2 bytes = 224 KiB per token per MoE layer for both. The headline describes the engineering consequence and capacity tradeoff, not a proven design motivation. It is not an invariant of measured physical network traffic; actual bytes depend on expert placement, local routes, rank deduplication/aggregation, routing metadata, padding, protocol and topology, and excludes latent projection collectives. Existing report and implementation sources above support the dimensions and route counts.
2026-10-08 independently checked calculation clarification: K3 routed experts operate with input/output width 3584 and SwiGLU branch intermediate width 3072; shared branch uses input/output width 7168 and total intermediate width 6144 (two equivalent experts of width 3072). Router reads 7168 and produces 896 scores. Latent down/up projections apply once per token. K2.6 routed width 7168, intermediate 2048, k=8; shared total intermediate 2048; router 7168 to 384. Communication factor k*l is unchanged, but routed GEMM includes f, which grows 2048 to 3072, so routed cost rises 1.5x. Shared cost grows (2/1)*(3072/2048)=3x. FMA=2 forward matrix multiply counts per token per MoE layer: K2.6 routed 704,643,072 + shared 88,080,384 + router 5,505,024 = 798,228,480 FLOPs. K3 routed 1,056,964,608 + shared 264,241,152 + latent down/up 102,760,448 + router 12,845,056 = 1,436,811,264 FLOPs. Ratio exactly 1.8. These counts exclude activation, normalization, sorting, reduction and communication, are not whole-model FLOPs, and do not imply a latency ratio. Sources are the official config and modeling files already linked above.
The table row labeled 路由专家权重（全部专家，BF16/层） is the per-layer storage equivalent for the complete routed expert weight pool: all 384 K2.6 routed experts or all 896 K3 routed experts, not merely the 8 or 16 experts active for one token. It excludes shared expert, router and latent projection weights. 31.5 and 55.125 GiB are BF16-normalized comparisons, not actual quantized deployment HBM use; precision, sharding, duplication and runtime state change deployed memory.
Causal diagram source verified directly 2026-10-08: https://arxiv.org/html/2607.24653v2#S5.SS4.SSS2 (Stable LatentMoE subsection). The paper attributes higher scheduling/coordination overhead to growth in total and active experts. Its inference optimizations combine latent down-projection and router in one GEMM, shard latent matrices across ranks and integrate output all-gather into the GEMM epilogue with multimem stores, then overlap that communication with shared-expert computation. The diagram combines these published mechanisms with the separately calculated workload comparison. It does not assert network-rank fanout doubles with Top-k, that measured traffic is unchanged, that all expert computation streams with token dispatch, or any measured speedup. Actual communication depends on placement, local routes, deduplication and topology. Ascend implementation remains an engineering adaptation, not a claimed direct port of multimem GPU instructions.
2026-10-08 visible numerical scope clarification: All displayed FLOP numbers refer to theoretical forward dense matrix multiplications per token per MoE layer with one multiply-add counted as two FLOPs, not whole-model work, activation functions or latency. Weight and communication scopes are labeled beside their values.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1D1D1A"/>
              </a:solidFill>
              <a:effectLst/>
              <a:uLnTx/>
              <a:uFillTx/>
              <a:latin typeface="Arial"/>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r>
              <a:t>Sources: Kimi K3 paper https://arxiv.org/html/2607.24653v2 section 2.3, equations 11–14 and Appendix B. Narrative reference only: HE Xin, https://marsggbo.github.io/blog/2026/20260902-kimi-k3-attnres-moe/ sections 5 and 8. The paper supports the extension of specialization by pool/TopK expansion and the nearly four-matrix routed chain with internal activation risks at scale. Half-width expert cost comparison holds expert count, TopK and intermediate width fixed relative to a full-width counterfactual. Expert weights, expert GEMM and expert-expanded logical dispatch/return bytes each scale with routed width; total-layer costs include router/shared/projection overhead and are not claimed halved. This is not a K3-versus-K2 cost decrease claim. SiTU is within each expert before its output Linear; coordinate product capped by beta1*beta2 before that Linear, not a bound on full expert/model output. RMSNorm is after weighted expert aggregation and before latent up. Numerical instability is not claimed inevitable simply from half-width. QB concerns expert load distribution, not numerical activation stability or physical-rank perfect balance. Bias update takes effect next training step; inference bias fixed. No guarantee of one-step exact balance or low-precision stability.</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1D1D1A"/>
              </a:solidFill>
              <a:effectLst/>
              <a:uLnTx/>
              <a:uFillTx/>
              <a:latin typeface="Arial"/>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https://arxiv.org/abs/2607.24653v2</a:t>
            </a:r>
          </a:p>
          <a:p>
            <a:r>
              <a:t>https://arxiv.org/html/2607.24653v2#S2.SS3.SSS2</a:t>
            </a:r>
          </a:p>
          <a:p>
            <a:r>
              <a:t>https://huggingface.co/moonshotai/Kimi-K3/blob/main/modeling_kimi_linear.py</a:t>
            </a:r>
          </a:p>
          <a:p>
            <a:r>
              <a:t>https://arxiv.org/abs/2002.05202</a:t>
            </a:r>
          </a:p>
          <a:p>
            <a:r>
              <a:t>Paper mechanism: K3 section2.3 describes a routed path containing latent down-projection, gated expert feed-forward matrices and latent up-projection, forming a chain of nearly four consecutive matrix multiplications. The report associates this ill-conditioned structure at its large model scale with internal routed-branch activation explosion. Section2.3.2 observes that both multiplicative factors in SwiGLU are unbounded, so coincident large coordinates can generate activation outliers and raise low-precision overflow risk.</a:t>
            </a:r>
          </a:p>
          <a:p>
            <a:r>
              <a:t>K3 Eq12: define g=W_g x and u=W_u x. SwiGLU(x)=[g elementwise-multiplied by Sigmoid(g)] elementwise-multiplied by u. SiTU-GLU(x)=[beta1*tanh(g/beta1) elementwise-multiplied by Sigmoid(g)] elementwise-multiplied by [beta2*tanh(u/beta2)], with beta1=4 and beta2=25. Gate magnitude is bounded by4 and up magnitude by25, so each activation-product coordinate has absolute value at most100 BEFORE the expert output Linear. This is not a bound on the entire expert output or full MoE layer.</a:t>
            </a:r>
          </a:p>
          <a:p>
            <a:r>
              <a:t>AppendixB: beta*tanh(v/beta) approximately equals v near zero, retaining the local SwiGLU response. Smooth capping differs from hard clipping; the paper qualitatively reports better training behavior than hard clamping. This slide does not claim gradients never vanish or present an isolated numeric SiTU ablation. It does not attribute RMSNorm-specific downstream gains, full-model results or overall system throughput gains to SiTU.</a:t>
            </a:r>
          </a:p>
          <a:p>
            <a:r>
              <a:t>Complementary locations: SiTU acts inside each expert, before its output Linear, controlling the multiplicative activation. The routed expert results then combine into u. RMSNorm acts after that aggregation and before the latent up-projection, controlling the aggregate scale. These mechanisms address different locations in the same routed branch. The displayed pipeline includes the expert output Linear to avoid suggesting that the SiTU product is directly aggregated.</a:t>
            </a:r>
          </a:p>
          <a:p>
            <a:r>
              <a:t>The curve is the original paper Figure4 scalar slice g=u=x, proportionally scaled only. Editable formulas preserve both gate and up factors. The curve caption and mathematical bound apply before the expert output projection.</a:t>
            </a:r>
          </a:p>
          <a:p>
            <a:r>
              <a:t>Ascend adaptation scope: adapt the corresponding SiTU-GLU operator and replace the original SwiGLU activation computation. This describes the requested adaptation task, not a claim that an implementation or measurement has been completed. SiTU controls expert-internal Gate-times-Up amplification before the expert output Linear. RMSNorm normalizes the aggregate routed-expert output before the latent up-projection. The added gray explanation distinguishes these locations without changing the model equations. The bound explanation uses processed factors: Gate=4*tanh(g/4)*sigmoid(g) and Up=25*tanh(u/25), not the unprocessed projections g and u. Since abs(tanh)&lt;=1 and 0&lt;sigmoid&lt;1, the processed magnitudes are bounded by4 and25, so their coordinatewise product has magnitude at most100. The product bound is before the expert output Linear, not after that Linear or after latent up-projection.</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1D1D1A"/>
              </a:solidFill>
              <a:effectLst/>
              <a:uLnTx/>
              <a:uFillTx/>
              <a:latin typeface="Arial"/>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Kimi K3 v2 Figure5, section2.3.3 Eq13–14 and AppendixD: https://arxiv.org/html/2607.24653v2#S2.F5 ; https://arxiv.org/html/2607.24653v2#S2.SS3.SSS3 ; https://arxiv.org/pdf/2607.24653v2#page=8 ; official inference implementation https://huggingface.co/moonshotai/Kimi-K3/raw/main/modeling_kimi_linear.py .</a:t>
            </a:r>
          </a:p>
          <a:p>
            <a:r>
              <a:t>The full original Figure5 panels(a),(b),(c) are displayed. The long paper caption is omitted; the labels and actual diagram are preserved, without redrawing or content changes. The figure is an illustrative m=8 tokens, n=4 experts, Top-k=1 example. Original loads(4,3,1,0) become(2,2,2,2) in the illustrated adjusted assignment. This is not the actual K3 expert configuration and not evidence of exact one-step balance for arbitrary future training batches.</a:t>
            </a:r>
          </a:p>
          <a:p>
            <a:r>
              <a:t>In panel(b), gray bars are currently biased margins s_ij+b_j(t)-alpha_i(t). Each expert column has a red dashed adjustment line b_j(t)-bhat_j(t+1), at the(q+1)-th largest margin in this integer-target/no-tie example. Red stars are the token-wise choices after subtracting those column adjustments; panel(c) shows those choices as routing edges. Real training applies the updated mean-centered bias only in the NEXT training step, never retroactively routing the current batch with a bias derived from itself.</a:t>
            </a:r>
          </a:p>
          <a:p>
            <a:r>
              <a:t>Training-side Ascend implication is adaptation work, not an implementation or performance claim. The paper estimates global quantiles using per-expert histogram counts accumulated over microbatches, combines counts with one integer AllReduce at the step boundary, reconstructs and centers the biases, and applies them in the next step. AppendixD uses the equivalent required-bias variable alpha-score for histogram estimation. No claim is made that the public inference code implements this training update.</a:t>
            </a:r>
          </a:p>
          <a:p>
            <a:r>
              <a:t>Inference code verified read-only: forward first computes logits through the router projection, then scores through the configured sigmoid (the paper uses sigmoid). Selection uses scores_for_choice=scores+e_score_correction_bias; torch.topk yields selected expert indices. Mixing weights are gathered from scores WITHOUT the bias, followed by configured renormalization and routed scaling. Thus the visible score refers to the post-sigmoid routing score, not raw projection logits. The final bias is fixed at inference; no online quantile statistics or training bias update is introduced.</a:t>
            </a:r>
          </a:p>
          <a:p>
            <a:r>
              <a:t>The old right-side parameter and memory-capacity table and its numeric estimates were removed by request. The remaining small caption establishes the toy scenario and next-step causality. Slides1,2 and4 are unchanged from version13.
2026-10-09 insight revision: QB is a specific paper-backed change from fixed-step load-feedback bias updates toward bias estimates derived from score/margin distributions and their target quantiles. The suggestion that later routing designs could explore distribution-driven adaptive calibration is explicitly a trend inference and research direction, not an empirically established universal model trend. Ascend training research handles include distribution statistics, quantile-threshold estimation and cross-device count reduction; statistics/update fusion and synchronization overlap are proposed implementation investigations, not measured improvements. Any overlap must respect the dependency on completed global statistics and may only cover independent work. No hardware speedup or broader expert-placement/load-balancing claim is made. Inference remains bounded by fixed bias and no online quantile estimation. The expanded gray caption explains the original Figure5 A/B/C toy process and red changed-routing edges while retaining next-step causality and the absence of guaranteed exact one-step balance.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1D1D1A"/>
              </a:solidFill>
              <a:effectLst/>
              <a:uLnTx/>
              <a:uFillTx/>
              <a:latin typeface="Arial"/>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a:p>
            <a:endParaRPr dirty="0"/>
          </a:p>
          <a:p>
            <a:endParaRPr dirty="0"/>
          </a:p>
          <a:p>
            <a:endParaRPr dirty="0"/>
          </a:p>
          <a:p>
            <a:endParaRPr dirty="0"/>
          </a:p>
          <a:p>
            <a:endParaRPr dirty="0"/>
          </a:p>
          <a:p>
            <a:r>
              <a:rPr dirty="0"/>
              <a:t>Source: Kimi K3 paper https://arxiv.org/html/2607.24653v2 section 5.4.3, Figure 12. Fleet uses session affinity, primary/backup mapping and independent request-class budgets. Cold backup means it does not hold this session prefix, not that the cluster is idle or cannot serve other sessions. Trend analysis and Ascend layout proposals are engineering inferences: cache directories and state-aware routing interfaces; recovery prefill distribution and rate limits, recovery budgets and SLO protection; cost-aware admission based on </a:t>
            </a:r>
            <a:r>
              <a:rPr dirty="0" err="1"/>
              <a:t>uncached</a:t>
            </a:r>
            <a:r>
              <a:rPr dirty="0"/>
              <a:t> prefill and cache occupancy. These are research directions, not K3-published Ascend outcomes, measured speedups, established industry-wide trends or hardware requirements. Original Figure12 block sizes are paper illustration, not an Ascend recommendation. Removed former 400K-prefix/4K-increment cache-hit numerical scenario.</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1D1D1A"/>
              </a:solidFill>
              <a:effectLst/>
              <a:uLnTx/>
              <a:uFillTx/>
              <a:latin typeface="Arial"/>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dirty="0" err="1">
                <a:solidFill>
                  <a:schemeClr val="tx1"/>
                </a:solidFill>
                <a:effectLst/>
                <a:latin typeface="+mn-lt"/>
                <a:ea typeface="+mn-ea"/>
                <a:cs typeface="+mn-cs"/>
              </a:rPr>
              <a:t>Hellaswag</a:t>
            </a:r>
            <a:r>
              <a:rPr lang="zh-CN" altLang="en-US" sz="1600" b="0" i="0" kern="1200" dirty="0">
                <a:solidFill>
                  <a:schemeClr val="tx1"/>
                </a:solidFill>
                <a:effectLst/>
                <a:latin typeface="+mn-lt"/>
                <a:ea typeface="+mn-ea"/>
                <a:cs typeface="+mn-cs"/>
              </a:rPr>
              <a:t>常识推理（句子续写四选一）</a:t>
            </a:r>
            <a:endParaRPr lang="en-US" altLang="zh-CN" sz="16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dirty="0">
                <a:solidFill>
                  <a:schemeClr val="tx1"/>
                </a:solidFill>
                <a:effectLst/>
                <a:latin typeface="+mn-lt"/>
                <a:ea typeface="+mn-ea"/>
                <a:cs typeface="+mn-cs"/>
              </a:rPr>
              <a:t>MMLU</a:t>
            </a:r>
            <a:r>
              <a:rPr lang="zh-CN" altLang="en-US" sz="1600" b="0" i="0" kern="1200" dirty="0">
                <a:solidFill>
                  <a:schemeClr val="tx1"/>
                </a:solidFill>
                <a:effectLst/>
                <a:latin typeface="+mn-lt"/>
                <a:ea typeface="+mn-ea"/>
                <a:cs typeface="+mn-cs"/>
              </a:rPr>
              <a:t>英文多学科知识选择题</a:t>
            </a:r>
            <a:endParaRPr lang="en-US" altLang="zh-CN" sz="16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dirty="0">
                <a:solidFill>
                  <a:schemeClr val="tx1"/>
                </a:solidFill>
                <a:effectLst/>
                <a:latin typeface="+mn-lt"/>
                <a:ea typeface="+mn-ea"/>
                <a:cs typeface="+mn-cs"/>
              </a:rPr>
              <a:t>C-Eval</a:t>
            </a:r>
            <a:r>
              <a:rPr lang="zh-CN" altLang="en-US" sz="1600" b="0" i="0" kern="1200" dirty="0">
                <a:solidFill>
                  <a:schemeClr val="tx1"/>
                </a:solidFill>
                <a:effectLst/>
                <a:latin typeface="+mn-lt"/>
                <a:ea typeface="+mn-ea"/>
                <a:cs typeface="+mn-cs"/>
              </a:rPr>
              <a:t>中文多学科知识选择题</a:t>
            </a:r>
            <a:endParaRPr lang="en-US" altLang="zh-CN" sz="16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dirty="0">
                <a:solidFill>
                  <a:schemeClr val="tx1"/>
                </a:solidFill>
                <a:effectLst/>
                <a:latin typeface="+mn-lt"/>
                <a:ea typeface="+mn-ea"/>
                <a:cs typeface="+mn-cs"/>
              </a:rPr>
              <a:t>RACE</a:t>
            </a:r>
            <a:r>
              <a:rPr lang="zh-CN" altLang="en-US" sz="1600" b="0" i="0" kern="1200" dirty="0">
                <a:solidFill>
                  <a:schemeClr val="tx1"/>
                </a:solidFill>
                <a:effectLst/>
                <a:latin typeface="+mn-lt"/>
                <a:ea typeface="+mn-ea"/>
                <a:cs typeface="+mn-cs"/>
              </a:rPr>
              <a:t>英语阅读理解</a:t>
            </a:r>
            <a:endParaRPr lang="en-US" altLang="zh-CN" sz="16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dirty="0">
                <a:solidFill>
                  <a:schemeClr val="tx1"/>
                </a:solidFill>
                <a:effectLst/>
                <a:latin typeface="+mn-lt"/>
                <a:ea typeface="+mn-ea"/>
                <a:cs typeface="+mn-cs"/>
              </a:rPr>
              <a:t>BBH</a:t>
            </a:r>
            <a:r>
              <a:rPr lang="zh-CN" altLang="en-US" sz="1600" b="0" i="0" kern="1200" dirty="0">
                <a:solidFill>
                  <a:schemeClr val="tx1"/>
                </a:solidFill>
                <a:effectLst/>
                <a:latin typeface="+mn-lt"/>
                <a:ea typeface="+mn-ea"/>
                <a:cs typeface="+mn-cs"/>
              </a:rPr>
              <a:t>综合推理任务集（</a:t>
            </a:r>
            <a:r>
              <a:rPr lang="en-US" altLang="zh-CN" sz="1600" b="0" i="0" kern="1200" dirty="0">
                <a:solidFill>
                  <a:schemeClr val="tx1"/>
                </a:solidFill>
                <a:effectLst/>
                <a:latin typeface="+mn-lt"/>
                <a:ea typeface="+mn-ea"/>
                <a:cs typeface="+mn-cs"/>
              </a:rPr>
              <a:t>BIG-Bench Hard</a:t>
            </a:r>
            <a:r>
              <a:rPr lang="zh-CN" altLang="en-US" sz="1600" b="0" i="0" kern="1200" dirty="0">
                <a:solidFill>
                  <a:schemeClr val="tx1"/>
                </a:solidFill>
                <a:effectLst/>
                <a:latin typeface="+mn-lt"/>
                <a:ea typeface="+mn-ea"/>
                <a:cs typeface="+mn-cs"/>
              </a:rPr>
              <a:t>）</a:t>
            </a:r>
            <a:endParaRPr lang="en-US" altLang="zh-CN" sz="16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dirty="0">
                <a:solidFill>
                  <a:schemeClr val="tx1"/>
                </a:solidFill>
                <a:effectLst/>
                <a:latin typeface="+mn-lt"/>
                <a:ea typeface="+mn-ea"/>
                <a:cs typeface="+mn-cs"/>
              </a:rPr>
              <a:t>GSM8K</a:t>
            </a:r>
            <a:r>
              <a:rPr lang="zh-CN" altLang="en-US" sz="1600" b="0" i="0" kern="1200" dirty="0">
                <a:solidFill>
                  <a:schemeClr val="tx1"/>
                </a:solidFill>
                <a:effectLst/>
                <a:latin typeface="+mn-lt"/>
                <a:ea typeface="+mn-ea"/>
                <a:cs typeface="+mn-cs"/>
              </a:rPr>
              <a:t>小学数学应用题</a:t>
            </a:r>
            <a:endParaRPr lang="en-US" altLang="zh-CN" sz="1600" b="0" i="0" kern="1200" dirty="0">
              <a:solidFill>
                <a:schemeClr val="tx1"/>
              </a:solidFill>
              <a:effectLst/>
              <a:latin typeface="+mn-lt"/>
              <a:ea typeface="+mn-ea"/>
              <a:cs typeface="+mn-cs"/>
            </a:endParaRPr>
          </a:p>
          <a:p>
            <a:pPr marL="0" marR="0" lvl="0" indent="0" algn="l" defTabSz="1219200" rtl="0" eaLnBrk="1" fontAlgn="auto" latinLnBrk="0" hangingPunct="1">
              <a:lnSpc>
                <a:spcPct val="100000"/>
              </a:lnSpc>
              <a:spcBef>
                <a:spcPts val="0"/>
              </a:spcBef>
              <a:spcAft>
                <a:spcPts val="0"/>
              </a:spcAft>
              <a:buClrTx/>
              <a:buSzTx/>
              <a:buFontTx/>
              <a:buNone/>
              <a:defRPr/>
            </a:pPr>
            <a:r>
              <a:rPr lang="en-US" altLang="zh-CN" sz="1600" b="0" i="0" kern="1200" dirty="0" err="1">
                <a:solidFill>
                  <a:schemeClr val="tx1"/>
                </a:solidFill>
                <a:effectLst/>
                <a:latin typeface="+mn-lt"/>
                <a:ea typeface="+mn-ea"/>
                <a:cs typeface="+mn-cs"/>
              </a:rPr>
              <a:t>HumanEvalPython</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代码生成（</a:t>
            </a:r>
            <a:r>
              <a:rPr lang="en-US" altLang="zh-CN" sz="1600" b="0" i="0" kern="1200" dirty="0">
                <a:solidFill>
                  <a:schemeClr val="tx1"/>
                </a:solidFill>
                <a:effectLst/>
                <a:latin typeface="+mn-lt"/>
                <a:ea typeface="+mn-ea"/>
                <a:cs typeface="+mn-cs"/>
              </a:rPr>
              <a:t>pass@1</a:t>
            </a:r>
            <a:r>
              <a:rPr lang="zh-CN" altLang="en-US" sz="1600" b="0" i="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F07326F3-4732-B74B-9C70-D0992466E499}" type="slidenum">
              <a:rPr lang="en-US" smtClean="0"/>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pPr>
            <a:r>
              <a:rPr lang="zh-CN" altLang="en-US" sz="1200" dirty="0">
                <a:latin typeface="微软雅黑"/>
                <a:ea typeface="微软雅黑"/>
              </a:rPr>
              <a:t>按瓶颈讲：①KDA 新算子→FlashKDA；②MoE 负载不均是旧疾、被 2.8T 规模放大→MoonEP（红线=token 涌向热点专家 H，虚线=冗余预取到 R）；③1M 长程 RL→AgentENV 沙箱 pause/fork。每张卡片下方是与 K2/K2.5 的差异。章节对应：FlashKDA＝报告 §5.1；MoonEP＝§5.2；AgentENV＝§5.3。</a:t>
            </a:r>
            <a:endParaRPr lang="en-US" altLang="zh-CN" sz="1200" dirty="0">
              <a:latin typeface="微软雅黑"/>
              <a:ea typeface="微软雅黑"/>
            </a:endParaRPr>
          </a:p>
          <a:p>
            <a:pPr>
              <a:lnSpc>
                <a:spcPct val="115000"/>
              </a:lnSpc>
            </a:pPr>
            <a:r>
              <a:rPr lang="zh-CN" altLang="en-US" sz="1100" dirty="0">
                <a:latin typeface="微软雅黑"/>
                <a:ea typeface="微软雅黑"/>
              </a:rPr>
              <a:t>【图读法·负载均衡卡图】四张卡＝四台机器（Rank 0–3）；卡内小方块＝该机的专家槽位：灰＝普通专家，红底 H＝热点专家（在 Rank 0），青底虚线框 R＝H 的副本（放在 Rank 3）。红色箭头＝token 洪峰涌向 H（Rank 0 过载、1/2 空闲）；底部虚线折线＝MoonEP 把 H 复制为 R 挪到空闲机；复制分流后四台每步负载恒定（每卡下的恒定 S×K ✓）。</a:t>
            </a:r>
          </a:p>
          <a:p>
            <a:pPr>
              <a:lnSpc>
                <a:spcPct val="115000"/>
              </a:lnSpc>
            </a:pPr>
            <a:r>
              <a:rPr lang="zh-CN" altLang="en-US" sz="1100" dirty="0">
                <a:latin typeface="微软雅黑"/>
                <a:ea typeface="微软雅黑"/>
              </a:rPr>
              <a:t>【名词·chunkwise 并行＋下界衰减】KDA 本是逐 token 递推，慢；把序列切块、块内矩阵化（打 Tensor Core），块间只传固定大小状态。下界衰减＝衰减因子设下限截断，使分块计算与递推严格等价，FlashKDA 的 prefill 2.22× 来源于此。KCP＝序列维度切多卡（1M 单卡放不下），KDA 跨块只传固定状态，通信量远小于全 KV。</a:t>
            </a:r>
          </a:p>
          <a:p>
            <a:pPr>
              <a:lnSpc>
                <a:spcPct val="115000"/>
              </a:lnSpc>
            </a:pPr>
            <a:r>
              <a:rPr lang="zh-CN" altLang="en-US" sz="1100" dirty="0">
                <a:latin typeface="微软雅黑"/>
                <a:ea typeface="微软雅黑"/>
              </a:rPr>
              <a:t>【名词·Dispatch/Combine·零拷贝·静态形状】Dispatch＝按 Router 选择把 token 发往持专家的机器；Combine＝收回结果按门控权重求和。零拷贝＝收发直接落计算缓冲区；静态形状＝通信缓冲区预分配定尺寸，可整图捕获（CUDA Graph 类），显存/内核效率可预期。</a:t>
            </a:r>
          </a:p>
          <a:p>
            <a:pPr>
              <a:lnSpc>
                <a:spcPct val="115000"/>
              </a:lnSpc>
            </a:pPr>
            <a:r>
              <a:rPr lang="zh-CN" altLang="en-US" sz="1100" dirty="0">
                <a:latin typeface="微软雅黑"/>
                <a:ea typeface="微软雅黑"/>
              </a:rPr>
              <a:t>【名词·梯度归约回 home rank】每个专家有 home rank（参数主副本所在机）；token 可能被副本 R 计算，各副本梯度归约（累加）回 home rank 统一更新。算可分散，更新必归一。</a:t>
            </a:r>
          </a:p>
          <a:p>
            <a:pPr>
              <a:lnSpc>
                <a:spcPct val="115000"/>
              </a:lnSpc>
            </a:pPr>
            <a:r>
              <a:rPr lang="zh-CN" altLang="en-US" sz="1100" dirty="0">
                <a:latin typeface="微软雅黑"/>
                <a:ea typeface="微软雅黑"/>
              </a:rPr>
              <a:t>【名词·专家】每个专家＝一个独立 FFN 子网络（线性层＋激活），结构与算法完全相同、只是权重不同，训练后各自专门化。复制专家＝复制 FFN 权重矩阵，无算法差异。K3：896 路由专家＋共享专家，token 按 Router 选 16。</a:t>
            </a:r>
          </a:p>
          <a:p>
            <a:pPr>
              <a:lnSpc>
                <a:spcPct val="115000"/>
              </a:lnSpc>
            </a:pPr>
            <a:r>
              <a:rPr lang="zh-CN" altLang="en-US" sz="1100" dirty="0">
                <a:latin typeface="微软雅黑"/>
                <a:ea typeface="微软雅黑"/>
              </a:rPr>
              <a:t>【图读法·Agent RL】Trainer 下发任务→Workers 跑 agent 与沙箱交互；外部 KV 池＝模型状态外置，训练/执行互不等待。沙箱＝agent 代码/命令跑的隔离微型 VM（firecracker），支持 pause(&lt;100ms)/resume(&lt;50ms)/fork。三个沙箱是同一任务的三态：运行中→已暂停（留状态）→fork 副本。「一步」＝一次环境交互回合（动作→执行→观测）；快照在检查点/出错时触发（非每步），出错从最近快照恢复、只重放出错片段（partial rollout），几小时任务不必整体重跑。</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15000"/>
              </a:lnSpc>
            </a:pPr>
            <a:r>
              <a:rPr lang="zh-CN" altLang="en-US" sz="1200" dirty="0">
                <a:latin typeface="微软雅黑"/>
                <a:ea typeface="微软雅黑"/>
              </a:rPr>
              <a:t>讲法：先讲时间线——多轮会话前缀全部命中（绿），每轮只算新增（白）；再讲 O(L) vs O(1)：瓶颈是 1M 新目标 × 旧 MLA 性质，K3 用架构（KDA）＋缓存系统双解；然后 token 格子讲投机解码：连中 3 个、第 4 个被拒回滚。每张卡片底部是与 K2/K2.5 的对照。章节对应：前缀缓存＝§5.4；QAT/draft＝§4.1.4；机群调度＝§5.4。</a:t>
            </a:r>
          </a:p>
          <a:p>
            <a:pPr>
              <a:lnSpc>
                <a:spcPct val="115000"/>
              </a:lnSpc>
            </a:pPr>
            <a:r>
              <a:rPr lang="zh-CN" altLang="en-US" sz="1100" dirty="0">
                <a:latin typeface="微软雅黑"/>
                <a:ea typeface="微软雅黑"/>
              </a:rPr>
              <a:t>【图读法·前缀缓存】上行时间线：每行一轮对话，绿格＝前缀命中（系统提示/工具说明/历史，不重算），白格＝仅算新增。下行两代对比（与轮次行对齐）：左列上一代 MLA 每轮条形变长（KV 全量留存、越存越厚，O(L)✗）；右列 K3 每轮固定（一页状态＋少量新增 KV，与长度无关，O(1)✓）。</a:t>
            </a:r>
          </a:p>
          <a:p>
            <a:pPr>
              <a:lnSpc>
                <a:spcPct val="115000"/>
              </a:lnSpc>
            </a:pPr>
            <a:r>
              <a:rPr lang="zh-CN" altLang="en-US" sz="1100" dirty="0">
                <a:latin typeface="微软雅黑"/>
                <a:ea typeface="微软雅黑"/>
              </a:rPr>
              <a:t>【图读法·投机解码双泳道】上泳道 draft 小模型逐步起草 t1–t4（开销小）；中箭头＝target 大模型一次前向同时验证 4 个（多次猜测·一次验证）；下泳道验证结果：✓✓✓ 接受、✕ 拒绝→仅回滚该位、从拒绝处重猜。加速原理＝大模型一次前向出多个 token；lookahead 一致性损失让 draft 对齐 target，加速且不掉点。（K2/K2.5：无 draft）。</a:t>
            </a:r>
          </a:p>
          <a:p>
            <a:pPr>
              <a:lnSpc>
                <a:spcPct val="115000"/>
              </a:lnSpc>
            </a:pPr>
            <a:r>
              <a:rPr lang="zh-CN" altLang="en-US" sz="1100" dirty="0">
                <a:latin typeface="微软雅黑"/>
                <a:ea typeface="微软雅黑"/>
              </a:rPr>
              <a:t>【名词·统一分页收益】两类缓存（KDA 状态页＋MLA KV 页）放同一张页表：①按页分配与回收，减少碎片；②跨节点迁移以页为单位，换页/搬运逻辑统一；③调度器只面向「页」做放置与驱逐，无需理解两种缓存语义。会话太长→整页跨机迁移（机群接力），●●●＝响应流式输出。</a:t>
            </a:r>
          </a:p>
          <a:p>
            <a:pPr>
              <a:lnSpc>
                <a:spcPct val="115000"/>
              </a:lnSpc>
            </a:pPr>
            <a:r>
              <a:rPr lang="zh-CN" altLang="en-US" sz="1100" dirty="0">
                <a:latin typeface="微软雅黑"/>
                <a:ea typeface="微软雅黑"/>
              </a:rPr>
              <a:t>【名词·QAT/发布即 4-bit】权重 MXFP4 量化且训练阶段即量化感知（QAT），发布即为 4-bit；对比上一代 FP8 训练后量化。</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9DC0B5E-0E79-49DD-80C6-21529BAFAADB}"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5441558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9DC0B5E-0E79-49DD-80C6-21529BAFAADB}"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566580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0.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0.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0.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2.jpeg"/><Relationship Id="rId5" Type="http://schemas.openxmlformats.org/officeDocument/2006/relationships/slideMaster" Target="../slideMasters/slideMaster10.xml"/><Relationship Id="rId4" Type="http://schemas.openxmlformats.org/officeDocument/2006/relationships/tags" Target="../tags/tag5.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8.xml"/><Relationship Id="rId7" Type="http://schemas.openxmlformats.org/officeDocument/2006/relationships/slideMaster" Target="../slideMasters/slideMaster10.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7.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7.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0.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2.jpeg"/><Relationship Id="rId5" Type="http://schemas.openxmlformats.org/officeDocument/2006/relationships/slideMaster" Target="../slideMasters/slideMaster17.xml"/><Relationship Id="rId4" Type="http://schemas.openxmlformats.org/officeDocument/2006/relationships/tags" Target="../tags/tag15.xml"/></Relationships>
</file>

<file path=ppt/slideLayouts/_rels/slideLayout6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18.xml"/><Relationship Id="rId7" Type="http://schemas.openxmlformats.org/officeDocument/2006/relationships/slideMaster" Target="../slideMasters/slideMaster17.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8.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8.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5.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2.jpeg"/><Relationship Id="rId5" Type="http://schemas.openxmlformats.org/officeDocument/2006/relationships/slideMaster" Target="../slideMasters/slideMaster18.xml"/><Relationship Id="rId4" Type="http://schemas.openxmlformats.org/officeDocument/2006/relationships/tags" Target="../tags/tag25.xml"/></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28.xml"/><Relationship Id="rId7" Type="http://schemas.openxmlformats.org/officeDocument/2006/relationships/slideMaster" Target="../slideMasters/slideMaster1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048" y="480684"/>
            <a:ext cx="10740640" cy="464403"/>
          </a:xfrm>
          <a:prstGeom prst="rect">
            <a:avLst/>
          </a:prstGeom>
        </p:spPr>
        <p:txBody>
          <a:bodyPr lIns="0" tIns="0" rIns="0" bIns="0" anchor="t">
            <a:normAutofit/>
          </a:bodyPr>
          <a:lstStyle>
            <a:lvl1pPr marL="0" indent="0" algn="l">
              <a:lnSpc>
                <a:spcPts val="3430"/>
              </a:lnSpc>
              <a:spcBef>
                <a:spcPts val="0"/>
              </a:spcBef>
              <a:buFont typeface="Arial" panose="020B0604020202090204" pitchFamily="34" charset="0"/>
              <a:buNone/>
              <a:defRPr sz="2400" b="1" baseline="0">
                <a:solidFill>
                  <a:srgbClr val="C00000"/>
                </a:solidFill>
                <a:latin typeface="微软雅黑" panose="020B0503020204020204" pitchFamily="34" charset="-122"/>
                <a:ea typeface="微软雅黑" panose="020B0503020204020204" pitchFamily="34" charset="-122"/>
              </a:defRPr>
            </a:lvl1pPr>
            <a:lvl2pPr marL="593725" indent="0" algn="ctr">
              <a:buNone/>
              <a:defRPr sz="2600"/>
            </a:lvl2pPr>
            <a:lvl3pPr marL="1187450" indent="0" algn="ctr">
              <a:buNone/>
              <a:defRPr sz="2340"/>
            </a:lvl3pPr>
            <a:lvl4pPr marL="1781175" indent="0" algn="ctr">
              <a:buNone/>
              <a:defRPr sz="2080"/>
            </a:lvl4pPr>
            <a:lvl5pPr marL="2374900" indent="0" algn="ctr">
              <a:buNone/>
              <a:defRPr sz="2080"/>
            </a:lvl5pPr>
            <a:lvl6pPr marL="2967990" indent="0" algn="ctr">
              <a:buNone/>
              <a:defRPr sz="2080"/>
            </a:lvl6pPr>
            <a:lvl7pPr marL="3562350"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
        <p:nvSpPr>
          <p:cNvPr id="5" name="TextBox 3"/>
          <p:cNvSpPr txBox="1"/>
          <p:nvPr userDrawn="1"/>
        </p:nvSpPr>
        <p:spPr>
          <a:xfrm>
            <a:off x="734132" y="6402808"/>
            <a:ext cx="499729" cy="138499"/>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90204" pitchFamily="34" charset="0"/>
                <a:cs typeface="Arial" panose="020B0604020202090204" pitchFamily="34" charset="0"/>
              </a:rPr>
              <a:t>‹#›</a:t>
            </a:fld>
            <a:endParaRPr lang="en-US" sz="900" dirty="0">
              <a:solidFill>
                <a:srgbClr val="1D1D1B"/>
              </a:solidFill>
              <a:latin typeface="Arial" panose="020B0604020202090204" pitchFamily="34" charset="0"/>
              <a:cs typeface="Arial" panose="020B060402020209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1" y="1512875"/>
            <a:ext cx="10733557" cy="4690459"/>
          </a:xfrm>
          <a:prstGeom prst="rect">
            <a:avLst/>
          </a:prstGeom>
        </p:spPr>
        <p:txBody>
          <a:bodyPr lIns="0" tIns="0" rIns="0" bIns="0"/>
          <a:lstStyle>
            <a:lvl1pPr marL="179705" marR="0" indent="-168275" algn="l" defTabSz="1188085" rtl="0" eaLnBrk="1" fontAlgn="auto" latinLnBrk="0" hangingPunct="1">
              <a:lnSpc>
                <a:spcPct val="100000"/>
              </a:lnSpc>
              <a:spcBef>
                <a:spcPts val="0"/>
              </a:spcBef>
              <a:spcAft>
                <a:spcPts val="600"/>
              </a:spcAft>
              <a:buClr>
                <a:srgbClr val="000000"/>
              </a:buClr>
              <a:buSzTx/>
              <a:buFont typeface="Arial" panose="020B0604020202090204" pitchFamily="34" charset="0"/>
              <a:buChar char="•"/>
              <a:tabLst>
                <a:tab pos="1207770" algn="ctr"/>
              </a:tabLst>
              <a:defRPr sz="1800"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328930" marR="0" indent="-168275" algn="l" defTabSz="1188085" rtl="0" eaLnBrk="1" fontAlgn="auto" latinLnBrk="0" hangingPunct="1">
              <a:lnSpc>
                <a:spcPct val="100000"/>
              </a:lnSpc>
              <a:spcBef>
                <a:spcPts val="0"/>
              </a:spcBef>
              <a:spcAft>
                <a:spcPts val="600"/>
              </a:spcAft>
              <a:buClr>
                <a:schemeClr val="tx1"/>
              </a:buClr>
              <a:buSzTx/>
              <a:buFont typeface=".AppleSystemUIFont"/>
              <a:buChar char="&gt;"/>
              <a:tabLst>
                <a:tab pos="1207770" algn="ctr"/>
              </a:tabLst>
              <a:defRPr sz="1600" baseline="0">
                <a:latin typeface="微软雅黑" panose="020B0503020204020204" pitchFamily="34" charset="-122"/>
                <a:ea typeface="微软雅黑" panose="020B0503020204020204" pitchFamily="34" charset="-122"/>
              </a:defRPr>
            </a:lvl2pPr>
            <a:lvl3pPr marL="1098550" marR="0" indent="-168275" algn="l" defTabSz="1188085" rtl="0" eaLnBrk="1" fontAlgn="auto" latinLnBrk="0" hangingPunct="1">
              <a:lnSpc>
                <a:spcPct val="100000"/>
              </a:lnSpc>
              <a:spcBef>
                <a:spcPts val="0"/>
              </a:spcBef>
              <a:spcAft>
                <a:spcPts val="600"/>
              </a:spcAft>
              <a:buClr>
                <a:schemeClr val="tx1"/>
              </a:buClr>
              <a:buSzTx/>
              <a:buFont typeface=".AppleSystemUIFont"/>
              <a:buChar char="-"/>
              <a:tabLst>
                <a:tab pos="1207770" algn="ctr"/>
              </a:tabLst>
              <a:defRPr sz="1300" baseline="0">
                <a:latin typeface="微软雅黑" panose="020B0503020204020204" pitchFamily="34" charset="-122"/>
                <a:ea typeface="微软雅黑" panose="020B0503020204020204" pitchFamily="34" charset="-122"/>
              </a:defRPr>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zh-CN" altLang="en-US" dirty="0"/>
              <a:t>单击此处添加文本</a:t>
            </a:r>
            <a:endParaRPr lang="en-US" dirty="0"/>
          </a:p>
          <a:p>
            <a:pPr marL="328930" marR="0" lvl="1"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结束页">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607486" y="1402064"/>
            <a:ext cx="3921034" cy="854717"/>
          </a:xfrm>
          <a:prstGeom prst="rect">
            <a:avLst/>
          </a:prstGeom>
          <a:noFill/>
        </p:spPr>
        <p:txBody>
          <a:bodyPr wrap="square" rtlCol="0">
            <a:spAutoFit/>
          </a:bodyPr>
          <a:lstStyle/>
          <a:p>
            <a:pPr algn="l"/>
            <a:r>
              <a:rPr lang="en-US" sz="4800" dirty="0">
                <a:solidFill>
                  <a:schemeClr val="tx1"/>
                </a:solidFill>
              </a:rPr>
              <a:t>Thank you.</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5"/>
              </a:lnSpc>
              <a:spcBef>
                <a:spcPts val="0"/>
              </a:spcBef>
              <a:buNone/>
              <a:defRPr sz="3195" baseline="0">
                <a:solidFill>
                  <a:schemeClr val="tx1"/>
                </a:solidFill>
                <a:latin typeface="微软雅黑" panose="020B0503020204020204" pitchFamily="34" charset="-122"/>
                <a:ea typeface="微软雅黑" panose="020B0503020204020204" pitchFamily="34" charset="-122"/>
              </a:defRPr>
            </a:lvl1pPr>
            <a:lvl2pPr marL="593090" indent="0" algn="ctr">
              <a:buNone/>
              <a:defRPr sz="2595"/>
            </a:lvl2pPr>
            <a:lvl3pPr marL="1186180" indent="0" algn="ctr">
              <a:buNone/>
              <a:defRPr sz="2335"/>
            </a:lvl3pPr>
            <a:lvl4pPr marL="1779270" indent="0" algn="ctr">
              <a:buNone/>
              <a:defRPr sz="2075"/>
            </a:lvl4pPr>
            <a:lvl5pPr marL="2372995" indent="0" algn="ctr">
              <a:buNone/>
              <a:defRPr sz="2075"/>
            </a:lvl5pPr>
            <a:lvl6pPr marL="2966085" indent="0" algn="ctr">
              <a:buNone/>
              <a:defRPr sz="2075"/>
            </a:lvl6pPr>
            <a:lvl7pPr marL="3559175" indent="0" algn="ctr">
              <a:buNone/>
              <a:defRPr sz="2075"/>
            </a:lvl7pPr>
            <a:lvl8pPr marL="4152265" indent="0" algn="ctr">
              <a:buNone/>
              <a:defRPr sz="2075"/>
            </a:lvl8pPr>
            <a:lvl9pPr marL="4745355" indent="0" algn="ctr">
              <a:buNone/>
              <a:defRPr sz="2075"/>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11" y="1501989"/>
            <a:ext cx="10733557" cy="4690459"/>
          </a:xfrm>
          <a:prstGeom prst="rect">
            <a:avLst/>
          </a:prstGeom>
        </p:spPr>
        <p:txBody>
          <a:bodyPr lIns="0" tIns="0" rIns="0" bIns="0"/>
          <a:lstStyle>
            <a:lvl1pPr marL="12065" indent="0">
              <a:lnSpc>
                <a:spcPct val="100000"/>
              </a:lnSpc>
              <a:spcBef>
                <a:spcPts val="0"/>
              </a:spcBef>
              <a:buFontTx/>
              <a:buNone/>
              <a:tabLst>
                <a:tab pos="1206500" algn="ctr"/>
              </a:tabLst>
              <a:defRPr sz="1795"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525145" indent="-170815">
              <a:buFont typeface="Arial" panose="020B0604020202090204" pitchFamily="34" charset="0"/>
              <a:buChar char="•"/>
              <a:tabLst>
                <a:tab pos="1206500" algn="ctr"/>
              </a:tabLst>
              <a:defRPr sz="1295" baseline="0"/>
            </a:lvl2pPr>
            <a:lvl3pPr marL="525145" indent="-170815">
              <a:buFont typeface="Arial" panose="020B0604020202090204" pitchFamily="34" charset="0"/>
              <a:buChar char="•"/>
              <a:tabLst>
                <a:tab pos="1206500" algn="ctr"/>
              </a:tabLst>
              <a:defRPr sz="1295" baseline="0"/>
            </a:lvl3pPr>
            <a:lvl4pPr marL="525145" indent="-170815">
              <a:buFont typeface="Arial" panose="020B0604020202090204" pitchFamily="34" charset="0"/>
              <a:buChar char="•"/>
              <a:tabLst>
                <a:tab pos="1206500" algn="ctr"/>
              </a:tabLst>
              <a:defRPr sz="1295" baseline="0"/>
            </a:lvl4pPr>
            <a:lvl5pPr marL="525145" indent="-170815">
              <a:buFont typeface="Arial" panose="020B0604020202090204" pitchFamily="34" charset="0"/>
              <a:buChar char="•"/>
              <a:tabLst>
                <a:tab pos="1206500" algn="ctr"/>
              </a:tabLst>
              <a:defRPr sz="1295" baseline="0"/>
            </a:lvl5pPr>
          </a:lstStyle>
          <a:p>
            <a:pPr lvl="0"/>
            <a:r>
              <a:rPr lang="zh-CN" altLang="en-US" dirty="0"/>
              <a:t>单击此处添加文本</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智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048" y="480684"/>
            <a:ext cx="10740640" cy="464403"/>
          </a:xfrm>
          <a:prstGeom prst="rect">
            <a:avLst/>
          </a:prstGeom>
        </p:spPr>
        <p:txBody>
          <a:bodyPr lIns="0" tIns="0" rIns="0" bIns="0" anchor="t">
            <a:normAutofit/>
          </a:bodyPr>
          <a:lstStyle>
            <a:lvl1pPr marL="0" indent="0" algn="l">
              <a:lnSpc>
                <a:spcPts val="3430"/>
              </a:lnSpc>
              <a:spcBef>
                <a:spcPts val="0"/>
              </a:spcBef>
              <a:buFont typeface="Arial" panose="020B0604020202090204" pitchFamily="34" charset="0"/>
              <a:buNone/>
              <a:defRPr sz="2400" b="1" baseline="0">
                <a:solidFill>
                  <a:srgbClr val="C00000"/>
                </a:solidFill>
                <a:latin typeface="微软雅黑" panose="020B0503020204020204" pitchFamily="34" charset="-122"/>
                <a:ea typeface="微软雅黑" panose="020B0503020204020204" pitchFamily="34" charset="-122"/>
              </a:defRPr>
            </a:lvl1pPr>
            <a:lvl2pPr marL="593725" indent="0" algn="ctr">
              <a:buNone/>
              <a:defRPr sz="2600"/>
            </a:lvl2pPr>
            <a:lvl3pPr marL="1187450" indent="0" algn="ctr">
              <a:buNone/>
              <a:defRPr sz="2340"/>
            </a:lvl3pPr>
            <a:lvl4pPr marL="1781175" indent="0" algn="ctr">
              <a:buNone/>
              <a:defRPr sz="2080"/>
            </a:lvl4pPr>
            <a:lvl5pPr marL="2374900" indent="0" algn="ctr">
              <a:buNone/>
              <a:defRPr sz="2080"/>
            </a:lvl5pPr>
            <a:lvl6pPr marL="2967990" indent="0" algn="ctr">
              <a:buNone/>
              <a:defRPr sz="2080"/>
            </a:lvl6pPr>
            <a:lvl7pPr marL="3562350"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
        <p:nvSpPr>
          <p:cNvPr id="5" name="TextBox 3"/>
          <p:cNvSpPr txBox="1"/>
          <p:nvPr userDrawn="1"/>
        </p:nvSpPr>
        <p:spPr>
          <a:xfrm>
            <a:off x="734132" y="6402808"/>
            <a:ext cx="499729" cy="138499"/>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90204" pitchFamily="34" charset="0"/>
                <a:cs typeface="Arial" panose="020B0604020202090204" pitchFamily="34" charset="0"/>
              </a:rPr>
              <a:t>‹#›</a:t>
            </a:fld>
            <a:endParaRPr lang="en-US" sz="900" dirty="0">
              <a:solidFill>
                <a:srgbClr val="1D1D1B"/>
              </a:solidFill>
              <a:latin typeface="Arial" panose="020B0604020202090204" pitchFamily="34" charset="0"/>
              <a:cs typeface="Arial" panose="020B060402020209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048" y="480686"/>
            <a:ext cx="10740640" cy="464403"/>
          </a:xfrm>
          <a:prstGeom prst="rect">
            <a:avLst/>
          </a:prstGeom>
        </p:spPr>
        <p:txBody>
          <a:bodyPr lIns="0" tIns="0" rIns="0" bIns="0" anchor="t">
            <a:normAutofit/>
          </a:bodyPr>
          <a:lstStyle>
            <a:lvl1pPr marL="0" indent="0" algn="l">
              <a:lnSpc>
                <a:spcPts val="3430"/>
              </a:lnSpc>
              <a:spcBef>
                <a:spcPts val="0"/>
              </a:spcBef>
              <a:buNone/>
              <a:defRPr sz="2400" b="1" baseline="0">
                <a:solidFill>
                  <a:srgbClr val="C00000"/>
                </a:solidFill>
                <a:latin typeface="微软雅黑" panose="020B0503020204020204" pitchFamily="34" charset="-122"/>
                <a:ea typeface="微软雅黑" panose="020B0503020204020204" pitchFamily="34" charset="-122"/>
              </a:defRPr>
            </a:lvl1pPr>
            <a:lvl2pPr marL="593090" indent="0" algn="ctr">
              <a:buNone/>
              <a:defRPr sz="2600"/>
            </a:lvl2pPr>
            <a:lvl3pPr marL="1187450" indent="0" algn="ctr">
              <a:buNone/>
              <a:defRPr sz="2340"/>
            </a:lvl3pPr>
            <a:lvl4pPr marL="1780540" indent="0" algn="ctr">
              <a:buNone/>
              <a:defRPr sz="2080"/>
            </a:lvl4pPr>
            <a:lvl5pPr marL="2373630" indent="0" algn="ctr">
              <a:buNone/>
              <a:defRPr sz="2080"/>
            </a:lvl5pPr>
            <a:lvl6pPr marL="2966720" indent="0" algn="ctr">
              <a:buNone/>
              <a:defRPr sz="2080"/>
            </a:lvl6pPr>
            <a:lvl7pPr marL="3561080" indent="0" algn="ctr">
              <a:buNone/>
              <a:defRPr sz="2080"/>
            </a:lvl7pPr>
            <a:lvl8pPr marL="4154170" indent="0" algn="ctr">
              <a:buNone/>
              <a:defRPr sz="2080"/>
            </a:lvl8pPr>
            <a:lvl9pPr marL="4747260" indent="0" algn="ctr">
              <a:buNone/>
              <a:defRPr sz="2080"/>
            </a:lvl9pPr>
          </a:lstStyle>
          <a:p>
            <a:r>
              <a:rPr lang="zh-CN" altLang="en-US" dirty="0"/>
              <a:t>单击此处添加标题</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5"/>
              </a:lnSpc>
              <a:spcBef>
                <a:spcPts val="0"/>
              </a:spcBef>
              <a:buNone/>
              <a:defRPr sz="3195" baseline="0">
                <a:solidFill>
                  <a:schemeClr val="tx1"/>
                </a:solidFill>
                <a:latin typeface="微软雅黑" panose="020B0503020204020204" pitchFamily="34" charset="-122"/>
                <a:ea typeface="微软雅黑" panose="020B0503020204020204" pitchFamily="34" charset="-122"/>
              </a:defRPr>
            </a:lvl1pPr>
            <a:lvl2pPr marL="593090" indent="0" algn="ctr">
              <a:buNone/>
              <a:defRPr sz="2595"/>
            </a:lvl2pPr>
            <a:lvl3pPr marL="1186180" indent="0" algn="ctr">
              <a:buNone/>
              <a:defRPr sz="2335"/>
            </a:lvl3pPr>
            <a:lvl4pPr marL="1779270" indent="0" algn="ctr">
              <a:buNone/>
              <a:defRPr sz="2075"/>
            </a:lvl4pPr>
            <a:lvl5pPr marL="2372995" indent="0" algn="ctr">
              <a:buNone/>
              <a:defRPr sz="2075"/>
            </a:lvl5pPr>
            <a:lvl6pPr marL="2966085" indent="0" algn="ctr">
              <a:buNone/>
              <a:defRPr sz="2075"/>
            </a:lvl6pPr>
            <a:lvl7pPr marL="3559175" indent="0" algn="ctr">
              <a:buNone/>
              <a:defRPr sz="2075"/>
            </a:lvl7pPr>
            <a:lvl8pPr marL="4152265" indent="0" algn="ctr">
              <a:buNone/>
              <a:defRPr sz="2075"/>
            </a:lvl8pPr>
            <a:lvl9pPr marL="4745355" indent="0" algn="ctr">
              <a:buNone/>
              <a:defRPr sz="2075"/>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11" y="1501989"/>
            <a:ext cx="10733557" cy="4690459"/>
          </a:xfrm>
          <a:prstGeom prst="rect">
            <a:avLst/>
          </a:prstGeom>
        </p:spPr>
        <p:txBody>
          <a:bodyPr lIns="0" tIns="0" rIns="0" bIns="0"/>
          <a:lstStyle>
            <a:lvl1pPr marL="12065" indent="0">
              <a:lnSpc>
                <a:spcPct val="100000"/>
              </a:lnSpc>
              <a:spcBef>
                <a:spcPts val="0"/>
              </a:spcBef>
              <a:buFontTx/>
              <a:buNone/>
              <a:tabLst>
                <a:tab pos="1206500" algn="ctr"/>
              </a:tabLst>
              <a:defRPr sz="1795"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525145" indent="-170815">
              <a:buFont typeface="Arial" panose="020B0604020202090204" pitchFamily="34" charset="0"/>
              <a:buChar char="•"/>
              <a:tabLst>
                <a:tab pos="1206500" algn="ctr"/>
              </a:tabLst>
              <a:defRPr sz="1295" baseline="0"/>
            </a:lvl2pPr>
            <a:lvl3pPr marL="525145" indent="-170815">
              <a:buFont typeface="Arial" panose="020B0604020202090204" pitchFamily="34" charset="0"/>
              <a:buChar char="•"/>
              <a:tabLst>
                <a:tab pos="1206500" algn="ctr"/>
              </a:tabLst>
              <a:defRPr sz="1295" baseline="0"/>
            </a:lvl3pPr>
            <a:lvl4pPr marL="525145" indent="-170815">
              <a:buFont typeface="Arial" panose="020B0604020202090204" pitchFamily="34" charset="0"/>
              <a:buChar char="•"/>
              <a:tabLst>
                <a:tab pos="1206500" algn="ctr"/>
              </a:tabLst>
              <a:defRPr sz="1295" baseline="0"/>
            </a:lvl4pPr>
            <a:lvl5pPr marL="525145" indent="-170815">
              <a:buFont typeface="Arial" panose="020B0604020202090204" pitchFamily="34" charset="0"/>
              <a:buChar char="•"/>
              <a:tabLst>
                <a:tab pos="1206500" algn="ctr"/>
              </a:tabLst>
              <a:defRPr sz="1295" baseline="0"/>
            </a:lvl5pPr>
          </a:lstStyle>
          <a:p>
            <a:pPr lvl="0"/>
            <a:r>
              <a:rPr lang="zh-CN" altLang="en-US" dirty="0"/>
              <a:t>单击此处添加文本</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8AD8E6A-D239-45DC-8734-7A6B9B319D68}" type="datetimeFigureOut">
              <a:rPr lang="zh-CN" altLang="en-US" smtClean="0">
                <a:solidFill>
                  <a:prstClr val="black">
                    <a:tint val="75000"/>
                  </a:prstClr>
                </a:solidFill>
              </a:rPr>
              <a:t>2026/10/12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0CFE9318-1D1A-4BA1-918A-91DA8E12362A}" type="slidenum">
              <a:rPr lang="zh-CN" altLang="en-US" smtClean="0">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97" y="1122363"/>
            <a:ext cx="9147572" cy="2387600"/>
          </a:xfrm>
        </p:spPr>
        <p:txBody>
          <a:bodyPr anchor="b"/>
          <a:lstStyle>
            <a:lvl1pPr algn="ctr">
              <a:defRPr sz="5990"/>
            </a:lvl1pPr>
          </a:lstStyle>
          <a:p>
            <a:r>
              <a:rPr lang="zh-CN" altLang="en-US"/>
              <a:t>单击此处编辑母版标题样式</a:t>
            </a:r>
          </a:p>
        </p:txBody>
      </p:sp>
      <p:sp>
        <p:nvSpPr>
          <p:cNvPr id="3" name="副标题 2"/>
          <p:cNvSpPr>
            <a:spLocks noGrp="1"/>
          </p:cNvSpPr>
          <p:nvPr>
            <p:ph type="subTitle" idx="1"/>
          </p:nvPr>
        </p:nvSpPr>
        <p:spPr>
          <a:xfrm>
            <a:off x="1524597" y="3602038"/>
            <a:ext cx="9147572" cy="1655762"/>
          </a:xfrm>
        </p:spPr>
        <p:txBody>
          <a:bodyPr/>
          <a:lstStyle>
            <a:lvl1pPr marL="0" indent="0" algn="ctr">
              <a:buNone/>
              <a:defRPr sz="2395"/>
            </a:lvl1pPr>
            <a:lvl2pPr marL="456565" indent="0" algn="ctr">
              <a:buNone/>
              <a:defRPr sz="1995"/>
            </a:lvl2pPr>
            <a:lvl3pPr marL="912495" indent="0" algn="ctr">
              <a:buNone/>
              <a:defRPr sz="1795"/>
            </a:lvl3pPr>
            <a:lvl4pPr marL="1369060" indent="0" algn="ctr">
              <a:buNone/>
              <a:defRPr sz="1595"/>
            </a:lvl4pPr>
            <a:lvl5pPr marL="1826260" indent="0" algn="ctr">
              <a:buNone/>
              <a:defRPr sz="1595"/>
            </a:lvl5pPr>
            <a:lvl6pPr marL="2282190" indent="0" algn="ctr">
              <a:buNone/>
              <a:defRPr sz="1595"/>
            </a:lvl6pPr>
            <a:lvl7pPr marL="2738755" indent="0" algn="ctr">
              <a:buNone/>
              <a:defRPr sz="1595"/>
            </a:lvl7pPr>
            <a:lvl8pPr marL="3194685" indent="0" algn="ctr">
              <a:buNone/>
              <a:defRPr sz="1595"/>
            </a:lvl8pPr>
            <a:lvl9pPr marL="3651250" indent="0" algn="ctr">
              <a:buNone/>
              <a:defRPr sz="1595"/>
            </a:lvl9pPr>
          </a:lstStyle>
          <a:p>
            <a:r>
              <a:rPr lang="zh-CN" altLang="en-US"/>
              <a:t>单击此处编辑母版副标题样式</a:t>
            </a:r>
          </a:p>
        </p:txBody>
      </p:sp>
      <p:sp>
        <p:nvSpPr>
          <p:cNvPr id="4" name="日期占位符 3"/>
          <p:cNvSpPr>
            <a:spLocks noGrp="1"/>
          </p:cNvSpPr>
          <p:nvPr>
            <p:ph type="dt" sz="half" idx="10"/>
          </p:nvPr>
        </p:nvSpPr>
        <p:spPr/>
        <p:txBody>
          <a:bodyPr/>
          <a:lstStyle/>
          <a:p>
            <a:pPr defTabSz="914400"/>
            <a:fld id="{D997B5FA-0921-464F-AAE1-844C04324D75}" type="datetimeFigureOut">
              <a:rPr lang="zh-CN" altLang="en-US" smtClean="0">
                <a:solidFill>
                  <a:srgbClr val="1D1D1A"/>
                </a:solidFill>
              </a:rPr>
              <a:t>2026/10/12</a:t>
            </a:fld>
            <a:endParaRPr lang="zh-CN" altLang="en-US">
              <a:solidFill>
                <a:srgbClr val="1D1D1A"/>
              </a:solidFill>
            </a:endParaRPr>
          </a:p>
        </p:txBody>
      </p:sp>
      <p:sp>
        <p:nvSpPr>
          <p:cNvPr id="5" name="页脚占位符 4"/>
          <p:cNvSpPr>
            <a:spLocks noGrp="1"/>
          </p:cNvSpPr>
          <p:nvPr>
            <p:ph type="ftr" sz="quarter" idx="11"/>
          </p:nvPr>
        </p:nvSpPr>
        <p:spPr/>
        <p:txBody>
          <a:bodyPr/>
          <a:lstStyle/>
          <a:p>
            <a:pPr defTabSz="914400"/>
            <a:endParaRPr lang="zh-CN" altLang="en-US">
              <a:solidFill>
                <a:srgbClr val="1D1D1A"/>
              </a:solidFill>
            </a:endParaRPr>
          </a:p>
        </p:txBody>
      </p:sp>
      <p:sp>
        <p:nvSpPr>
          <p:cNvPr id="6" name="灯片编号占位符 5"/>
          <p:cNvSpPr>
            <a:spLocks noGrp="1"/>
          </p:cNvSpPr>
          <p:nvPr>
            <p:ph type="sldNum" sz="quarter" idx="12"/>
          </p:nvPr>
        </p:nvSpPr>
        <p:spPr/>
        <p:txBody>
          <a:bodyPr/>
          <a:lstStyle/>
          <a:p>
            <a:pPr defTabSz="914400"/>
            <a:fld id="{565CE74E-AB26-4998-AD42-012C4C1AD076}" type="slidenum">
              <a:rPr lang="zh-CN" altLang="en-US" smtClean="0">
                <a:solidFill>
                  <a:srgbClr val="1D1D1A"/>
                </a:solidFill>
              </a:rPr>
              <a:t>‹#›</a:t>
            </a:fld>
            <a:endParaRPr lang="zh-CN" altLang="en-US">
              <a:solidFill>
                <a:srgbClr val="1D1D1A"/>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s page">
    <p:bg>
      <p:bgPr>
        <a:solidFill>
          <a:srgbClr val="EBEBEB"/>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033620" y="1843088"/>
            <a:ext cx="10122060" cy="3013725"/>
          </a:xfrm>
          <a:prstGeom prst="rect">
            <a:avLst/>
          </a:prstGeom>
        </p:spPr>
        <p:txBody>
          <a:bodyPr tIns="90000" bIns="90000"/>
          <a:lstStyle>
            <a:lvl1pPr marL="412750" indent="-398780">
              <a:lnSpc>
                <a:spcPct val="70000"/>
              </a:lnSpc>
              <a:buFont typeface="+mj-lt"/>
              <a:buAutoNum type="arabicPeriod"/>
              <a:defRPr sz="2200">
                <a:solidFill>
                  <a:schemeClr val="tx1"/>
                </a:solidFill>
                <a:latin typeface="微软雅黑" panose="020B0503020204020204" pitchFamily="34" charset="-122"/>
                <a:ea typeface="微软雅黑" panose="020B0503020204020204" pitchFamily="34" charset="-122"/>
              </a:defRPr>
            </a:lvl1pPr>
            <a:lvl2pPr marL="412750" indent="-398780">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zh-CN" altLang="en-US" dirty="0"/>
              <a:t>单击此处添加文本</a:t>
            </a:r>
            <a:endParaRPr lang="en-US" altLang="zh-CN" dirty="0"/>
          </a:p>
        </p:txBody>
      </p:sp>
      <p:cxnSp>
        <p:nvCxnSpPr>
          <p:cNvPr id="3"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p:cNvSpPr txBox="1"/>
          <p:nvPr userDrawn="1"/>
        </p:nvSpPr>
        <p:spPr>
          <a:xfrm>
            <a:off x="918916" y="630373"/>
            <a:ext cx="1147485" cy="653509"/>
          </a:xfrm>
          <a:prstGeom prst="rect">
            <a:avLst/>
          </a:prstGeom>
          <a:noFill/>
        </p:spPr>
        <p:txBody>
          <a:bodyPr wrap="none" rtlCol="0">
            <a:spAutoFit/>
          </a:bodyPr>
          <a:lstStyle/>
          <a:p>
            <a:r>
              <a:rPr kumimoji="1" lang="zh-CN" altLang="en-US" sz="3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目录</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615" y="447469"/>
            <a:ext cx="11301062" cy="497095"/>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90204" pitchFamily="34" charset="0"/>
            </a:pPr>
            <a:r>
              <a:rPr lang="zh-CN" altLang="en-US" dirty="0"/>
              <a:t>单击此处编辑母版标题样式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pPr defTabSz="914400"/>
            <a:fld id="{A5D3794B-289A-4A80-97D7-111025398D45}" type="datetimeFigureOut">
              <a:rPr lang="en-US" dirty="0">
                <a:solidFill>
                  <a:prstClr val="black">
                    <a:lumMod val="95000"/>
                    <a:lumOff val="5000"/>
                  </a:prstClr>
                </a:solidFill>
              </a:rPr>
              <a:t>10/12/2026</a:t>
            </a:fld>
            <a:endParaRPr lang="en-US" dirty="0">
              <a:solidFill>
                <a:prstClr val="black">
                  <a:lumMod val="95000"/>
                  <a:lumOff val="5000"/>
                </a:prstClr>
              </a:solidFill>
            </a:endParaRPr>
          </a:p>
        </p:txBody>
      </p:sp>
      <p:sp>
        <p:nvSpPr>
          <p:cNvPr id="5" name="Footer Placeholder 4"/>
          <p:cNvSpPr>
            <a:spLocks noGrp="1"/>
          </p:cNvSpPr>
          <p:nvPr>
            <p:ph type="ftr" sz="quarter" idx="11"/>
          </p:nvPr>
        </p:nvSpPr>
        <p:spPr/>
        <p:txBody>
          <a:bodyPr/>
          <a:lstStyle/>
          <a:p>
            <a:pPr defTabSz="914400"/>
            <a:endParaRPr lang="en-US" dirty="0">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pPr defTabSz="914400"/>
            <a:fld id="{4FAB73BC-B049-4115-A692-8D63A059BFB8}" type="slidenum">
              <a:rPr lang="en-US" dirty="0">
                <a:solidFill>
                  <a:prstClr val="black">
                    <a:lumMod val="95000"/>
                    <a:lumOff val="5000"/>
                  </a:prstClr>
                </a:solidFill>
              </a:rPr>
              <a:t>‹#›</a:t>
            </a:fld>
            <a:endParaRPr lang="en-US" dirty="0">
              <a:solidFill>
                <a:prstClr val="black">
                  <a:lumMod val="95000"/>
                  <a:lumOff val="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14306" y="161890"/>
            <a:ext cx="11165422" cy="800100"/>
          </a:xfrm>
          <a:prstGeom prst="rect">
            <a:avLst/>
          </a:prstGeom>
        </p:spPr>
        <p:txBody>
          <a:bodyPr anchor="ctr"/>
          <a:lstStyle>
            <a:lvl1pPr>
              <a:defRPr sz="2795"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grpSp>
        <p:nvGrpSpPr>
          <p:cNvPr id="3" name="组合 2"/>
          <p:cNvGrpSpPr/>
          <p:nvPr userDrawn="1"/>
        </p:nvGrpSpPr>
        <p:grpSpPr>
          <a:xfrm>
            <a:off x="12246133" y="84098"/>
            <a:ext cx="239116" cy="1927858"/>
            <a:chOff x="12246130" y="1518075"/>
            <a:chExt cx="239116" cy="3627664"/>
          </a:xfrm>
        </p:grpSpPr>
        <p:sp>
          <p:nvSpPr>
            <p:cNvPr id="5" name="矩形 9"/>
            <p:cNvSpPr/>
            <p:nvPr userDrawn="1"/>
          </p:nvSpPr>
          <p:spPr>
            <a:xfrm>
              <a:off x="12246130" y="3376754"/>
              <a:ext cx="239116" cy="839646"/>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6" name="矩形 10"/>
            <p:cNvSpPr/>
            <p:nvPr userDrawn="1"/>
          </p:nvSpPr>
          <p:spPr>
            <a:xfrm>
              <a:off x="12246130" y="2447415"/>
              <a:ext cx="239116" cy="839646"/>
            </a:xfrm>
            <a:prstGeom prst="rect">
              <a:avLst/>
            </a:prstGeom>
            <a:solidFill>
              <a:srgbClr val="7CBF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7" name="矩形 11"/>
            <p:cNvSpPr/>
            <p:nvPr userDrawn="1"/>
          </p:nvSpPr>
          <p:spPr>
            <a:xfrm>
              <a:off x="12246130" y="1518075"/>
              <a:ext cx="239116" cy="83964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sp>
          <p:nvSpPr>
            <p:cNvPr id="10" name="矩形 9"/>
            <p:cNvSpPr/>
            <p:nvPr userDrawn="1"/>
          </p:nvSpPr>
          <p:spPr>
            <a:xfrm>
              <a:off x="12246130" y="4306093"/>
              <a:ext cx="239116" cy="839646"/>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prstClr val="white"/>
                </a:solidFill>
              </a:endParaRPr>
            </a:p>
          </p:txBody>
        </p:sp>
      </p:grpSp>
      <p:grpSp>
        <p:nvGrpSpPr>
          <p:cNvPr id="9" name="Group 87"/>
          <p:cNvGrpSpPr>
            <a:grpSpLocks noChangeAspect="1"/>
          </p:cNvGrpSpPr>
          <p:nvPr userDrawn="1"/>
        </p:nvGrpSpPr>
        <p:grpSpPr>
          <a:xfrm>
            <a:off x="12285673" y="2625399"/>
            <a:ext cx="1962556" cy="4233515"/>
            <a:chOff x="5343885" y="-48857"/>
            <a:chExt cx="3263586" cy="7037279"/>
          </a:xfrm>
        </p:grpSpPr>
        <p:sp>
          <p:nvSpPr>
            <p:cNvPr id="11"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196/0/84</a:t>
              </a:r>
            </a:p>
          </p:txBody>
        </p:sp>
        <p:sp>
          <p:nvSpPr>
            <p:cNvPr id="12"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2495"/>
              <a:r>
                <a:rPr kumimoji="1" lang="zh-CN" altLang="en-US" sz="800" dirty="0">
                  <a:solidFill>
                    <a:srgbClr val="1D1D1A"/>
                  </a:solidFill>
                  <a:latin typeface="微软雅黑" panose="020B0503020204020204" pitchFamily="34" charset="-122"/>
                  <a:ea typeface="微软雅黑" panose="020B0503020204020204" pitchFamily="34" charset="-122"/>
                </a:rPr>
                <a:t>公司辅助色</a:t>
              </a:r>
            </a:p>
          </p:txBody>
        </p:sp>
        <p:sp>
          <p:nvSpPr>
            <p:cNvPr id="13"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14"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15" name="矩形 14"/>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16"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17"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18"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PANTONE 185C</a:t>
              </a:r>
            </a:p>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199/0/11  </a:t>
              </a:r>
            </a:p>
          </p:txBody>
        </p:sp>
        <p:sp>
          <p:nvSpPr>
            <p:cNvPr id="19"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defTabSz="912495"/>
              <a:r>
                <a:rPr kumimoji="1" lang="zh-CN" altLang="en-US" sz="800" dirty="0">
                  <a:solidFill>
                    <a:srgbClr val="1D1D1A"/>
                  </a:solidFill>
                  <a:latin typeface="微软雅黑" panose="020B0503020204020204" pitchFamily="34" charset="-122"/>
                  <a:ea typeface="微软雅黑" panose="020B0503020204020204" pitchFamily="34" charset="-122"/>
                </a:rPr>
                <a:t>公司色</a:t>
              </a:r>
            </a:p>
          </p:txBody>
        </p:sp>
        <p:sp>
          <p:nvSpPr>
            <p:cNvPr id="20"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PANTONE 186C</a:t>
              </a:r>
            </a:p>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200/16/46  </a:t>
              </a:r>
            </a:p>
          </p:txBody>
        </p:sp>
        <p:sp>
          <p:nvSpPr>
            <p:cNvPr id="21"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22"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23"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24"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25"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26"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27"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28"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29"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30"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31"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32"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33"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34"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35"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36"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37"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38"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39"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40"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41"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42"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190/23/238</a:t>
              </a:r>
            </a:p>
          </p:txBody>
        </p:sp>
        <p:sp>
          <p:nvSpPr>
            <p:cNvPr id="43"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44"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45"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35/24/21</a:t>
              </a:r>
            </a:p>
          </p:txBody>
        </p:sp>
        <p:sp>
          <p:nvSpPr>
            <p:cNvPr id="46"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47"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48"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2495">
                <a:lnSpc>
                  <a:spcPts val="620"/>
                </a:lnSpc>
              </a:pP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49"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50"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defTabSz="912495">
                <a:lnSpc>
                  <a:spcPts val="620"/>
                </a:lnSpc>
              </a:pP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1" y="1512875"/>
            <a:ext cx="10733557" cy="4690459"/>
          </a:xfrm>
          <a:prstGeom prst="rect">
            <a:avLst/>
          </a:prstGeom>
        </p:spPr>
        <p:txBody>
          <a:bodyPr lIns="0" tIns="0" rIns="0" bIns="0"/>
          <a:lstStyle>
            <a:lvl1pPr marL="179705" marR="0" indent="-168275" algn="l" defTabSz="1188085" rtl="0" eaLnBrk="1" fontAlgn="auto" latinLnBrk="0" hangingPunct="1">
              <a:lnSpc>
                <a:spcPct val="100000"/>
              </a:lnSpc>
              <a:spcBef>
                <a:spcPts val="0"/>
              </a:spcBef>
              <a:spcAft>
                <a:spcPts val="600"/>
              </a:spcAft>
              <a:buClr>
                <a:srgbClr val="000000"/>
              </a:buClr>
              <a:buSzTx/>
              <a:buFont typeface="Arial" panose="020B0604020202090204" pitchFamily="34" charset="0"/>
              <a:buChar char="•"/>
              <a:tabLst>
                <a:tab pos="1207770" algn="ctr"/>
              </a:tabLst>
              <a:defRPr sz="1800"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328930" marR="0" indent="-168275" algn="l" defTabSz="1188085" rtl="0" eaLnBrk="1" fontAlgn="auto" latinLnBrk="0" hangingPunct="1">
              <a:lnSpc>
                <a:spcPct val="100000"/>
              </a:lnSpc>
              <a:spcBef>
                <a:spcPts val="0"/>
              </a:spcBef>
              <a:spcAft>
                <a:spcPts val="600"/>
              </a:spcAft>
              <a:buClr>
                <a:schemeClr val="tx1"/>
              </a:buClr>
              <a:buSzTx/>
              <a:buFont typeface=".AppleSystemUIFont"/>
              <a:buChar char="&gt;"/>
              <a:tabLst>
                <a:tab pos="1207770" algn="ctr"/>
              </a:tabLst>
              <a:defRPr sz="1600" baseline="0">
                <a:latin typeface="微软雅黑" panose="020B0503020204020204" pitchFamily="34" charset="-122"/>
                <a:ea typeface="微软雅黑" panose="020B0503020204020204" pitchFamily="34" charset="-122"/>
              </a:defRPr>
            </a:lvl2pPr>
            <a:lvl3pPr marL="1098550" marR="0" indent="-168275" algn="l" defTabSz="1188085" rtl="0" eaLnBrk="1" fontAlgn="auto" latinLnBrk="0" hangingPunct="1">
              <a:lnSpc>
                <a:spcPct val="100000"/>
              </a:lnSpc>
              <a:spcBef>
                <a:spcPts val="0"/>
              </a:spcBef>
              <a:spcAft>
                <a:spcPts val="600"/>
              </a:spcAft>
              <a:buClr>
                <a:schemeClr val="tx1"/>
              </a:buClr>
              <a:buSzTx/>
              <a:buFont typeface=".AppleSystemUIFont"/>
              <a:buChar char="-"/>
              <a:tabLst>
                <a:tab pos="1207770" algn="ctr"/>
              </a:tabLst>
              <a:defRPr sz="1300" baseline="0">
                <a:latin typeface="微软雅黑" panose="020B0503020204020204" pitchFamily="34" charset="-122"/>
                <a:ea typeface="微软雅黑" panose="020B0503020204020204" pitchFamily="34" charset="-122"/>
              </a:defRPr>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zh-CN" altLang="en-US" dirty="0"/>
              <a:t>单击此处添加文本</a:t>
            </a:r>
            <a:endParaRPr lang="en-US" dirty="0"/>
          </a:p>
          <a:p>
            <a:pPr marL="328930" marR="0" lvl="1"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endParaRPr lang="en-US" altLang="zh-CN"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探索">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screen"/>
          <a:srcRect/>
          <a:stretch>
            <a:fillRect/>
          </a:stretch>
        </p:blipFill>
        <p:spPr>
          <a:xfrm>
            <a:off x="1" y="0"/>
            <a:ext cx="12196763" cy="5602265"/>
          </a:xfrm>
          <a:prstGeom prst="rect">
            <a:avLst/>
          </a:prstGeom>
        </p:spPr>
      </p:pic>
      <p:sp>
        <p:nvSpPr>
          <p:cNvPr id="7" name="L 形 6"/>
          <p:cNvSpPr/>
          <p:nvPr userDrawn="1"/>
        </p:nvSpPr>
        <p:spPr>
          <a:xfrm rot="5400000">
            <a:off x="7853942" y="2130562"/>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10" name="Title 1"/>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dirty="0"/>
              <a:t>单击此处添加标题</a:t>
            </a:r>
            <a:endParaRPr lang="en-US" dirty="0"/>
          </a:p>
        </p:txBody>
      </p:sp>
      <p:sp>
        <p:nvSpPr>
          <p:cNvPr id="6" name="Text Placeholder 5"/>
          <p:cNvSpPr>
            <a:spLocks noGrp="1"/>
          </p:cNvSpPr>
          <p:nvPr>
            <p:ph type="body" sz="quarter" idx="10" hasCustomPrompt="1"/>
          </p:nvPr>
        </p:nvSpPr>
        <p:spPr>
          <a:xfrm>
            <a:off x="929260" y="1949372"/>
            <a:ext cx="6535842" cy="643926"/>
          </a:xfrm>
        </p:spPr>
        <p:txBody>
          <a:bodyPr/>
          <a:lstStyle>
            <a:lvl1pPr>
              <a:defRPr sz="1400">
                <a:solidFill>
                  <a:schemeClr val="tx1"/>
                </a:solidFill>
              </a:defRPr>
            </a:lvl1pPr>
          </a:lstStyle>
          <a:p>
            <a:pPr lvl="0"/>
            <a:r>
              <a:rPr lang="zh-CN" altLang="en-US" dirty="0"/>
              <a:t>单击此处添加文本</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033620" y="1843088"/>
            <a:ext cx="10122060" cy="3013725"/>
          </a:xfrm>
          <a:prstGeom prst="rect">
            <a:avLst/>
          </a:prstGeom>
        </p:spPr>
        <p:txBody>
          <a:bodyPr tIns="90000" bIns="90000"/>
          <a:lstStyle>
            <a:lvl1pPr marL="412750" indent="-398780">
              <a:lnSpc>
                <a:spcPct val="70000"/>
              </a:lnSpc>
              <a:buFont typeface="+mj-lt"/>
              <a:buAutoNum type="arabicPeriod"/>
              <a:defRPr sz="2200">
                <a:solidFill>
                  <a:schemeClr val="tx1"/>
                </a:solidFill>
                <a:latin typeface="微软雅黑" panose="020B0503020204020204" pitchFamily="34" charset="-122"/>
                <a:ea typeface="微软雅黑" panose="020B0503020204020204" pitchFamily="34" charset="-122"/>
              </a:defRPr>
            </a:lvl1pPr>
            <a:lvl2pPr marL="412750" indent="-398780">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zh-CN" altLang="en-US" dirty="0"/>
              <a:t>单击此处添加文本</a:t>
            </a:r>
            <a:endParaRPr lang="en-US" altLang="zh-CN" dirty="0"/>
          </a:p>
        </p:txBody>
      </p:sp>
      <p:cxnSp>
        <p:nvCxnSpPr>
          <p:cNvPr id="3"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p:cNvSpPr txBox="1"/>
          <p:nvPr userDrawn="1"/>
        </p:nvSpPr>
        <p:spPr>
          <a:xfrm>
            <a:off x="918916" y="630373"/>
            <a:ext cx="1147485" cy="653509"/>
          </a:xfrm>
          <a:prstGeom prst="rect">
            <a:avLst/>
          </a:prstGeom>
          <a:noFill/>
        </p:spPr>
        <p:txBody>
          <a:bodyPr wrap="none" rtlCol="0">
            <a:spAutoFit/>
          </a:bodyPr>
          <a:lstStyle/>
          <a:p>
            <a:r>
              <a:rPr kumimoji="1" lang="zh-CN" altLang="en-US" sz="3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目录</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End page">
    <p:bg>
      <p:bgPr>
        <a:solidFill>
          <a:srgbClr val="FFFFFF"/>
        </a:solidFill>
        <a:effectLst/>
      </p:bgPr>
    </p:bg>
    <p:spTree>
      <p:nvGrpSpPr>
        <p:cNvPr id="1" name=""/>
        <p:cNvGrpSpPr/>
        <p:nvPr/>
      </p:nvGrpSpPr>
      <p:grpSpPr>
        <a:xfrm>
          <a:off x="0" y="0"/>
          <a:ext cx="0" cy="0"/>
          <a:chOff x="0" y="0"/>
          <a:chExt cx="0" cy="0"/>
        </a:xfrm>
      </p:grpSpPr>
      <p:sp>
        <p:nvSpPr>
          <p:cNvPr id="4" name="TextBox 3"/>
          <p:cNvSpPr txBox="1"/>
          <p:nvPr userDrawn="1"/>
        </p:nvSpPr>
        <p:spPr>
          <a:xfrm>
            <a:off x="607488" y="1402067"/>
            <a:ext cx="3921034" cy="854717"/>
          </a:xfrm>
          <a:prstGeom prst="rect">
            <a:avLst/>
          </a:prstGeom>
          <a:noFill/>
        </p:spPr>
        <p:txBody>
          <a:bodyPr wrap="square" rtlCol="0">
            <a:spAutoFit/>
          </a:bodyPr>
          <a:lstStyle/>
          <a:p>
            <a:pPr defTabSz="913765" fontAlgn="base">
              <a:spcBef>
                <a:spcPct val="0"/>
              </a:spcBef>
              <a:spcAft>
                <a:spcPct val="0"/>
              </a:spcAft>
            </a:pPr>
            <a:r>
              <a:rPr lang="en-US" sz="4795" dirty="0">
                <a:solidFill>
                  <a:srgbClr val="1D1D1A"/>
                </a:solidFill>
                <a:latin typeface="FrutigerNext LT Regular" pitchFamily="34" charset="0"/>
                <a:ea typeface="MS PGothic" panose="020B0600070205080204" pitchFamily="34" charset="-128"/>
              </a:rPr>
              <a:t>Thank you.</a:t>
            </a:r>
          </a:p>
        </p:txBody>
      </p:sp>
      <p:sp>
        <p:nvSpPr>
          <p:cNvPr id="3" name="Text Placeholder 1"/>
          <p:cNvSpPr txBox="1"/>
          <p:nvPr userDrawn="1"/>
        </p:nvSpPr>
        <p:spPr>
          <a:xfrm>
            <a:off x="7979359"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9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fontAlgn="base">
              <a:lnSpc>
                <a:spcPts val="1065"/>
              </a:lnSpc>
              <a:spcAft>
                <a:spcPct val="0"/>
              </a:spcAft>
            </a:pPr>
            <a:r>
              <a:rPr kumimoji="1" lang="en-US" altLang="zh-CN" sz="850" b="1" dirty="0">
                <a:solidFill>
                  <a:srgbClr val="1D1D1B"/>
                </a:solidFill>
                <a:latin typeface="Arial" panose="020B0604020202090204"/>
              </a:rPr>
              <a:t>Copyright©2018 Huawei Technologies Co., Ltd.</a:t>
            </a:r>
            <a:br>
              <a:rPr kumimoji="1" lang="en-US" altLang="zh-CN" sz="850" b="1" dirty="0">
                <a:solidFill>
                  <a:srgbClr val="1D1D1B"/>
                </a:solidFill>
                <a:latin typeface="Arial" panose="020B0604020202090204"/>
              </a:rPr>
            </a:br>
            <a:r>
              <a:rPr kumimoji="1" lang="en-US" altLang="zh-CN" sz="850" b="1" dirty="0">
                <a:solidFill>
                  <a:srgbClr val="1D1D1B"/>
                </a:solidFill>
                <a:latin typeface="Arial" panose="020B0604020202090204"/>
              </a:rPr>
              <a:t>All Rights Reserved.</a:t>
            </a:r>
            <a:br>
              <a:rPr kumimoji="1" lang="en-US" altLang="zh-CN" sz="780" dirty="0">
                <a:solidFill>
                  <a:srgbClr val="1D1D1B"/>
                </a:solidFill>
                <a:latin typeface="Arial" panose="020B0604020202090204"/>
              </a:rPr>
            </a:br>
            <a:br>
              <a:rPr kumimoji="1" lang="en-US" altLang="zh-CN" sz="780" dirty="0">
                <a:solidFill>
                  <a:srgbClr val="1D1D1B"/>
                </a:solidFill>
                <a:latin typeface="Arial" panose="020B0604020202090204"/>
              </a:rPr>
            </a:br>
            <a:r>
              <a:rPr kumimoji="1" lang="en-US" altLang="zh-CN" sz="850" dirty="0">
                <a:solidFill>
                  <a:srgbClr val="1D1D1B"/>
                </a:solidFill>
                <a:latin typeface="Arial" panose="020B0604020202090204"/>
                <a:cs typeface="Arial" panose="020B0604020202090204" pitchFamily="34" charset="0"/>
              </a:rPr>
              <a:t>The information in this document may contain predictive </a:t>
            </a:r>
            <a:br>
              <a:rPr kumimoji="1" lang="en-US" altLang="zh-CN" sz="850" dirty="0">
                <a:solidFill>
                  <a:srgbClr val="1D1D1B"/>
                </a:solidFill>
                <a:latin typeface="Arial" panose="020B0604020202090204"/>
                <a:cs typeface="Arial" panose="020B0604020202090204" pitchFamily="34" charset="0"/>
              </a:rPr>
            </a:br>
            <a:r>
              <a:rPr kumimoji="1" lang="en-US" altLang="zh-CN" sz="850" dirty="0">
                <a:solidFill>
                  <a:srgbClr val="1D1D1B"/>
                </a:solidFill>
                <a:latin typeface="Arial" panose="020B0604020202090204"/>
                <a:cs typeface="Arial" panose="020B0604020202090204" pitchFamily="34" charset="0"/>
              </a:rPr>
              <a:t>statements including, without limitation, statements regarding </a:t>
            </a:r>
            <a:br>
              <a:rPr kumimoji="1" lang="en-US" altLang="zh-CN" sz="850" dirty="0">
                <a:solidFill>
                  <a:srgbClr val="1D1D1B"/>
                </a:solidFill>
                <a:latin typeface="Arial" panose="020B0604020202090204"/>
                <a:cs typeface="Arial" panose="020B0604020202090204" pitchFamily="34" charset="0"/>
              </a:rPr>
            </a:br>
            <a:r>
              <a:rPr kumimoji="1" lang="en-US" altLang="zh-CN" sz="850" dirty="0">
                <a:solidFill>
                  <a:srgbClr val="1D1D1B"/>
                </a:solidFill>
                <a:latin typeface="Arial" panose="020B0604020202090204"/>
                <a:cs typeface="Arial" panose="020B0604020202090204" pitchFamily="34" charset="0"/>
              </a:rPr>
              <a:t>the future financial and operating results, future product </a:t>
            </a:r>
            <a:br>
              <a:rPr kumimoji="1" lang="en-US" altLang="zh-CN" sz="850" dirty="0">
                <a:solidFill>
                  <a:srgbClr val="1D1D1B"/>
                </a:solidFill>
                <a:latin typeface="Arial" panose="020B0604020202090204"/>
                <a:cs typeface="Arial" panose="020B0604020202090204" pitchFamily="34" charset="0"/>
              </a:rPr>
            </a:br>
            <a:r>
              <a:rPr kumimoji="1" lang="en-US" altLang="zh-CN" sz="850" dirty="0">
                <a:solidFill>
                  <a:srgbClr val="1D1D1B"/>
                </a:solidFill>
                <a:latin typeface="Arial" panose="020B0604020202090204"/>
                <a:cs typeface="Arial" panose="020B0604020202090204" pitchFamily="34" charset="0"/>
              </a:rPr>
              <a:t>portfolio, new technology, etc. There are a number of factors that </a:t>
            </a:r>
            <a:br>
              <a:rPr kumimoji="1" lang="en-US" altLang="zh-CN" sz="850" dirty="0">
                <a:solidFill>
                  <a:srgbClr val="1D1D1B"/>
                </a:solidFill>
                <a:latin typeface="Arial" panose="020B0604020202090204"/>
                <a:cs typeface="Arial" panose="020B0604020202090204" pitchFamily="34" charset="0"/>
              </a:rPr>
            </a:br>
            <a:r>
              <a:rPr kumimoji="1" lang="en-US" altLang="zh-CN" sz="850" dirty="0">
                <a:solidFill>
                  <a:srgbClr val="1D1D1B"/>
                </a:solidFill>
                <a:latin typeface="Arial" panose="020B0604020202090204"/>
                <a:cs typeface="Arial" panose="020B0604020202090204" pitchFamily="34" charset="0"/>
              </a:rPr>
              <a:t>could cause actual results and developments to differ materially </a:t>
            </a:r>
            <a:br>
              <a:rPr kumimoji="1" lang="en-US" altLang="zh-CN" sz="850" dirty="0">
                <a:solidFill>
                  <a:srgbClr val="1D1D1B"/>
                </a:solidFill>
                <a:latin typeface="Arial" panose="020B0604020202090204"/>
                <a:cs typeface="Arial" panose="020B0604020202090204" pitchFamily="34" charset="0"/>
              </a:rPr>
            </a:br>
            <a:r>
              <a:rPr kumimoji="1" lang="en-US" altLang="zh-CN" sz="850" dirty="0">
                <a:solidFill>
                  <a:srgbClr val="1D1D1B"/>
                </a:solidFill>
                <a:latin typeface="Arial" panose="020B0604020202090204"/>
                <a:cs typeface="Arial" panose="020B0604020202090204" pitchFamily="34" charset="0"/>
              </a:rPr>
              <a:t>from those expressed or implied in the predictive statements. </a:t>
            </a:r>
            <a:br>
              <a:rPr kumimoji="1" lang="en-US" altLang="zh-CN" sz="850" dirty="0">
                <a:solidFill>
                  <a:srgbClr val="1D1D1B"/>
                </a:solidFill>
                <a:latin typeface="Arial" panose="020B0604020202090204"/>
                <a:cs typeface="Arial" panose="020B0604020202090204" pitchFamily="34" charset="0"/>
              </a:rPr>
            </a:br>
            <a:r>
              <a:rPr kumimoji="1" lang="en-US" altLang="zh-CN" sz="850" dirty="0">
                <a:solidFill>
                  <a:srgbClr val="1D1D1B"/>
                </a:solidFill>
                <a:latin typeface="Arial" panose="020B0604020202090204"/>
                <a:cs typeface="Arial" panose="020B0604020202090204" pitchFamily="34" charset="0"/>
              </a:rPr>
              <a:t>Therefore, such information is provided for reference purpose </a:t>
            </a:r>
            <a:br>
              <a:rPr kumimoji="1" lang="en-US" altLang="zh-CN" sz="850" dirty="0">
                <a:solidFill>
                  <a:srgbClr val="1D1D1B"/>
                </a:solidFill>
                <a:latin typeface="Arial" panose="020B0604020202090204"/>
                <a:cs typeface="Arial" panose="020B0604020202090204" pitchFamily="34" charset="0"/>
              </a:rPr>
            </a:br>
            <a:r>
              <a:rPr kumimoji="1" lang="en-US" altLang="zh-CN" sz="850" dirty="0">
                <a:solidFill>
                  <a:srgbClr val="1D1D1B"/>
                </a:solidFill>
                <a:latin typeface="Arial" panose="020B0604020202090204"/>
                <a:cs typeface="Arial" panose="020B0604020202090204" pitchFamily="34" charset="0"/>
              </a:rPr>
              <a:t>only and constitutes neither an offer nor an acceptance. Huawei </a:t>
            </a:r>
            <a:br>
              <a:rPr kumimoji="1" lang="en-US" altLang="zh-CN" sz="850" dirty="0">
                <a:solidFill>
                  <a:srgbClr val="1D1D1B"/>
                </a:solidFill>
                <a:latin typeface="Arial" panose="020B0604020202090204"/>
                <a:cs typeface="Arial" panose="020B0604020202090204" pitchFamily="34" charset="0"/>
              </a:rPr>
            </a:br>
            <a:r>
              <a:rPr kumimoji="1" lang="en-US" altLang="zh-CN" sz="850" dirty="0">
                <a:solidFill>
                  <a:srgbClr val="1D1D1B"/>
                </a:solidFill>
                <a:latin typeface="Arial" panose="020B0604020202090204"/>
                <a:cs typeface="Arial" panose="020B0604020202090204" pitchFamily="34" charset="0"/>
              </a:rPr>
              <a:t>may change the information at any time without notice. </a:t>
            </a:r>
          </a:p>
          <a:p>
            <a:pPr fontAlgn="base">
              <a:lnSpc>
                <a:spcPts val="1065"/>
              </a:lnSpc>
              <a:spcAft>
                <a:spcPct val="0"/>
              </a:spcAft>
            </a:pPr>
            <a:endParaRPr kumimoji="1" lang="zh-CN" altLang="en-US" sz="780" dirty="0">
              <a:solidFill>
                <a:srgbClr val="1D1D1B"/>
              </a:solidFill>
              <a:latin typeface="Arial" panose="020B0604020202090204"/>
            </a:endParaRPr>
          </a:p>
        </p:txBody>
      </p:sp>
      <p:sp>
        <p:nvSpPr>
          <p:cNvPr id="5" name="Subtitle 6"/>
          <p:cNvSpPr txBox="1"/>
          <p:nvPr userDrawn="1"/>
        </p:nvSpPr>
        <p:spPr>
          <a:xfrm>
            <a:off x="7987278"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9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fontAlgn="base">
              <a:lnSpc>
                <a:spcPts val="1680"/>
              </a:lnSpc>
              <a:spcBef>
                <a:spcPts val="0"/>
              </a:spcBef>
              <a:spcAft>
                <a:spcPct val="0"/>
              </a:spcAft>
            </a:pPr>
            <a:r>
              <a:rPr kumimoji="1" lang="zh-CN" altLang="en-US"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rPr>
              <a:t>把数字世界带入每个人、每个家庭、</a:t>
            </a:r>
            <a:br>
              <a:rPr kumimoji="1" lang="en-US" altLang="zh-CN"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rPr>
            </a:br>
            <a:r>
              <a:rPr kumimoji="1" lang="zh-CN" altLang="en-US"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rPr>
              <a:t>每个组织，构建万物互联的智能世界。</a:t>
            </a:r>
          </a:p>
        </p:txBody>
      </p:sp>
      <p:sp>
        <p:nvSpPr>
          <p:cNvPr id="6" name="Subtitle 6"/>
          <p:cNvSpPr txBox="1"/>
          <p:nvPr userDrawn="1"/>
        </p:nvSpPr>
        <p:spPr>
          <a:xfrm>
            <a:off x="7977674"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90204" pitchFamily="34" charset="0"/>
              <a:buNone/>
              <a:defRPr sz="14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fontAlgn="base">
              <a:lnSpc>
                <a:spcPts val="1290"/>
              </a:lnSpc>
              <a:spcAft>
                <a:spcPct val="0"/>
              </a:spcAft>
            </a:pPr>
            <a:r>
              <a:rPr kumimoji="1" lang="en-US" altLang="zh-CN" sz="1200" dirty="0">
                <a:solidFill>
                  <a:srgbClr val="1D1D1B"/>
                </a:solidFill>
                <a:latin typeface="Arial" panose="020B0604020202090204"/>
                <a:cs typeface="Arial" panose="020B0604020202090204" pitchFamily="34" charset="0"/>
              </a:rPr>
              <a:t>Bring digital to every person, home and </a:t>
            </a:r>
            <a:br>
              <a:rPr kumimoji="1" lang="en-US" altLang="zh-CN" sz="1200" dirty="0">
                <a:solidFill>
                  <a:srgbClr val="1D1D1B"/>
                </a:solidFill>
                <a:latin typeface="Arial" panose="020B0604020202090204"/>
                <a:cs typeface="Arial" panose="020B0604020202090204" pitchFamily="34" charset="0"/>
              </a:rPr>
            </a:br>
            <a:r>
              <a:rPr kumimoji="1" lang="en-US" altLang="zh-CN" sz="1200" dirty="0">
                <a:solidFill>
                  <a:srgbClr val="1D1D1B"/>
                </a:solidFill>
                <a:latin typeface="Arial" panose="020B0604020202090204"/>
                <a:cs typeface="Arial" panose="020B0604020202090204" pitchFamily="34" charset="0"/>
              </a:rPr>
              <a:t>organization for a fully connected, </a:t>
            </a:r>
            <a:br>
              <a:rPr kumimoji="1" lang="en-US" altLang="zh-CN" sz="1200" dirty="0">
                <a:solidFill>
                  <a:srgbClr val="1D1D1B"/>
                </a:solidFill>
                <a:latin typeface="Arial" panose="020B0604020202090204"/>
                <a:cs typeface="Arial" panose="020B0604020202090204" pitchFamily="34" charset="0"/>
              </a:rPr>
            </a:br>
            <a:r>
              <a:rPr kumimoji="1" lang="en-US" altLang="zh-CN" sz="1200" dirty="0">
                <a:solidFill>
                  <a:srgbClr val="1D1D1B"/>
                </a:solidFill>
                <a:latin typeface="Arial" panose="020B0604020202090204"/>
                <a:cs typeface="Arial" panose="020B0604020202090204" pitchFamily="34" charset="0"/>
              </a:rPr>
              <a:t>intelligent world.</a:t>
            </a:r>
            <a:endParaRPr kumimoji="1" lang="zh-CN" altLang="en-US" sz="1200" dirty="0">
              <a:solidFill>
                <a:srgbClr val="1D1D1B"/>
              </a:solidFill>
              <a:latin typeface="Arial" panose="020B0604020202090204"/>
              <a:ea typeface="微软雅黑" panose="020B0503020204020204" pitchFamily="34" charset="-122"/>
              <a:cs typeface="微软雅黑" panose="020B0503020204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528" y="365129"/>
            <a:ext cx="10519708"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528" y="1825625"/>
            <a:ext cx="10519708" cy="4351339"/>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530" y="6356366"/>
            <a:ext cx="2744272" cy="365125"/>
          </a:xfrm>
          <a:prstGeom prst="rect">
            <a:avLst/>
          </a:prstGeom>
        </p:spPr>
        <p:txBody>
          <a:bodyPr/>
          <a:lstStyle/>
          <a:p>
            <a:pPr defTabSz="911860" fontAlgn="base">
              <a:spcBef>
                <a:spcPct val="0"/>
              </a:spcBef>
              <a:spcAft>
                <a:spcPct val="0"/>
              </a:spcAft>
            </a:pPr>
            <a:fld id="{CE6777DC-D225-4028-AD0B-277BE12772E8}" type="datetimeFigureOut">
              <a:rPr lang="zh-CN" altLang="en-US" sz="1200" smtClean="0">
                <a:solidFill>
                  <a:srgbClr val="1D1D1A"/>
                </a:solidFill>
                <a:latin typeface="FrutigerNext LT Regular" pitchFamily="34" charset="0"/>
                <a:ea typeface="MS PGothic" panose="020B0600070205080204" pitchFamily="34" charset="-128"/>
              </a:rPr>
              <a:t>2026/10/12</a:t>
            </a:fld>
            <a:endParaRPr lang="zh-CN" altLang="en-US" sz="1200">
              <a:solidFill>
                <a:srgbClr val="1D1D1A"/>
              </a:solidFill>
              <a:latin typeface="FrutigerNext LT Regular" pitchFamily="34" charset="0"/>
              <a:ea typeface="MS PGothic" panose="020B0600070205080204" pitchFamily="34" charset="-128"/>
            </a:endParaRPr>
          </a:p>
        </p:txBody>
      </p:sp>
      <p:sp>
        <p:nvSpPr>
          <p:cNvPr id="5" name="页脚占位符 4"/>
          <p:cNvSpPr>
            <a:spLocks noGrp="1"/>
          </p:cNvSpPr>
          <p:nvPr>
            <p:ph type="ftr" sz="quarter" idx="11"/>
          </p:nvPr>
        </p:nvSpPr>
        <p:spPr>
          <a:xfrm>
            <a:off x="4040178" y="6356366"/>
            <a:ext cx="4116408" cy="365125"/>
          </a:xfrm>
          <a:prstGeom prst="rect">
            <a:avLst/>
          </a:prstGeom>
        </p:spPr>
        <p:txBody>
          <a:bodyPr/>
          <a:lstStyle/>
          <a:p>
            <a:pPr defTabSz="911860" fontAlgn="base">
              <a:spcBef>
                <a:spcPct val="0"/>
              </a:spcBef>
              <a:spcAft>
                <a:spcPct val="0"/>
              </a:spcAft>
            </a:pPr>
            <a:endParaRPr lang="zh-CN" altLang="en-US" sz="1200">
              <a:solidFill>
                <a:srgbClr val="1D1D1A"/>
              </a:solidFill>
              <a:latin typeface="FrutigerNext LT Regular" pitchFamily="34" charset="0"/>
              <a:ea typeface="MS PGothic" panose="020B0600070205080204" pitchFamily="34" charset="-128"/>
            </a:endParaRPr>
          </a:p>
        </p:txBody>
      </p:sp>
      <p:sp>
        <p:nvSpPr>
          <p:cNvPr id="6" name="灯片编号占位符 5"/>
          <p:cNvSpPr>
            <a:spLocks noGrp="1"/>
          </p:cNvSpPr>
          <p:nvPr>
            <p:ph type="sldNum" sz="quarter" idx="12"/>
          </p:nvPr>
        </p:nvSpPr>
        <p:spPr>
          <a:xfrm>
            <a:off x="8613964" y="6356366"/>
            <a:ext cx="2744272" cy="365125"/>
          </a:xfrm>
          <a:prstGeom prst="rect">
            <a:avLst/>
          </a:prstGeom>
        </p:spPr>
        <p:txBody>
          <a:bodyPr/>
          <a:lstStyle/>
          <a:p>
            <a:pPr defTabSz="911860" fontAlgn="base">
              <a:spcBef>
                <a:spcPct val="0"/>
              </a:spcBef>
              <a:spcAft>
                <a:spcPct val="0"/>
              </a:spcAft>
            </a:pPr>
            <a:fld id="{EA071C81-BE34-4A1D-82F0-99073968B939}" type="slidenum">
              <a:rPr lang="zh-CN" altLang="en-US" sz="1200" smtClean="0">
                <a:solidFill>
                  <a:srgbClr val="1D1D1A"/>
                </a:solidFill>
                <a:latin typeface="FrutigerNext LT Regular" pitchFamily="34" charset="0"/>
                <a:ea typeface="MS PGothic" panose="020B0600070205080204" pitchFamily="34" charset="-128"/>
              </a:rPr>
              <a:t>‹#›</a:t>
            </a:fld>
            <a:endParaRPr lang="zh-CN" altLang="en-US" sz="1200">
              <a:solidFill>
                <a:srgbClr val="1D1D1A"/>
              </a:solidFill>
              <a:latin typeface="FrutigerNext LT Regular" pitchFamily="34" charset="0"/>
              <a:ea typeface="MS PGothic" panose="020B0600070205080204" pitchFamily="34" charset="-128"/>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520" y="2129932"/>
            <a:ext cx="10367725" cy="1471272"/>
          </a:xfrm>
          <a:prstGeom prst="rect">
            <a:avLst/>
          </a:prstGeom>
        </p:spPr>
        <p:txBody>
          <a:bodyPr>
            <a:normAutofit/>
          </a:bodyPr>
          <a:lstStyle>
            <a:lvl1pPr algn="ctr">
              <a:defRPr sz="4000">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40pt </a:t>
            </a:r>
            <a:r>
              <a:rPr lang="zh-CN" altLang="en-US" dirty="0"/>
              <a:t>，居中，最多两行</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封面">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分隔页">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6763" cy="685800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深色内页">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6763" cy="685800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封底">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6763" cy="685800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en-US" dirty="0"/>
              <a:t>Click to edit Master title style</a:t>
            </a:r>
          </a:p>
        </p:txBody>
      </p:sp>
      <p:sp>
        <p:nvSpPr>
          <p:cNvPr id="7" name="Content Placeholder 2"/>
          <p:cNvSpPr>
            <a:spLocks noGrp="1"/>
          </p:cNvSpPr>
          <p:nvPr>
            <p:ph idx="10" hasCustomPrompt="1"/>
          </p:nvPr>
        </p:nvSpPr>
        <p:spPr>
          <a:xfrm>
            <a:off x="726022"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25780" indent="-171450">
              <a:buFont typeface="Arial" panose="020B0604020202090204" pitchFamily="34" charset="0"/>
              <a:buChar char="•"/>
              <a:tabLst>
                <a:tab pos="1208405" algn="ctr"/>
              </a:tabLst>
              <a:defRPr sz="1300" baseline="0"/>
            </a:lvl2pPr>
            <a:lvl3pPr marL="525780" indent="-171450">
              <a:buFont typeface="Arial" panose="020B0604020202090204" pitchFamily="34" charset="0"/>
              <a:buChar char="•"/>
              <a:tabLst>
                <a:tab pos="1208405" algn="ctr"/>
              </a:tabLst>
              <a:defRPr sz="1300" baseline="0"/>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en-US" dirty="0"/>
              <a:t>Click to edit Master text style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9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7"/>
            <a:ext cx="10740640" cy="543547"/>
          </a:xfrm>
          <a:prstGeom prst="rect">
            <a:avLst/>
          </a:prstGeom>
        </p:spPr>
        <p:txBody>
          <a:bodyPr lIns="0" tIns="0" rIns="0" bIns="0" anchor="ctr">
            <a:normAutofit/>
          </a:bodyPr>
          <a:lstStyle>
            <a:lvl1pPr marL="0" indent="0" algn="l">
              <a:lnSpc>
                <a:spcPts val="3430"/>
              </a:lnSpc>
              <a:spcBef>
                <a:spcPts val="0"/>
              </a:spcBef>
              <a:buNone/>
              <a:defRPr sz="3200" b="1" baseline="0">
                <a:solidFill>
                  <a:schemeClr val="bg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595"/>
            </a:lvl2pPr>
            <a:lvl3pPr marL="1186815" indent="0" algn="ctr">
              <a:buNone/>
              <a:defRPr sz="2335"/>
            </a:lvl3pPr>
            <a:lvl4pPr marL="1780540" indent="0" algn="ctr">
              <a:buNone/>
              <a:defRPr sz="2075"/>
            </a:lvl4pPr>
            <a:lvl5pPr marL="2373630" indent="0" algn="ctr">
              <a:buNone/>
              <a:defRPr sz="2075"/>
            </a:lvl5pPr>
            <a:lvl6pPr marL="2967355" indent="0" algn="ctr">
              <a:buNone/>
              <a:defRPr sz="2075"/>
            </a:lvl6pPr>
            <a:lvl7pPr marL="3560445" indent="0" algn="ctr">
              <a:buNone/>
              <a:defRPr sz="2075"/>
            </a:lvl7pPr>
            <a:lvl8pPr marL="4154170" indent="0" algn="ctr">
              <a:buNone/>
              <a:defRPr sz="2075"/>
            </a:lvl8pPr>
            <a:lvl9pPr marL="4747260" indent="0" algn="ctr">
              <a:buNone/>
              <a:defRPr sz="2075"/>
            </a:lvl9pPr>
          </a:lstStyle>
          <a:p>
            <a:r>
              <a:rPr lang="en-US" dirty="0"/>
              <a:t>Click to edit Master title style</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中文版式">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5"/>
            <a:ext cx="10740640" cy="543547"/>
          </a:xfrm>
          <a:prstGeom prst="rect">
            <a:avLst/>
          </a:prstGeom>
        </p:spPr>
        <p:txBody>
          <a:bodyPr lIns="0" tIns="0" rIns="0" bIns="0" anchor="ctr">
            <a:normAutofit/>
          </a:bodyPr>
          <a:lstStyle>
            <a:lvl1pPr marL="0" indent="0" algn="l">
              <a:lnSpc>
                <a:spcPts val="3430"/>
              </a:lnSpc>
              <a:spcBef>
                <a:spcPts val="0"/>
              </a:spcBef>
              <a:buNone/>
              <a:defRPr sz="2400" b="1"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595"/>
            </a:lvl2pPr>
            <a:lvl3pPr marL="1187450" indent="0" algn="ctr">
              <a:buNone/>
              <a:defRPr sz="2340"/>
            </a:lvl3pPr>
            <a:lvl4pPr marL="1781175" indent="0" algn="ctr">
              <a:buNone/>
              <a:defRPr sz="2080"/>
            </a:lvl4pPr>
            <a:lvl5pPr marL="2374900" indent="0" algn="ctr">
              <a:buNone/>
              <a:defRPr sz="2080"/>
            </a:lvl5pPr>
            <a:lvl6pPr marL="2968625" indent="0" algn="ctr">
              <a:buNone/>
              <a:defRPr sz="2080"/>
            </a:lvl6pPr>
            <a:lvl7pPr marL="3562350" indent="0" algn="ctr">
              <a:buNone/>
              <a:defRPr sz="2080"/>
            </a:lvl7pPr>
            <a:lvl8pPr marL="4156075" indent="0" algn="ctr">
              <a:buNone/>
              <a:defRPr sz="2080"/>
            </a:lvl8pPr>
            <a:lvl9pPr marL="4749800" indent="0" algn="ctr">
              <a:buNone/>
              <a:defRPr sz="2080"/>
            </a:lvl9pPr>
          </a:lstStyle>
          <a:p>
            <a:r>
              <a:rPr lang="en-US" dirty="0"/>
              <a:t>Click to edit Master title style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中文版式">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839" y="275172"/>
            <a:ext cx="10977087"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8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8"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525780" indent="-171450">
              <a:buFont typeface="Arial" panose="020B0604020202090204" pitchFamily="34" charset="0"/>
              <a:buChar char="•"/>
              <a:tabLst>
                <a:tab pos="1208405" algn="ctr"/>
              </a:tabLst>
              <a:defRPr sz="1300" baseline="0"/>
            </a:lvl2pPr>
            <a:lvl3pPr marL="525780" indent="-171450">
              <a:buFont typeface="Arial" panose="020B0604020202090204" pitchFamily="34" charset="0"/>
              <a:buChar char="•"/>
              <a:tabLst>
                <a:tab pos="1208405" algn="ctr"/>
              </a:tabLst>
              <a:defRPr sz="1300" baseline="0"/>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zh-CN" altLang="en-US" dirty="0"/>
              <a:t>单击此处添加文本</a:t>
            </a:r>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81306" y="336815"/>
            <a:ext cx="10458982" cy="759668"/>
          </a:xfrm>
          <a:prstGeom prst="rect">
            <a:avLst/>
          </a:prstGeom>
          <a:noFill/>
          <a:ln w="9525" algn="ctr">
            <a:noFill/>
            <a:miter lim="800000"/>
          </a:ln>
          <a:effectLst/>
        </p:spPr>
        <p:txBody>
          <a:bodyPr vert="horz" wrap="square" lIns="91393" tIns="45697" rIns="91393" bIns="45697" numCol="1" anchor="ctr" anchorCtr="0" compatLnSpc="1"/>
          <a:lstStyle>
            <a:lvl1pPr marL="0" indent="0">
              <a:buFont typeface="Arial" panose="020B0604020202090204" pitchFamily="34" charset="0"/>
              <a:buNone/>
              <a:defRPr lang="zh-CN" altLang="en-US" sz="3995" b="0" dirty="0">
                <a:solidFill>
                  <a:schemeClr val="tx2"/>
                </a:solidFill>
                <a:latin typeface="FrutigerNext LT Light" pitchFamily="34" charset="0"/>
                <a:ea typeface="黑体" pitchFamily="49" charset="-122"/>
              </a:defRPr>
            </a:lvl1pPr>
          </a:lstStyle>
          <a:p>
            <a:pPr lvl="0"/>
            <a:r>
              <a:rPr lang="en-US" altLang="zh-CN" dirty="0"/>
              <a:t>HEADLINE TEXT TO BE PLACED</a:t>
            </a:r>
            <a:endParaRPr lang="zh-CN" altLang="en-US" dirty="0"/>
          </a:p>
        </p:txBody>
      </p:sp>
    </p:spTree>
  </p:cSld>
  <p:clrMapOvr>
    <a:masterClrMapping/>
  </p:clrMapOvr>
  <p:transition>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1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927" y="449287"/>
            <a:ext cx="10180910" cy="871537"/>
          </a:xfrm>
          <a:prstGeom prst="rect">
            <a:avLst/>
          </a:prstGeom>
        </p:spPr>
        <p:txBody>
          <a:bodyPr lIns="91434" tIns="45717" rIns="91434" bIns="45717"/>
          <a:lstStyle/>
          <a:p>
            <a:r>
              <a:rPr lang="en-US"/>
              <a:t>Click to edit Master title style</a:t>
            </a:r>
          </a:p>
        </p:txBody>
      </p:sp>
      <p:sp>
        <p:nvSpPr>
          <p:cNvPr id="4" name="Content Placeholder 3"/>
          <p:cNvSpPr>
            <a:spLocks noGrp="1"/>
          </p:cNvSpPr>
          <p:nvPr>
            <p:ph sz="quarter" idx="10"/>
          </p:nvPr>
        </p:nvSpPr>
        <p:spPr>
          <a:xfrm>
            <a:off x="1019183" y="1628384"/>
            <a:ext cx="10158399" cy="4584744"/>
          </a:xfrm>
          <a:prstGeom prst="rect">
            <a:avLst/>
          </a:prstGeom>
        </p:spPr>
        <p:txBody>
          <a:bodyPr lIns="91434" tIns="45717" rIns="91434" bIns="45717"/>
          <a:lstStyle>
            <a:lvl1pPr>
              <a:defRPr sz="3200"/>
            </a:lvl1pPr>
            <a:lvl2pPr>
              <a:defRPr sz="2665"/>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advClick="0" advTm="8000">
    <p:fade thruBlk="1"/>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custDataLst>
              <p:tags r:id="rId1"/>
            </p:custDataLst>
          </p:nvPr>
        </p:nvPicPr>
        <p:blipFill>
          <a:blip r:embed="rId6"/>
          <a:stretch>
            <a:fillRect/>
          </a:stretch>
        </p:blipFill>
        <p:spPr>
          <a:xfrm>
            <a:off x="1" y="0"/>
            <a:ext cx="12196763" cy="5602265"/>
          </a:xfrm>
          <a:prstGeom prst="rect">
            <a:avLst/>
          </a:prstGeom>
        </p:spPr>
      </p:pic>
      <p:sp>
        <p:nvSpPr>
          <p:cNvPr id="18" name="L 形 17"/>
          <p:cNvSpPr/>
          <p:nvPr userDrawn="1">
            <p:custDataLst>
              <p:tags r:id="rId2"/>
            </p:custDataLst>
          </p:nvPr>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custDataLst>
              <p:tags r:id="rId3"/>
            </p:custDataLst>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a:t>单击此处添加标题</a:t>
            </a:r>
            <a:endParaRPr lang="en-US"/>
          </a:p>
        </p:txBody>
      </p:sp>
      <p:sp>
        <p:nvSpPr>
          <p:cNvPr id="5" name="Text Placeholder 5"/>
          <p:cNvSpPr>
            <a:spLocks noGrp="1"/>
          </p:cNvSpPr>
          <p:nvPr>
            <p:ph type="body" sz="quarter" idx="10" hasCustomPrompt="1"/>
            <p:custDataLst>
              <p:tags r:id="rId4"/>
            </p:custDataLst>
          </p:nvPr>
        </p:nvSpPr>
        <p:spPr>
          <a:xfrm>
            <a:off x="929260" y="1949372"/>
            <a:ext cx="6535842" cy="643926"/>
          </a:xfrm>
          <a:prstGeom prst="rect">
            <a:avLst/>
          </a:prstGeom>
        </p:spPr>
        <p:txBody>
          <a:bodyPr/>
          <a:lstStyle>
            <a:lvl1pPr>
              <a:defRPr sz="1400">
                <a:solidFill>
                  <a:schemeClr val="tx1"/>
                </a:solidFill>
              </a:defRPr>
            </a:lvl1pPr>
          </a:lstStyle>
          <a:p>
            <a:pPr lvl="0"/>
            <a:r>
              <a:rPr lang="zh-CN" altLang="en-US"/>
              <a:t>单击此处添加文本</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7" name="Title 6"/>
          <p:cNvSpPr>
            <a:spLocks noGrp="1"/>
          </p:cNvSpPr>
          <p:nvPr>
            <p:ph type="title"/>
            <p:custDataLst>
              <p:tags r:id="rId1"/>
            </p:custDataLst>
          </p:nvPr>
        </p:nvSpPr>
        <p:spPr>
          <a:xfrm>
            <a:off x="362310" y="258793"/>
            <a:ext cx="10996146" cy="491706"/>
          </a:xfrm>
          <a:prstGeom prst="rect">
            <a:avLst/>
          </a:prstGeom>
        </p:spPr>
        <p:txBody>
          <a:bodyPr>
            <a:noAutofit/>
          </a:bodyPr>
          <a:lstStyle>
            <a:lvl1pPr>
              <a:defRPr sz="2000" b="1">
                <a:solidFill>
                  <a:srgbClr val="C00000"/>
                </a:solidFill>
              </a:defRPr>
            </a:lvl1pPr>
          </a:lstStyle>
          <a:p>
            <a:r>
              <a:rPr lang="en-US"/>
              <a:t>Click to edit Master title style</a:t>
            </a:r>
          </a:p>
        </p:txBody>
      </p:sp>
      <p:sp>
        <p:nvSpPr>
          <p:cNvPr id="9" name="内容占位符 2"/>
          <p:cNvSpPr>
            <a:spLocks noGrp="1"/>
          </p:cNvSpPr>
          <p:nvPr>
            <p:ph idx="1"/>
            <p:custDataLst>
              <p:tags r:id="rId2"/>
            </p:custDataLst>
          </p:nvPr>
        </p:nvSpPr>
        <p:spPr>
          <a:xfrm>
            <a:off x="-1982311" y="750499"/>
            <a:ext cx="10996146" cy="4797904"/>
          </a:xfrm>
          <a:prstGeom prst="rect">
            <a:avLst/>
          </a:prstGeom>
        </p:spPr>
        <p:txBody>
          <a:bodyPr/>
          <a:lstStyle>
            <a:lvl1pPr>
              <a:defRPr sz="1600"/>
            </a:lvl1pPr>
            <a:lvl2pPr>
              <a:defRPr sz="1100"/>
            </a:lvl2pPr>
            <a:lvl3pPr>
              <a:defRPr sz="1100"/>
            </a:lvl3pPr>
            <a:lvl4pPr>
              <a:defRPr sz="1100"/>
            </a:lvl4pPr>
            <a:lvl5pPr>
              <a:defRPr sz="11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Text Box 5"/>
          <p:cNvSpPr txBox="1">
            <a:spLocks noChangeArrowheads="1"/>
          </p:cNvSpPr>
          <p:nvPr userDrawn="1">
            <p:custDataLst>
              <p:tags r:id="rId3"/>
            </p:custDataLst>
          </p:nvPr>
        </p:nvSpPr>
        <p:spPr bwMode="auto">
          <a:xfrm>
            <a:off x="870312" y="6471876"/>
            <a:ext cx="2506524" cy="274626"/>
          </a:xfrm>
          <a:prstGeom prst="rect">
            <a:avLst/>
          </a:prstGeom>
          <a:noFill/>
          <a:ln w="9525">
            <a:noFill/>
            <a:miter lim="800000"/>
          </a:ln>
        </p:spPr>
        <p:txBody>
          <a:bodyPr wrap="none" lIns="104210" tIns="52106" rIns="104210" bIns="52106">
            <a:spAutoFit/>
          </a:bodyPr>
          <a:lstStyle/>
          <a:p>
            <a:pPr defTabSz="1043305" eaLnBrk="0" fontAlgn="base" hangingPunct="0">
              <a:spcBef>
                <a:spcPct val="0"/>
              </a:spcBef>
              <a:spcAft>
                <a:spcPct val="0"/>
              </a:spcAft>
            </a:pPr>
            <a:r>
              <a:rPr lang="en-US" altLang="zh-CN" sz="1100">
                <a:solidFill>
                  <a:srgbClr val="000000"/>
                </a:solidFill>
                <a:latin typeface="FrutigerNext LT Bold" pitchFamily="1" charset="0"/>
                <a:ea typeface="MS PGothic" panose="020B0600070205080204" pitchFamily="34" charset="-128"/>
              </a:rPr>
              <a:t>HUAWEI TECHNOLOGIES Co., Ltd.</a:t>
            </a:r>
            <a:endParaRPr lang="en-US" altLang="zh-CN" sz="1800">
              <a:solidFill>
                <a:srgbClr val="000000"/>
              </a:solidFill>
              <a:ea typeface="MS PGothic" panose="020B0600070205080204" pitchFamily="34" charset="-128"/>
            </a:endParaRPr>
          </a:p>
        </p:txBody>
      </p:sp>
      <p:sp>
        <p:nvSpPr>
          <p:cNvPr id="11" name="Rectangle 7"/>
          <p:cNvSpPr>
            <a:spLocks noChangeArrowheads="1"/>
          </p:cNvSpPr>
          <p:nvPr userDrawn="1">
            <p:custDataLst>
              <p:tags r:id="rId4"/>
            </p:custDataLst>
          </p:nvPr>
        </p:nvSpPr>
        <p:spPr bwMode="auto">
          <a:xfrm>
            <a:off x="4882997" y="6471884"/>
            <a:ext cx="1632730" cy="274532"/>
          </a:xfrm>
          <a:prstGeom prst="rect">
            <a:avLst/>
          </a:prstGeom>
          <a:noFill/>
          <a:ln w="9525" algn="ctr">
            <a:noFill/>
            <a:miter lim="800000"/>
          </a:ln>
          <a:effectLst/>
        </p:spPr>
        <p:txBody>
          <a:bodyPr wrap="none" lIns="104202" tIns="52098" rIns="104202" bIns="52098">
            <a:spAutoFit/>
          </a:bodyPr>
          <a:lstStyle/>
          <a:p>
            <a:pPr defTabSz="1043305" eaLnBrk="0" fontAlgn="base" hangingPunct="0">
              <a:spcBef>
                <a:spcPct val="0"/>
              </a:spcBef>
              <a:spcAft>
                <a:spcPct val="0"/>
              </a:spcAft>
            </a:pPr>
            <a:r>
              <a:rPr lang="en-US" altLang="zh-CN" sz="1100">
                <a:solidFill>
                  <a:srgbClr val="000000"/>
                </a:solidFill>
                <a:latin typeface="FrutigerNext LT Bold" pitchFamily="1" charset="0"/>
                <a:ea typeface="MS PGothic" panose="020B0600070205080204" pitchFamily="34" charset="-128"/>
              </a:rPr>
              <a:t>HUAWEI Confidential </a:t>
            </a:r>
          </a:p>
        </p:txBody>
      </p:sp>
      <p:sp>
        <p:nvSpPr>
          <p:cNvPr id="12" name="Rectangle 86"/>
          <p:cNvSpPr>
            <a:spLocks noChangeArrowheads="1"/>
          </p:cNvSpPr>
          <p:nvPr userDrawn="1">
            <p:custDataLst>
              <p:tags r:id="rId5"/>
            </p:custDataLst>
          </p:nvPr>
        </p:nvSpPr>
        <p:spPr bwMode="auto">
          <a:xfrm>
            <a:off x="8173896" y="6484776"/>
            <a:ext cx="1409884" cy="248826"/>
          </a:xfrm>
          <a:prstGeom prst="rect">
            <a:avLst/>
          </a:prstGeom>
          <a:noFill/>
          <a:ln w="9525">
            <a:noFill/>
            <a:miter lim="800000"/>
          </a:ln>
          <a:effectLst/>
        </p:spPr>
        <p:txBody>
          <a:bodyPr wrap="none" lIns="0" tIns="0" rIns="0" bIns="0" anchor="ctr" anchorCtr="0"/>
          <a:lstStyle/>
          <a:p>
            <a:pPr defTabSz="782320" eaLnBrk="0" fontAlgn="base" hangingPunct="0">
              <a:spcBef>
                <a:spcPct val="0"/>
              </a:spcBef>
              <a:spcAft>
                <a:spcPct val="0"/>
              </a:spcAft>
            </a:pPr>
            <a:r>
              <a:rPr lang="de-DE" sz="1200">
                <a:solidFill>
                  <a:srgbClr val="000000">
                    <a:lumMod val="95000"/>
                    <a:lumOff val="5000"/>
                  </a:srgbClr>
                </a:solidFill>
                <a:latin typeface="Calibri" pitchFamily="34" charset="0"/>
                <a:ea typeface="MS PGothic" panose="020B0600070205080204" pitchFamily="34" charset="-128"/>
              </a:rPr>
              <a:t>Page </a:t>
            </a:r>
            <a:fld id="{E68EC476-442B-4BB7-9603-F1440C241F3D}" type="slidenum">
              <a:rPr lang="de-DE" sz="1200">
                <a:solidFill>
                  <a:srgbClr val="000000">
                    <a:lumMod val="95000"/>
                    <a:lumOff val="5000"/>
                  </a:srgbClr>
                </a:solidFill>
                <a:latin typeface="Calibri" pitchFamily="34" charset="0"/>
                <a:ea typeface="MS PGothic" panose="020B0600070205080204" pitchFamily="34" charset="-128"/>
              </a:rPr>
              <a:t>‹#›</a:t>
            </a:fld>
            <a:endParaRPr lang="en-GB" sz="1200">
              <a:solidFill>
                <a:srgbClr val="000000">
                  <a:lumMod val="95000"/>
                  <a:lumOff val="5000"/>
                </a:srgbClr>
              </a:solidFill>
              <a:latin typeface="Calibri" pitchFamily="34" charset="0"/>
              <a:ea typeface="MS PGothic" panose="020B0600070205080204" pitchFamily="34" charset="-128"/>
            </a:endParaRPr>
          </a:p>
        </p:txBody>
      </p:sp>
      <p:pic>
        <p:nvPicPr>
          <p:cNvPr id="13" name="图片 12"/>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a:xfrm>
            <a:off x="10251449" y="6474438"/>
            <a:ext cx="1231806" cy="269502"/>
          </a:xfrm>
          <a:prstGeom prst="rect">
            <a:avLst/>
          </a:prstGeom>
        </p:spPr>
      </p:pic>
    </p:spTree>
  </p:cSld>
  <p:clrMapOvr>
    <a:masterClrMapping/>
  </p:clrMapOvr>
  <p:transition advClick="0" advTm="8000">
    <p:fade thruBlk="1"/>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5"/>
              </a:lnSpc>
              <a:spcBef>
                <a:spcPts val="0"/>
              </a:spcBef>
              <a:buNone/>
              <a:defRPr sz="2395" b="1" baseline="0">
                <a:solidFill>
                  <a:schemeClr val="accent1">
                    <a:lumMod val="75000"/>
                  </a:schemeClr>
                </a:solidFill>
                <a:latin typeface="微软雅黑" panose="020B0503020204020204" pitchFamily="34" charset="-122"/>
                <a:ea typeface="微软雅黑" panose="020B0503020204020204" pitchFamily="34" charset="-122"/>
              </a:defRPr>
            </a:lvl1pPr>
            <a:lvl2pPr marL="592455" indent="0" algn="ctr">
              <a:buNone/>
              <a:defRPr sz="2590"/>
            </a:lvl2pPr>
            <a:lvl3pPr marL="1184910" indent="0" algn="ctr">
              <a:buNone/>
              <a:defRPr sz="2330"/>
            </a:lvl3pPr>
            <a:lvl4pPr marL="1777365" indent="0" algn="ctr">
              <a:buNone/>
              <a:defRPr sz="2075"/>
            </a:lvl4pPr>
            <a:lvl5pPr marL="2369820" indent="0" algn="ctr">
              <a:buNone/>
              <a:defRPr sz="2075"/>
            </a:lvl5pPr>
            <a:lvl6pPr marL="2962275" indent="0" algn="ctr">
              <a:buNone/>
              <a:defRPr sz="2075"/>
            </a:lvl6pPr>
            <a:lvl7pPr marL="3554730" indent="0" algn="ctr">
              <a:buNone/>
              <a:defRPr sz="2075"/>
            </a:lvl7pPr>
            <a:lvl8pPr marL="4147185" indent="0" algn="ctr">
              <a:buNone/>
              <a:defRPr sz="2075"/>
            </a:lvl8pPr>
            <a:lvl9pPr marL="4739640" indent="0" algn="ctr">
              <a:buNone/>
              <a:defRPr sz="2075"/>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7" y="1512881"/>
            <a:ext cx="10733557" cy="4690459"/>
          </a:xfrm>
          <a:prstGeom prst="rect">
            <a:avLst/>
          </a:prstGeom>
        </p:spPr>
        <p:txBody>
          <a:bodyPr lIns="0" tIns="0" rIns="0" bIns="0"/>
          <a:lstStyle>
            <a:lvl1pPr marL="179070" marR="0" indent="-167640" algn="l" defTabSz="1184910" rtl="0" eaLnBrk="1" fontAlgn="auto" latinLnBrk="0" hangingPunct="1">
              <a:lnSpc>
                <a:spcPct val="100000"/>
              </a:lnSpc>
              <a:spcBef>
                <a:spcPts val="0"/>
              </a:spcBef>
              <a:spcAft>
                <a:spcPts val="600"/>
              </a:spcAft>
              <a:buClr>
                <a:srgbClr val="000000"/>
              </a:buClr>
              <a:buSzTx/>
              <a:buFont typeface="Arial" panose="020B0604020202090204" pitchFamily="34" charset="0"/>
              <a:buChar char="•"/>
              <a:tabLst>
                <a:tab pos="1204595" algn="ctr"/>
              </a:tabLst>
              <a:defRPr sz="1795"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328295" marR="0" indent="-167640" algn="l" defTabSz="1184910" rtl="0" eaLnBrk="1" fontAlgn="auto" latinLnBrk="0" hangingPunct="1">
              <a:lnSpc>
                <a:spcPct val="100000"/>
              </a:lnSpc>
              <a:spcBef>
                <a:spcPts val="0"/>
              </a:spcBef>
              <a:spcAft>
                <a:spcPts val="600"/>
              </a:spcAft>
              <a:buClr>
                <a:schemeClr val="tx1"/>
              </a:buClr>
              <a:buSzTx/>
              <a:buFont typeface=".AppleSystemUIFont"/>
              <a:buChar char="&gt;"/>
              <a:tabLst>
                <a:tab pos="1204595" algn="ctr"/>
              </a:tabLst>
              <a:defRPr sz="1595" baseline="0">
                <a:latin typeface="微软雅黑" panose="020B0503020204020204" pitchFamily="34" charset="-122"/>
                <a:ea typeface="微软雅黑" panose="020B0503020204020204" pitchFamily="34" charset="-122"/>
              </a:defRPr>
            </a:lvl2pPr>
            <a:lvl3pPr marL="1096010" marR="0" indent="-167640" algn="l" defTabSz="1184910" rtl="0" eaLnBrk="1" fontAlgn="auto" latinLnBrk="0" hangingPunct="1">
              <a:lnSpc>
                <a:spcPct val="100000"/>
              </a:lnSpc>
              <a:spcBef>
                <a:spcPts val="0"/>
              </a:spcBef>
              <a:spcAft>
                <a:spcPts val="600"/>
              </a:spcAft>
              <a:buClr>
                <a:schemeClr val="tx1"/>
              </a:buClr>
              <a:buSzTx/>
              <a:buFont typeface=".AppleSystemUIFont"/>
              <a:buChar char="-"/>
              <a:tabLst>
                <a:tab pos="1204595" algn="ctr"/>
              </a:tabLst>
              <a:defRPr sz="1295" baseline="0">
                <a:latin typeface="微软雅黑" panose="020B0503020204020204" pitchFamily="34" charset="-122"/>
                <a:ea typeface="微软雅黑" panose="020B0503020204020204" pitchFamily="34" charset="-122"/>
              </a:defRPr>
            </a:lvl3pPr>
            <a:lvl4pPr marL="524510" indent="-170815">
              <a:buFont typeface="Arial" panose="020B0604020202090204" pitchFamily="34" charset="0"/>
              <a:buChar char="•"/>
              <a:tabLst>
                <a:tab pos="1205230" algn="ctr"/>
              </a:tabLst>
              <a:defRPr sz="1295" baseline="0"/>
            </a:lvl4pPr>
            <a:lvl5pPr marL="524510" indent="-170815">
              <a:buFont typeface="Arial" panose="020B0604020202090204" pitchFamily="34" charset="0"/>
              <a:buChar char="•"/>
              <a:tabLst>
                <a:tab pos="1205230" algn="ctr"/>
              </a:tabLst>
              <a:defRPr sz="1295" baseline="0"/>
            </a:lvl5pPr>
          </a:lstStyle>
          <a:p>
            <a:pPr lvl="0"/>
            <a:r>
              <a:rPr lang="zh-CN" altLang="en-US" dirty="0"/>
              <a:t>单击此处添加文本</a:t>
            </a:r>
            <a:endParaRPr lang="en-US" dirty="0"/>
          </a:p>
          <a:p>
            <a:pPr marL="328295" marR="0" lvl="1" indent="-167640" algn="l" defTabSz="1184910"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4595" algn="ctr"/>
              </a:tabLst>
              <a:defRPr/>
            </a:pPr>
            <a:r>
              <a:rPr lang="zh-CN" altLang="en-US" dirty="0"/>
              <a:t>单击此处添加文本</a:t>
            </a:r>
            <a:endParaRPr lang="en-US" dirty="0"/>
          </a:p>
          <a:p>
            <a:pPr marL="1096010" marR="0" lvl="2" indent="-167640" algn="l" defTabSz="1184910"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4595" algn="ctr"/>
              </a:tabLst>
              <a:defRPr/>
            </a:pPr>
            <a:r>
              <a:rPr lang="zh-CN" altLang="en-US" dirty="0"/>
              <a:t>单击此处添加文本</a:t>
            </a:r>
            <a:endParaRPr lang="en-US" dirty="0"/>
          </a:p>
          <a:p>
            <a:pPr marL="1096010" marR="0" lvl="2" indent="-167640" algn="l" defTabSz="1184910"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4595" algn="ctr"/>
              </a:tabLst>
              <a:defRPr/>
            </a:pPr>
            <a:endParaRPr lang="en-US" altLang="zh-CN"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96" y="1122363"/>
            <a:ext cx="9147572" cy="2387600"/>
          </a:xfrm>
          <a:prstGeom prst="rect">
            <a:avLst/>
          </a:prstGeom>
        </p:spPr>
        <p:txBody>
          <a:bodyPr anchor="b"/>
          <a:lstStyle>
            <a:lvl1pPr algn="ctr">
              <a:defRPr sz="5985"/>
            </a:lvl1pPr>
          </a:lstStyle>
          <a:p>
            <a:r>
              <a:rPr lang="zh-CN" altLang="en-US"/>
              <a:t>单击此处编辑母版标题样式</a:t>
            </a:r>
          </a:p>
        </p:txBody>
      </p:sp>
      <p:sp>
        <p:nvSpPr>
          <p:cNvPr id="3" name="副标题 2"/>
          <p:cNvSpPr>
            <a:spLocks noGrp="1"/>
          </p:cNvSpPr>
          <p:nvPr>
            <p:ph type="subTitle" idx="1"/>
          </p:nvPr>
        </p:nvSpPr>
        <p:spPr>
          <a:xfrm>
            <a:off x="1524596" y="3602038"/>
            <a:ext cx="9147572" cy="1655762"/>
          </a:xfrm>
          <a:prstGeom prst="rect">
            <a:avLst/>
          </a:prstGeom>
        </p:spPr>
        <p:txBody>
          <a:bodyPr/>
          <a:lstStyle>
            <a:lvl1pPr marL="0" indent="0" algn="ctr">
              <a:buNone/>
              <a:defRPr sz="2395"/>
            </a:lvl1pPr>
            <a:lvl2pPr marL="455930" indent="0" algn="ctr">
              <a:buNone/>
              <a:defRPr sz="1995"/>
            </a:lvl2pPr>
            <a:lvl3pPr marL="911860" indent="0" algn="ctr">
              <a:buNone/>
              <a:defRPr sz="1795"/>
            </a:lvl3pPr>
            <a:lvl4pPr marL="1367790" indent="0" algn="ctr">
              <a:buNone/>
              <a:defRPr sz="1595"/>
            </a:lvl4pPr>
            <a:lvl5pPr marL="1823720" indent="0" algn="ctr">
              <a:buNone/>
              <a:defRPr sz="1595"/>
            </a:lvl5pPr>
            <a:lvl6pPr marL="2279650" indent="0" algn="ctr">
              <a:buNone/>
              <a:defRPr sz="1595"/>
            </a:lvl6pPr>
            <a:lvl7pPr marL="2735580" indent="0" algn="ctr">
              <a:buNone/>
              <a:defRPr sz="1595"/>
            </a:lvl7pPr>
            <a:lvl8pPr marL="3191510" indent="0" algn="ctr">
              <a:buNone/>
              <a:defRPr sz="1595"/>
            </a:lvl8pPr>
            <a:lvl9pPr marL="3647440" indent="0" algn="ctr">
              <a:buNone/>
              <a:defRPr sz="1595"/>
            </a:lvl9pPr>
          </a:lstStyle>
          <a:p>
            <a:r>
              <a:rPr lang="zh-CN" altLang="en-US"/>
              <a:t>单击此处编辑母版副标题样式</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28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0540" indent="0" algn="ctr">
              <a:buNone/>
              <a:defRPr sz="2080"/>
            </a:lvl4pPr>
            <a:lvl5pPr marL="2374265" indent="0" algn="ctr">
              <a:buNone/>
              <a:defRPr sz="2080"/>
            </a:lvl5pPr>
            <a:lvl6pPr marL="2967990" indent="0" algn="ctr">
              <a:buNone/>
              <a:defRPr sz="2080"/>
            </a:lvl6pPr>
            <a:lvl7pPr marL="3561715" indent="0" algn="ctr">
              <a:buNone/>
              <a:defRPr sz="2080"/>
            </a:lvl7pPr>
            <a:lvl8pPr marL="4155440" indent="0" algn="ctr">
              <a:buNone/>
              <a:defRPr sz="2080"/>
            </a:lvl8pPr>
            <a:lvl9pPr marL="4748530" indent="0" algn="ctr">
              <a:buNone/>
              <a:defRPr sz="2080"/>
            </a:lvl9pPr>
          </a:lstStyle>
          <a:p>
            <a:r>
              <a:rPr lang="zh-CN" altLang="en-US" dirty="0"/>
              <a:t>单击此处添加标题</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6815" indent="0" algn="ctr">
              <a:buNone/>
              <a:defRPr sz="2335"/>
            </a:lvl3pPr>
            <a:lvl4pPr marL="1780540" indent="0" algn="ctr">
              <a:buNone/>
              <a:defRPr sz="2075"/>
            </a:lvl4pPr>
            <a:lvl5pPr marL="2373630" indent="0" algn="ctr">
              <a:buNone/>
              <a:defRPr sz="2075"/>
            </a:lvl5pPr>
            <a:lvl6pPr marL="2967355" indent="0" algn="ctr">
              <a:buNone/>
              <a:defRPr sz="2075"/>
            </a:lvl6pPr>
            <a:lvl7pPr marL="3560445" indent="0" algn="ctr">
              <a:buNone/>
              <a:defRPr sz="2075"/>
            </a:lvl7pPr>
            <a:lvl8pPr marL="4154170" indent="0" algn="ctr">
              <a:buNone/>
              <a:defRPr sz="2075"/>
            </a:lvl8pPr>
            <a:lvl9pPr marL="4747260" indent="0" algn="ctr">
              <a:buNone/>
              <a:defRPr sz="2075"/>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3" y="1512879"/>
            <a:ext cx="10733557" cy="4690459"/>
          </a:xfrm>
          <a:prstGeom prst="rect">
            <a:avLst/>
          </a:prstGeom>
        </p:spPr>
        <p:txBody>
          <a:bodyPr lIns="0" tIns="0" rIns="0" bIns="0"/>
          <a:lstStyle>
            <a:lvl1pPr marL="179070" marR="0" indent="-168275" algn="l" defTabSz="1186815" rtl="0" eaLnBrk="1" fontAlgn="auto" latinLnBrk="0" hangingPunct="1">
              <a:lnSpc>
                <a:spcPct val="100000"/>
              </a:lnSpc>
              <a:spcBef>
                <a:spcPts val="0"/>
              </a:spcBef>
              <a:spcAft>
                <a:spcPts val="600"/>
              </a:spcAft>
              <a:buClr>
                <a:srgbClr val="000000"/>
              </a:buClr>
              <a:buSzTx/>
              <a:buFont typeface="Arial" panose="020B0604020202090204" pitchFamily="34" charset="0"/>
              <a:buChar char="•"/>
              <a:tabLst>
                <a:tab pos="1206500" algn="ctr"/>
              </a:tabLst>
              <a:defRPr sz="1800"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328930" marR="0" indent="-168275" algn="l" defTabSz="1186815" rtl="0" eaLnBrk="1" fontAlgn="auto" latinLnBrk="0" hangingPunct="1">
              <a:lnSpc>
                <a:spcPct val="100000"/>
              </a:lnSpc>
              <a:spcBef>
                <a:spcPts val="0"/>
              </a:spcBef>
              <a:spcAft>
                <a:spcPts val="600"/>
              </a:spcAft>
              <a:buClr>
                <a:schemeClr val="tx1"/>
              </a:buClr>
              <a:buSzTx/>
              <a:buFont typeface=".AppleSystemUIFont"/>
              <a:buChar char="&gt;"/>
              <a:tabLst>
                <a:tab pos="1206500" algn="ctr"/>
              </a:tabLst>
              <a:defRPr sz="1600" baseline="0">
                <a:latin typeface="微软雅黑" panose="020B0503020204020204" pitchFamily="34" charset="-122"/>
                <a:ea typeface="微软雅黑" panose="020B0503020204020204" pitchFamily="34" charset="-122"/>
              </a:defRPr>
            </a:lvl2pPr>
            <a:lvl3pPr marL="1097915" marR="0" indent="-168275" algn="l" defTabSz="1186815" rtl="0" eaLnBrk="1" fontAlgn="auto" latinLnBrk="0" hangingPunct="1">
              <a:lnSpc>
                <a:spcPct val="100000"/>
              </a:lnSpc>
              <a:spcBef>
                <a:spcPts val="0"/>
              </a:spcBef>
              <a:spcAft>
                <a:spcPts val="600"/>
              </a:spcAft>
              <a:buClr>
                <a:schemeClr val="tx1"/>
              </a:buClr>
              <a:buSzTx/>
              <a:buFont typeface=".AppleSystemUIFont"/>
              <a:buChar char="-"/>
              <a:tabLst>
                <a:tab pos="1206500" algn="ctr"/>
              </a:tabLst>
              <a:defRPr sz="1295" baseline="0">
                <a:latin typeface="微软雅黑" panose="020B0503020204020204" pitchFamily="34" charset="-122"/>
                <a:ea typeface="微软雅黑" panose="020B0503020204020204" pitchFamily="34" charset="-122"/>
              </a:defRPr>
            </a:lvl3pPr>
            <a:lvl4pPr marL="525145" indent="-170815">
              <a:buFont typeface="Arial" panose="020B0604020202090204" pitchFamily="34" charset="0"/>
              <a:buChar char="•"/>
              <a:tabLst>
                <a:tab pos="1207135" algn="ctr"/>
              </a:tabLst>
              <a:defRPr sz="1295" baseline="0"/>
            </a:lvl4pPr>
            <a:lvl5pPr marL="525145" indent="-170815">
              <a:buFont typeface="Arial" panose="020B0604020202090204" pitchFamily="34" charset="0"/>
              <a:buChar char="•"/>
              <a:tabLst>
                <a:tab pos="1207135" algn="ctr"/>
              </a:tabLst>
              <a:defRPr sz="1295" baseline="0"/>
            </a:lvl5pPr>
          </a:lstStyle>
          <a:p>
            <a:pPr lvl="0"/>
            <a:r>
              <a:rPr lang="zh-CN" altLang="en-US" dirty="0"/>
              <a:t>单击此处添加文本</a:t>
            </a:r>
            <a:endParaRPr lang="en-US" dirty="0"/>
          </a:p>
          <a:p>
            <a:pPr marL="328930" marR="0" lvl="1" indent="-168275" algn="l" defTabSz="118681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6500" algn="ctr"/>
              </a:tabLst>
              <a:defRPr/>
            </a:pPr>
            <a:r>
              <a:rPr lang="zh-CN" altLang="en-US" dirty="0"/>
              <a:t>单击此处添加文本</a:t>
            </a:r>
            <a:endParaRPr lang="en-US" dirty="0"/>
          </a:p>
          <a:p>
            <a:pPr marL="1097915" marR="0" lvl="2" indent="-168275" algn="l" defTabSz="118681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6500" algn="ctr"/>
              </a:tabLst>
              <a:defRPr/>
            </a:pPr>
            <a:r>
              <a:rPr lang="zh-CN" altLang="en-US" dirty="0"/>
              <a:t>单击此处添加文本</a:t>
            </a:r>
            <a:endParaRPr lang="en-US" dirty="0"/>
          </a:p>
          <a:p>
            <a:pPr marL="1097915" marR="0" lvl="2" indent="-168275" algn="l" defTabSz="118681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6500" algn="ctr"/>
              </a:tabLst>
              <a:defRPr/>
            </a:pPr>
            <a:endParaRPr lang="en-US" altLang="zh-CN"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76414" y="296417"/>
            <a:ext cx="10442348" cy="871537"/>
          </a:xfrm>
          <a:prstGeom prst="rect">
            <a:avLst/>
          </a:prstGeom>
        </p:spPr>
        <p:txBody>
          <a:bodyPr/>
          <a:lstStyle/>
          <a:p>
            <a:r>
              <a:rPr lang="zh-CN" altLang="en-US"/>
              <a:t>单击此处编辑母版标题样式</a:t>
            </a:r>
            <a:endParaRPr lang="en-US"/>
          </a:p>
        </p:txBody>
      </p:sp>
      <p:sp>
        <p:nvSpPr>
          <p:cNvPr id="3" name="内容占位符 2"/>
          <p:cNvSpPr>
            <a:spLocks noGrp="1"/>
          </p:cNvSpPr>
          <p:nvPr>
            <p:ph idx="1"/>
          </p:nvPr>
        </p:nvSpPr>
        <p:spPr>
          <a:xfrm>
            <a:off x="876414" y="1196975"/>
            <a:ext cx="10442348" cy="492760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a:xfrm>
            <a:off x="8484801" y="6525344"/>
            <a:ext cx="1359463" cy="457200"/>
          </a:xfrm>
          <a:prstGeom prst="rect">
            <a:avLst/>
          </a:prstGeom>
        </p:spPr>
        <p:txBody>
          <a:bodyPr lIns="84883" tIns="42441" rIns="84883" bIns="42441"/>
          <a:lstStyle>
            <a:lvl1pPr>
              <a:defRPr/>
            </a:lvl1pPr>
          </a:lstStyle>
          <a:p>
            <a:pPr defTabSz="914400" fontAlgn="base">
              <a:spcBef>
                <a:spcPct val="0"/>
              </a:spcBef>
              <a:spcAft>
                <a:spcPct val="0"/>
              </a:spcAft>
            </a:pPr>
            <a:endParaRPr lang="en-GB" sz="1865" b="1" dirty="0">
              <a:solidFill>
                <a:srgbClr val="B2B2B2"/>
              </a:solidFill>
              <a:latin typeface="Arial" panose="020B0604020202090204" pitchFamily="34" charset="0"/>
              <a:ea typeface="宋体"/>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28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595"/>
            </a:lvl2pPr>
            <a:lvl3pPr marL="1187450" indent="0" algn="ctr">
              <a:buNone/>
              <a:defRPr sz="2335"/>
            </a:lvl3pPr>
            <a:lvl4pPr marL="1781175" indent="0" algn="ctr">
              <a:buNone/>
              <a:defRPr sz="2080"/>
            </a:lvl4pPr>
            <a:lvl5pPr marL="2374900" indent="0" algn="ctr">
              <a:buNone/>
              <a:defRPr sz="2080"/>
            </a:lvl5pPr>
            <a:lvl6pPr marL="2968625" indent="0" algn="ctr">
              <a:buNone/>
              <a:defRPr sz="2080"/>
            </a:lvl6pPr>
            <a:lvl7pPr marL="3561715"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1" y="1512875"/>
            <a:ext cx="10733557" cy="4690459"/>
          </a:xfrm>
          <a:prstGeom prst="rect">
            <a:avLst/>
          </a:prstGeom>
        </p:spPr>
        <p:txBody>
          <a:bodyPr lIns="0" tIns="0" rIns="0" bIns="0"/>
          <a:lstStyle>
            <a:lvl1pPr marL="179705" marR="0" indent="-168275" algn="l" defTabSz="1188085" rtl="0" eaLnBrk="1" fontAlgn="auto" latinLnBrk="0" hangingPunct="1">
              <a:lnSpc>
                <a:spcPct val="100000"/>
              </a:lnSpc>
              <a:spcBef>
                <a:spcPts val="0"/>
              </a:spcBef>
              <a:spcAft>
                <a:spcPts val="600"/>
              </a:spcAft>
              <a:buClr>
                <a:srgbClr val="000000"/>
              </a:buClr>
              <a:buSzTx/>
              <a:buFont typeface="Arial" panose="020B0604020202090204" pitchFamily="34" charset="0"/>
              <a:buChar char="•"/>
              <a:tabLst>
                <a:tab pos="1207770" algn="ctr"/>
              </a:tabLst>
              <a:defRPr sz="1800"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328930" marR="0" indent="-168275" algn="l" defTabSz="1188085" rtl="0" eaLnBrk="1" fontAlgn="auto" latinLnBrk="0" hangingPunct="1">
              <a:lnSpc>
                <a:spcPct val="100000"/>
              </a:lnSpc>
              <a:spcBef>
                <a:spcPts val="0"/>
              </a:spcBef>
              <a:spcAft>
                <a:spcPts val="600"/>
              </a:spcAft>
              <a:buClr>
                <a:schemeClr val="tx1"/>
              </a:buClr>
              <a:buSzTx/>
              <a:buFont typeface=".AppleSystemUIFont"/>
              <a:buChar char="&gt;"/>
              <a:tabLst>
                <a:tab pos="1207770" algn="ctr"/>
              </a:tabLst>
              <a:defRPr sz="1600" baseline="0">
                <a:latin typeface="微软雅黑" panose="020B0503020204020204" pitchFamily="34" charset="-122"/>
                <a:ea typeface="微软雅黑" panose="020B0503020204020204" pitchFamily="34" charset="-122"/>
              </a:defRPr>
            </a:lvl2pPr>
            <a:lvl3pPr marL="1098550" marR="0" indent="-168275" algn="l" defTabSz="1188085" rtl="0" eaLnBrk="1" fontAlgn="auto" latinLnBrk="0" hangingPunct="1">
              <a:lnSpc>
                <a:spcPct val="100000"/>
              </a:lnSpc>
              <a:spcBef>
                <a:spcPts val="0"/>
              </a:spcBef>
              <a:spcAft>
                <a:spcPts val="600"/>
              </a:spcAft>
              <a:buClr>
                <a:schemeClr val="tx1"/>
              </a:buClr>
              <a:buSzTx/>
              <a:buFont typeface=".AppleSystemUIFont"/>
              <a:buChar char="-"/>
              <a:tabLst>
                <a:tab pos="1207770" algn="ctr"/>
              </a:tabLst>
              <a:defRPr sz="1300" baseline="0">
                <a:latin typeface="微软雅黑" panose="020B0503020204020204" pitchFamily="34" charset="-122"/>
                <a:ea typeface="微软雅黑" panose="020B0503020204020204" pitchFamily="34" charset="-122"/>
              </a:defRPr>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zh-CN" altLang="en-US" dirty="0"/>
              <a:t>单击此处添加文本</a:t>
            </a:r>
            <a:endParaRPr lang="en-US" dirty="0"/>
          </a:p>
          <a:p>
            <a:pPr marL="328930" marR="0" lvl="1"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r>
              <a:rPr lang="zh-CN" altLang="en-US" dirty="0"/>
              <a:t>单击此处添加文本</a:t>
            </a:r>
            <a:endParaRPr lang="en-US" dirty="0"/>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endParaRPr lang="en-US" altLang="zh-CN"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48415" y="23627"/>
            <a:ext cx="11316431" cy="668544"/>
          </a:xfrm>
          <a:prstGeom prst="rect">
            <a:avLst/>
          </a:prstGeom>
        </p:spPr>
        <p:txBody>
          <a:bodyPr/>
          <a:lstStyle>
            <a:lvl1pPr>
              <a:defRPr>
                <a:latin typeface="+mn-ea"/>
                <a:ea typeface="+mn-ea"/>
              </a:defRPr>
            </a:lvl1pPr>
          </a:lstStyle>
          <a:p>
            <a:r>
              <a:rPr lang="zh-CN" altLang="en-US" dirty="0"/>
              <a:t>单击此处编辑母版标题样式</a:t>
            </a:r>
          </a:p>
        </p:txBody>
      </p:sp>
      <p:sp>
        <p:nvSpPr>
          <p:cNvPr id="3" name="Rectangle 10"/>
          <p:cNvSpPr>
            <a:spLocks noGrp="1" noChangeArrowheads="1"/>
          </p:cNvSpPr>
          <p:nvPr>
            <p:ph type="dt" sz="half" idx="10"/>
          </p:nvPr>
        </p:nvSpPr>
        <p:spPr>
          <a:xfrm>
            <a:off x="575341" y="6525359"/>
            <a:ext cx="141082" cy="117725"/>
          </a:xfrm>
          <a:prstGeom prst="rect">
            <a:avLst/>
          </a:prstGeom>
        </p:spPr>
        <p:txBody>
          <a:bodyPr/>
          <a:lstStyle>
            <a:lvl1pPr>
              <a:defRPr/>
            </a:lvl1pPr>
          </a:lstStyle>
          <a:p>
            <a:pPr>
              <a:defRPr/>
            </a:pPr>
            <a:fld id="{474F06BD-4024-4D54-AE9D-8C5333DEF8AE}" type="slidenum">
              <a:rPr lang="de-DE" altLang="zh-CN" smtClean="0">
                <a:solidFill>
                  <a:prstClr val="black"/>
                </a:solidFill>
              </a:rPr>
              <a:t>‹#›</a:t>
            </a:fld>
            <a:endParaRPr lang="en-GB" altLang="zh-CN" dirty="0">
              <a:solidFill>
                <a:prstClr val="black"/>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8"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525780" indent="-171450">
              <a:buFont typeface="Arial" panose="020B0604020202090204" pitchFamily="34" charset="0"/>
              <a:buChar char="•"/>
              <a:tabLst>
                <a:tab pos="1208405" algn="ctr"/>
              </a:tabLst>
              <a:defRPr sz="1300" baseline="0"/>
            </a:lvl2pPr>
            <a:lvl3pPr marL="525780" indent="-171450">
              <a:buFont typeface="Arial" panose="020B0604020202090204" pitchFamily="34" charset="0"/>
              <a:buChar char="•"/>
              <a:tabLst>
                <a:tab pos="1208405" algn="ctr"/>
              </a:tabLst>
              <a:defRPr sz="1300" baseline="0"/>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zh-CN" altLang="en-US" dirty="0"/>
              <a:t>单击此处添加文本</a:t>
            </a:r>
            <a:endParaRPr 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Chapter page">
    <p:spTree>
      <p:nvGrpSpPr>
        <p:cNvPr id="1" name=""/>
        <p:cNvGrpSpPr/>
        <p:nvPr/>
      </p:nvGrpSpPr>
      <p:grpSpPr>
        <a:xfrm>
          <a:off x="0" y="0"/>
          <a:ext cx="0" cy="0"/>
          <a:chOff x="0" y="0"/>
          <a:chExt cx="0" cy="0"/>
        </a:xfrm>
      </p:grpSpPr>
      <p:sp>
        <p:nvSpPr>
          <p:cNvPr id="4" name="Content Placeholder 2"/>
          <p:cNvSpPr>
            <a:spLocks noGrp="1"/>
          </p:cNvSpPr>
          <p:nvPr>
            <p:ph idx="11" hasCustomPrompt="1"/>
          </p:nvPr>
        </p:nvSpPr>
        <p:spPr>
          <a:xfrm>
            <a:off x="726021" y="1512875"/>
            <a:ext cx="10733557" cy="4690459"/>
          </a:xfrm>
          <a:prstGeom prst="rect">
            <a:avLst/>
          </a:prstGeom>
        </p:spPr>
        <p:txBody>
          <a:bodyPr lIns="0" tIns="0" rIns="0" bIns="0"/>
          <a:lstStyle>
            <a:lvl1pPr marL="179705" marR="0" indent="-168275" algn="l" defTabSz="1188085" rtl="0" eaLnBrk="1" fontAlgn="auto" latinLnBrk="0" hangingPunct="1">
              <a:lnSpc>
                <a:spcPct val="100000"/>
              </a:lnSpc>
              <a:spcBef>
                <a:spcPts val="0"/>
              </a:spcBef>
              <a:spcAft>
                <a:spcPts val="600"/>
              </a:spcAft>
              <a:buClr>
                <a:srgbClr val="000000"/>
              </a:buClr>
              <a:buSzTx/>
              <a:buFont typeface="Arial" panose="020B0604020202090204" pitchFamily="34" charset="0"/>
              <a:buChar char="•"/>
              <a:tabLst>
                <a:tab pos="1207770" algn="ctr"/>
              </a:tabLst>
              <a:defRPr sz="1800" baseline="0">
                <a:solidFill>
                  <a:schemeClr val="tx1"/>
                </a:solidFill>
                <a:latin typeface="+mn-lt"/>
                <a:ea typeface="微软雅黑" panose="020B0503020204020204" pitchFamily="34" charset="-122"/>
                <a:cs typeface="Arial" panose="020B0604020202090204" pitchFamily="34" charset="0"/>
              </a:defRPr>
            </a:lvl1pPr>
            <a:lvl2pPr marL="446405" marR="0" indent="-285750" algn="l" defTabSz="1188085" rtl="0" eaLnBrk="1" fontAlgn="auto" latinLnBrk="0" hangingPunct="1">
              <a:lnSpc>
                <a:spcPct val="100000"/>
              </a:lnSpc>
              <a:spcBef>
                <a:spcPts val="0"/>
              </a:spcBef>
              <a:spcAft>
                <a:spcPts val="600"/>
              </a:spcAft>
              <a:buClr>
                <a:schemeClr val="tx1"/>
              </a:buClr>
              <a:buSzTx/>
              <a:buFont typeface=".AppleSystemUIFont"/>
              <a:buChar char="&gt;"/>
              <a:tabLst>
                <a:tab pos="1207770" algn="ctr"/>
              </a:tabLst>
              <a:defRPr sz="1600" baseline="0">
                <a:latin typeface="+mn-lt"/>
                <a:ea typeface="微软雅黑" panose="020B0503020204020204" pitchFamily="34" charset="-122"/>
              </a:defRPr>
            </a:lvl2pPr>
            <a:lvl3pPr marL="1098550" marR="0" indent="-168275" algn="l" defTabSz="1188085" rtl="0" eaLnBrk="1" fontAlgn="auto" latinLnBrk="0" hangingPunct="1">
              <a:lnSpc>
                <a:spcPct val="100000"/>
              </a:lnSpc>
              <a:spcBef>
                <a:spcPts val="0"/>
              </a:spcBef>
              <a:spcAft>
                <a:spcPts val="600"/>
              </a:spcAft>
              <a:buClr>
                <a:schemeClr val="tx1"/>
              </a:buClr>
              <a:buSzTx/>
              <a:buFont typeface=".AppleSystemUIFont"/>
              <a:buChar char="-"/>
              <a:tabLst>
                <a:tab pos="1207770" algn="ctr"/>
              </a:tabLst>
              <a:defRPr sz="1300" baseline="0">
                <a:latin typeface="+mn-lt"/>
                <a:ea typeface="微软雅黑" panose="020B0503020204020204" pitchFamily="34" charset="-122"/>
              </a:defRPr>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en-US" dirty="0"/>
              <a:t>Click to edit Master text style</a:t>
            </a:r>
          </a:p>
          <a:p>
            <a:pPr marL="328930" marR="0" lvl="1"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r>
              <a:rPr lang="en-US" dirty="0"/>
              <a:t>Click to edit Master text style</a:t>
            </a:r>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r>
              <a:rPr lang="en-US" dirty="0"/>
              <a:t>Click to edit Master text style</a:t>
            </a:r>
          </a:p>
          <a:p>
            <a:pPr marL="1098550" marR="0" lvl="2" indent="-168275" algn="l" defTabSz="1188085"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770" algn="ctr"/>
              </a:tabLst>
              <a:defRPr/>
            </a:pPr>
            <a:endParaRPr lang="en-US" altLang="zh-CN" dirty="0"/>
          </a:p>
        </p:txBody>
      </p:sp>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en-US" dirty="0"/>
              <a:t>Click to edit Master title style</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596" y="1122363"/>
            <a:ext cx="9147572"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596" y="3602038"/>
            <a:ext cx="914757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5857381-FF4A-4E33-8597-9E7D48B791F8}" type="datetimeFigureOut">
              <a:rPr lang="zh-CN" altLang="en-US">
                <a:solidFill>
                  <a:prstClr val="black">
                    <a:tint val="75000"/>
                  </a:prstClr>
                </a:solidFill>
              </a:rPr>
              <a:t>2026/10/12</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C6E9B32-B6B7-458E-99FC-201F3722513B}" type="slidenum">
              <a:rPr lang="zh-CN" altLang="en-US">
                <a:solidFill>
                  <a:prstClr val="black">
                    <a:tint val="75000"/>
                  </a:prstClr>
                </a:solidFill>
              </a:rPr>
              <a:t>‹#›</a:t>
            </a:fld>
            <a:endParaRPr lang="zh-CN" altLang="en-US">
              <a:solidFill>
                <a:prstClr val="black">
                  <a:tint val="75000"/>
                </a:prstClr>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目录页">
    <p:bg>
      <p:bgPr>
        <a:solidFill>
          <a:srgbClr val="EBEBEB"/>
        </a:solid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033620" y="1843088"/>
            <a:ext cx="10122060" cy="3013725"/>
          </a:xfrm>
          <a:prstGeom prst="rect">
            <a:avLst/>
          </a:prstGeom>
        </p:spPr>
        <p:txBody>
          <a:bodyPr tIns="90000" bIns="90000"/>
          <a:lstStyle>
            <a:lvl1pPr marL="412750" indent="-398780">
              <a:lnSpc>
                <a:spcPct val="70000"/>
              </a:lnSpc>
              <a:buFont typeface="+mj-lt"/>
              <a:buAutoNum type="arabicPeriod"/>
              <a:defRPr sz="2200">
                <a:solidFill>
                  <a:schemeClr val="tx1"/>
                </a:solidFill>
                <a:latin typeface="微软雅黑" panose="020B0503020204020204" pitchFamily="34" charset="-122"/>
                <a:ea typeface="微软雅黑" panose="020B0503020204020204" pitchFamily="34" charset="-122"/>
              </a:defRPr>
            </a:lvl1pPr>
            <a:lvl2pPr marL="412750" indent="-398780">
              <a:buFont typeface="+mj-lt"/>
              <a:buAutoNum type="arabicPeriod"/>
              <a:defRPr/>
            </a:lvl2pPr>
            <a:lvl3pPr marL="13970" indent="0">
              <a:buFont typeface="+mj-lt"/>
              <a:buNone/>
              <a:defRPr sz="2200">
                <a:latin typeface="微软雅黑" panose="020B0503020204020204" pitchFamily="34" charset="-122"/>
                <a:ea typeface="微软雅黑" panose="020B0503020204020204" pitchFamily="34" charset="-122"/>
              </a:defRPr>
            </a:lvl3pPr>
            <a:lvl4pPr marL="13970" indent="0">
              <a:buFont typeface="+mj-lt"/>
              <a:buNone/>
              <a:defRPr sz="2200">
                <a:latin typeface="微软雅黑" panose="020B0503020204020204" pitchFamily="34" charset="-122"/>
                <a:ea typeface="微软雅黑" panose="020B0503020204020204" pitchFamily="34" charset="-122"/>
              </a:defRPr>
            </a:lvl4pPr>
            <a:lvl5pPr marL="13970" indent="0">
              <a:buFont typeface="+mj-lt"/>
              <a:buNone/>
              <a:defRPr sz="2200">
                <a:latin typeface="微软雅黑" panose="020B0503020204020204" pitchFamily="34" charset="-122"/>
                <a:ea typeface="微软雅黑" panose="020B0503020204020204" pitchFamily="34" charset="-122"/>
              </a:defRPr>
            </a:lvl5pPr>
          </a:lstStyle>
          <a:p>
            <a:pPr lvl="0"/>
            <a:r>
              <a:rPr lang="zh-CN" altLang="en-US" dirty="0"/>
              <a:t>单击此处添加文本</a:t>
            </a:r>
            <a:endParaRPr lang="en-US" altLang="zh-CN" dirty="0"/>
          </a:p>
        </p:txBody>
      </p:sp>
      <p:cxnSp>
        <p:nvCxnSpPr>
          <p:cNvPr id="3"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4" name="文本框 16"/>
          <p:cNvSpPr txBox="1"/>
          <p:nvPr userDrawn="1"/>
        </p:nvSpPr>
        <p:spPr>
          <a:xfrm>
            <a:off x="918916" y="630373"/>
            <a:ext cx="1147485" cy="653509"/>
          </a:xfrm>
          <a:prstGeom prst="rect">
            <a:avLst/>
          </a:prstGeom>
          <a:noFill/>
        </p:spPr>
        <p:txBody>
          <a:bodyPr wrap="none" rtlCol="0">
            <a:spAutoFit/>
          </a:bodyPr>
          <a:lstStyle/>
          <a:p>
            <a:r>
              <a:rPr kumimoji="1" lang="zh-CN" altLang="en-US" sz="3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目录</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520" y="2129932"/>
            <a:ext cx="10367725" cy="1471272"/>
          </a:xfrm>
          <a:prstGeom prst="rect">
            <a:avLst/>
          </a:prstGeom>
        </p:spPr>
        <p:txBody>
          <a:bodyPr>
            <a:normAutofit/>
          </a:bodyPr>
          <a:lstStyle>
            <a:lvl1pPr algn="ctr">
              <a:defRPr sz="4000">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40pt </a:t>
            </a:r>
            <a:r>
              <a:rPr lang="zh-CN" altLang="en-US" dirty="0"/>
              <a:t>，居中，最多两行</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封面">
    <p:spTree>
      <p:nvGrpSpPr>
        <p:cNvPr id="1" name=""/>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分隔页">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6763" cy="6858000"/>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深色内页">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6763" cy="6858000"/>
          </a:xfrm>
          <a:prstGeom prst="rect">
            <a:avLst/>
          </a:prstGeom>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封底">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6763" cy="6858000"/>
          </a:xfrm>
          <a:prstGeom prst="rect">
            <a:avLst/>
          </a:prstGeom>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3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en-US" dirty="0"/>
              <a:t>Click to edit Master title style</a:t>
            </a:r>
          </a:p>
        </p:txBody>
      </p:sp>
      <p:sp>
        <p:nvSpPr>
          <p:cNvPr id="7" name="Content Placeholder 2"/>
          <p:cNvSpPr>
            <a:spLocks noGrp="1"/>
          </p:cNvSpPr>
          <p:nvPr>
            <p:ph idx="10" hasCustomPrompt="1"/>
          </p:nvPr>
        </p:nvSpPr>
        <p:spPr>
          <a:xfrm>
            <a:off x="726022"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25780" indent="-171450">
              <a:buFont typeface="Arial" panose="020B0604020202090204" pitchFamily="34" charset="0"/>
              <a:buChar char="•"/>
              <a:tabLst>
                <a:tab pos="1208405" algn="ctr"/>
              </a:tabLst>
              <a:defRPr sz="1300" baseline="0"/>
            </a:lvl2pPr>
            <a:lvl3pPr marL="525780" indent="-171450">
              <a:buFont typeface="Arial" panose="020B0604020202090204" pitchFamily="34" charset="0"/>
              <a:buChar char="•"/>
              <a:tabLst>
                <a:tab pos="1208405" algn="ctr"/>
              </a:tabLst>
              <a:defRPr sz="1300" baseline="0"/>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en-US" dirty="0"/>
              <a:t>Click to edit Master text style</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9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7"/>
            <a:ext cx="10740640" cy="543547"/>
          </a:xfrm>
          <a:prstGeom prst="rect">
            <a:avLst/>
          </a:prstGeom>
        </p:spPr>
        <p:txBody>
          <a:bodyPr lIns="0" tIns="0" rIns="0" bIns="0" anchor="ctr">
            <a:normAutofit/>
          </a:bodyPr>
          <a:lstStyle>
            <a:lvl1pPr marL="0" indent="0" algn="l">
              <a:lnSpc>
                <a:spcPts val="3430"/>
              </a:lnSpc>
              <a:spcBef>
                <a:spcPts val="0"/>
              </a:spcBef>
              <a:buNone/>
              <a:defRPr sz="3200" b="1" baseline="0">
                <a:solidFill>
                  <a:schemeClr val="bg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595"/>
            </a:lvl2pPr>
            <a:lvl3pPr marL="1186815" indent="0" algn="ctr">
              <a:buNone/>
              <a:defRPr sz="2335"/>
            </a:lvl3pPr>
            <a:lvl4pPr marL="1780540" indent="0" algn="ctr">
              <a:buNone/>
              <a:defRPr sz="2075"/>
            </a:lvl4pPr>
            <a:lvl5pPr marL="2373630" indent="0" algn="ctr">
              <a:buNone/>
              <a:defRPr sz="2075"/>
            </a:lvl5pPr>
            <a:lvl6pPr marL="2967355" indent="0" algn="ctr">
              <a:buNone/>
              <a:defRPr sz="2075"/>
            </a:lvl6pPr>
            <a:lvl7pPr marL="3560445" indent="0" algn="ctr">
              <a:buNone/>
              <a:defRPr sz="2075"/>
            </a:lvl7pPr>
            <a:lvl8pPr marL="4154170" indent="0" algn="ctr">
              <a:buNone/>
              <a:defRPr sz="2075"/>
            </a:lvl8pPr>
            <a:lvl9pPr marL="4747260" indent="0" algn="ctr">
              <a:buNone/>
              <a:defRPr sz="2075"/>
            </a:lvl9pPr>
          </a:lstStyle>
          <a:p>
            <a:r>
              <a:rPr lang="en-US" dirty="0"/>
              <a:t>Click to edit Master title style</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2_中文版式">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5"/>
            <a:ext cx="10740640" cy="543547"/>
          </a:xfrm>
          <a:prstGeom prst="rect">
            <a:avLst/>
          </a:prstGeom>
        </p:spPr>
        <p:txBody>
          <a:bodyPr lIns="0" tIns="0" rIns="0" bIns="0" anchor="ctr">
            <a:normAutofit/>
          </a:bodyPr>
          <a:lstStyle>
            <a:lvl1pPr marL="0" indent="0" algn="l">
              <a:lnSpc>
                <a:spcPts val="3430"/>
              </a:lnSpc>
              <a:spcBef>
                <a:spcPts val="0"/>
              </a:spcBef>
              <a:buNone/>
              <a:defRPr sz="2400" b="1"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595"/>
            </a:lvl2pPr>
            <a:lvl3pPr marL="1187450" indent="0" algn="ctr">
              <a:buNone/>
              <a:defRPr sz="2340"/>
            </a:lvl3pPr>
            <a:lvl4pPr marL="1781175" indent="0" algn="ctr">
              <a:buNone/>
              <a:defRPr sz="2080"/>
            </a:lvl4pPr>
            <a:lvl5pPr marL="2374900" indent="0" algn="ctr">
              <a:buNone/>
              <a:defRPr sz="2080"/>
            </a:lvl5pPr>
            <a:lvl6pPr marL="2968625" indent="0" algn="ctr">
              <a:buNone/>
              <a:defRPr sz="2080"/>
            </a:lvl6pPr>
            <a:lvl7pPr marL="3562350" indent="0" algn="ctr">
              <a:buNone/>
              <a:defRPr sz="2080"/>
            </a:lvl7pPr>
            <a:lvl8pPr marL="4156075" indent="0" algn="ctr">
              <a:buNone/>
              <a:defRPr sz="2080"/>
            </a:lvl8pPr>
            <a:lvl9pPr marL="4749800" indent="0" algn="ctr">
              <a:buNone/>
              <a:defRPr sz="2080"/>
            </a:lvl9pPr>
          </a:lstStyle>
          <a:p>
            <a:r>
              <a:rPr lang="en-US" dirty="0"/>
              <a:t>Click to edit Master title style</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1_中文版式">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839" y="275172"/>
            <a:ext cx="10977087"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8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8"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525780" indent="-171450">
              <a:buFont typeface="Arial" panose="020B0604020202090204" pitchFamily="34" charset="0"/>
              <a:buChar char="•"/>
              <a:tabLst>
                <a:tab pos="1208405" algn="ctr"/>
              </a:tabLst>
              <a:defRPr sz="1300" baseline="0"/>
            </a:lvl2pPr>
            <a:lvl3pPr marL="525780" indent="-171450">
              <a:buFont typeface="Arial" panose="020B0604020202090204" pitchFamily="34" charset="0"/>
              <a:buChar char="•"/>
              <a:tabLst>
                <a:tab pos="1208405" algn="ctr"/>
              </a:tabLst>
              <a:defRPr sz="1300" baseline="0"/>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zh-CN" altLang="en-US" dirty="0"/>
              <a:t>单击此处添加文本</a:t>
            </a:r>
            <a:endParaRPr 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81306" y="336815"/>
            <a:ext cx="10458982" cy="759668"/>
          </a:xfrm>
          <a:prstGeom prst="rect">
            <a:avLst/>
          </a:prstGeom>
          <a:noFill/>
          <a:ln w="9525" algn="ctr">
            <a:noFill/>
            <a:miter lim="800000"/>
          </a:ln>
          <a:effectLst/>
        </p:spPr>
        <p:txBody>
          <a:bodyPr vert="horz" wrap="square" lIns="91393" tIns="45697" rIns="91393" bIns="45697" numCol="1" anchor="ctr" anchorCtr="0" compatLnSpc="1"/>
          <a:lstStyle>
            <a:lvl1pPr marL="0" indent="0">
              <a:buFont typeface="Arial" panose="020B0604020202090204" pitchFamily="34" charset="0"/>
              <a:buNone/>
              <a:defRPr lang="zh-CN" altLang="en-US" sz="3995" b="0" dirty="0">
                <a:solidFill>
                  <a:schemeClr val="tx2"/>
                </a:solidFill>
                <a:latin typeface="FrutigerNext LT Light" pitchFamily="34" charset="0"/>
                <a:ea typeface="黑体" pitchFamily="49" charset="-122"/>
              </a:defRPr>
            </a:lvl1pPr>
          </a:lstStyle>
          <a:p>
            <a:pPr lvl="0"/>
            <a:r>
              <a:rPr lang="en-US" altLang="zh-CN" dirty="0"/>
              <a:t>HEADLINE TEXT TO BE PLACED</a:t>
            </a:r>
            <a:endParaRPr lang="zh-CN" altLang="en-US" dirty="0"/>
          </a:p>
        </p:txBody>
      </p:sp>
    </p:spTree>
  </p:cSld>
  <p:clrMapOvr>
    <a:masterClrMapping/>
  </p:clrMapOvr>
  <p:transition>
    <p:fade thruBlk="1"/>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1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927" y="449287"/>
            <a:ext cx="10180910" cy="871537"/>
          </a:xfrm>
          <a:prstGeom prst="rect">
            <a:avLst/>
          </a:prstGeom>
        </p:spPr>
        <p:txBody>
          <a:bodyPr lIns="91434" tIns="45717" rIns="91434" bIns="45717"/>
          <a:lstStyle/>
          <a:p>
            <a:r>
              <a:rPr lang="en-US"/>
              <a:t>Click to edit Master title style</a:t>
            </a:r>
          </a:p>
        </p:txBody>
      </p:sp>
      <p:sp>
        <p:nvSpPr>
          <p:cNvPr id="4" name="Content Placeholder 3"/>
          <p:cNvSpPr>
            <a:spLocks noGrp="1"/>
          </p:cNvSpPr>
          <p:nvPr>
            <p:ph sz="quarter" idx="10"/>
          </p:nvPr>
        </p:nvSpPr>
        <p:spPr>
          <a:xfrm>
            <a:off x="1019183" y="1628384"/>
            <a:ext cx="10158399" cy="4584744"/>
          </a:xfrm>
          <a:prstGeom prst="rect">
            <a:avLst/>
          </a:prstGeom>
        </p:spPr>
        <p:txBody>
          <a:bodyPr lIns="91434" tIns="45717" rIns="91434" bIns="45717"/>
          <a:lstStyle>
            <a:lvl1pPr>
              <a:defRPr sz="3200"/>
            </a:lvl1pPr>
            <a:lvl2pPr>
              <a:defRPr sz="2665"/>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advClick="0" advTm="8000">
    <p:fade thruBlk="1"/>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custDataLst>
              <p:tags r:id="rId1"/>
            </p:custDataLst>
          </p:nvPr>
        </p:nvPicPr>
        <p:blipFill>
          <a:blip r:embed="rId6"/>
          <a:stretch>
            <a:fillRect/>
          </a:stretch>
        </p:blipFill>
        <p:spPr>
          <a:xfrm>
            <a:off x="1" y="0"/>
            <a:ext cx="12196763" cy="5602265"/>
          </a:xfrm>
          <a:prstGeom prst="rect">
            <a:avLst/>
          </a:prstGeom>
        </p:spPr>
      </p:pic>
      <p:sp>
        <p:nvSpPr>
          <p:cNvPr id="18" name="L 形 17"/>
          <p:cNvSpPr/>
          <p:nvPr userDrawn="1">
            <p:custDataLst>
              <p:tags r:id="rId2"/>
            </p:custDataLst>
          </p:nvPr>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custDataLst>
              <p:tags r:id="rId3"/>
            </p:custDataLst>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a:t>单击此处添加标题</a:t>
            </a:r>
            <a:endParaRPr lang="en-US"/>
          </a:p>
        </p:txBody>
      </p:sp>
      <p:sp>
        <p:nvSpPr>
          <p:cNvPr id="5" name="Text Placeholder 5"/>
          <p:cNvSpPr>
            <a:spLocks noGrp="1"/>
          </p:cNvSpPr>
          <p:nvPr>
            <p:ph type="body" sz="quarter" idx="10" hasCustomPrompt="1"/>
            <p:custDataLst>
              <p:tags r:id="rId4"/>
            </p:custDataLst>
          </p:nvPr>
        </p:nvSpPr>
        <p:spPr>
          <a:xfrm>
            <a:off x="929260" y="1949372"/>
            <a:ext cx="6535842" cy="643926"/>
          </a:xfrm>
          <a:prstGeom prst="rect">
            <a:avLst/>
          </a:prstGeom>
        </p:spPr>
        <p:txBody>
          <a:bodyPr/>
          <a:lstStyle>
            <a:lvl1pPr>
              <a:defRPr sz="1400">
                <a:solidFill>
                  <a:schemeClr val="tx1"/>
                </a:solidFill>
              </a:defRPr>
            </a:lvl1pPr>
          </a:lstStyle>
          <a:p>
            <a:pPr lvl="0"/>
            <a:r>
              <a:rPr lang="zh-CN" altLang="en-US"/>
              <a:t>单击此处添加文本</a:t>
            </a:r>
            <a:endParaRPr 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7" name="Title 6"/>
          <p:cNvSpPr>
            <a:spLocks noGrp="1"/>
          </p:cNvSpPr>
          <p:nvPr>
            <p:ph type="title"/>
            <p:custDataLst>
              <p:tags r:id="rId1"/>
            </p:custDataLst>
          </p:nvPr>
        </p:nvSpPr>
        <p:spPr>
          <a:xfrm>
            <a:off x="362310" y="258793"/>
            <a:ext cx="10996146" cy="491706"/>
          </a:xfrm>
          <a:prstGeom prst="rect">
            <a:avLst/>
          </a:prstGeom>
        </p:spPr>
        <p:txBody>
          <a:bodyPr>
            <a:noAutofit/>
          </a:bodyPr>
          <a:lstStyle>
            <a:lvl1pPr>
              <a:defRPr sz="2000" b="1">
                <a:solidFill>
                  <a:srgbClr val="C00000"/>
                </a:solidFill>
              </a:defRPr>
            </a:lvl1pPr>
          </a:lstStyle>
          <a:p>
            <a:r>
              <a:rPr lang="en-US"/>
              <a:t>Click to edit Master title style</a:t>
            </a:r>
          </a:p>
        </p:txBody>
      </p:sp>
      <p:sp>
        <p:nvSpPr>
          <p:cNvPr id="9" name="内容占位符 2"/>
          <p:cNvSpPr>
            <a:spLocks noGrp="1"/>
          </p:cNvSpPr>
          <p:nvPr>
            <p:ph idx="1"/>
            <p:custDataLst>
              <p:tags r:id="rId2"/>
            </p:custDataLst>
          </p:nvPr>
        </p:nvSpPr>
        <p:spPr>
          <a:xfrm>
            <a:off x="-1982311" y="750499"/>
            <a:ext cx="10996146" cy="4797904"/>
          </a:xfrm>
          <a:prstGeom prst="rect">
            <a:avLst/>
          </a:prstGeom>
        </p:spPr>
        <p:txBody>
          <a:bodyPr/>
          <a:lstStyle>
            <a:lvl1pPr>
              <a:defRPr sz="1600"/>
            </a:lvl1pPr>
            <a:lvl2pPr>
              <a:defRPr sz="1100"/>
            </a:lvl2pPr>
            <a:lvl3pPr>
              <a:defRPr sz="1100"/>
            </a:lvl3pPr>
            <a:lvl4pPr>
              <a:defRPr sz="1100"/>
            </a:lvl4pPr>
            <a:lvl5pPr>
              <a:defRPr sz="11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Text Box 5"/>
          <p:cNvSpPr txBox="1">
            <a:spLocks noChangeArrowheads="1"/>
          </p:cNvSpPr>
          <p:nvPr userDrawn="1">
            <p:custDataLst>
              <p:tags r:id="rId3"/>
            </p:custDataLst>
          </p:nvPr>
        </p:nvSpPr>
        <p:spPr bwMode="auto">
          <a:xfrm>
            <a:off x="870312" y="6471876"/>
            <a:ext cx="2506524" cy="274626"/>
          </a:xfrm>
          <a:prstGeom prst="rect">
            <a:avLst/>
          </a:prstGeom>
          <a:noFill/>
          <a:ln w="9525">
            <a:noFill/>
            <a:miter lim="800000"/>
          </a:ln>
        </p:spPr>
        <p:txBody>
          <a:bodyPr wrap="none" lIns="104210" tIns="52106" rIns="104210" bIns="52106">
            <a:spAutoFit/>
          </a:bodyPr>
          <a:lstStyle/>
          <a:p>
            <a:pPr defTabSz="1043305" eaLnBrk="0" fontAlgn="base" hangingPunct="0">
              <a:spcBef>
                <a:spcPct val="0"/>
              </a:spcBef>
              <a:spcAft>
                <a:spcPct val="0"/>
              </a:spcAft>
            </a:pPr>
            <a:r>
              <a:rPr lang="en-US" altLang="zh-CN" sz="1100">
                <a:solidFill>
                  <a:srgbClr val="000000"/>
                </a:solidFill>
                <a:latin typeface="FrutigerNext LT Bold" pitchFamily="1" charset="0"/>
                <a:ea typeface="MS PGothic" panose="020B0600070205080204" pitchFamily="34" charset="-128"/>
              </a:rPr>
              <a:t>HUAWEI TECHNOLOGIES Co., Ltd.</a:t>
            </a:r>
            <a:endParaRPr lang="en-US" altLang="zh-CN" sz="1800">
              <a:solidFill>
                <a:srgbClr val="000000"/>
              </a:solidFill>
              <a:ea typeface="MS PGothic" panose="020B0600070205080204" pitchFamily="34" charset="-128"/>
            </a:endParaRPr>
          </a:p>
        </p:txBody>
      </p:sp>
      <p:sp>
        <p:nvSpPr>
          <p:cNvPr id="11" name="Rectangle 7"/>
          <p:cNvSpPr>
            <a:spLocks noChangeArrowheads="1"/>
          </p:cNvSpPr>
          <p:nvPr userDrawn="1">
            <p:custDataLst>
              <p:tags r:id="rId4"/>
            </p:custDataLst>
          </p:nvPr>
        </p:nvSpPr>
        <p:spPr bwMode="auto">
          <a:xfrm>
            <a:off x="4882997" y="6471884"/>
            <a:ext cx="1632730" cy="274532"/>
          </a:xfrm>
          <a:prstGeom prst="rect">
            <a:avLst/>
          </a:prstGeom>
          <a:noFill/>
          <a:ln w="9525" algn="ctr">
            <a:noFill/>
            <a:miter lim="800000"/>
          </a:ln>
          <a:effectLst/>
        </p:spPr>
        <p:txBody>
          <a:bodyPr wrap="none" lIns="104202" tIns="52098" rIns="104202" bIns="52098">
            <a:spAutoFit/>
          </a:bodyPr>
          <a:lstStyle/>
          <a:p>
            <a:pPr defTabSz="1043305" eaLnBrk="0" fontAlgn="base" hangingPunct="0">
              <a:spcBef>
                <a:spcPct val="0"/>
              </a:spcBef>
              <a:spcAft>
                <a:spcPct val="0"/>
              </a:spcAft>
            </a:pPr>
            <a:r>
              <a:rPr lang="en-US" altLang="zh-CN" sz="1100">
                <a:solidFill>
                  <a:srgbClr val="000000"/>
                </a:solidFill>
                <a:latin typeface="FrutigerNext LT Bold" pitchFamily="1" charset="0"/>
                <a:ea typeface="MS PGothic" panose="020B0600070205080204" pitchFamily="34" charset="-128"/>
              </a:rPr>
              <a:t>HUAWEI Confidential </a:t>
            </a:r>
          </a:p>
        </p:txBody>
      </p:sp>
      <p:sp>
        <p:nvSpPr>
          <p:cNvPr id="12" name="Rectangle 86"/>
          <p:cNvSpPr>
            <a:spLocks noChangeArrowheads="1"/>
          </p:cNvSpPr>
          <p:nvPr userDrawn="1">
            <p:custDataLst>
              <p:tags r:id="rId5"/>
            </p:custDataLst>
          </p:nvPr>
        </p:nvSpPr>
        <p:spPr bwMode="auto">
          <a:xfrm>
            <a:off x="8173896" y="6484776"/>
            <a:ext cx="1409884" cy="248826"/>
          </a:xfrm>
          <a:prstGeom prst="rect">
            <a:avLst/>
          </a:prstGeom>
          <a:noFill/>
          <a:ln w="9525">
            <a:noFill/>
            <a:miter lim="800000"/>
          </a:ln>
          <a:effectLst/>
        </p:spPr>
        <p:txBody>
          <a:bodyPr wrap="none" lIns="0" tIns="0" rIns="0" bIns="0" anchor="ctr" anchorCtr="0"/>
          <a:lstStyle/>
          <a:p>
            <a:pPr defTabSz="782320" eaLnBrk="0" fontAlgn="base" hangingPunct="0">
              <a:spcBef>
                <a:spcPct val="0"/>
              </a:spcBef>
              <a:spcAft>
                <a:spcPct val="0"/>
              </a:spcAft>
            </a:pPr>
            <a:r>
              <a:rPr lang="de-DE" sz="1200">
                <a:solidFill>
                  <a:srgbClr val="000000">
                    <a:lumMod val="95000"/>
                    <a:lumOff val="5000"/>
                  </a:srgbClr>
                </a:solidFill>
                <a:latin typeface="Calibri" pitchFamily="34" charset="0"/>
                <a:ea typeface="MS PGothic" panose="020B0600070205080204" pitchFamily="34" charset="-128"/>
              </a:rPr>
              <a:t>Page </a:t>
            </a:r>
            <a:fld id="{E68EC476-442B-4BB7-9603-F1440C241F3D}" type="slidenum">
              <a:rPr lang="de-DE" sz="1200">
                <a:solidFill>
                  <a:srgbClr val="000000">
                    <a:lumMod val="95000"/>
                    <a:lumOff val="5000"/>
                  </a:srgbClr>
                </a:solidFill>
                <a:latin typeface="Calibri" pitchFamily="34" charset="0"/>
                <a:ea typeface="MS PGothic" panose="020B0600070205080204" pitchFamily="34" charset="-128"/>
              </a:rPr>
              <a:t>‹#›</a:t>
            </a:fld>
            <a:endParaRPr lang="en-GB" sz="1200">
              <a:solidFill>
                <a:srgbClr val="000000">
                  <a:lumMod val="95000"/>
                  <a:lumOff val="5000"/>
                </a:srgbClr>
              </a:solidFill>
              <a:latin typeface="Calibri" pitchFamily="34" charset="0"/>
              <a:ea typeface="MS PGothic" panose="020B0600070205080204" pitchFamily="34" charset="-128"/>
            </a:endParaRPr>
          </a:p>
        </p:txBody>
      </p:sp>
      <p:pic>
        <p:nvPicPr>
          <p:cNvPr id="13" name="图片 12"/>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a:xfrm>
            <a:off x="10251449" y="6474438"/>
            <a:ext cx="1231806" cy="269502"/>
          </a:xfrm>
          <a:prstGeom prst="rect">
            <a:avLst/>
          </a:prstGeom>
        </p:spPr>
      </p:pic>
    </p:spTree>
  </p:cSld>
  <p:clrMapOvr>
    <a:masterClrMapping/>
  </p:clrMapOvr>
  <p:transition advClick="0" advTm="8000">
    <p:fade thruBlk="1"/>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914520" y="2129932"/>
            <a:ext cx="10367725" cy="1471272"/>
          </a:xfrm>
          <a:prstGeom prst="rect">
            <a:avLst/>
          </a:prstGeom>
        </p:spPr>
        <p:txBody>
          <a:bodyPr>
            <a:normAutofit/>
          </a:bodyPr>
          <a:lstStyle>
            <a:lvl1pPr algn="ctr">
              <a:defRPr sz="4000">
                <a:latin typeface="微软雅黑" panose="020B0503020204020204" pitchFamily="34" charset="-122"/>
                <a:ea typeface="微软雅黑" panose="020B0503020204020204" pitchFamily="34" charset="-122"/>
              </a:defRPr>
            </a:lvl1pPr>
          </a:lstStyle>
          <a:p>
            <a:r>
              <a:rPr lang="zh-CN" altLang="en-US" dirty="0"/>
              <a:t>微软雅黑 </a:t>
            </a:r>
            <a:r>
              <a:rPr lang="en-US" altLang="zh-CN" dirty="0"/>
              <a:t>40pt </a:t>
            </a:r>
            <a:r>
              <a:rPr lang="zh-CN" altLang="en-US" dirty="0"/>
              <a:t>，居中，最多两行</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封面">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分隔页">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6763" cy="6858000"/>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深色内页">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6763" cy="6858000"/>
          </a:xfrm>
          <a:prstGeom prst="rect">
            <a:avLst/>
          </a:prstGeom>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封底">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6763" cy="6858000"/>
          </a:xfrm>
          <a:prstGeom prst="rect">
            <a:avLst/>
          </a:prstGeom>
        </p:spPr>
      </p:pic>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3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en-US" dirty="0"/>
              <a:t>Click to edit Master title style</a:t>
            </a:r>
          </a:p>
        </p:txBody>
      </p:sp>
      <p:sp>
        <p:nvSpPr>
          <p:cNvPr id="7" name="Content Placeholder 2"/>
          <p:cNvSpPr>
            <a:spLocks noGrp="1"/>
          </p:cNvSpPr>
          <p:nvPr>
            <p:ph idx="10" hasCustomPrompt="1"/>
          </p:nvPr>
        </p:nvSpPr>
        <p:spPr>
          <a:xfrm>
            <a:off x="726022"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25780" indent="-171450">
              <a:buFont typeface="Arial" panose="020B0604020202090204" pitchFamily="34" charset="0"/>
              <a:buChar char="•"/>
              <a:tabLst>
                <a:tab pos="1208405" algn="ctr"/>
              </a:tabLst>
              <a:defRPr sz="1300" baseline="0"/>
            </a:lvl2pPr>
            <a:lvl3pPr marL="525780" indent="-171450">
              <a:buFont typeface="Arial" panose="020B0604020202090204" pitchFamily="34" charset="0"/>
              <a:buChar char="•"/>
              <a:tabLst>
                <a:tab pos="1208405" algn="ctr"/>
              </a:tabLst>
              <a:defRPr sz="1300" baseline="0"/>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en-US" dirty="0"/>
              <a:t>Click to edit Master text style</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9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7"/>
            <a:ext cx="10740640" cy="543547"/>
          </a:xfrm>
          <a:prstGeom prst="rect">
            <a:avLst/>
          </a:prstGeom>
        </p:spPr>
        <p:txBody>
          <a:bodyPr lIns="0" tIns="0" rIns="0" bIns="0" anchor="ctr">
            <a:normAutofit/>
          </a:bodyPr>
          <a:lstStyle>
            <a:lvl1pPr marL="0" indent="0" algn="l">
              <a:lnSpc>
                <a:spcPts val="3430"/>
              </a:lnSpc>
              <a:spcBef>
                <a:spcPts val="0"/>
              </a:spcBef>
              <a:buNone/>
              <a:defRPr sz="3200" b="1" baseline="0">
                <a:solidFill>
                  <a:schemeClr val="bg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595"/>
            </a:lvl2pPr>
            <a:lvl3pPr marL="1186815" indent="0" algn="ctr">
              <a:buNone/>
              <a:defRPr sz="2335"/>
            </a:lvl3pPr>
            <a:lvl4pPr marL="1780540" indent="0" algn="ctr">
              <a:buNone/>
              <a:defRPr sz="2075"/>
            </a:lvl4pPr>
            <a:lvl5pPr marL="2373630" indent="0" algn="ctr">
              <a:buNone/>
              <a:defRPr sz="2075"/>
            </a:lvl5pPr>
            <a:lvl6pPr marL="2967355" indent="0" algn="ctr">
              <a:buNone/>
              <a:defRPr sz="2075"/>
            </a:lvl6pPr>
            <a:lvl7pPr marL="3560445" indent="0" algn="ctr">
              <a:buNone/>
              <a:defRPr sz="2075"/>
            </a:lvl7pPr>
            <a:lvl8pPr marL="4154170" indent="0" algn="ctr">
              <a:buNone/>
              <a:defRPr sz="2075"/>
            </a:lvl8pPr>
            <a:lvl9pPr marL="4747260" indent="0" algn="ctr">
              <a:buNone/>
              <a:defRPr sz="2075"/>
            </a:lvl9pPr>
          </a:lstStyle>
          <a:p>
            <a:r>
              <a:rPr lang="en-US" dirty="0"/>
              <a:t>Click to edit Master title style</a:t>
            </a: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2_中文版式">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5"/>
            <a:ext cx="10740640" cy="543547"/>
          </a:xfrm>
          <a:prstGeom prst="rect">
            <a:avLst/>
          </a:prstGeom>
        </p:spPr>
        <p:txBody>
          <a:bodyPr lIns="0" tIns="0" rIns="0" bIns="0" anchor="ctr">
            <a:normAutofit/>
          </a:bodyPr>
          <a:lstStyle>
            <a:lvl1pPr marL="0" indent="0" algn="l">
              <a:lnSpc>
                <a:spcPts val="3430"/>
              </a:lnSpc>
              <a:spcBef>
                <a:spcPts val="0"/>
              </a:spcBef>
              <a:buNone/>
              <a:defRPr sz="2400" b="1" baseline="0">
                <a:solidFill>
                  <a:schemeClr val="tx1"/>
                </a:solidFill>
                <a:latin typeface="Arial" panose="020B0604020202090204" pitchFamily="34" charset="0"/>
                <a:ea typeface="微软雅黑" panose="020B0503020204020204" pitchFamily="34" charset="-122"/>
                <a:cs typeface="Arial" panose="020B0604020202090204" pitchFamily="34" charset="0"/>
              </a:defRPr>
            </a:lvl1pPr>
            <a:lvl2pPr marL="593725" indent="0" algn="ctr">
              <a:buNone/>
              <a:defRPr sz="2595"/>
            </a:lvl2pPr>
            <a:lvl3pPr marL="1187450" indent="0" algn="ctr">
              <a:buNone/>
              <a:defRPr sz="2340"/>
            </a:lvl3pPr>
            <a:lvl4pPr marL="1781175" indent="0" algn="ctr">
              <a:buNone/>
              <a:defRPr sz="2080"/>
            </a:lvl4pPr>
            <a:lvl5pPr marL="2374900" indent="0" algn="ctr">
              <a:buNone/>
              <a:defRPr sz="2080"/>
            </a:lvl5pPr>
            <a:lvl6pPr marL="2968625" indent="0" algn="ctr">
              <a:buNone/>
              <a:defRPr sz="2080"/>
            </a:lvl6pPr>
            <a:lvl7pPr marL="3562350" indent="0" algn="ctr">
              <a:buNone/>
              <a:defRPr sz="2080"/>
            </a:lvl7pPr>
            <a:lvl8pPr marL="4156075" indent="0" algn="ctr">
              <a:buNone/>
              <a:defRPr sz="2080"/>
            </a:lvl8pPr>
            <a:lvl9pPr marL="4749800" indent="0" algn="ctr">
              <a:buNone/>
              <a:defRPr sz="2080"/>
            </a:lvl9pPr>
          </a:lstStyle>
          <a:p>
            <a:r>
              <a:rPr lang="en-US" dirty="0"/>
              <a:t>Click to edit Master title style</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1_中文版式">
    <p:spTree>
      <p:nvGrpSpPr>
        <p:cNvPr id="1" name=""/>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839" y="275172"/>
            <a:ext cx="10977087"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8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8085" indent="0" algn="ctr">
              <a:buNone/>
              <a:defRPr sz="2340"/>
            </a:lvl3pPr>
            <a:lvl4pPr marL="1781810" indent="0" algn="ctr">
              <a:buNone/>
              <a:defRPr sz="2080"/>
            </a:lvl4pPr>
            <a:lvl5pPr marL="2375535" indent="0" algn="ctr">
              <a:buNone/>
              <a:defRPr sz="2080"/>
            </a:lvl5pPr>
            <a:lvl6pPr marL="2969260" indent="0" algn="ctr">
              <a:buNone/>
              <a:defRPr sz="2080"/>
            </a:lvl6pPr>
            <a:lvl7pPr marL="3563620" indent="0" algn="ctr">
              <a:buNone/>
              <a:defRPr sz="2080"/>
            </a:lvl7pPr>
            <a:lvl8pPr marL="4157345" indent="0" algn="ctr">
              <a:buNone/>
              <a:defRPr sz="2080"/>
            </a:lvl8pPr>
            <a:lvl9pPr marL="4751070" indent="0" algn="ctr">
              <a:buNone/>
              <a:defRPr sz="2080"/>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36908" y="1501989"/>
            <a:ext cx="10733557" cy="4690459"/>
          </a:xfrm>
          <a:prstGeom prst="rect">
            <a:avLst/>
          </a:prstGeom>
        </p:spPr>
        <p:txBody>
          <a:bodyPr lIns="0" tIns="0" rIns="0" bIns="0"/>
          <a:lstStyle>
            <a:lvl1pPr marL="12065" indent="0">
              <a:lnSpc>
                <a:spcPct val="100000"/>
              </a:lnSpc>
              <a:spcBef>
                <a:spcPts val="0"/>
              </a:spcBef>
              <a:buFontTx/>
              <a:buNone/>
              <a:tabLst>
                <a:tab pos="1208405" algn="ctr"/>
              </a:tabLst>
              <a:defRPr sz="1800"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525780" indent="-171450">
              <a:buFont typeface="Arial" panose="020B0604020202090204" pitchFamily="34" charset="0"/>
              <a:buChar char="•"/>
              <a:tabLst>
                <a:tab pos="1208405" algn="ctr"/>
              </a:tabLst>
              <a:defRPr sz="1300" baseline="0"/>
            </a:lvl2pPr>
            <a:lvl3pPr marL="525780" indent="-171450">
              <a:buFont typeface="Arial" panose="020B0604020202090204" pitchFamily="34" charset="0"/>
              <a:buChar char="•"/>
              <a:tabLst>
                <a:tab pos="1208405" algn="ctr"/>
              </a:tabLst>
              <a:defRPr sz="1300" baseline="0"/>
            </a:lvl3pPr>
            <a:lvl4pPr marL="525780" indent="-171450">
              <a:buFont typeface="Arial" panose="020B0604020202090204" pitchFamily="34" charset="0"/>
              <a:buChar char="•"/>
              <a:tabLst>
                <a:tab pos="1208405" algn="ctr"/>
              </a:tabLst>
              <a:defRPr sz="1300" baseline="0"/>
            </a:lvl4pPr>
            <a:lvl5pPr marL="525780" indent="-171450">
              <a:buFont typeface="Arial" panose="020B0604020202090204" pitchFamily="34" charset="0"/>
              <a:buChar char="•"/>
              <a:tabLst>
                <a:tab pos="1208405" algn="ctr"/>
              </a:tabLst>
              <a:defRPr sz="1300" baseline="0"/>
            </a:lvl5pPr>
          </a:lstStyle>
          <a:p>
            <a:pPr lvl="0"/>
            <a:r>
              <a:rPr lang="zh-CN" altLang="en-US" dirty="0"/>
              <a:t>单击此处添加文本</a:t>
            </a:r>
            <a:endParaRPr 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81306" y="336815"/>
            <a:ext cx="10458982" cy="759668"/>
          </a:xfrm>
          <a:prstGeom prst="rect">
            <a:avLst/>
          </a:prstGeom>
          <a:noFill/>
          <a:ln w="9525" algn="ctr">
            <a:noFill/>
            <a:miter lim="800000"/>
          </a:ln>
          <a:effectLst/>
        </p:spPr>
        <p:txBody>
          <a:bodyPr vert="horz" wrap="square" lIns="91393" tIns="45697" rIns="91393" bIns="45697" numCol="1" anchor="ctr" anchorCtr="0" compatLnSpc="1"/>
          <a:lstStyle>
            <a:lvl1pPr marL="0" indent="0">
              <a:buFont typeface="Arial" panose="020B0604020202090204" pitchFamily="34" charset="0"/>
              <a:buNone/>
              <a:defRPr lang="zh-CN" altLang="en-US" sz="3995" b="0" dirty="0">
                <a:solidFill>
                  <a:schemeClr val="tx2"/>
                </a:solidFill>
                <a:latin typeface="FrutigerNext LT Light" pitchFamily="34" charset="0"/>
                <a:ea typeface="黑体" pitchFamily="49" charset="-122"/>
              </a:defRPr>
            </a:lvl1pPr>
          </a:lstStyle>
          <a:p>
            <a:pPr lvl="0"/>
            <a:r>
              <a:rPr lang="en-US" altLang="zh-CN" dirty="0"/>
              <a:t>HEADLINE TEXT TO BE PLACED</a:t>
            </a:r>
            <a:endParaRPr lang="zh-CN" altLang="en-US" dirty="0"/>
          </a:p>
        </p:txBody>
      </p:sp>
    </p:spTree>
  </p:cSld>
  <p:clrMapOvr>
    <a:masterClrMapping/>
  </p:clrMapOvr>
  <p:transition>
    <p:fade thruBlk="1"/>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1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927" y="449287"/>
            <a:ext cx="10180910" cy="871537"/>
          </a:xfrm>
          <a:prstGeom prst="rect">
            <a:avLst/>
          </a:prstGeom>
        </p:spPr>
        <p:txBody>
          <a:bodyPr lIns="91434" tIns="45717" rIns="91434" bIns="45717"/>
          <a:lstStyle/>
          <a:p>
            <a:r>
              <a:rPr lang="en-US"/>
              <a:t>Click to edit Master title style</a:t>
            </a:r>
          </a:p>
        </p:txBody>
      </p:sp>
      <p:sp>
        <p:nvSpPr>
          <p:cNvPr id="4" name="Content Placeholder 3"/>
          <p:cNvSpPr>
            <a:spLocks noGrp="1"/>
          </p:cNvSpPr>
          <p:nvPr>
            <p:ph sz="quarter" idx="10"/>
          </p:nvPr>
        </p:nvSpPr>
        <p:spPr>
          <a:xfrm>
            <a:off x="1019183" y="1628384"/>
            <a:ext cx="10158399" cy="4584744"/>
          </a:xfrm>
          <a:prstGeom prst="rect">
            <a:avLst/>
          </a:prstGeom>
        </p:spPr>
        <p:txBody>
          <a:bodyPr lIns="91434" tIns="45717" rIns="91434" bIns="45717"/>
          <a:lstStyle>
            <a:lvl1pPr>
              <a:defRPr sz="3200"/>
            </a:lvl1pPr>
            <a:lvl2pPr>
              <a:defRPr sz="2665"/>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advClick="0" advTm="8000">
    <p:fade thruBlk="1"/>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智能">
    <p:spTree>
      <p:nvGrpSpPr>
        <p:cNvPr id="1" name=""/>
        <p:cNvGrpSpPr/>
        <p:nvPr/>
      </p:nvGrpSpPr>
      <p:grpSpPr>
        <a:xfrm>
          <a:off x="0" y="0"/>
          <a:ext cx="0" cy="0"/>
          <a:chOff x="0" y="0"/>
          <a:chExt cx="0" cy="0"/>
        </a:xfrm>
      </p:grpSpPr>
      <p:pic>
        <p:nvPicPr>
          <p:cNvPr id="14" name="图片 13"/>
          <p:cNvPicPr>
            <a:picLocks noChangeAspect="1"/>
          </p:cNvPicPr>
          <p:nvPr userDrawn="1">
            <p:custDataLst>
              <p:tags r:id="rId1"/>
            </p:custDataLst>
          </p:nvPr>
        </p:nvPicPr>
        <p:blipFill>
          <a:blip r:embed="rId6"/>
          <a:stretch>
            <a:fillRect/>
          </a:stretch>
        </p:blipFill>
        <p:spPr>
          <a:xfrm>
            <a:off x="1" y="0"/>
            <a:ext cx="12196763" cy="5602265"/>
          </a:xfrm>
          <a:prstGeom prst="rect">
            <a:avLst/>
          </a:prstGeom>
        </p:spPr>
      </p:pic>
      <p:sp>
        <p:nvSpPr>
          <p:cNvPr id="18" name="L 形 17"/>
          <p:cNvSpPr/>
          <p:nvPr userDrawn="1">
            <p:custDataLst>
              <p:tags r:id="rId2"/>
            </p:custDataLst>
          </p:nvPr>
        </p:nvSpPr>
        <p:spPr>
          <a:xfrm rot="5400000">
            <a:off x="5824025" y="2568635"/>
            <a:ext cx="701032" cy="71793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a:p>
        </p:txBody>
      </p:sp>
      <p:sp>
        <p:nvSpPr>
          <p:cNvPr id="8" name="Title 1"/>
          <p:cNvSpPr>
            <a:spLocks noGrp="1"/>
          </p:cNvSpPr>
          <p:nvPr>
            <p:ph type="ctrTitle" hasCustomPrompt="1"/>
            <p:custDataLst>
              <p:tags r:id="rId3"/>
            </p:custDataLst>
          </p:nvPr>
        </p:nvSpPr>
        <p:spPr>
          <a:xfrm>
            <a:off x="898996" y="907092"/>
            <a:ext cx="6559809" cy="690255"/>
          </a:xfrm>
          <a:prstGeom prst="rect">
            <a:avLst/>
          </a:prstGeom>
        </p:spPr>
        <p:txBody>
          <a:bodyPr lIns="0" tIns="0" rIns="0" bIns="0" anchor="t">
            <a:normAutofit/>
          </a:bodyPr>
          <a:lstStyle>
            <a:lvl1pPr algn="l">
              <a:defRPr sz="3200" b="0" i="0">
                <a:solidFill>
                  <a:schemeClr val="tx1"/>
                </a:solidFill>
                <a:latin typeface="微软雅黑" panose="020B0503020204020204" pitchFamily="34" charset="-122"/>
                <a:ea typeface="微软雅黑" panose="020B0503020204020204" pitchFamily="34" charset="-122"/>
              </a:defRPr>
            </a:lvl1pPr>
          </a:lstStyle>
          <a:p>
            <a:r>
              <a:rPr lang="zh-CN" altLang="en-US"/>
              <a:t>单击此处添加标题</a:t>
            </a:r>
            <a:endParaRPr lang="en-US"/>
          </a:p>
        </p:txBody>
      </p:sp>
      <p:sp>
        <p:nvSpPr>
          <p:cNvPr id="5" name="Text Placeholder 5"/>
          <p:cNvSpPr>
            <a:spLocks noGrp="1"/>
          </p:cNvSpPr>
          <p:nvPr>
            <p:ph type="body" sz="quarter" idx="10" hasCustomPrompt="1"/>
            <p:custDataLst>
              <p:tags r:id="rId4"/>
            </p:custDataLst>
          </p:nvPr>
        </p:nvSpPr>
        <p:spPr>
          <a:xfrm>
            <a:off x="929260" y="1949372"/>
            <a:ext cx="6535842" cy="643926"/>
          </a:xfrm>
          <a:prstGeom prst="rect">
            <a:avLst/>
          </a:prstGeom>
        </p:spPr>
        <p:txBody>
          <a:bodyPr/>
          <a:lstStyle>
            <a:lvl1pPr>
              <a:defRPr sz="1400">
                <a:solidFill>
                  <a:schemeClr val="tx1"/>
                </a:solidFill>
              </a:defRPr>
            </a:lvl1pPr>
          </a:lstStyle>
          <a:p>
            <a:pPr lvl="0"/>
            <a:r>
              <a:rPr lang="zh-CN" altLang="en-US"/>
              <a:t>单击此处添加文本</a:t>
            </a:r>
            <a:endParaRPr 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7" name="Title 6"/>
          <p:cNvSpPr>
            <a:spLocks noGrp="1"/>
          </p:cNvSpPr>
          <p:nvPr>
            <p:ph type="title"/>
            <p:custDataLst>
              <p:tags r:id="rId1"/>
            </p:custDataLst>
          </p:nvPr>
        </p:nvSpPr>
        <p:spPr>
          <a:xfrm>
            <a:off x="362310" y="258793"/>
            <a:ext cx="10996146" cy="491706"/>
          </a:xfrm>
          <a:prstGeom prst="rect">
            <a:avLst/>
          </a:prstGeom>
        </p:spPr>
        <p:txBody>
          <a:bodyPr>
            <a:noAutofit/>
          </a:bodyPr>
          <a:lstStyle>
            <a:lvl1pPr>
              <a:defRPr sz="2000" b="1">
                <a:solidFill>
                  <a:srgbClr val="C00000"/>
                </a:solidFill>
              </a:defRPr>
            </a:lvl1pPr>
          </a:lstStyle>
          <a:p>
            <a:r>
              <a:rPr lang="en-US"/>
              <a:t>Click to edit Master title style</a:t>
            </a:r>
          </a:p>
        </p:txBody>
      </p:sp>
      <p:sp>
        <p:nvSpPr>
          <p:cNvPr id="9" name="内容占位符 2"/>
          <p:cNvSpPr>
            <a:spLocks noGrp="1"/>
          </p:cNvSpPr>
          <p:nvPr>
            <p:ph idx="1"/>
            <p:custDataLst>
              <p:tags r:id="rId2"/>
            </p:custDataLst>
          </p:nvPr>
        </p:nvSpPr>
        <p:spPr>
          <a:xfrm>
            <a:off x="-1982311" y="750499"/>
            <a:ext cx="10996146" cy="4797904"/>
          </a:xfrm>
          <a:prstGeom prst="rect">
            <a:avLst/>
          </a:prstGeom>
        </p:spPr>
        <p:txBody>
          <a:bodyPr/>
          <a:lstStyle>
            <a:lvl1pPr>
              <a:defRPr sz="1600"/>
            </a:lvl1pPr>
            <a:lvl2pPr>
              <a:defRPr sz="1100"/>
            </a:lvl2pPr>
            <a:lvl3pPr>
              <a:defRPr sz="1100"/>
            </a:lvl3pPr>
            <a:lvl4pPr>
              <a:defRPr sz="1100"/>
            </a:lvl4pPr>
            <a:lvl5pPr>
              <a:defRPr sz="11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Text Box 5"/>
          <p:cNvSpPr txBox="1">
            <a:spLocks noChangeArrowheads="1"/>
          </p:cNvSpPr>
          <p:nvPr userDrawn="1">
            <p:custDataLst>
              <p:tags r:id="rId3"/>
            </p:custDataLst>
          </p:nvPr>
        </p:nvSpPr>
        <p:spPr bwMode="auto">
          <a:xfrm>
            <a:off x="870312" y="6471876"/>
            <a:ext cx="2506524" cy="274626"/>
          </a:xfrm>
          <a:prstGeom prst="rect">
            <a:avLst/>
          </a:prstGeom>
          <a:noFill/>
          <a:ln w="9525">
            <a:noFill/>
            <a:miter lim="800000"/>
          </a:ln>
        </p:spPr>
        <p:txBody>
          <a:bodyPr wrap="none" lIns="104210" tIns="52106" rIns="104210" bIns="52106">
            <a:spAutoFit/>
          </a:bodyPr>
          <a:lstStyle/>
          <a:p>
            <a:pPr defTabSz="1043305" eaLnBrk="0" fontAlgn="base" hangingPunct="0">
              <a:spcBef>
                <a:spcPct val="0"/>
              </a:spcBef>
              <a:spcAft>
                <a:spcPct val="0"/>
              </a:spcAft>
            </a:pPr>
            <a:r>
              <a:rPr lang="en-US" altLang="zh-CN" sz="1100">
                <a:solidFill>
                  <a:srgbClr val="000000"/>
                </a:solidFill>
                <a:latin typeface="FrutigerNext LT Bold" pitchFamily="1" charset="0"/>
                <a:ea typeface="MS PGothic" panose="020B0600070205080204" pitchFamily="34" charset="-128"/>
              </a:rPr>
              <a:t>HUAWEI TECHNOLOGIES Co., Ltd.</a:t>
            </a:r>
            <a:endParaRPr lang="en-US" altLang="zh-CN" sz="1800">
              <a:solidFill>
                <a:srgbClr val="000000"/>
              </a:solidFill>
              <a:ea typeface="MS PGothic" panose="020B0600070205080204" pitchFamily="34" charset="-128"/>
            </a:endParaRPr>
          </a:p>
        </p:txBody>
      </p:sp>
      <p:sp>
        <p:nvSpPr>
          <p:cNvPr id="11" name="Rectangle 7"/>
          <p:cNvSpPr>
            <a:spLocks noChangeArrowheads="1"/>
          </p:cNvSpPr>
          <p:nvPr userDrawn="1">
            <p:custDataLst>
              <p:tags r:id="rId4"/>
            </p:custDataLst>
          </p:nvPr>
        </p:nvSpPr>
        <p:spPr bwMode="auto">
          <a:xfrm>
            <a:off x="4882997" y="6471884"/>
            <a:ext cx="1632730" cy="274532"/>
          </a:xfrm>
          <a:prstGeom prst="rect">
            <a:avLst/>
          </a:prstGeom>
          <a:noFill/>
          <a:ln w="9525" algn="ctr">
            <a:noFill/>
            <a:miter lim="800000"/>
          </a:ln>
          <a:effectLst/>
        </p:spPr>
        <p:txBody>
          <a:bodyPr wrap="none" lIns="104202" tIns="52098" rIns="104202" bIns="52098">
            <a:spAutoFit/>
          </a:bodyPr>
          <a:lstStyle/>
          <a:p>
            <a:pPr defTabSz="1043305" eaLnBrk="0" fontAlgn="base" hangingPunct="0">
              <a:spcBef>
                <a:spcPct val="0"/>
              </a:spcBef>
              <a:spcAft>
                <a:spcPct val="0"/>
              </a:spcAft>
            </a:pPr>
            <a:r>
              <a:rPr lang="en-US" altLang="zh-CN" sz="1100">
                <a:solidFill>
                  <a:srgbClr val="000000"/>
                </a:solidFill>
                <a:latin typeface="FrutigerNext LT Bold" pitchFamily="1" charset="0"/>
                <a:ea typeface="MS PGothic" panose="020B0600070205080204" pitchFamily="34" charset="-128"/>
              </a:rPr>
              <a:t>HUAWEI Confidential </a:t>
            </a:r>
          </a:p>
        </p:txBody>
      </p:sp>
      <p:sp>
        <p:nvSpPr>
          <p:cNvPr id="12" name="Rectangle 86"/>
          <p:cNvSpPr>
            <a:spLocks noChangeArrowheads="1"/>
          </p:cNvSpPr>
          <p:nvPr userDrawn="1">
            <p:custDataLst>
              <p:tags r:id="rId5"/>
            </p:custDataLst>
          </p:nvPr>
        </p:nvSpPr>
        <p:spPr bwMode="auto">
          <a:xfrm>
            <a:off x="8173896" y="6484776"/>
            <a:ext cx="1409884" cy="248826"/>
          </a:xfrm>
          <a:prstGeom prst="rect">
            <a:avLst/>
          </a:prstGeom>
          <a:noFill/>
          <a:ln w="9525">
            <a:noFill/>
            <a:miter lim="800000"/>
          </a:ln>
          <a:effectLst/>
        </p:spPr>
        <p:txBody>
          <a:bodyPr wrap="none" lIns="0" tIns="0" rIns="0" bIns="0" anchor="ctr" anchorCtr="0"/>
          <a:lstStyle/>
          <a:p>
            <a:pPr defTabSz="782320" eaLnBrk="0" fontAlgn="base" hangingPunct="0">
              <a:spcBef>
                <a:spcPct val="0"/>
              </a:spcBef>
              <a:spcAft>
                <a:spcPct val="0"/>
              </a:spcAft>
            </a:pPr>
            <a:r>
              <a:rPr lang="de-DE" sz="1200">
                <a:solidFill>
                  <a:srgbClr val="000000">
                    <a:lumMod val="95000"/>
                    <a:lumOff val="5000"/>
                  </a:srgbClr>
                </a:solidFill>
                <a:latin typeface="Calibri" pitchFamily="34" charset="0"/>
                <a:ea typeface="MS PGothic" panose="020B0600070205080204" pitchFamily="34" charset="-128"/>
              </a:rPr>
              <a:t>Page </a:t>
            </a:r>
            <a:fld id="{E68EC476-442B-4BB7-9603-F1440C241F3D}" type="slidenum">
              <a:rPr lang="de-DE" sz="1200">
                <a:solidFill>
                  <a:srgbClr val="000000">
                    <a:lumMod val="95000"/>
                    <a:lumOff val="5000"/>
                  </a:srgbClr>
                </a:solidFill>
                <a:latin typeface="Calibri" pitchFamily="34" charset="0"/>
                <a:ea typeface="MS PGothic" panose="020B0600070205080204" pitchFamily="34" charset="-128"/>
              </a:rPr>
              <a:t>‹#›</a:t>
            </a:fld>
            <a:endParaRPr lang="en-GB" sz="1200">
              <a:solidFill>
                <a:srgbClr val="000000">
                  <a:lumMod val="95000"/>
                  <a:lumOff val="5000"/>
                </a:srgbClr>
              </a:solidFill>
              <a:latin typeface="Calibri" pitchFamily="34" charset="0"/>
              <a:ea typeface="MS PGothic" panose="020B0600070205080204" pitchFamily="34" charset="-128"/>
            </a:endParaRPr>
          </a:p>
        </p:txBody>
      </p:sp>
      <p:pic>
        <p:nvPicPr>
          <p:cNvPr id="13" name="图片 12"/>
          <p:cNvPicPr>
            <a:picLocks noChangeAspect="1"/>
          </p:cNvPicPr>
          <p:nvPr userDrawn="1">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a:xfrm>
            <a:off x="10251449" y="6474438"/>
            <a:ext cx="1231806" cy="269502"/>
          </a:xfrm>
          <a:prstGeom prst="rect">
            <a:avLst/>
          </a:prstGeom>
        </p:spPr>
      </p:pic>
    </p:spTree>
  </p:cSld>
  <p:clrMapOvr>
    <a:masterClrMapping/>
  </p:clrMapOvr>
  <p:transition advClick="0" advTm="8000">
    <p:fade thruBlk="1"/>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16140" y="260357"/>
            <a:ext cx="11164484" cy="539749"/>
          </a:xfrm>
          <a:prstGeom prst="rect">
            <a:avLst/>
          </a:prstGeom>
        </p:spPr>
        <p:txBody>
          <a:bodyPr vert="horz" wrap="none" lIns="0" tIns="0" rIns="0" bIns="0" rtlCol="0" anchor="ctr">
            <a:noAutofit/>
          </a:bodyPr>
          <a:lstStyle>
            <a:lvl1pPr algn="l" defTabSz="913765" rtl="0" eaLnBrk="1" latinLnBrk="0" hangingPunct="1">
              <a:lnSpc>
                <a:spcPct val="100000"/>
              </a:lnSpc>
              <a:spcBef>
                <a:spcPct val="0"/>
              </a:spcBef>
              <a:buNone/>
              <a:defRPr sz="2200" b="0" kern="1200">
                <a:solidFill>
                  <a:srgbClr val="C00000"/>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
        <p:nvSpPr>
          <p:cNvPr id="3" name="内容占位符 2"/>
          <p:cNvSpPr>
            <a:spLocks noGrp="1"/>
          </p:cNvSpPr>
          <p:nvPr>
            <p:ph idx="1"/>
          </p:nvPr>
        </p:nvSpPr>
        <p:spPr>
          <a:xfrm>
            <a:off x="516140" y="908056"/>
            <a:ext cx="11164484" cy="5400675"/>
          </a:xfrm>
          <a:prstGeom prst="rect">
            <a:avLst/>
          </a:prstGeom>
        </p:spPr>
        <p:txBody>
          <a:bodyPr vert="horz" lIns="0" tIns="0" rIns="0" bIns="0" rtlCol="0">
            <a:noAutofit/>
          </a:bodyPr>
          <a:lstStyle>
            <a:lvl1pPr marL="267970" indent="-267970" algn="l" defTabSz="913765" rtl="0" eaLnBrk="1" latinLnBrk="0" hangingPunct="1">
              <a:lnSpc>
                <a:spcPct val="130000"/>
              </a:lnSpc>
              <a:spcBef>
                <a:spcPts val="0"/>
              </a:spcBef>
              <a:spcAft>
                <a:spcPts val="400"/>
              </a:spcAft>
              <a:buClr>
                <a:schemeClr val="tx1">
                  <a:lumMod val="50000"/>
                  <a:lumOff val="50000"/>
                </a:schemeClr>
              </a:buClr>
              <a:buSzPct val="100000"/>
              <a:buFont typeface="Wingdings 2" panose="05020102010507070707" pitchFamily="18" charset="2"/>
              <a:buChar char="¡"/>
              <a:defRPr sz="1800" kern="1200">
                <a:solidFill>
                  <a:schemeClr val="tx1"/>
                </a:solidFill>
                <a:latin typeface="微软雅黑" panose="020B0503020204020204" pitchFamily="34" charset="-122"/>
                <a:ea typeface="微软雅黑" panose="020B0503020204020204" pitchFamily="34" charset="-122"/>
                <a:cs typeface="+mn-cs"/>
              </a:defRPr>
            </a:lvl1pPr>
            <a:lvl2pPr marL="443865" indent="-175895" algn="l" defTabSz="913765" rtl="0" eaLnBrk="1" latinLnBrk="0" hangingPunct="1">
              <a:lnSpc>
                <a:spcPct val="130000"/>
              </a:lnSpc>
              <a:spcBef>
                <a:spcPts val="0"/>
              </a:spcBef>
              <a:spcAft>
                <a:spcPts val="400"/>
              </a:spcAft>
              <a:buClr>
                <a:schemeClr val="tx1">
                  <a:lumMod val="50000"/>
                  <a:lumOff val="50000"/>
                </a:schemeClr>
              </a:buClr>
              <a:buFont typeface="微软雅黑" panose="020B0503020204020204" pitchFamily="34" charset="-12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628015" indent="-184150" algn="l" defTabSz="913765" rtl="0" eaLnBrk="1" latinLnBrk="0" hangingPunct="1">
              <a:lnSpc>
                <a:spcPct val="130000"/>
              </a:lnSpc>
              <a:spcBef>
                <a:spcPts val="0"/>
              </a:spcBef>
              <a:spcAft>
                <a:spcPts val="400"/>
              </a:spcAft>
              <a:buClr>
                <a:schemeClr val="tx1">
                  <a:lumMod val="50000"/>
                  <a:lumOff val="50000"/>
                </a:schemeClr>
              </a:buClr>
              <a:buFont typeface="FrutigerNext LT Regular" pitchFamily="34" charset="0"/>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598930" indent="-228600" algn="l" defTabSz="913765" rtl="0" eaLnBrk="1" latinLnBrk="0" hangingPunct="1">
              <a:lnSpc>
                <a:spcPct val="130000"/>
              </a:lnSpc>
              <a:spcBef>
                <a:spcPts val="500"/>
              </a:spcBef>
              <a:spcAft>
                <a:spcPts val="300"/>
              </a:spcAft>
              <a:buFont typeface="Wingdings" panose="05000000000000000000" pitchFamily="2" charset="2"/>
              <a:buChar char="n"/>
              <a:defRPr sz="1800" kern="1200">
                <a:solidFill>
                  <a:schemeClr val="tx1">
                    <a:lumMod val="75000"/>
                    <a:lumOff val="25000"/>
                  </a:schemeClr>
                </a:solidFill>
                <a:latin typeface="+mn-lt"/>
                <a:ea typeface="+mn-ea"/>
                <a:cs typeface="+mn-cs"/>
              </a:defRPr>
            </a:lvl4pPr>
            <a:lvl5pPr marL="2056130" indent="-228600" algn="l" defTabSz="913765" rtl="0" eaLnBrk="1" latinLnBrk="0" hangingPunct="1">
              <a:lnSpc>
                <a:spcPct val="130000"/>
              </a:lnSpc>
              <a:spcBef>
                <a:spcPts val="500"/>
              </a:spcBef>
              <a:spcAft>
                <a:spcPts val="300"/>
              </a:spcAft>
              <a:buFont typeface="Wingdings" panose="05000000000000000000" pitchFamily="2" charset="2"/>
              <a:buChar char="n"/>
              <a:defRPr sz="1800" kern="1200">
                <a:solidFill>
                  <a:schemeClr val="tx1">
                    <a:lumMod val="75000"/>
                    <a:lumOff val="25000"/>
                  </a:schemeClr>
                </a:solidFill>
                <a:latin typeface="+mn-lt"/>
                <a:ea typeface="+mn-ea"/>
                <a:cs typeface="+mn-cs"/>
              </a:defRPr>
            </a:lvl5pPr>
            <a:lvl6pPr marL="2512695"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69895"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646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366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en-US" dirty="0"/>
              <a:t>单击此处编辑母版文本样式</a:t>
            </a:r>
          </a:p>
          <a:p>
            <a:pPr lvl="1"/>
            <a:r>
              <a:rPr lang="zh-CN" altLang="en-US" dirty="0"/>
              <a:t>第二级</a:t>
            </a:r>
          </a:p>
          <a:p>
            <a:pPr lvl="2"/>
            <a:r>
              <a:rPr lang="zh-CN" altLang="en-US" dirty="0"/>
              <a:t>第三级</a:t>
            </a: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12796" y="150675"/>
            <a:ext cx="11164484" cy="539749"/>
          </a:xfrm>
          <a:prstGeom prst="rect">
            <a:avLst/>
          </a:prstGeom>
        </p:spPr>
        <p:txBody>
          <a:bodyPr vert="horz" wrap="none" lIns="0" tIns="0" rIns="0" bIns="0" rtlCol="0" anchor="b">
            <a:noAutofit/>
          </a:bodyPr>
          <a:lstStyle>
            <a:lvl1pPr algn="l" defTabSz="913765" rtl="0" eaLnBrk="1" latinLnBrk="0" hangingPunct="1">
              <a:lnSpc>
                <a:spcPct val="100000"/>
              </a:lnSpc>
              <a:spcBef>
                <a:spcPct val="0"/>
              </a:spcBef>
              <a:buNone/>
              <a:defRPr sz="2200" b="0" kern="1200">
                <a:solidFill>
                  <a:srgbClr val="C00000"/>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180070" y="108001"/>
            <a:ext cx="11164484" cy="539749"/>
          </a:xfrm>
          <a:prstGeom prst="rect">
            <a:avLst/>
          </a:prstGeom>
        </p:spPr>
        <p:txBody>
          <a:bodyPr vert="horz" wrap="none" lIns="0" tIns="0" rIns="0" bIns="0" rtlCol="0" anchor="ctr">
            <a:noAutofit/>
          </a:bodyPr>
          <a:lstStyle>
            <a:lvl1pPr algn="l" defTabSz="913765" rtl="0" eaLnBrk="1" latinLnBrk="0" hangingPunct="1">
              <a:lnSpc>
                <a:spcPct val="100000"/>
              </a:lnSpc>
              <a:spcBef>
                <a:spcPct val="0"/>
              </a:spcBef>
              <a:buNone/>
              <a:defRPr sz="2200" b="0" kern="1200">
                <a:solidFill>
                  <a:srgbClr val="C00000"/>
                </a:solidFill>
                <a:latin typeface="微软雅黑" panose="020B0503020204020204" pitchFamily="34" charset="-122"/>
                <a:ea typeface="微软雅黑" panose="020B0503020204020204" pitchFamily="34" charset="-122"/>
                <a:cs typeface="+mj-cs"/>
              </a:defRPr>
            </a:lvl1pPr>
          </a:lstStyle>
          <a:p>
            <a:r>
              <a:rPr lang="zh-CN" altLang="en-US" dirty="0"/>
              <a:t>单击此处编辑母版标题样式</a:t>
            </a: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91314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a:ea typeface="Microsoft YaHei"/>
                <a:cs typeface="Microsoft YaHei"/>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t>单击此处添加标题</a:t>
            </a:r>
          </a:p>
        </p:txBody>
      </p:sp>
      <p:sp>
        <p:nvSpPr>
          <p:cNvPr id="7"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xfrm>
            <a:off x="736908" y="1501989"/>
            <a:ext cx="10733557" cy="4690459"/>
          </a:xfrm>
          <a:prstGeom prst="rect">
            <a:avLst/>
          </a:prstGeom>
        </p:spPr>
        <p:txBody>
          <a:bodyPr lIns="0" tIns="0" rIns="0" bIns="0"/>
          <a:lstStyle>
            <a:lvl1pPr marL="12373" indent="0">
              <a:lnSpc>
                <a:spcPct val="100000"/>
              </a:lnSpc>
              <a:spcBef>
                <a:spcPts val="0"/>
              </a:spcBef>
              <a:buFontTx/>
              <a:buNone/>
              <a:tabLst>
                <a:tab pos="1208420" algn="ctr"/>
              </a:tabLst>
              <a:defRPr sz="1800" baseline="0">
                <a:solidFill>
                  <a:schemeClr val="tx1"/>
                </a:solidFill>
                <a:latin typeface="Microsoft YaHei"/>
                <a:ea typeface="Microsoft YaHei"/>
                <a:cs typeface="Microsoft YaHei"/>
              </a:defRPr>
            </a:lvl1pPr>
            <a:lvl2pPr marL="525850" indent="-171159">
              <a:buFont typeface="Arial"/>
              <a:buChar char="•"/>
              <a:tabLst>
                <a:tab pos="1208420" algn="ctr"/>
              </a:tabLst>
              <a:defRPr sz="1299" baseline="0"/>
            </a:lvl2pPr>
            <a:lvl3pPr marL="525850" indent="-171159">
              <a:buFont typeface="Arial"/>
              <a:buChar char="•"/>
              <a:tabLst>
                <a:tab pos="1208420" algn="ctr"/>
              </a:tabLst>
              <a:defRPr sz="1299" baseline="0"/>
            </a:lvl3pPr>
            <a:lvl4pPr marL="525850" indent="-171159">
              <a:buFont typeface="Arial"/>
              <a:buChar char="•"/>
              <a:tabLst>
                <a:tab pos="1208420" algn="ctr"/>
              </a:tabLst>
              <a:defRPr sz="1299" baseline="0"/>
            </a:lvl4pPr>
            <a:lvl5pPr marL="525850" indent="-171159">
              <a:buFont typeface="Arial"/>
              <a:buChar char="•"/>
              <a:tabLst>
                <a:tab pos="1208420" algn="ctr"/>
              </a:tabLst>
              <a:defRPr sz="1299" baseline="0"/>
            </a:lvl5pPr>
          </a:lstStyle>
          <a:p>
            <a:pPr lvl="0">
              <a:buNone/>
            </a:pPr>
            <a:r>
              <a:t>单击此处添加文本</a:t>
            </a:r>
          </a:p>
        </p:txBody>
      </p:sp>
    </p:spTree>
    <p:extLst>
      <p:ext uri="{BB962C8B-B14F-4D97-AF65-F5344CB8AC3E}">
        <p14:creationId xmlns:p14="http://schemas.microsoft.com/office/powerpoint/2010/main" val="277638966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pitchFamily="34" charset="-122"/>
                <a:ea typeface="微软雅黑" panose="020B0503020204020204" pitchFamily="34" charset="-122"/>
              </a:defRPr>
            </a:lvl1pPr>
            <a:lvl2pPr marL="593725" indent="0" algn="ctr">
              <a:buNone/>
              <a:defRPr sz="2600"/>
            </a:lvl2pPr>
            <a:lvl3pPr marL="1187450" indent="0" algn="ctr">
              <a:buNone/>
              <a:defRPr sz="2340"/>
            </a:lvl3pPr>
            <a:lvl4pPr marL="1781175" indent="0" algn="ctr">
              <a:buNone/>
              <a:defRPr sz="2080"/>
            </a:lvl4pPr>
            <a:lvl5pPr marL="2374900" indent="0" algn="ctr">
              <a:buNone/>
              <a:defRPr sz="2080"/>
            </a:lvl5pPr>
            <a:lvl6pPr marL="2967990" indent="0" algn="ctr">
              <a:buNone/>
              <a:defRPr sz="2080"/>
            </a:lvl6pPr>
            <a:lvl7pPr marL="3562350"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6022" y="1512877"/>
            <a:ext cx="10733557" cy="4690459"/>
          </a:xfrm>
          <a:prstGeom prst="rect">
            <a:avLst/>
          </a:prstGeom>
        </p:spPr>
        <p:txBody>
          <a:bodyPr lIns="0" tIns="0" rIns="0" bIns="0"/>
          <a:lstStyle>
            <a:lvl1pPr marL="179705" marR="0" indent="-168275" algn="l" defTabSz="1187450" rtl="0" eaLnBrk="1" fontAlgn="auto" latinLnBrk="0" hangingPunct="1">
              <a:lnSpc>
                <a:spcPct val="100000"/>
              </a:lnSpc>
              <a:spcBef>
                <a:spcPts val="0"/>
              </a:spcBef>
              <a:spcAft>
                <a:spcPts val="600"/>
              </a:spcAft>
              <a:buClr>
                <a:srgbClr val="000000"/>
              </a:buClr>
              <a:buSzTx/>
              <a:buFont typeface="Arial" panose="020B0604020202090204" pitchFamily="34" charset="0"/>
              <a:buChar char="•"/>
              <a:tabLst>
                <a:tab pos="1207135" algn="ctr"/>
              </a:tabLst>
              <a:defRPr sz="1800" baseline="0">
                <a:solidFill>
                  <a:schemeClr val="tx1"/>
                </a:solidFill>
                <a:latin typeface="微软雅黑" panose="020B0503020204020204" pitchFamily="34" charset="-122"/>
                <a:ea typeface="微软雅黑" panose="020B0503020204020204" pitchFamily="34" charset="-122"/>
                <a:cs typeface="Arial" panose="020B0604020202090204" pitchFamily="34" charset="0"/>
              </a:defRPr>
            </a:lvl1pPr>
            <a:lvl2pPr marL="328930" marR="0" indent="-168275" algn="l" defTabSz="1187450" rtl="0" eaLnBrk="1" fontAlgn="auto" latinLnBrk="0" hangingPunct="1">
              <a:lnSpc>
                <a:spcPct val="100000"/>
              </a:lnSpc>
              <a:spcBef>
                <a:spcPts val="0"/>
              </a:spcBef>
              <a:spcAft>
                <a:spcPts val="600"/>
              </a:spcAft>
              <a:buClr>
                <a:schemeClr val="tx1"/>
              </a:buClr>
              <a:buSzTx/>
              <a:buFont typeface=".AppleSystemUIFont"/>
              <a:buChar char="&gt;"/>
              <a:tabLst>
                <a:tab pos="1207135" algn="ctr"/>
              </a:tabLst>
              <a:defRPr sz="1600" baseline="0">
                <a:latin typeface="微软雅黑" panose="020B0503020204020204" pitchFamily="34" charset="-122"/>
                <a:ea typeface="微软雅黑" panose="020B0503020204020204" pitchFamily="34" charset="-122"/>
              </a:defRPr>
            </a:lvl2pPr>
            <a:lvl3pPr marL="1097915" marR="0" indent="-168275" algn="l" defTabSz="1187450" rtl="0" eaLnBrk="1" fontAlgn="auto" latinLnBrk="0" hangingPunct="1">
              <a:lnSpc>
                <a:spcPct val="100000"/>
              </a:lnSpc>
              <a:spcBef>
                <a:spcPts val="0"/>
              </a:spcBef>
              <a:spcAft>
                <a:spcPts val="600"/>
              </a:spcAft>
              <a:buClr>
                <a:schemeClr val="tx1"/>
              </a:buClr>
              <a:buSzTx/>
              <a:buFont typeface=".AppleSystemUIFont"/>
              <a:buChar char="-"/>
              <a:tabLst>
                <a:tab pos="1207135" algn="ctr"/>
              </a:tabLst>
              <a:defRPr sz="1300" baseline="0">
                <a:latin typeface="微软雅黑" panose="020B0503020204020204" pitchFamily="34" charset="-122"/>
                <a:ea typeface="微软雅黑" panose="020B0503020204020204" pitchFamily="34" charset="-122"/>
              </a:defRPr>
            </a:lvl3pPr>
            <a:lvl4pPr marL="525780" indent="-171450">
              <a:buFont typeface="Arial" panose="020B0604020202090204" pitchFamily="34" charset="0"/>
              <a:buChar char="•"/>
              <a:tabLst>
                <a:tab pos="1207770" algn="ctr"/>
              </a:tabLst>
              <a:defRPr sz="1300" baseline="0"/>
            </a:lvl4pPr>
            <a:lvl5pPr marL="525780" indent="-171450">
              <a:buFont typeface="Arial" panose="020B0604020202090204" pitchFamily="34" charset="0"/>
              <a:buChar char="•"/>
              <a:tabLst>
                <a:tab pos="1207770" algn="ctr"/>
              </a:tabLst>
              <a:defRPr sz="1300" baseline="0"/>
            </a:lvl5pPr>
          </a:lstStyle>
          <a:p>
            <a:pPr lvl="0"/>
            <a:r>
              <a:rPr lang="zh-CN" altLang="en-US" dirty="0"/>
              <a:t>单击此处添加文本</a:t>
            </a:r>
            <a:endParaRPr lang="en-US" dirty="0"/>
          </a:p>
          <a:p>
            <a:pPr marL="328930" marR="0" lvl="1" indent="-168275" algn="l" defTabSz="1187450"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135" algn="ctr"/>
              </a:tabLst>
              <a:defRPr/>
            </a:pPr>
            <a:r>
              <a:rPr lang="zh-CN" altLang="en-US" dirty="0"/>
              <a:t>单击此处添加文本</a:t>
            </a:r>
            <a:endParaRPr lang="en-US" dirty="0"/>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135" algn="ctr"/>
              </a:tabLst>
              <a:defRPr/>
            </a:pPr>
            <a:r>
              <a:rPr lang="zh-CN" altLang="en-US" dirty="0"/>
              <a:t>单击此处添加文本</a:t>
            </a:r>
            <a:endParaRPr lang="en-US" dirty="0"/>
          </a:p>
          <a:p>
            <a:pPr marL="1097915" marR="0" lvl="2" indent="-168275" algn="l" defTabSz="1187450" rtl="0" eaLnBrk="1" fontAlgn="auto" latinLnBrk="0" hangingPunct="1">
              <a:lnSpc>
                <a:spcPct val="100000"/>
              </a:lnSpc>
              <a:spcBef>
                <a:spcPts val="0"/>
              </a:spcBef>
              <a:spcAft>
                <a:spcPts val="600"/>
              </a:spcAft>
              <a:buClr>
                <a:schemeClr val="tx1"/>
              </a:buClr>
              <a:buSzTx/>
              <a:buFont typeface="Arial" panose="020B0604020202090204" pitchFamily="34" charset="0"/>
              <a:buChar char="•"/>
              <a:tabLst>
                <a:tab pos="1207135" algn="ctr"/>
              </a:tabLst>
              <a:defRPr/>
            </a:pPr>
            <a:endParaRPr lang="en-US" altLang="zh-CN" dirty="0"/>
          </a:p>
        </p:txBody>
      </p:sp>
    </p:spTree>
    <p:extLst>
      <p:ext uri="{BB962C8B-B14F-4D97-AF65-F5344CB8AC3E}">
        <p14:creationId xmlns:p14="http://schemas.microsoft.com/office/powerpoint/2010/main" val="81947385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9048" y="480684"/>
            <a:ext cx="10740640" cy="464403"/>
          </a:xfrm>
          <a:prstGeom prst="rect">
            <a:avLst/>
          </a:prstGeom>
        </p:spPr>
        <p:txBody>
          <a:bodyPr lIns="0" tIns="0" rIns="0" bIns="0" anchor="t">
            <a:normAutofit/>
          </a:bodyPr>
          <a:lstStyle>
            <a:lvl1pPr marL="0" indent="0" algn="l">
              <a:lnSpc>
                <a:spcPts val="3430"/>
              </a:lnSpc>
              <a:spcBef>
                <a:spcPts val="0"/>
              </a:spcBef>
              <a:buFont typeface="Arial" panose="020B0604020202020204" pitchFamily="34" charset="0"/>
              <a:buNone/>
              <a:defRPr sz="2400" b="1" baseline="0">
                <a:solidFill>
                  <a:srgbClr val="C00000"/>
                </a:solidFill>
                <a:latin typeface="微软雅黑" panose="020B0503020204020204" pitchFamily="34" charset="-122"/>
                <a:ea typeface="微软雅黑" panose="020B0503020204020204" pitchFamily="34" charset="-122"/>
              </a:defRPr>
            </a:lvl1pPr>
            <a:lvl2pPr marL="593725" indent="0" algn="ctr">
              <a:buNone/>
              <a:defRPr sz="2600"/>
            </a:lvl2pPr>
            <a:lvl3pPr marL="1187450" indent="0" algn="ctr">
              <a:buNone/>
              <a:defRPr sz="2340"/>
            </a:lvl3pPr>
            <a:lvl4pPr marL="1781175" indent="0" algn="ctr">
              <a:buNone/>
              <a:defRPr sz="2080"/>
            </a:lvl4pPr>
            <a:lvl5pPr marL="2374900" indent="0" algn="ctr">
              <a:buNone/>
              <a:defRPr sz="2080"/>
            </a:lvl5pPr>
            <a:lvl6pPr marL="2967990" indent="0" algn="ctr">
              <a:buNone/>
              <a:defRPr sz="2080"/>
            </a:lvl6pPr>
            <a:lvl7pPr marL="3562350" indent="0" algn="ctr">
              <a:buNone/>
              <a:defRPr sz="2080"/>
            </a:lvl7pPr>
            <a:lvl8pPr marL="4155440" indent="0" algn="ctr">
              <a:buNone/>
              <a:defRPr sz="2080"/>
            </a:lvl8pPr>
            <a:lvl9pPr marL="4749165" indent="0" algn="ctr">
              <a:buNone/>
              <a:defRPr sz="2080"/>
            </a:lvl9pPr>
          </a:lstStyle>
          <a:p>
            <a:r>
              <a:rPr lang="zh-CN" altLang="en-US" dirty="0"/>
              <a:t>单击此处添加标题</a:t>
            </a:r>
            <a:endParaRPr lang="en-US" dirty="0"/>
          </a:p>
        </p:txBody>
      </p:sp>
      <p:sp>
        <p:nvSpPr>
          <p:cNvPr id="5" name="TextBox 3"/>
          <p:cNvSpPr txBox="1"/>
          <p:nvPr userDrawn="1"/>
        </p:nvSpPr>
        <p:spPr>
          <a:xfrm>
            <a:off x="734132" y="6402808"/>
            <a:ext cx="499729" cy="138499"/>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t>‹#›</a:t>
            </a:fld>
            <a:endParaRPr lang="en-US" sz="900" dirty="0">
              <a:solidFill>
                <a:srgbClr val="1D1D1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3347249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3438900989"/>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6068" y="2130426"/>
            <a:ext cx="7775436" cy="1470025"/>
          </a:xfrm>
        </p:spPr>
        <p:txBody>
          <a:bodyPr/>
          <a:lstStyle/>
          <a:p>
            <a:r>
              <a:rPr lang="en-US"/>
              <a:t>Click to edit Master title style</a:t>
            </a:r>
          </a:p>
        </p:txBody>
      </p:sp>
      <p:sp>
        <p:nvSpPr>
          <p:cNvPr id="3" name="Subtitle 2"/>
          <p:cNvSpPr>
            <a:spLocks noGrp="1"/>
          </p:cNvSpPr>
          <p:nvPr>
            <p:ph type="subTitle" idx="1"/>
          </p:nvPr>
        </p:nvSpPr>
        <p:spPr>
          <a:xfrm>
            <a:off x="1372136" y="3886200"/>
            <a:ext cx="6403301"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40618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485615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95" y="4406901"/>
            <a:ext cx="7775436"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595" y="2906713"/>
            <a:ext cx="777543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150087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378" y="1600201"/>
            <a:ext cx="40401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0016" y="1600201"/>
            <a:ext cx="40401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750560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379" y="1535113"/>
            <a:ext cx="404176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379" y="2174875"/>
            <a:ext cx="404176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6840" y="1535113"/>
            <a:ext cx="40433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6840" y="2174875"/>
            <a:ext cx="404335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838056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50035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6510940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379" y="273050"/>
            <a:ext cx="3009488"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6447" y="273051"/>
            <a:ext cx="511374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379" y="1435101"/>
            <a:ext cx="300948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702547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988" y="4800600"/>
            <a:ext cx="5488543"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988" y="612775"/>
            <a:ext cx="548854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988" y="5367338"/>
            <a:ext cx="548854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4571031"/>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863026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1990" y="274639"/>
            <a:ext cx="2058204"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378" y="274639"/>
            <a:ext cx="6022152"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42677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2.tiff"/></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jpe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image" Target="../media/image1.tiff"/><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4.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1.tiff"/><Relationship Id="rId3" Type="http://schemas.openxmlformats.org/officeDocument/2006/relationships/slideLayout" Target="../slideLayouts/slideLayout14.xml"/><Relationship Id="rId7" Type="http://schemas.openxmlformats.org/officeDocument/2006/relationships/theme" Target="../theme/theme7.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image" Target="../media/image7.tiff"/></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image" Target="../media/image8.png"/><Relationship Id="rId2" Type="http://schemas.openxmlformats.org/officeDocument/2006/relationships/slideLayout" Target="../slideLayouts/slideLayout21.xml"/><Relationship Id="rId16" Type="http://schemas.openxmlformats.org/officeDocument/2006/relationships/theme" Target="../theme/theme10.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theme" Target="../theme/theme11.xml"/><Relationship Id="rId1" Type="http://schemas.openxmlformats.org/officeDocument/2006/relationships/slideLayout" Target="../slideLayouts/slideLayout35.xml"/></Relationships>
</file>

<file path=ppt/slideMasters/_rels/slideMaster1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theme" Target="../theme/theme13.xml"/><Relationship Id="rId1" Type="http://schemas.openxmlformats.org/officeDocument/2006/relationships/slideLayout" Target="../slideLayouts/slideLayout36.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14.png"/><Relationship Id="rId5" Type="http://schemas.openxmlformats.org/officeDocument/2006/relationships/theme" Target="../theme/theme14.xml"/><Relationship Id="rId4" Type="http://schemas.openxmlformats.org/officeDocument/2006/relationships/slideLayout" Target="../slideLayouts/slideLayout40.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43.xml"/><Relationship Id="rId7" Type="http://schemas.openxmlformats.org/officeDocument/2006/relationships/image" Target="../media/image1.tiff"/><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theme" Target="../theme/theme15.xml"/><Relationship Id="rId5" Type="http://schemas.openxmlformats.org/officeDocument/2006/relationships/slideLayout" Target="../slideLayouts/slideLayout45.xml"/><Relationship Id="rId4" Type="http://schemas.openxmlformats.org/officeDocument/2006/relationships/slideLayout" Target="../slideLayouts/slideLayout44.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theme" Target="../theme/theme16.xml"/><Relationship Id="rId1" Type="http://schemas.openxmlformats.org/officeDocument/2006/relationships/slideLayout" Target="../slideLayouts/slideLayout46.xml"/></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image" Target="../media/image8.png"/><Relationship Id="rId2" Type="http://schemas.openxmlformats.org/officeDocument/2006/relationships/slideLayout" Target="../slideLayouts/slideLayout48.xml"/><Relationship Id="rId16" Type="http://schemas.openxmlformats.org/officeDocument/2006/relationships/theme" Target="../theme/theme17.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image" Target="../media/image8.png"/><Relationship Id="rId2" Type="http://schemas.openxmlformats.org/officeDocument/2006/relationships/slideLayout" Target="../slideLayouts/slideLayout63.xml"/><Relationship Id="rId16" Type="http://schemas.openxmlformats.org/officeDocument/2006/relationships/theme" Target="../theme/theme18.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s>
</file>

<file path=ppt/slideMasters/_rels/slideMaster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theme" Target="../theme/theme19.xml"/></Relationships>
</file>

<file path=ppt/slideMasters/_rels/slideMaster20.xml.rels><?xml version="1.0" encoding="UTF-8" standalone="yes"?>
<Relationships xmlns="http://schemas.openxmlformats.org/package/2006/relationships"><Relationship Id="rId3" Type="http://schemas.openxmlformats.org/officeDocument/2006/relationships/slideLayout" Target="../slideLayouts/slideLayout79.xml"/><Relationship Id="rId2" Type="http://schemas.openxmlformats.org/officeDocument/2006/relationships/slideLayout" Target="../slideLayouts/slideLayout78.xml"/><Relationship Id="rId1" Type="http://schemas.openxmlformats.org/officeDocument/2006/relationships/slideLayout" Target="../slideLayouts/slideLayout77.xml"/><Relationship Id="rId5" Type="http://schemas.openxmlformats.org/officeDocument/2006/relationships/image" Target="../media/image1.tiff"/><Relationship Id="rId4" Type="http://schemas.openxmlformats.org/officeDocument/2006/relationships/theme" Target="../theme/theme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80.xml"/></Relationships>
</file>

<file path=ppt/slideMasters/_rels/slideMaster22.xml.rels><?xml version="1.0" encoding="UTF-8" standalone="yes"?>
<Relationships xmlns="http://schemas.openxmlformats.org/package/2006/relationships"><Relationship Id="rId3" Type="http://schemas.openxmlformats.org/officeDocument/2006/relationships/theme" Target="../theme/theme22.xml"/><Relationship Id="rId2" Type="http://schemas.openxmlformats.org/officeDocument/2006/relationships/slideLayout" Target="../slideLayouts/slideLayout82.xml"/><Relationship Id="rId1" Type="http://schemas.openxmlformats.org/officeDocument/2006/relationships/slideLayout" Target="../slideLayouts/slideLayout81.xml"/><Relationship Id="rId4" Type="http://schemas.openxmlformats.org/officeDocument/2006/relationships/image" Target="../media/image14.png"/></Relationships>
</file>

<file path=ppt/slideMasters/_rels/slideMaster23.xml.rels><?xml version="1.0" encoding="UTF-8" standalone="yes"?>
<Relationships xmlns="http://schemas.openxmlformats.org/package/2006/relationships"><Relationship Id="rId3" Type="http://schemas.openxmlformats.org/officeDocument/2006/relationships/theme" Target="../theme/theme23.xml"/><Relationship Id="rId2" Type="http://schemas.openxmlformats.org/officeDocument/2006/relationships/slideLayout" Target="../slideLayouts/slideLayout84.xml"/><Relationship Id="rId1" Type="http://schemas.openxmlformats.org/officeDocument/2006/relationships/slideLayout" Target="../slideLayouts/slideLayout83.xml"/><Relationship Id="rId4" Type="http://schemas.openxmlformats.org/officeDocument/2006/relationships/image" Target="../media/image1.tiff"/></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92.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theme" Target="../theme/theme24.xml"/><Relationship Id="rId2" Type="http://schemas.openxmlformats.org/officeDocument/2006/relationships/slideLayout" Target="../slideLayouts/slideLayout86.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90204" pitchFamily="34" charset="0"/>
                <a:ea typeface="+mn-ea"/>
                <a:cs typeface="Arial" panose="020B0604020202090204" pitchFamily="34" charset="0"/>
              </a:rPr>
              <a:t>Huawei Proprietary - Restricted Distribution</a:t>
            </a:r>
            <a:endParaRPr lang="en-US" sz="900" b="0" kern="1200" baseline="0" dirty="0">
              <a:solidFill>
                <a:srgbClr val="1D1D1B"/>
              </a:solidFill>
              <a:latin typeface="Arial" panose="020B0604020202090204" pitchFamily="34" charset="0"/>
              <a:ea typeface="+mn-ea"/>
              <a:cs typeface="Arial" panose="020B0604020202090204" pitchFamily="34" charset="0"/>
            </a:endParaRPr>
          </a:p>
        </p:txBody>
      </p:sp>
      <p:sp>
        <p:nvSpPr>
          <p:cNvPr id="4" name="TextBox 3"/>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90204" pitchFamily="34" charset="0"/>
                <a:cs typeface="Arial" panose="020B0604020202090204" pitchFamily="34" charset="0"/>
              </a:rPr>
              <a:t>‹#›</a:t>
            </a:fld>
            <a:endParaRPr lang="en-US" sz="900" dirty="0">
              <a:solidFill>
                <a:srgbClr val="1D1D1B"/>
              </a:solidFill>
              <a:latin typeface="Arial" panose="020B0604020202090204" pitchFamily="34" charset="0"/>
              <a:cs typeface="Arial" panose="020B0604020202090204" pitchFamily="34" charset="0"/>
            </a:endParaRPr>
          </a:p>
        </p:txBody>
      </p:sp>
      <p:grpSp>
        <p:nvGrpSpPr>
          <p:cNvPr id="88" name="Group 87"/>
          <p:cNvGrpSpPr>
            <a:grpSpLocks noChangeAspect="1"/>
          </p:cNvGrpSpPr>
          <p:nvPr userDrawn="1"/>
        </p:nvGrpSpPr>
        <p:grpSpPr>
          <a:xfrm>
            <a:off x="12290470" y="262538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185C</a:t>
              </a:r>
            </a:p>
            <a:p>
              <a:pPr algn="ctr">
                <a:lnSpc>
                  <a:spcPts val="620"/>
                </a:lnSpc>
                <a:spcBef>
                  <a:spcPts val="0"/>
                </a:spcBef>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969" y="1467870"/>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5"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9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Copyright©2018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80" dirty="0">
                <a:solidFill>
                  <a:srgbClr val="1D1D1B"/>
                </a:solidFill>
                <a:latin typeface="+mn-lt"/>
              </a:rPr>
            </a:br>
            <a:br>
              <a:rPr kumimoji="1" lang="en-US" altLang="zh-CN" sz="780" dirty="0">
                <a:solidFill>
                  <a:srgbClr val="1D1D1B"/>
                </a:solidFill>
                <a:latin typeface="+mn-lt"/>
              </a:rPr>
            </a:br>
            <a:r>
              <a:rPr kumimoji="1" lang="en-US" altLang="zh-CN" sz="850" baseline="0" dirty="0">
                <a:solidFill>
                  <a:srgbClr val="1D1D1B"/>
                </a:solidFill>
                <a:latin typeface="+mn-lt"/>
                <a:cs typeface="Arial" panose="020B0604020202090204" pitchFamily="34" charset="0"/>
              </a:rPr>
              <a:t>The information in this document may contain predictive </a:t>
            </a:r>
            <a:br>
              <a:rPr kumimoji="1" lang="en-US" altLang="zh-CN" sz="850" baseline="0" dirty="0">
                <a:solidFill>
                  <a:srgbClr val="1D1D1B"/>
                </a:solidFill>
                <a:latin typeface="+mn-lt"/>
                <a:cs typeface="Arial" panose="020B0604020202090204" pitchFamily="34" charset="0"/>
              </a:rPr>
            </a:br>
            <a:r>
              <a:rPr kumimoji="1" lang="en-US" altLang="zh-CN" sz="850" baseline="0" dirty="0">
                <a:solidFill>
                  <a:srgbClr val="1D1D1B"/>
                </a:solidFill>
                <a:latin typeface="+mn-lt"/>
                <a:cs typeface="Arial" panose="020B0604020202090204" pitchFamily="34" charset="0"/>
              </a:rPr>
              <a:t>statements including, without limitation, statements regarding </a:t>
            </a:r>
            <a:br>
              <a:rPr kumimoji="1" lang="en-US" altLang="zh-CN" sz="850" baseline="0" dirty="0">
                <a:solidFill>
                  <a:srgbClr val="1D1D1B"/>
                </a:solidFill>
                <a:latin typeface="+mn-lt"/>
                <a:cs typeface="Arial" panose="020B0604020202090204" pitchFamily="34" charset="0"/>
              </a:rPr>
            </a:br>
            <a:r>
              <a:rPr kumimoji="1" lang="en-US" altLang="zh-CN" sz="850" baseline="0" dirty="0">
                <a:solidFill>
                  <a:srgbClr val="1D1D1B"/>
                </a:solidFill>
                <a:latin typeface="+mn-lt"/>
                <a:cs typeface="Arial" panose="020B0604020202090204" pitchFamily="34" charset="0"/>
              </a:rPr>
              <a:t>the future financial and operating results, future product </a:t>
            </a:r>
            <a:br>
              <a:rPr kumimoji="1" lang="en-US" altLang="zh-CN" sz="850" baseline="0" dirty="0">
                <a:solidFill>
                  <a:srgbClr val="1D1D1B"/>
                </a:solidFill>
                <a:latin typeface="+mn-lt"/>
                <a:cs typeface="Arial" panose="020B0604020202090204" pitchFamily="34" charset="0"/>
              </a:rPr>
            </a:br>
            <a:r>
              <a:rPr kumimoji="1" lang="en-US" altLang="zh-CN" sz="850" baseline="0" dirty="0">
                <a:solidFill>
                  <a:srgbClr val="1D1D1B"/>
                </a:solidFill>
                <a:latin typeface="+mn-lt"/>
                <a:cs typeface="Arial" panose="020B0604020202090204" pitchFamily="34" charset="0"/>
              </a:rPr>
              <a:t>portfolio, new technology, etc. There are a number of factors that </a:t>
            </a:r>
            <a:br>
              <a:rPr kumimoji="1" lang="en-US" altLang="zh-CN" sz="850" baseline="0" dirty="0">
                <a:solidFill>
                  <a:srgbClr val="1D1D1B"/>
                </a:solidFill>
                <a:latin typeface="+mn-lt"/>
                <a:cs typeface="Arial" panose="020B0604020202090204" pitchFamily="34" charset="0"/>
              </a:rPr>
            </a:br>
            <a:r>
              <a:rPr kumimoji="1" lang="en-US" altLang="zh-CN" sz="850" baseline="0" dirty="0">
                <a:solidFill>
                  <a:srgbClr val="1D1D1B"/>
                </a:solidFill>
                <a:latin typeface="+mn-lt"/>
                <a:cs typeface="Arial" panose="020B0604020202090204" pitchFamily="34" charset="0"/>
              </a:rPr>
              <a:t>could cause actual results and developments to differ materially </a:t>
            </a:r>
            <a:br>
              <a:rPr kumimoji="1" lang="en-US" altLang="zh-CN" sz="850" baseline="0" dirty="0">
                <a:solidFill>
                  <a:srgbClr val="1D1D1B"/>
                </a:solidFill>
                <a:latin typeface="+mn-lt"/>
                <a:cs typeface="Arial" panose="020B0604020202090204" pitchFamily="34" charset="0"/>
              </a:rPr>
            </a:br>
            <a:r>
              <a:rPr kumimoji="1" lang="en-US" altLang="zh-CN" sz="850" baseline="0" dirty="0">
                <a:solidFill>
                  <a:srgbClr val="1D1D1B"/>
                </a:solidFill>
                <a:latin typeface="+mn-lt"/>
                <a:cs typeface="Arial" panose="020B0604020202090204" pitchFamily="34" charset="0"/>
              </a:rPr>
              <a:t>from those expressed or implied in the predictive statements. </a:t>
            </a:r>
            <a:br>
              <a:rPr kumimoji="1" lang="en-US" altLang="zh-CN" sz="850" baseline="0" dirty="0">
                <a:solidFill>
                  <a:srgbClr val="1D1D1B"/>
                </a:solidFill>
                <a:latin typeface="+mn-lt"/>
                <a:cs typeface="Arial" panose="020B0604020202090204" pitchFamily="34" charset="0"/>
              </a:rPr>
            </a:br>
            <a:r>
              <a:rPr kumimoji="1" lang="en-US" altLang="zh-CN" sz="850" baseline="0" dirty="0">
                <a:solidFill>
                  <a:srgbClr val="1D1D1B"/>
                </a:solidFill>
                <a:latin typeface="+mn-lt"/>
                <a:cs typeface="Arial" panose="020B0604020202090204" pitchFamily="34" charset="0"/>
              </a:rPr>
              <a:t>Therefore, such information is provided for reference purpose </a:t>
            </a:r>
            <a:br>
              <a:rPr kumimoji="1" lang="en-US" altLang="zh-CN" sz="850" baseline="0" dirty="0">
                <a:solidFill>
                  <a:srgbClr val="1D1D1B"/>
                </a:solidFill>
                <a:latin typeface="+mn-lt"/>
                <a:cs typeface="Arial" panose="020B0604020202090204" pitchFamily="34" charset="0"/>
              </a:rPr>
            </a:br>
            <a:r>
              <a:rPr kumimoji="1" lang="en-US" altLang="zh-CN" sz="850" baseline="0" dirty="0">
                <a:solidFill>
                  <a:srgbClr val="1D1D1B"/>
                </a:solidFill>
                <a:latin typeface="+mn-lt"/>
                <a:cs typeface="Arial" panose="020B0604020202090204" pitchFamily="34" charset="0"/>
              </a:rPr>
              <a:t>only and constitutes neither an offer nor an acceptance. Huawei </a:t>
            </a:r>
            <a:br>
              <a:rPr kumimoji="1" lang="en-US" altLang="zh-CN" sz="850" baseline="0" dirty="0">
                <a:solidFill>
                  <a:srgbClr val="1D1D1B"/>
                </a:solidFill>
                <a:latin typeface="+mn-lt"/>
                <a:cs typeface="Arial" panose="020B0604020202090204" pitchFamily="34" charset="0"/>
              </a:rPr>
            </a:br>
            <a:r>
              <a:rPr kumimoji="1" lang="en-US" altLang="zh-CN" sz="850" baseline="0" dirty="0">
                <a:solidFill>
                  <a:srgbClr val="1D1D1B"/>
                </a:solidFill>
                <a:latin typeface="+mn-lt"/>
                <a:cs typeface="Arial" panose="020B0604020202090204" pitchFamily="34" charset="0"/>
              </a:rPr>
              <a:t>may change the information at any time without notice. </a:t>
            </a:r>
          </a:p>
          <a:p>
            <a:pPr>
              <a:lnSpc>
                <a:spcPts val="1065"/>
              </a:lnSpc>
            </a:pPr>
            <a:endParaRPr kumimoji="1" lang="zh-CN" altLang="en-US" sz="780" dirty="0">
              <a:solidFill>
                <a:srgbClr val="1D1D1B"/>
              </a:solidFill>
              <a:latin typeface="+mn-lt"/>
            </a:endParaRPr>
          </a:p>
        </p:txBody>
      </p:sp>
      <p:sp>
        <p:nvSpPr>
          <p:cNvPr id="6"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90204" pitchFamily="34" charset="0"/>
              <a:buNone/>
              <a:defRPr sz="1400" kern="1200">
                <a:solidFill>
                  <a:srgbClr val="FFFFFF"/>
                </a:solidFill>
                <a:latin typeface="微软雅黑" panose="020B0503020204020204" pitchFamily="34" charset="-122"/>
                <a:ea typeface="微软雅黑"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9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rPr>
              <a:t>把数字世界带入每个人、每个家庭、</a:t>
            </a:r>
            <a:br>
              <a:rPr kumimoji="1" lang="en-US" altLang="zh-CN"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rPr>
            </a:br>
            <a:r>
              <a:rPr kumimoji="1" lang="zh-CN" altLang="en-US" sz="1300" dirty="0">
                <a:solidFill>
                  <a:srgbClr val="1D1D1B"/>
                </a:solidFill>
                <a:latin typeface="微软雅黑" panose="020B0503020204020204" pitchFamily="34" charset="-122"/>
                <a:ea typeface="微软雅黑" panose="020B0503020204020204" pitchFamily="34" charset="-122"/>
                <a:cs typeface="微软雅黑" panose="020B0503020204020204" pitchFamily="34" charset="-122"/>
              </a:rPr>
              <a:t>每个组织，构建万物互联的智能世界。</a:t>
            </a:r>
          </a:p>
        </p:txBody>
      </p:sp>
      <p:sp>
        <p:nvSpPr>
          <p:cNvPr id="7"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90204" pitchFamily="34" charset="0"/>
              <a:buNone/>
              <a:defRPr sz="14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solidFill>
                <a:latin typeface="+mn-lt"/>
                <a:ea typeface="+mn-ea"/>
                <a:cs typeface="+mn-cs"/>
              </a:defRPr>
            </a:lvl9pPr>
          </a:lstStyle>
          <a:p>
            <a:pPr>
              <a:lnSpc>
                <a:spcPts val="1295"/>
              </a:lnSpc>
            </a:pPr>
            <a:r>
              <a:rPr kumimoji="1" lang="en-US" altLang="zh-CN" sz="1200" dirty="0">
                <a:solidFill>
                  <a:srgbClr val="1D1D1B"/>
                </a:solidFill>
                <a:latin typeface="+mn-lt"/>
                <a:cs typeface="Arial" panose="020B0604020202090204" pitchFamily="34" charset="0"/>
              </a:rPr>
              <a:t>Bring digital to every person, home and </a:t>
            </a:r>
            <a:br>
              <a:rPr kumimoji="1" lang="en-US" altLang="zh-CN" sz="1200" dirty="0">
                <a:solidFill>
                  <a:srgbClr val="1D1D1B"/>
                </a:solidFill>
                <a:latin typeface="+mn-lt"/>
                <a:cs typeface="Arial" panose="020B0604020202090204" pitchFamily="34" charset="0"/>
              </a:rPr>
            </a:br>
            <a:r>
              <a:rPr kumimoji="1" lang="en-US" altLang="zh-CN" sz="1200" dirty="0">
                <a:solidFill>
                  <a:srgbClr val="1D1D1B"/>
                </a:solidFill>
                <a:latin typeface="+mn-lt"/>
                <a:cs typeface="Arial" panose="020B0604020202090204" pitchFamily="34" charset="0"/>
              </a:rPr>
              <a:t>organization for a fully connected, </a:t>
            </a:r>
            <a:br>
              <a:rPr kumimoji="1" lang="en-US" altLang="zh-CN" sz="1200" dirty="0">
                <a:solidFill>
                  <a:srgbClr val="1D1D1B"/>
                </a:solidFill>
                <a:latin typeface="+mn-lt"/>
                <a:cs typeface="Arial" panose="020B0604020202090204" pitchFamily="34" charset="0"/>
              </a:rPr>
            </a:br>
            <a:r>
              <a:rPr kumimoji="1" lang="en-US" altLang="zh-CN" sz="1200" dirty="0">
                <a:solidFill>
                  <a:srgbClr val="1D1D1B"/>
                </a:solidFill>
                <a:latin typeface="+mn-lt"/>
                <a:cs typeface="Arial" panose="020B0604020202090204" pitchFamily="34" charset="0"/>
              </a:rPr>
              <a:t>intelligent world.</a:t>
            </a:r>
            <a:endParaRPr kumimoji="1" lang="zh-CN" altLang="en-US" sz="1200" dirty="0">
              <a:solidFill>
                <a:srgbClr val="1D1D1B"/>
              </a:solidFill>
              <a:latin typeface="+mn-lt"/>
              <a:ea typeface="微软雅黑" panose="020B0503020204020204" pitchFamily="34" charset="-122"/>
              <a:cs typeface="微软雅黑" panose="020B0503020204020204" pitchFamily="34" charset="-122"/>
            </a:endParaRPr>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973676" y="5237566"/>
            <a:ext cx="1875600" cy="405914"/>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Lst>
  <p:hf hdr="0" ftr="0" dt="0"/>
  <p:txStyles>
    <p:titleStyle>
      <a:lvl1pPr algn="l" defTabSz="1188085" rtl="0" eaLnBrk="1" latinLnBrk="0" hangingPunct="1">
        <a:lnSpc>
          <a:spcPct val="90000"/>
        </a:lnSpc>
        <a:spcBef>
          <a:spcPct val="0"/>
        </a:spcBef>
        <a:buNone/>
        <a:defRPr sz="5000" b="0" kern="1200">
          <a:solidFill>
            <a:schemeClr val="tx1"/>
          </a:solidFill>
          <a:latin typeface="Arial" panose="020B0604020202090204" pitchFamily="34" charset="0"/>
          <a:ea typeface="微软雅黑" panose="020B0503020204020204" pitchFamily="34" charset="-122"/>
          <a:cs typeface="Arial" panose="020B0604020202090204" pitchFamily="34" charset="0"/>
        </a:defRPr>
      </a:lvl1pPr>
    </p:titleStyle>
    <p:bodyStyle>
      <a:lvl1pPr marL="0" indent="0" algn="l" defTabSz="1188085" rtl="0" eaLnBrk="1" latinLnBrk="0" hangingPunct="1">
        <a:lnSpc>
          <a:spcPct val="90000"/>
        </a:lnSpc>
        <a:spcBef>
          <a:spcPts val="1300"/>
        </a:spcBef>
        <a:buFont typeface="Arial" panose="020B0604020202090204" pitchFamily="34" charset="0"/>
        <a:buNone/>
        <a:defRPr sz="1820" kern="1200">
          <a:solidFill>
            <a:srgbClr val="FFFFFF"/>
          </a:solidFill>
          <a:latin typeface="微软雅黑" panose="020B0503020204020204" pitchFamily="34" charset="-122"/>
          <a:ea typeface="微软雅黑" panose="020B0503020204020204" pitchFamily="34" charset="-122"/>
          <a:cs typeface="+mn-cs"/>
        </a:defRPr>
      </a:lvl1pPr>
      <a:lvl2pPr marL="593725" indent="0" algn="l" defTabSz="1188085" rtl="0" eaLnBrk="1" latinLnBrk="0" hangingPunct="1">
        <a:lnSpc>
          <a:spcPct val="90000"/>
        </a:lnSpc>
        <a:spcBef>
          <a:spcPts val="650"/>
        </a:spcBef>
        <a:buFont typeface="Arial" panose="020B0604020202090204" pitchFamily="34" charset="0"/>
        <a:buNone/>
        <a:defRPr sz="3120" kern="1200">
          <a:solidFill>
            <a:schemeClr val="tx1"/>
          </a:solidFill>
          <a:latin typeface="+mn-lt"/>
          <a:ea typeface="+mn-ea"/>
          <a:cs typeface="+mn-cs"/>
        </a:defRPr>
      </a:lvl2pPr>
      <a:lvl3pPr marL="1188085" indent="0" algn="l" defTabSz="1188085" rtl="0" eaLnBrk="1" latinLnBrk="0" hangingPunct="1">
        <a:lnSpc>
          <a:spcPct val="90000"/>
        </a:lnSpc>
        <a:spcBef>
          <a:spcPts val="650"/>
        </a:spcBef>
        <a:buFont typeface="Arial" panose="020B0604020202090204" pitchFamily="34" charset="0"/>
        <a:buNone/>
        <a:defRPr sz="2600" kern="1200">
          <a:solidFill>
            <a:schemeClr val="tx1"/>
          </a:solidFill>
          <a:latin typeface="+mn-lt"/>
          <a:ea typeface="+mn-ea"/>
          <a:cs typeface="+mn-cs"/>
        </a:defRPr>
      </a:lvl3pPr>
      <a:lvl4pPr marL="1781810" indent="0" algn="l" defTabSz="1188085" rtl="0" eaLnBrk="1" latinLnBrk="0" hangingPunct="1">
        <a:lnSpc>
          <a:spcPct val="90000"/>
        </a:lnSpc>
        <a:spcBef>
          <a:spcPts val="650"/>
        </a:spcBef>
        <a:buFont typeface="Arial" panose="020B0604020202090204" pitchFamily="34" charset="0"/>
        <a:buNone/>
        <a:defRPr sz="2340" kern="1200">
          <a:solidFill>
            <a:schemeClr val="tx1"/>
          </a:solidFill>
          <a:latin typeface="+mn-lt"/>
          <a:ea typeface="+mn-ea"/>
          <a:cs typeface="+mn-cs"/>
        </a:defRPr>
      </a:lvl4pPr>
      <a:lvl5pPr marL="2375535" indent="0" algn="l" defTabSz="1188085" rtl="0" eaLnBrk="1" latinLnBrk="0" hangingPunct="1">
        <a:lnSpc>
          <a:spcPct val="90000"/>
        </a:lnSpc>
        <a:spcBef>
          <a:spcPts val="650"/>
        </a:spcBef>
        <a:buFont typeface="Arial" panose="020B0604020202090204" pitchFamily="34" charset="0"/>
        <a:buNone/>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83" y="0"/>
            <a:ext cx="12192000" cy="6858000"/>
          </a:xfrm>
          <a:prstGeom prst="rect">
            <a:avLst/>
          </a:prstGeom>
        </p:spPr>
      </p:pic>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625631" y="5956007"/>
            <a:ext cx="1973225" cy="431542"/>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56" r:id="rId2"/>
  </p:sldLayoutIdLst>
  <p:hf hdr="0" ftr="0" dt="0"/>
  <p:txStyles>
    <p:titleStyle>
      <a:lvl1pPr algn="l" defTabSz="913765" rtl="0" eaLnBrk="1" latinLnBrk="0" hangingPunct="1">
        <a:lnSpc>
          <a:spcPts val="344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0" indent="0" algn="l" defTabSz="913765" rtl="0" eaLnBrk="1" latinLnBrk="0" hangingPunct="1">
        <a:lnSpc>
          <a:spcPct val="100000"/>
        </a:lnSpc>
        <a:spcBef>
          <a:spcPts val="0"/>
        </a:spcBef>
        <a:buFontTx/>
        <a:buNone/>
        <a:defRPr sz="1000" kern="1200">
          <a:solidFill>
            <a:srgbClr val="1D1D1B"/>
          </a:solidFill>
          <a:latin typeface="Arial" panose="020B0604020202090204" pitchFamily="34" charset="0"/>
          <a:ea typeface="微软雅黑" panose="020B0503020204020204" pitchFamily="34" charset="-122"/>
          <a:cs typeface="Arial" panose="020B0604020202090204" pitchFamily="34" charset="0"/>
        </a:defRPr>
      </a:lvl1pPr>
      <a:lvl2pPr marL="456565" indent="0" algn="l" defTabSz="913765" rtl="0" eaLnBrk="1" latinLnBrk="0" hangingPunct="1">
        <a:lnSpc>
          <a:spcPct val="90000"/>
        </a:lnSpc>
        <a:spcBef>
          <a:spcPts val="500"/>
        </a:spcBef>
        <a:buFontTx/>
        <a:buNone/>
        <a:defRPr sz="750" kern="1200">
          <a:solidFill>
            <a:schemeClr val="tx1"/>
          </a:solidFill>
          <a:latin typeface="Arial" panose="020B0604020202090204" pitchFamily="34" charset="0"/>
          <a:ea typeface="+mn-ea"/>
          <a:cs typeface="Arial" panose="020B0604020202090204" pitchFamily="34" charset="0"/>
        </a:defRPr>
      </a:lvl2pPr>
      <a:lvl3pPr marL="913765" indent="0" algn="l" defTabSz="913765" rtl="0" eaLnBrk="1" latinLnBrk="0" hangingPunct="1">
        <a:lnSpc>
          <a:spcPct val="90000"/>
        </a:lnSpc>
        <a:spcBef>
          <a:spcPts val="500"/>
        </a:spcBef>
        <a:buFontTx/>
        <a:buNone/>
        <a:defRPr sz="750" kern="1200">
          <a:solidFill>
            <a:schemeClr val="tx1"/>
          </a:solidFill>
          <a:latin typeface="Arial" panose="020B0604020202090204" pitchFamily="34" charset="0"/>
          <a:ea typeface="+mn-ea"/>
          <a:cs typeface="Arial" panose="020B0604020202090204" pitchFamily="34" charset="0"/>
        </a:defRPr>
      </a:lvl3pPr>
      <a:lvl4pPr marL="1370330" indent="0" algn="l" defTabSz="913765" rtl="0" eaLnBrk="1" latinLnBrk="0" hangingPunct="1">
        <a:lnSpc>
          <a:spcPct val="90000"/>
        </a:lnSpc>
        <a:spcBef>
          <a:spcPts val="500"/>
        </a:spcBef>
        <a:buFontTx/>
        <a:buNone/>
        <a:defRPr sz="750" kern="1200">
          <a:solidFill>
            <a:schemeClr val="tx1"/>
          </a:solidFill>
          <a:latin typeface="Arial" panose="020B0604020202090204" pitchFamily="34" charset="0"/>
          <a:ea typeface="+mn-ea"/>
          <a:cs typeface="Arial" panose="020B0604020202090204" pitchFamily="34" charset="0"/>
        </a:defRPr>
      </a:lvl4pPr>
      <a:lvl5pPr marL="1827530" indent="0" algn="l" defTabSz="913765" rtl="0" eaLnBrk="1" latinLnBrk="0" hangingPunct="1">
        <a:lnSpc>
          <a:spcPct val="90000"/>
        </a:lnSpc>
        <a:spcBef>
          <a:spcPts val="500"/>
        </a:spcBef>
        <a:buFontTx/>
        <a:buNone/>
        <a:defRPr sz="750" kern="1200">
          <a:solidFill>
            <a:schemeClr val="tx1"/>
          </a:solidFill>
          <a:latin typeface="Arial" panose="020B0604020202090204" pitchFamily="34" charset="0"/>
          <a:ea typeface="+mn-ea"/>
          <a:cs typeface="Arial" panose="020B0604020202090204" pitchFamily="34" charset="0"/>
        </a:defRPr>
      </a:lvl5pPr>
      <a:lvl6pPr marL="2512695"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6926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646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3025"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6565"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330" algn="l" defTabSz="913765" rtl="0" eaLnBrk="1" latinLnBrk="0" hangingPunct="1">
        <a:defRPr sz="1800" kern="1200">
          <a:solidFill>
            <a:schemeClr val="tx1"/>
          </a:solidFill>
          <a:latin typeface="+mn-lt"/>
          <a:ea typeface="+mn-ea"/>
          <a:cs typeface="+mn-cs"/>
        </a:defRPr>
      </a:lvl4pPr>
      <a:lvl5pPr marL="1827530" algn="l" defTabSz="913765" rtl="0" eaLnBrk="1" latinLnBrk="0" hangingPunct="1">
        <a:defRPr sz="1800" kern="1200">
          <a:solidFill>
            <a:schemeClr val="tx1"/>
          </a:solidFill>
          <a:latin typeface="+mn-lt"/>
          <a:ea typeface="+mn-ea"/>
          <a:cs typeface="+mn-cs"/>
        </a:defRPr>
      </a:lvl5pPr>
      <a:lvl6pPr marL="2284095" algn="l" defTabSz="913765" rtl="0" eaLnBrk="1" latinLnBrk="0" hangingPunct="1">
        <a:defRPr sz="1800" kern="1200">
          <a:solidFill>
            <a:schemeClr val="tx1"/>
          </a:solidFill>
          <a:latin typeface="+mn-lt"/>
          <a:ea typeface="+mn-ea"/>
          <a:cs typeface="+mn-cs"/>
        </a:defRPr>
      </a:lvl6pPr>
      <a:lvl7pPr marL="2741295" algn="l" defTabSz="913765" rtl="0" eaLnBrk="1" latinLnBrk="0" hangingPunct="1">
        <a:defRPr sz="1800" kern="1200">
          <a:solidFill>
            <a:schemeClr val="tx1"/>
          </a:solidFill>
          <a:latin typeface="+mn-lt"/>
          <a:ea typeface="+mn-ea"/>
          <a:cs typeface="+mn-cs"/>
        </a:defRPr>
      </a:lvl7pPr>
      <a:lvl8pPr marL="3197860" algn="l" defTabSz="913765" rtl="0" eaLnBrk="1" latinLnBrk="0" hangingPunct="1">
        <a:defRPr sz="1800" kern="1200">
          <a:solidFill>
            <a:schemeClr val="tx1"/>
          </a:solidFill>
          <a:latin typeface="+mn-lt"/>
          <a:ea typeface="+mn-ea"/>
          <a:cs typeface="+mn-cs"/>
        </a:defRPr>
      </a:lvl8pPr>
      <a:lvl9pPr marL="3654425" algn="l" defTabSz="91376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88" name="Group 87"/>
          <p:cNvGrpSpPr>
            <a:grpSpLocks noChangeAspect="1"/>
          </p:cNvGrpSpPr>
          <p:nvPr userDrawn="1"/>
        </p:nvGrpSpPr>
        <p:grpSpPr>
          <a:xfrm>
            <a:off x="12290471" y="2625389"/>
            <a:ext cx="1963323" cy="4233515"/>
            <a:chOff x="5343885" y="-48857"/>
            <a:chExt cx="326358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185C</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35/24/21</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1463467" cy="246221"/>
          </a:xfrm>
          <a:prstGeom prst="rect">
            <a:avLst/>
          </a:prstGeom>
          <a:noFill/>
        </p:spPr>
        <p:txBody>
          <a:bodyPr wrap="square" rtlCol="0">
            <a:spAutoFit/>
          </a:bodyPr>
          <a:lstStyle/>
          <a:p>
            <a:pPr defTabSz="914400"/>
            <a:r>
              <a:rPr lang="en-US" sz="1000" dirty="0">
                <a:solidFill>
                  <a:srgbClr val="1D1D1B"/>
                </a:solidFill>
                <a:latin typeface="Arial" panose="020B0604020202090204" pitchFamily="34" charset="0"/>
                <a:cs typeface="Arial" panose="020B0604020202090204" pitchFamily="34" charset="0"/>
              </a:rPr>
              <a:t>Huawei Confidential</a:t>
            </a:r>
          </a:p>
        </p:txBody>
      </p:sp>
      <p:sp>
        <p:nvSpPr>
          <p:cNvPr id="4" name="TextBox 3"/>
          <p:cNvSpPr txBox="1"/>
          <p:nvPr userDrawn="1"/>
        </p:nvSpPr>
        <p:spPr>
          <a:xfrm>
            <a:off x="734131" y="6402806"/>
            <a:ext cx="499729" cy="150296"/>
          </a:xfrm>
          <a:prstGeom prst="rect">
            <a:avLst/>
          </a:prstGeom>
          <a:noFill/>
        </p:spPr>
        <p:txBody>
          <a:bodyPr wrap="square" lIns="0" tIns="0" rIns="0" bIns="0" rtlCol="0">
            <a:spAutoFit/>
          </a:bodyPr>
          <a:lstStyle/>
          <a:p>
            <a:pPr defTabSz="890905">
              <a:defRPr/>
            </a:pPr>
            <a:fld id="{C3837181-38C6-AD4F-B8BA-B444770388BB}" type="slidenum">
              <a:rPr lang="en-US" sz="975" smtClean="0">
                <a:solidFill>
                  <a:srgbClr val="1D1D1B"/>
                </a:solidFill>
                <a:latin typeface="Arial" panose="020B0604020202090204" pitchFamily="34" charset="0"/>
                <a:cs typeface="Arial" panose="020B0604020202090204" pitchFamily="34" charset="0"/>
              </a:rPr>
              <a:t>‹#›</a:t>
            </a:fld>
            <a:endParaRPr lang="en-US" sz="975" dirty="0">
              <a:solidFill>
                <a:srgbClr val="1D1D1B"/>
              </a:solidFill>
              <a:latin typeface="Arial" panose="020B0604020202090204" pitchFamily="34" charset="0"/>
              <a:cs typeface="Arial" panose="020B0604020202090204" pitchFamily="34" charset="0"/>
            </a:endParaRPr>
          </a:p>
        </p:txBody>
      </p:sp>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P</a:t>
                </a:r>
                <a:r>
                  <a:rPr kumimoji="1" lang="en-US" altLang="en-US" sz="700" b="1" dirty="0">
                    <a:solidFill>
                      <a:srgbClr val="FFFFFF"/>
                    </a:solidFill>
                    <a:latin typeface="Arial" panose="020B0604020202090204" pitchFamily="34" charset="0"/>
                    <a:ea typeface="Arial" panose="020B0604020202090204" pitchFamily="34" charset="0"/>
                    <a:cs typeface="Arial" panose="020B0604020202090204" pitchFamily="34" charset="0"/>
                  </a:rPr>
                  <a:t>ANTONE</a:t>
                </a: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 186C</a:t>
                </a:r>
              </a:p>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200/16/46</a:t>
                </a: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P</a:t>
                </a:r>
                <a:r>
                  <a:rPr kumimoji="1" lang="en-US" altLang="en-US" sz="700" b="1" dirty="0">
                    <a:solidFill>
                      <a:srgbClr val="FFFFFF"/>
                    </a:solidFill>
                    <a:latin typeface="Arial" panose="020B0604020202090204" pitchFamily="34" charset="0"/>
                    <a:ea typeface="Arial" panose="020B0604020202090204" pitchFamily="34" charset="0"/>
                    <a:cs typeface="Arial" panose="020B0604020202090204" pitchFamily="34" charset="0"/>
                  </a:rPr>
                  <a:t>ANTONE</a:t>
                </a: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 185C</a:t>
                </a:r>
              </a:p>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199/0/11</a:t>
                </a:r>
              </a:p>
            </p:txBody>
          </p:sp>
          <p:sp>
            <p:nvSpPr>
              <p:cNvPr id="46" name="文本框 31"/>
              <p:cNvSpPr txBox="1"/>
              <p:nvPr userDrawn="1"/>
            </p:nvSpPr>
            <p:spPr>
              <a:xfrm>
                <a:off x="12326898" y="2207613"/>
                <a:ext cx="384721" cy="153888"/>
              </a:xfrm>
              <a:prstGeom prst="rect">
                <a:avLst/>
              </a:prstGeom>
              <a:noFill/>
            </p:spPr>
            <p:txBody>
              <a:bodyPr wrap="none" lIns="0" tIns="0" rIns="0" bIns="0" rtlCol="0">
                <a:spAutoFit/>
              </a:bodyPr>
              <a:lstStyle/>
              <a:p>
                <a:pPr algn="ctr" defTabSz="914400"/>
                <a:r>
                  <a:rPr kumimoji="1" lang="zh-CN" altLang="en-US" sz="1000" dirty="0">
                    <a:solidFill>
                      <a:srgbClr val="1D1D1A"/>
                    </a:solidFill>
                    <a:latin typeface="微软雅黑" panose="020B0503020204020204" pitchFamily="34" charset="-122"/>
                    <a:ea typeface="微软雅黑" panose="020B0503020204020204" pitchFamily="34" charset="-122"/>
                  </a:rPr>
                  <a:t>品牌色</a:t>
                </a:r>
              </a:p>
            </p:txBody>
          </p:sp>
        </p:grpSp>
        <p:grpSp>
          <p:nvGrpSpPr>
            <p:cNvPr id="27" name="组合 26"/>
            <p:cNvGrpSpPr/>
            <p:nvPr userDrawn="1"/>
          </p:nvGrpSpPr>
          <p:grpSpPr>
            <a:xfrm>
              <a:off x="12216278" y="3080825"/>
              <a:ext cx="1982912" cy="3785795"/>
              <a:chOff x="12216278" y="3080825"/>
              <a:chExt cx="1982912" cy="3785795"/>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234/90/79</a:t>
                </a: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120/0/15</a:t>
                </a:r>
              </a:p>
            </p:txBody>
          </p:sp>
          <p:sp>
            <p:nvSpPr>
              <p:cNvPr id="30" name="文本框 15"/>
              <p:cNvSpPr txBox="1"/>
              <p:nvPr userDrawn="1"/>
            </p:nvSpPr>
            <p:spPr>
              <a:xfrm>
                <a:off x="12216278" y="3080825"/>
                <a:ext cx="569387" cy="153888"/>
              </a:xfrm>
              <a:prstGeom prst="rect">
                <a:avLst/>
              </a:prstGeom>
              <a:noFill/>
            </p:spPr>
            <p:txBody>
              <a:bodyPr wrap="square" lIns="0" tIns="0" rIns="0" bIns="0" rtlCol="0" anchor="b" anchorCtr="0">
                <a:spAutoFit/>
              </a:bodyPr>
              <a:lstStyle/>
              <a:p>
                <a:pPr algn="ctr" defTabSz="914400"/>
                <a:r>
                  <a:rPr kumimoji="1" lang="zh-CN" altLang="en-US" sz="1000" dirty="0">
                    <a:solidFill>
                      <a:srgbClr val="1D1D1A"/>
                    </a:solidFill>
                    <a:latin typeface="微软雅黑" panose="020B0503020204020204" pitchFamily="34" charset="-122"/>
                    <a:ea typeface="微软雅黑" panose="020B0503020204020204" pitchFamily="34" charset="-122"/>
                  </a:rPr>
                  <a:t>辅助色</a:t>
                </a: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248/181/60</a:t>
                </a: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235/92/1</a:t>
                </a: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137/137/137</a:t>
                </a: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35/24/21</a:t>
                </a: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666666"/>
                    </a:solidFill>
                    <a:latin typeface="Arial" panose="020B0604020202090204" pitchFamily="34" charset="0"/>
                    <a:ea typeface="Arial" panose="020B0604020202090204" pitchFamily="34" charset="0"/>
                    <a:cs typeface="Arial" panose="020B0604020202090204" pitchFamily="34" charset="0"/>
                  </a:rPr>
                  <a:t>RGB 221/221/221</a:t>
                </a: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233/140/128</a:t>
                </a: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159/0/1</a:t>
                </a: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666666"/>
                    </a:solidFill>
                    <a:latin typeface="Arial" panose="020B0604020202090204" pitchFamily="34" charset="0"/>
                    <a:ea typeface="Arial" panose="020B0604020202090204" pitchFamily="34" charset="0"/>
                    <a:cs typeface="Arial" panose="020B0604020202090204" pitchFamily="34" charset="0"/>
                  </a:rPr>
                  <a:t>RGB 245/220/87</a:t>
                </a: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240/133/0</a:t>
                </a: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181/181/181</a:t>
                </a: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89/87/87</a:t>
                </a: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r>
                  <a:rPr kumimoji="1" lang="en-US" altLang="zh-CN" sz="700" b="1" dirty="0">
                    <a:solidFill>
                      <a:srgbClr val="666666"/>
                    </a:solidFill>
                    <a:latin typeface="Arial" panose="020B0604020202090204" pitchFamily="34" charset="0"/>
                    <a:ea typeface="Arial" panose="020B0604020202090204" pitchFamily="34" charset="0"/>
                    <a:cs typeface="Arial" panose="020B0604020202090204" pitchFamily="34" charset="0"/>
                  </a:rPr>
                  <a:t>RGB 255/255/255</a:t>
                </a:r>
              </a:p>
            </p:txBody>
          </p:sp>
        </p:grpSp>
      </p:gr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5998" y="6321130"/>
            <a:ext cx="1269075" cy="277546"/>
          </a:xfrm>
          <a:prstGeom prst="rect">
            <a:avLst/>
          </a:prstGeom>
        </p:spPr>
      </p:pic>
    </p:spTree>
  </p:cSld>
  <p:clrMap bg1="lt1" tx1="dk1" bg2="lt2" tx2="dk2" accent1="accent1" accent2="accent2" accent3="accent3" accent4="accent4" accent5="accent5" accent6="accent6" hlink="hlink" folHlink="folHlink"/>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9"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90204" pitchFamily="34" charset="0"/>
                <a:ea typeface="+mn-ea"/>
                <a:cs typeface="Arial" panose="020B0604020202090204" pitchFamily="34" charset="0"/>
              </a:rPr>
              <a:t>Huawei Proprietary - Restricted Distribution</a:t>
            </a:r>
            <a:endParaRPr lang="en-US" sz="900" b="0" kern="1200" baseline="0" dirty="0">
              <a:solidFill>
                <a:srgbClr val="1D1D1B"/>
              </a:solidFill>
              <a:latin typeface="Arial" panose="020B0604020202090204" pitchFamily="34" charset="0"/>
              <a:ea typeface="+mn-ea"/>
              <a:cs typeface="Arial" panose="020B0604020202090204" pitchFamily="34" charset="0"/>
            </a:endParaRPr>
          </a:p>
        </p:txBody>
      </p:sp>
      <p:sp>
        <p:nvSpPr>
          <p:cNvPr id="4" name="TextBox 3"/>
          <p:cNvSpPr txBox="1"/>
          <p:nvPr userDrawn="1"/>
        </p:nvSpPr>
        <p:spPr>
          <a:xfrm>
            <a:off x="734133" y="6402809"/>
            <a:ext cx="499729" cy="138499"/>
          </a:xfrm>
          <a:prstGeom prst="rect">
            <a:avLst/>
          </a:prstGeom>
          <a:noFill/>
        </p:spPr>
        <p:txBody>
          <a:bodyPr wrap="square" lIns="0" tIns="0" rIns="0" bIns="0" rtlCol="0">
            <a:spAutoFit/>
          </a:bodyPr>
          <a:lstStyle/>
          <a:p>
            <a:pPr marL="0" marR="0" lvl="0" indent="0" algn="l" defTabSz="890270"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90204" pitchFamily="34" charset="0"/>
                <a:cs typeface="Arial" panose="020B0604020202090204" pitchFamily="34" charset="0"/>
              </a:rPr>
              <a:t>‹#›</a:t>
            </a:fld>
            <a:endParaRPr lang="en-US" sz="900" dirty="0">
              <a:solidFill>
                <a:srgbClr val="1D1D1B"/>
              </a:solidFill>
              <a:latin typeface="Arial" panose="020B0604020202090204" pitchFamily="34" charset="0"/>
              <a:cs typeface="Arial" panose="020B0604020202090204" pitchFamily="34" charset="0"/>
            </a:endParaRPr>
          </a:p>
        </p:txBody>
      </p:sp>
      <p:grpSp>
        <p:nvGrpSpPr>
          <p:cNvPr id="88" name="Group 87"/>
          <p:cNvGrpSpPr>
            <a:grpSpLocks noChangeAspect="1"/>
          </p:cNvGrpSpPr>
          <p:nvPr userDrawn="1"/>
        </p:nvGrpSpPr>
        <p:grpSpPr>
          <a:xfrm>
            <a:off x="12290471" y="2625392"/>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65"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185C</a:t>
              </a:r>
            </a:p>
            <a:p>
              <a:pPr algn="ctr">
                <a:lnSpc>
                  <a:spcPts val="620"/>
                </a:lnSpc>
                <a:spcBef>
                  <a:spcPts val="0"/>
                </a:spcBef>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65"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765"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hf hdr="0" ftr="0" dt="0"/>
  <p:txStyles>
    <p:titleStyle>
      <a:lvl1pPr algn="l" defTabSz="118681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681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270" indent="-297180" algn="l" defTabSz="118681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3995" indent="-297180" algn="l" defTabSz="118681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7085" indent="-297180" algn="l" defTabSz="118681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0175" indent="-297180" algn="l" defTabSz="118681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3900" indent="-297180" algn="l" defTabSz="118681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58260" indent="-297180" algn="l" defTabSz="118681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1350" indent="-297180" algn="l" defTabSz="118681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4440" indent="-297180" algn="l" defTabSz="118681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6815" rtl="0" eaLnBrk="1" latinLnBrk="0" hangingPunct="1">
        <a:defRPr sz="2340" kern="1200">
          <a:solidFill>
            <a:schemeClr val="tx1"/>
          </a:solidFill>
          <a:latin typeface="+mn-lt"/>
          <a:ea typeface="+mn-ea"/>
          <a:cs typeface="+mn-cs"/>
        </a:defRPr>
      </a:lvl1pPr>
      <a:lvl2pPr marL="593725" algn="l" defTabSz="1186815" rtl="0" eaLnBrk="1" latinLnBrk="0" hangingPunct="1">
        <a:defRPr sz="2340" kern="1200">
          <a:solidFill>
            <a:schemeClr val="tx1"/>
          </a:solidFill>
          <a:latin typeface="+mn-lt"/>
          <a:ea typeface="+mn-ea"/>
          <a:cs typeface="+mn-cs"/>
        </a:defRPr>
      </a:lvl2pPr>
      <a:lvl3pPr marL="1186815" algn="l" defTabSz="1186815" rtl="0" eaLnBrk="1" latinLnBrk="0" hangingPunct="1">
        <a:defRPr sz="2340" kern="1200">
          <a:solidFill>
            <a:schemeClr val="tx1"/>
          </a:solidFill>
          <a:latin typeface="+mn-lt"/>
          <a:ea typeface="+mn-ea"/>
          <a:cs typeface="+mn-cs"/>
        </a:defRPr>
      </a:lvl3pPr>
      <a:lvl4pPr marL="1780540" algn="l" defTabSz="1186815" rtl="0" eaLnBrk="1" latinLnBrk="0" hangingPunct="1">
        <a:defRPr sz="2340" kern="1200">
          <a:solidFill>
            <a:schemeClr val="tx1"/>
          </a:solidFill>
          <a:latin typeface="+mn-lt"/>
          <a:ea typeface="+mn-ea"/>
          <a:cs typeface="+mn-cs"/>
        </a:defRPr>
      </a:lvl4pPr>
      <a:lvl5pPr marL="2374265" algn="l" defTabSz="1186815" rtl="0" eaLnBrk="1" latinLnBrk="0" hangingPunct="1">
        <a:defRPr sz="2340" kern="1200">
          <a:solidFill>
            <a:schemeClr val="tx1"/>
          </a:solidFill>
          <a:latin typeface="+mn-lt"/>
          <a:ea typeface="+mn-ea"/>
          <a:cs typeface="+mn-cs"/>
        </a:defRPr>
      </a:lvl5pPr>
      <a:lvl6pPr marL="2967355" algn="l" defTabSz="1186815" rtl="0" eaLnBrk="1" latinLnBrk="0" hangingPunct="1">
        <a:defRPr sz="2340" kern="1200">
          <a:solidFill>
            <a:schemeClr val="tx1"/>
          </a:solidFill>
          <a:latin typeface="+mn-lt"/>
          <a:ea typeface="+mn-ea"/>
          <a:cs typeface="+mn-cs"/>
        </a:defRPr>
      </a:lvl6pPr>
      <a:lvl7pPr marL="3561080" algn="l" defTabSz="1186815" rtl="0" eaLnBrk="1" latinLnBrk="0" hangingPunct="1">
        <a:defRPr sz="2340" kern="1200">
          <a:solidFill>
            <a:schemeClr val="tx1"/>
          </a:solidFill>
          <a:latin typeface="+mn-lt"/>
          <a:ea typeface="+mn-ea"/>
          <a:cs typeface="+mn-cs"/>
        </a:defRPr>
      </a:lvl7pPr>
      <a:lvl8pPr marL="4154170" algn="l" defTabSz="1186815" rtl="0" eaLnBrk="1" latinLnBrk="0" hangingPunct="1">
        <a:defRPr sz="2340" kern="1200">
          <a:solidFill>
            <a:schemeClr val="tx1"/>
          </a:solidFill>
          <a:latin typeface="+mn-lt"/>
          <a:ea typeface="+mn-ea"/>
          <a:cs typeface="+mn-cs"/>
        </a:defRPr>
      </a:lvl8pPr>
      <a:lvl9pPr marL="4747895" algn="l" defTabSz="1186815" rtl="0" eaLnBrk="1" latinLnBrk="0" hangingPunct="1">
        <a:defRPr sz="234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3503965" cy="230832"/>
          </a:xfrm>
          <a:prstGeom prst="rect">
            <a:avLst/>
          </a:prstGeom>
          <a:noFill/>
        </p:spPr>
        <p:txBody>
          <a:bodyPr wrap="square" rtlCol="0">
            <a:spAutoFit/>
          </a:bodyPr>
          <a:lstStyle/>
          <a:p>
            <a:pPr defTabSz="914400"/>
            <a:r>
              <a:rPr lang="en-US" altLang="zh-CN" sz="900" dirty="0">
                <a:solidFill>
                  <a:srgbClr val="1D1D1B"/>
                </a:solidFill>
                <a:latin typeface="Arial" panose="020B0604020202090204" pitchFamily="34" charset="0"/>
                <a:cs typeface="Arial" panose="020B0604020202090204" pitchFamily="34" charset="0"/>
              </a:rPr>
              <a:t>Huawei Proprietary - Restricted Distribution</a:t>
            </a:r>
            <a:endParaRPr lang="en-US" sz="900" dirty="0">
              <a:solidFill>
                <a:srgbClr val="1D1D1B"/>
              </a:solidFill>
              <a:latin typeface="Arial" panose="020B0604020202090204" pitchFamily="34" charset="0"/>
              <a:cs typeface="Arial" panose="020B0604020202090204" pitchFamily="34" charset="0"/>
            </a:endParaRPr>
          </a:p>
        </p:txBody>
      </p:sp>
      <p:sp>
        <p:nvSpPr>
          <p:cNvPr id="4" name="TextBox 3"/>
          <p:cNvSpPr txBox="1"/>
          <p:nvPr userDrawn="1"/>
        </p:nvSpPr>
        <p:spPr>
          <a:xfrm>
            <a:off x="734131" y="6402806"/>
            <a:ext cx="499729" cy="138499"/>
          </a:xfrm>
          <a:prstGeom prst="rect">
            <a:avLst/>
          </a:prstGeom>
          <a:noFill/>
        </p:spPr>
        <p:txBody>
          <a:bodyPr wrap="square" lIns="0" tIns="0" rIns="0" bIns="0" rtlCol="0">
            <a:spAutoFit/>
          </a:bodyPr>
          <a:lstStyle/>
          <a:p>
            <a:pPr defTabSz="890905">
              <a:defRPr/>
            </a:pPr>
            <a:fld id="{C3837181-38C6-AD4F-B8BA-B444770388BB}" type="slidenum">
              <a:rPr lang="en-US" sz="900" smtClean="0">
                <a:solidFill>
                  <a:srgbClr val="1D1D1B"/>
                </a:solidFill>
                <a:latin typeface="Arial" panose="020B0604020202090204" pitchFamily="34" charset="0"/>
                <a:cs typeface="Arial" panose="020B0604020202090204" pitchFamily="34" charset="0"/>
              </a:rPr>
              <a:t>‹#›</a:t>
            </a:fld>
            <a:endParaRPr lang="en-US" sz="900" dirty="0">
              <a:solidFill>
                <a:srgbClr val="1D1D1B"/>
              </a:solidFill>
              <a:latin typeface="Arial" panose="020B0604020202090204" pitchFamily="34" charset="0"/>
              <a:cs typeface="Arial" panose="020B0604020202090204" pitchFamily="34" charset="0"/>
            </a:endParaRPr>
          </a:p>
        </p:txBody>
      </p:sp>
      <p:grpSp>
        <p:nvGrpSpPr>
          <p:cNvPr id="88" name="Group 87"/>
          <p:cNvGrpSpPr>
            <a:grpSpLocks noChangeAspect="1"/>
          </p:cNvGrpSpPr>
          <p:nvPr userDrawn="1"/>
        </p:nvGrpSpPr>
        <p:grpSpPr>
          <a:xfrm>
            <a:off x="12290470" y="262538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4400"/>
              <a:r>
                <a:rPr kumimoji="1" lang="zh-CN" altLang="en-US" sz="800" dirty="0">
                  <a:solidFill>
                    <a:srgbClr val="1D1D1A"/>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185C</a:t>
              </a:r>
            </a:p>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defTabSz="914400"/>
              <a:r>
                <a:rPr kumimoji="1" lang="zh-CN" altLang="en-US" sz="800" dirty="0">
                  <a:solidFill>
                    <a:srgbClr val="1D1D1A"/>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186C</a:t>
              </a:r>
            </a:p>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440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defTabSz="91440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70" y="6356939"/>
            <a:ext cx="1463467" cy="230832"/>
          </a:xfrm>
          <a:prstGeom prst="rect">
            <a:avLst/>
          </a:prstGeom>
          <a:noFill/>
        </p:spPr>
        <p:txBody>
          <a:bodyPr wrap="square" rtlCol="0">
            <a:spAutoFit/>
          </a:bodyPr>
          <a:lstStyle/>
          <a:p>
            <a:pPr defTabSz="913130" fontAlgn="base">
              <a:spcBef>
                <a:spcPct val="0"/>
              </a:spcBef>
              <a:spcAft>
                <a:spcPct val="0"/>
              </a:spcAft>
            </a:pPr>
            <a:r>
              <a:rPr lang="en-US" sz="900" dirty="0">
                <a:solidFill>
                  <a:srgbClr val="1D1D1B"/>
                </a:solidFill>
                <a:latin typeface="FrutigerNext LT Regular" pitchFamily="34" charset="0"/>
                <a:ea typeface="MS PGothic" panose="020B0600070205080204" pitchFamily="34" charset="-128"/>
                <a:cs typeface="Arial" panose="020B0604020202090204" pitchFamily="34" charset="0"/>
              </a:rPr>
              <a:t>Huawei Confidential</a:t>
            </a:r>
          </a:p>
        </p:txBody>
      </p:sp>
      <p:sp>
        <p:nvSpPr>
          <p:cNvPr id="4" name="TextBox 3"/>
          <p:cNvSpPr txBox="1"/>
          <p:nvPr userDrawn="1"/>
        </p:nvSpPr>
        <p:spPr>
          <a:xfrm>
            <a:off x="734134" y="6402812"/>
            <a:ext cx="499729" cy="138499"/>
          </a:xfrm>
          <a:prstGeom prst="rect">
            <a:avLst/>
          </a:prstGeom>
          <a:noFill/>
        </p:spPr>
        <p:txBody>
          <a:bodyPr wrap="square" lIns="0" tIns="0" rIns="0" bIns="0" rtlCol="0">
            <a:spAutoFit/>
          </a:bodyPr>
          <a:lstStyle/>
          <a:p>
            <a:pPr defTabSz="889635" fontAlgn="base">
              <a:spcBef>
                <a:spcPct val="0"/>
              </a:spcBef>
              <a:spcAft>
                <a:spcPct val="0"/>
              </a:spcAft>
              <a:defRPr/>
            </a:pPr>
            <a:fld id="{C3837181-38C6-AD4F-B8BA-B444770388BB}" type="slidenum">
              <a:rPr lang="en-US" sz="900">
                <a:solidFill>
                  <a:srgbClr val="1D1D1B"/>
                </a:solidFill>
                <a:latin typeface="FrutigerNext LT Regular" pitchFamily="34" charset="0"/>
                <a:ea typeface="MS PGothic" panose="020B0600070205080204" pitchFamily="34" charset="-128"/>
                <a:cs typeface="Arial" panose="020B0604020202090204" pitchFamily="34" charset="0"/>
              </a:rPr>
              <a:t>‹#›</a:t>
            </a:fld>
            <a:endParaRPr lang="en-US" sz="900" dirty="0">
              <a:solidFill>
                <a:srgbClr val="1D1D1B"/>
              </a:solidFill>
              <a:latin typeface="FrutigerNext LT Regular" pitchFamily="34" charset="0"/>
              <a:ea typeface="MS PGothic" panose="020B0600070205080204" pitchFamily="34" charset="-128"/>
              <a:cs typeface="Arial" panose="020B0604020202090204" pitchFamily="34" charset="0"/>
            </a:endParaRPr>
          </a:p>
        </p:txBody>
      </p:sp>
      <p:pic>
        <p:nvPicPr>
          <p:cNvPr id="47" name="Picture 46"/>
          <p:cNvPicPr>
            <a:picLocks noChangeAspect="1"/>
          </p:cNvPicPr>
          <p:nvPr userDrawn="1"/>
        </p:nvPicPr>
        <p:blipFill>
          <a:blip r:embed="rId4" cstate="email"/>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Lst>
  <p:hf hdr="0" ftr="0" dt="0"/>
  <p:txStyles>
    <p:titleStyle>
      <a:lvl1pPr algn="l" defTabSz="1186180" rtl="0" eaLnBrk="1" latinLnBrk="0" hangingPunct="1">
        <a:lnSpc>
          <a:spcPct val="90000"/>
        </a:lnSpc>
        <a:spcBef>
          <a:spcPct val="0"/>
        </a:spcBef>
        <a:buNone/>
        <a:defRPr sz="5710" kern="1200">
          <a:solidFill>
            <a:schemeClr val="tx1"/>
          </a:solidFill>
          <a:latin typeface="+mj-lt"/>
          <a:ea typeface="+mj-ea"/>
          <a:cs typeface="+mj-cs"/>
        </a:defRPr>
      </a:lvl1pPr>
    </p:titleStyle>
    <p:bodyStyle>
      <a:lvl1pPr marL="296545" indent="-296545" algn="l" defTabSz="1186180" rtl="0" eaLnBrk="1" latinLnBrk="0" hangingPunct="1">
        <a:lnSpc>
          <a:spcPct val="90000"/>
        </a:lnSpc>
        <a:spcBef>
          <a:spcPts val="1295"/>
        </a:spcBef>
        <a:buFont typeface="Arial" panose="020B0604020202090204" pitchFamily="34" charset="0"/>
        <a:buChar char="•"/>
        <a:defRPr sz="3635" kern="1200">
          <a:solidFill>
            <a:schemeClr val="tx1"/>
          </a:solidFill>
          <a:latin typeface="+mn-lt"/>
          <a:ea typeface="+mn-ea"/>
          <a:cs typeface="+mn-cs"/>
        </a:defRPr>
      </a:lvl1pPr>
      <a:lvl2pPr marL="889635" indent="-296545" algn="l" defTabSz="1186180" rtl="0" eaLnBrk="1" latinLnBrk="0" hangingPunct="1">
        <a:lnSpc>
          <a:spcPct val="90000"/>
        </a:lnSpc>
        <a:spcBef>
          <a:spcPts val="650"/>
        </a:spcBef>
        <a:buFont typeface="Arial" panose="020B0604020202090204" pitchFamily="34" charset="0"/>
        <a:buChar char="•"/>
        <a:defRPr sz="3115" kern="1200">
          <a:solidFill>
            <a:schemeClr val="tx1"/>
          </a:solidFill>
          <a:latin typeface="+mn-lt"/>
          <a:ea typeface="+mn-ea"/>
          <a:cs typeface="+mn-cs"/>
        </a:defRPr>
      </a:lvl2pPr>
      <a:lvl3pPr marL="1482725" indent="-296545" algn="l" defTabSz="1186180" rtl="0" eaLnBrk="1" latinLnBrk="0" hangingPunct="1">
        <a:lnSpc>
          <a:spcPct val="90000"/>
        </a:lnSpc>
        <a:spcBef>
          <a:spcPts val="650"/>
        </a:spcBef>
        <a:buFont typeface="Arial" panose="020B0604020202090204" pitchFamily="34" charset="0"/>
        <a:buChar char="•"/>
        <a:defRPr sz="2595" kern="1200">
          <a:solidFill>
            <a:schemeClr val="tx1"/>
          </a:solidFill>
          <a:latin typeface="+mn-lt"/>
          <a:ea typeface="+mn-ea"/>
          <a:cs typeface="+mn-cs"/>
        </a:defRPr>
      </a:lvl3pPr>
      <a:lvl4pPr marL="207645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4pPr>
      <a:lvl5pPr marL="266954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5pPr>
      <a:lvl6pPr marL="326263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6pPr>
      <a:lvl7pPr marL="385572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7pPr>
      <a:lvl8pPr marL="444881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8pPr>
      <a:lvl9pPr marL="504190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9pPr>
    </p:bodyStyle>
    <p:otherStyle>
      <a:defPPr>
        <a:defRPr lang="en-US"/>
      </a:defPPr>
      <a:lvl1pPr marL="0" algn="l" defTabSz="1186180" rtl="0" eaLnBrk="1" latinLnBrk="0" hangingPunct="1">
        <a:defRPr sz="2335" kern="1200">
          <a:solidFill>
            <a:schemeClr val="tx1"/>
          </a:solidFill>
          <a:latin typeface="+mn-lt"/>
          <a:ea typeface="+mn-ea"/>
          <a:cs typeface="+mn-cs"/>
        </a:defRPr>
      </a:lvl1pPr>
      <a:lvl2pPr marL="593090" algn="l" defTabSz="1186180" rtl="0" eaLnBrk="1" latinLnBrk="0" hangingPunct="1">
        <a:defRPr sz="2335" kern="1200">
          <a:solidFill>
            <a:schemeClr val="tx1"/>
          </a:solidFill>
          <a:latin typeface="+mn-lt"/>
          <a:ea typeface="+mn-ea"/>
          <a:cs typeface="+mn-cs"/>
        </a:defRPr>
      </a:lvl2pPr>
      <a:lvl3pPr marL="1186180" algn="l" defTabSz="1186180" rtl="0" eaLnBrk="1" latinLnBrk="0" hangingPunct="1">
        <a:defRPr sz="2335" kern="1200">
          <a:solidFill>
            <a:schemeClr val="tx1"/>
          </a:solidFill>
          <a:latin typeface="+mn-lt"/>
          <a:ea typeface="+mn-ea"/>
          <a:cs typeface="+mn-cs"/>
        </a:defRPr>
      </a:lvl3pPr>
      <a:lvl4pPr marL="1779270" algn="l" defTabSz="1186180" rtl="0" eaLnBrk="1" latinLnBrk="0" hangingPunct="1">
        <a:defRPr sz="2335" kern="1200">
          <a:solidFill>
            <a:schemeClr val="tx1"/>
          </a:solidFill>
          <a:latin typeface="+mn-lt"/>
          <a:ea typeface="+mn-ea"/>
          <a:cs typeface="+mn-cs"/>
        </a:defRPr>
      </a:lvl4pPr>
      <a:lvl5pPr marL="2372995" algn="l" defTabSz="1186180" rtl="0" eaLnBrk="1" latinLnBrk="0" hangingPunct="1">
        <a:defRPr sz="2335" kern="1200">
          <a:solidFill>
            <a:schemeClr val="tx1"/>
          </a:solidFill>
          <a:latin typeface="+mn-lt"/>
          <a:ea typeface="+mn-ea"/>
          <a:cs typeface="+mn-cs"/>
        </a:defRPr>
      </a:lvl5pPr>
      <a:lvl6pPr marL="2966085" algn="l" defTabSz="1186180" rtl="0" eaLnBrk="1" latinLnBrk="0" hangingPunct="1">
        <a:defRPr sz="2335" kern="1200">
          <a:solidFill>
            <a:schemeClr val="tx1"/>
          </a:solidFill>
          <a:latin typeface="+mn-lt"/>
          <a:ea typeface="+mn-ea"/>
          <a:cs typeface="+mn-cs"/>
        </a:defRPr>
      </a:lvl6pPr>
      <a:lvl7pPr marL="3559175" algn="l" defTabSz="1186180" rtl="0" eaLnBrk="1" latinLnBrk="0" hangingPunct="1">
        <a:defRPr sz="2335" kern="1200">
          <a:solidFill>
            <a:schemeClr val="tx1"/>
          </a:solidFill>
          <a:latin typeface="+mn-lt"/>
          <a:ea typeface="+mn-ea"/>
          <a:cs typeface="+mn-cs"/>
        </a:defRPr>
      </a:lvl7pPr>
      <a:lvl8pPr marL="4152265" algn="l" defTabSz="1186180" rtl="0" eaLnBrk="1" latinLnBrk="0" hangingPunct="1">
        <a:defRPr sz="2335" kern="1200">
          <a:solidFill>
            <a:schemeClr val="tx1"/>
          </a:solidFill>
          <a:latin typeface="+mn-lt"/>
          <a:ea typeface="+mn-ea"/>
          <a:cs typeface="+mn-cs"/>
        </a:defRPr>
      </a:lvl8pPr>
      <a:lvl9pPr marL="4745355" algn="l" defTabSz="1186180" rtl="0" eaLnBrk="1" latinLnBrk="0" hangingPunct="1">
        <a:defRPr sz="2335"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extBox 2"/>
          <p:cNvSpPr txBox="1"/>
          <p:nvPr/>
        </p:nvSpPr>
        <p:spPr>
          <a:xfrm>
            <a:off x="1095467" y="6356939"/>
            <a:ext cx="1463467" cy="230832"/>
          </a:xfrm>
          <a:prstGeom prst="rect">
            <a:avLst/>
          </a:prstGeom>
          <a:noFill/>
        </p:spPr>
        <p:txBody>
          <a:bodyPr wrap="square" rtlCol="0">
            <a:spAutoFit/>
          </a:bodyPr>
          <a:lstStyle/>
          <a:p>
            <a:r>
              <a:rPr lang="en-US" sz="900" dirty="0">
                <a:solidFill>
                  <a:srgbClr val="FFFFFF"/>
                </a:solidFill>
                <a:cs typeface="Arial" panose="020B0604020202090204" pitchFamily="34" charset="0"/>
              </a:rPr>
              <a:t>Huawei Confidential</a:t>
            </a:r>
          </a:p>
        </p:txBody>
      </p:sp>
      <p:sp>
        <p:nvSpPr>
          <p:cNvPr id="4" name="TextBox 3"/>
          <p:cNvSpPr txBox="1"/>
          <p:nvPr/>
        </p:nvSpPr>
        <p:spPr>
          <a:xfrm>
            <a:off x="734131" y="6402806"/>
            <a:ext cx="499729" cy="138499"/>
          </a:xfrm>
          <a:prstGeom prst="rect">
            <a:avLst/>
          </a:prstGeom>
          <a:noFill/>
        </p:spPr>
        <p:txBody>
          <a:bodyPr wrap="square" lIns="0" tIns="0" rIns="0" bIns="0" rtlCol="0">
            <a:spAutoFit/>
          </a:bodyPr>
          <a:lstStyle/>
          <a:p>
            <a:pPr defTabSz="890905">
              <a:defRPr/>
            </a:pPr>
            <a:fld id="{C3837181-38C6-AD4F-B8BA-B444770388BB}" type="slidenum">
              <a:rPr lang="en-US" sz="900" smtClean="0">
                <a:solidFill>
                  <a:srgbClr val="FFFFFF"/>
                </a:solidFill>
                <a:cs typeface="Arial" panose="020B0604020202090204" pitchFamily="34" charset="0"/>
              </a:rPr>
              <a:t>‹#›</a:t>
            </a:fld>
            <a:endParaRPr lang="en-US" sz="900" dirty="0">
              <a:solidFill>
                <a:srgbClr val="FFFFFF"/>
              </a:solidFill>
              <a:cs typeface="Arial" panose="020B0604020202090204" pitchFamily="34" charset="0"/>
            </a:endParaRPr>
          </a:p>
        </p:txBody>
      </p:sp>
      <p:grpSp>
        <p:nvGrpSpPr>
          <p:cNvPr id="88" name="Group 87"/>
          <p:cNvGrpSpPr>
            <a:grpSpLocks noChangeAspect="1"/>
          </p:cNvGrpSpPr>
          <p:nvPr/>
        </p:nvGrpSpPr>
        <p:grpSpPr>
          <a:xfrm>
            <a:off x="12290471" y="2625389"/>
            <a:ext cx="1963323" cy="4233515"/>
            <a:chOff x="5343885" y="-48857"/>
            <a:chExt cx="326358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PANTONE 185C</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48/181/197</a:t>
              </a:r>
            </a:p>
          </p:txBody>
        </p:sp>
        <p:sp>
          <p:nvSpPr>
            <p:cNvPr id="102"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129/193/95</a:t>
              </a:r>
            </a:p>
          </p:txBody>
        </p:sp>
        <p:sp>
          <p:nvSpPr>
            <p:cNvPr id="103"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253/211/81</a:t>
              </a:r>
            </a:p>
          </p:txBody>
        </p:sp>
        <p:sp>
          <p:nvSpPr>
            <p:cNvPr id="104"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ea typeface="Arial" panose="020B0604020202090204" pitchFamily="34" charset="0"/>
                  <a:cs typeface="Arial" panose="020B0604020202090204" pitchFamily="34" charset="0"/>
                </a:rPr>
                <a:t>RGB 216/179/179</a:t>
              </a:r>
            </a:p>
          </p:txBody>
        </p:sp>
        <p:sp>
          <p:nvSpPr>
            <p:cNvPr id="117"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250/211/187</a:t>
              </a:r>
            </a:p>
          </p:txBody>
        </p:sp>
        <p:sp>
          <p:nvSpPr>
            <p:cNvPr id="118"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208/232/196</a:t>
              </a:r>
            </a:p>
          </p:txBody>
        </p:sp>
        <p:sp>
          <p:nvSpPr>
            <p:cNvPr id="119"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254/238/193</a:t>
              </a:r>
            </a:p>
          </p:txBody>
        </p:sp>
        <p:sp>
          <p:nvSpPr>
            <p:cNvPr id="120"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a:t>
              </a:r>
              <a:br>
                <a:rPr kumimoji="1" lang="en-US" altLang="zh-CN" sz="500" b="1" dirty="0">
                  <a:solidFill>
                    <a:srgbClr val="595757"/>
                  </a:solidFill>
                  <a:ea typeface="Arial" panose="020B0604020202090204" pitchFamily="34" charset="0"/>
                  <a:cs typeface="Arial" panose="020B0604020202090204" pitchFamily="34" charset="0"/>
                </a:rPr>
              </a:br>
              <a:r>
                <a:rPr kumimoji="1" lang="en-US" altLang="zh-CN" sz="500" b="1" dirty="0">
                  <a:solidFill>
                    <a:srgbClr val="595757"/>
                  </a:solidFill>
                  <a:ea typeface="Arial" panose="020B0604020202090204" pitchFamily="34" charset="0"/>
                  <a:cs typeface="Arial" panose="020B0604020202090204" pitchFamily="34" charset="0"/>
                </a:rPr>
                <a:t>190/23/238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89/87/87</a:t>
              </a:r>
            </a:p>
          </p:txBody>
        </p:sp>
        <p:sp>
          <p:nvSpPr>
            <p:cNvPr id="125"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137/137/</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137</a:t>
              </a:r>
            </a:p>
          </p:txBody>
        </p:sp>
        <p:sp>
          <p:nvSpPr>
            <p:cNvPr id="126"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181/181/</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181</a:t>
              </a:r>
            </a:p>
          </p:txBody>
        </p:sp>
        <p:sp>
          <p:nvSpPr>
            <p:cNvPr id="127"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221/221/</a:t>
              </a:r>
              <a:br>
                <a:rPr kumimoji="1" lang="en-US" altLang="zh-CN" sz="500" b="1" dirty="0">
                  <a:solidFill>
                    <a:srgbClr val="595757"/>
                  </a:solidFill>
                  <a:ea typeface="Arial" panose="020B0604020202090204" pitchFamily="34" charset="0"/>
                  <a:cs typeface="Arial" panose="020B0604020202090204" pitchFamily="34" charset="0"/>
                </a:rPr>
              </a:br>
              <a:r>
                <a:rPr kumimoji="1" lang="en-US" altLang="zh-CN" sz="500" b="1" dirty="0">
                  <a:solidFill>
                    <a:srgbClr val="595757"/>
                  </a:solidFill>
                  <a:ea typeface="Arial" panose="020B0604020202090204" pitchFamily="34" charset="0"/>
                  <a:cs typeface="Arial" panose="020B0604020202090204" pitchFamily="34" charset="0"/>
                </a:rPr>
                <a:t>221</a:t>
              </a:r>
            </a:p>
          </p:txBody>
        </p:sp>
        <p:sp>
          <p:nvSpPr>
            <p:cNvPr id="128"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255/255/</a:t>
              </a:r>
              <a:br>
                <a:rPr kumimoji="1" lang="en-US" altLang="zh-CN" sz="500" b="1" dirty="0">
                  <a:solidFill>
                    <a:srgbClr val="595757"/>
                  </a:solidFill>
                  <a:ea typeface="Arial" panose="020B0604020202090204" pitchFamily="34" charset="0"/>
                  <a:cs typeface="Arial" panose="020B0604020202090204" pitchFamily="34" charset="0"/>
                </a:rPr>
              </a:br>
              <a:r>
                <a:rPr kumimoji="1" lang="en-US" altLang="zh-CN" sz="500" b="1" dirty="0">
                  <a:solidFill>
                    <a:srgbClr val="595757"/>
                  </a:solidFill>
                  <a:ea typeface="Arial" panose="020B0604020202090204" pitchFamily="34" charset="0"/>
                  <a:cs typeface="Arial" panose="020B0604020202090204" pitchFamily="34" charset="0"/>
                </a:rPr>
                <a:t>255</a:t>
              </a:r>
            </a:p>
          </p:txBody>
        </p:sp>
      </p:grpSp>
      <p:pic>
        <p:nvPicPr>
          <p:cNvPr id="46" name="图片 4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0118082" y="6250494"/>
            <a:ext cx="1390166" cy="412471"/>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72" y="6356939"/>
            <a:ext cx="3503965" cy="230832"/>
          </a:xfrm>
          <a:prstGeom prst="rect">
            <a:avLst/>
          </a:prstGeom>
          <a:noFill/>
        </p:spPr>
        <p:txBody>
          <a:bodyPr wrap="square" rtlCol="0">
            <a:spAutoFit/>
          </a:bodyPr>
          <a:lstStyle/>
          <a:p>
            <a:pPr defTabSz="913130"/>
            <a:r>
              <a:rPr lang="en-US" altLang="zh-CN" sz="900" dirty="0">
                <a:solidFill>
                  <a:srgbClr val="1D1D1B"/>
                </a:solidFill>
                <a:latin typeface="Arial" panose="020B0604020202090204" pitchFamily="34" charset="0"/>
                <a:cs typeface="Arial" panose="020B0604020202090204" pitchFamily="34" charset="0"/>
              </a:rPr>
              <a:t>Huawei Proprietary - Restricted Distribution</a:t>
            </a:r>
            <a:endParaRPr lang="en-US" sz="900" dirty="0">
              <a:solidFill>
                <a:srgbClr val="1D1D1B"/>
              </a:solidFill>
              <a:latin typeface="Arial" panose="020B0604020202090204" pitchFamily="34" charset="0"/>
              <a:cs typeface="Arial" panose="020B0604020202090204" pitchFamily="34" charset="0"/>
            </a:endParaRPr>
          </a:p>
        </p:txBody>
      </p:sp>
      <p:sp>
        <p:nvSpPr>
          <p:cNvPr id="4" name="TextBox 3"/>
          <p:cNvSpPr txBox="1"/>
          <p:nvPr userDrawn="1"/>
        </p:nvSpPr>
        <p:spPr>
          <a:xfrm>
            <a:off x="734136" y="6402816"/>
            <a:ext cx="499729" cy="138499"/>
          </a:xfrm>
          <a:prstGeom prst="rect">
            <a:avLst/>
          </a:prstGeom>
          <a:noFill/>
        </p:spPr>
        <p:txBody>
          <a:bodyPr wrap="square" lIns="0" tIns="0" rIns="0" bIns="0" rtlCol="0">
            <a:spAutoFit/>
          </a:bodyPr>
          <a:lstStyle/>
          <a:p>
            <a:pPr defTabSz="889000">
              <a:defRPr/>
            </a:pPr>
            <a:fld id="{C3837181-38C6-AD4F-B8BA-B444770388BB}" type="slidenum">
              <a:rPr lang="en-US" sz="900">
                <a:solidFill>
                  <a:srgbClr val="1D1D1B"/>
                </a:solidFill>
                <a:latin typeface="Arial" panose="020B0604020202090204" pitchFamily="34" charset="0"/>
                <a:cs typeface="Arial" panose="020B0604020202090204" pitchFamily="34" charset="0"/>
              </a:rPr>
              <a:t>‹#›</a:t>
            </a:fld>
            <a:endParaRPr lang="en-US" sz="900" dirty="0">
              <a:solidFill>
                <a:srgbClr val="1D1D1B"/>
              </a:solidFill>
              <a:latin typeface="Arial" panose="020B0604020202090204" pitchFamily="34" charset="0"/>
              <a:cs typeface="Arial" panose="020B0604020202090204" pitchFamily="34" charset="0"/>
            </a:endParaRPr>
          </a:p>
        </p:txBody>
      </p:sp>
      <p:grpSp>
        <p:nvGrpSpPr>
          <p:cNvPr id="88" name="Group 87"/>
          <p:cNvGrpSpPr>
            <a:grpSpLocks noChangeAspect="1"/>
          </p:cNvGrpSpPr>
          <p:nvPr userDrawn="1"/>
        </p:nvGrpSpPr>
        <p:grpSpPr>
          <a:xfrm>
            <a:off x="12290470" y="262539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3130"/>
              <a:r>
                <a:rPr kumimoji="1" lang="zh-CN" altLang="en-US" sz="800" dirty="0">
                  <a:solidFill>
                    <a:srgbClr val="1D1D1A"/>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185C</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defTabSz="913130"/>
              <a:r>
                <a:rPr kumimoji="1" lang="zh-CN" altLang="en-US" sz="800" dirty="0">
                  <a:solidFill>
                    <a:srgbClr val="1D1D1A"/>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186C</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693" r:id="rId1"/>
  </p:sldLayoutIdLst>
  <p:hf hdr="0" ftr="0" dt="0"/>
  <p:txStyles>
    <p:titleStyle>
      <a:lvl1pPr algn="l" defTabSz="1185545" rtl="0" eaLnBrk="1" latinLnBrk="0" hangingPunct="1">
        <a:lnSpc>
          <a:spcPct val="90000"/>
        </a:lnSpc>
        <a:spcBef>
          <a:spcPct val="0"/>
        </a:spcBef>
        <a:buNone/>
        <a:defRPr sz="5705" kern="1200">
          <a:solidFill>
            <a:schemeClr val="tx1"/>
          </a:solidFill>
          <a:latin typeface="+mj-lt"/>
          <a:ea typeface="+mj-ea"/>
          <a:cs typeface="+mj-cs"/>
        </a:defRPr>
      </a:lvl1pPr>
    </p:titleStyle>
    <p:bodyStyle>
      <a:lvl1pPr marL="296545" indent="-296545" algn="l" defTabSz="1185545" rtl="0" eaLnBrk="1" latinLnBrk="0" hangingPunct="1">
        <a:lnSpc>
          <a:spcPct val="90000"/>
        </a:lnSpc>
        <a:spcBef>
          <a:spcPts val="1295"/>
        </a:spcBef>
        <a:buFont typeface="Arial" panose="020B0604020202090204" pitchFamily="34" charset="0"/>
        <a:buChar char="•"/>
        <a:defRPr sz="3630" kern="1200">
          <a:solidFill>
            <a:schemeClr val="tx1"/>
          </a:solidFill>
          <a:latin typeface="+mn-lt"/>
          <a:ea typeface="+mn-ea"/>
          <a:cs typeface="+mn-cs"/>
        </a:defRPr>
      </a:lvl1pPr>
      <a:lvl2pPr marL="889000" indent="-296545" algn="l" defTabSz="1185545" rtl="0" eaLnBrk="1" latinLnBrk="0" hangingPunct="1">
        <a:lnSpc>
          <a:spcPct val="90000"/>
        </a:lnSpc>
        <a:spcBef>
          <a:spcPts val="650"/>
        </a:spcBef>
        <a:buFont typeface="Arial" panose="020B0604020202090204" pitchFamily="34" charset="0"/>
        <a:buChar char="•"/>
        <a:defRPr sz="3115" kern="1200">
          <a:solidFill>
            <a:schemeClr val="tx1"/>
          </a:solidFill>
          <a:latin typeface="+mn-lt"/>
          <a:ea typeface="+mn-ea"/>
          <a:cs typeface="+mn-cs"/>
        </a:defRPr>
      </a:lvl2pPr>
      <a:lvl3pPr marL="1482090" indent="-296545" algn="l" defTabSz="1185545" rtl="0" eaLnBrk="1" latinLnBrk="0" hangingPunct="1">
        <a:lnSpc>
          <a:spcPct val="90000"/>
        </a:lnSpc>
        <a:spcBef>
          <a:spcPts val="650"/>
        </a:spcBef>
        <a:buFont typeface="Arial" panose="020B0604020202090204" pitchFamily="34" charset="0"/>
        <a:buChar char="•"/>
        <a:defRPr sz="2595" kern="1200">
          <a:solidFill>
            <a:schemeClr val="tx1"/>
          </a:solidFill>
          <a:latin typeface="+mn-lt"/>
          <a:ea typeface="+mn-ea"/>
          <a:cs typeface="+mn-cs"/>
        </a:defRPr>
      </a:lvl3pPr>
      <a:lvl4pPr marL="2074545"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4pPr>
      <a:lvl5pPr marL="2667000"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5pPr>
      <a:lvl6pPr marL="3260090"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6pPr>
      <a:lvl7pPr marL="3852545"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7pPr>
      <a:lvl8pPr marL="4445635"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8pPr>
      <a:lvl9pPr marL="5038090"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9pPr>
    </p:bodyStyle>
    <p:otherStyle>
      <a:defPPr>
        <a:defRPr lang="en-US"/>
      </a:defPPr>
      <a:lvl1pPr marL="0" algn="l" defTabSz="1185545" rtl="0" eaLnBrk="1" latinLnBrk="0" hangingPunct="1">
        <a:defRPr sz="2335" kern="1200">
          <a:solidFill>
            <a:schemeClr val="tx1"/>
          </a:solidFill>
          <a:latin typeface="+mn-lt"/>
          <a:ea typeface="+mn-ea"/>
          <a:cs typeface="+mn-cs"/>
        </a:defRPr>
      </a:lvl1pPr>
      <a:lvl2pPr marL="592455" algn="l" defTabSz="1185545" rtl="0" eaLnBrk="1" latinLnBrk="0" hangingPunct="1">
        <a:defRPr sz="2335" kern="1200">
          <a:solidFill>
            <a:schemeClr val="tx1"/>
          </a:solidFill>
          <a:latin typeface="+mn-lt"/>
          <a:ea typeface="+mn-ea"/>
          <a:cs typeface="+mn-cs"/>
        </a:defRPr>
      </a:lvl2pPr>
      <a:lvl3pPr marL="1185545" algn="l" defTabSz="1185545" rtl="0" eaLnBrk="1" latinLnBrk="0" hangingPunct="1">
        <a:defRPr sz="2335" kern="1200">
          <a:solidFill>
            <a:schemeClr val="tx1"/>
          </a:solidFill>
          <a:latin typeface="+mn-lt"/>
          <a:ea typeface="+mn-ea"/>
          <a:cs typeface="+mn-cs"/>
        </a:defRPr>
      </a:lvl3pPr>
      <a:lvl4pPr marL="1778000" algn="l" defTabSz="1185545" rtl="0" eaLnBrk="1" latinLnBrk="0" hangingPunct="1">
        <a:defRPr sz="2335" kern="1200">
          <a:solidFill>
            <a:schemeClr val="tx1"/>
          </a:solidFill>
          <a:latin typeface="+mn-lt"/>
          <a:ea typeface="+mn-ea"/>
          <a:cs typeface="+mn-cs"/>
        </a:defRPr>
      </a:lvl4pPr>
      <a:lvl5pPr marL="2371090" algn="l" defTabSz="1185545" rtl="0" eaLnBrk="1" latinLnBrk="0" hangingPunct="1">
        <a:defRPr sz="2335" kern="1200">
          <a:solidFill>
            <a:schemeClr val="tx1"/>
          </a:solidFill>
          <a:latin typeface="+mn-lt"/>
          <a:ea typeface="+mn-ea"/>
          <a:cs typeface="+mn-cs"/>
        </a:defRPr>
      </a:lvl5pPr>
      <a:lvl6pPr marL="2963545" algn="l" defTabSz="1185545" rtl="0" eaLnBrk="1" latinLnBrk="0" hangingPunct="1">
        <a:defRPr sz="2335" kern="1200">
          <a:solidFill>
            <a:schemeClr val="tx1"/>
          </a:solidFill>
          <a:latin typeface="+mn-lt"/>
          <a:ea typeface="+mn-ea"/>
          <a:cs typeface="+mn-cs"/>
        </a:defRPr>
      </a:lvl6pPr>
      <a:lvl7pPr marL="3556000" algn="l" defTabSz="1185545" rtl="0" eaLnBrk="1" latinLnBrk="0" hangingPunct="1">
        <a:defRPr sz="2335" kern="1200">
          <a:solidFill>
            <a:schemeClr val="tx1"/>
          </a:solidFill>
          <a:latin typeface="+mn-lt"/>
          <a:ea typeface="+mn-ea"/>
          <a:cs typeface="+mn-cs"/>
        </a:defRPr>
      </a:lvl7pPr>
      <a:lvl8pPr marL="4149090" algn="l" defTabSz="1185545" rtl="0" eaLnBrk="1" latinLnBrk="0" hangingPunct="1">
        <a:defRPr sz="2335" kern="1200">
          <a:solidFill>
            <a:schemeClr val="tx1"/>
          </a:solidFill>
          <a:latin typeface="+mn-lt"/>
          <a:ea typeface="+mn-ea"/>
          <a:cs typeface="+mn-cs"/>
        </a:defRPr>
      </a:lvl8pPr>
      <a:lvl9pPr marL="4741545" algn="l" defTabSz="1185545" rtl="0" eaLnBrk="1" latinLnBrk="0" hangingPunct="1">
        <a:defRPr sz="2335"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71" y="6356939"/>
            <a:ext cx="1463467" cy="230832"/>
          </a:xfrm>
          <a:prstGeom prst="rect">
            <a:avLst/>
          </a:prstGeom>
          <a:noFill/>
        </p:spPr>
        <p:txBody>
          <a:bodyPr wrap="square" rtlCol="0">
            <a:spAutoFit/>
          </a:bodyPr>
          <a:lstStyle/>
          <a:p>
            <a:pPr defTabSz="913130"/>
            <a:r>
              <a:rPr lang="en-US" sz="900" dirty="0">
                <a:solidFill>
                  <a:srgbClr val="1D1D1B"/>
                </a:solidFill>
                <a:latin typeface="Arial" panose="020B0604020202090204" pitchFamily="34" charset="0"/>
                <a:cs typeface="Arial" panose="020B0604020202090204" pitchFamily="34" charset="0"/>
              </a:rPr>
              <a:t>Huawei Confidential</a:t>
            </a:r>
          </a:p>
        </p:txBody>
      </p:sp>
      <p:sp>
        <p:nvSpPr>
          <p:cNvPr id="4" name="TextBox 3"/>
          <p:cNvSpPr txBox="1"/>
          <p:nvPr userDrawn="1"/>
        </p:nvSpPr>
        <p:spPr>
          <a:xfrm>
            <a:off x="368374" y="6402814"/>
            <a:ext cx="629157" cy="138499"/>
          </a:xfrm>
          <a:prstGeom prst="rect">
            <a:avLst/>
          </a:prstGeom>
          <a:noFill/>
        </p:spPr>
        <p:txBody>
          <a:bodyPr wrap="square" lIns="0" tIns="0" rIns="0" bIns="0" rtlCol="0">
            <a:spAutoFit/>
          </a:bodyPr>
          <a:lstStyle/>
          <a:p>
            <a:pPr defTabSz="889635">
              <a:defRPr/>
            </a:pPr>
            <a:r>
              <a:rPr lang="en-US" altLang="zh-CN" sz="900" dirty="0">
                <a:solidFill>
                  <a:srgbClr val="1D1D1B"/>
                </a:solidFill>
                <a:latin typeface="Arial" panose="020B0604020202090204" pitchFamily="34" charset="0"/>
                <a:cs typeface="Arial" panose="020B0604020202090204" pitchFamily="34" charset="0"/>
              </a:rPr>
              <a:t>Page </a:t>
            </a:r>
            <a:fld id="{C3837181-38C6-AD4F-B8BA-B444770388BB}" type="slidenum">
              <a:rPr lang="en-US" sz="900">
                <a:solidFill>
                  <a:srgbClr val="1D1D1B"/>
                </a:solidFill>
                <a:latin typeface="Arial" panose="020B0604020202090204" pitchFamily="34" charset="0"/>
                <a:cs typeface="Arial" panose="020B0604020202090204" pitchFamily="34" charset="0"/>
              </a:rPr>
              <a:t>‹#›</a:t>
            </a:fld>
            <a:r>
              <a:rPr lang="en-US" sz="900" dirty="0">
                <a:solidFill>
                  <a:srgbClr val="1D1D1B"/>
                </a:solidFill>
                <a:latin typeface="Arial" panose="020B0604020202090204" pitchFamily="34" charset="0"/>
                <a:cs typeface="Arial" panose="020B0604020202090204" pitchFamily="34" charset="0"/>
              </a:rPr>
              <a:t>/21</a:t>
            </a:r>
          </a:p>
        </p:txBody>
      </p:sp>
      <p:grpSp>
        <p:nvGrpSpPr>
          <p:cNvPr id="88" name="Group 87"/>
          <p:cNvGrpSpPr>
            <a:grpSpLocks noChangeAspect="1"/>
          </p:cNvGrpSpPr>
          <p:nvPr userDrawn="1"/>
        </p:nvGrpSpPr>
        <p:grpSpPr>
          <a:xfrm>
            <a:off x="12290471" y="2625397"/>
            <a:ext cx="1963323" cy="4233515"/>
            <a:chOff x="5343885" y="-48857"/>
            <a:chExt cx="326358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3130"/>
              <a:r>
                <a:rPr kumimoji="1" lang="zh-CN" altLang="en-US" sz="800" dirty="0">
                  <a:solidFill>
                    <a:srgbClr val="1D1D1A"/>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185C</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defTabSz="913130"/>
              <a:r>
                <a:rPr kumimoji="1" lang="zh-CN" altLang="en-US" sz="800" dirty="0">
                  <a:solidFill>
                    <a:srgbClr val="1D1D1A"/>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186C</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35/24/21</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3130">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defTabSz="913130">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hf hdr="0" ftr="0" dt="0"/>
  <p:txStyles>
    <p:titleStyle>
      <a:lvl1pPr algn="l" defTabSz="1186180" rtl="0" eaLnBrk="1" latinLnBrk="0" hangingPunct="1">
        <a:lnSpc>
          <a:spcPct val="90000"/>
        </a:lnSpc>
        <a:spcBef>
          <a:spcPct val="0"/>
        </a:spcBef>
        <a:buNone/>
        <a:defRPr sz="5710" kern="1200">
          <a:solidFill>
            <a:schemeClr val="tx1"/>
          </a:solidFill>
          <a:latin typeface="+mj-lt"/>
          <a:ea typeface="+mj-ea"/>
          <a:cs typeface="+mj-cs"/>
        </a:defRPr>
      </a:lvl1pPr>
    </p:titleStyle>
    <p:bodyStyle>
      <a:lvl1pPr marL="296545" indent="-296545" algn="l" defTabSz="1186180" rtl="0" eaLnBrk="1" latinLnBrk="0" hangingPunct="1">
        <a:lnSpc>
          <a:spcPct val="90000"/>
        </a:lnSpc>
        <a:spcBef>
          <a:spcPts val="1295"/>
        </a:spcBef>
        <a:buFont typeface="Arial" panose="020B0604020202090204" pitchFamily="34" charset="0"/>
        <a:buChar char="•"/>
        <a:defRPr sz="3630" kern="1200">
          <a:solidFill>
            <a:schemeClr val="tx1"/>
          </a:solidFill>
          <a:latin typeface="+mn-lt"/>
          <a:ea typeface="+mn-ea"/>
          <a:cs typeface="+mn-cs"/>
        </a:defRPr>
      </a:lvl1pPr>
      <a:lvl2pPr marL="889635" indent="-296545" algn="l" defTabSz="1186180" rtl="0" eaLnBrk="1" latinLnBrk="0" hangingPunct="1">
        <a:lnSpc>
          <a:spcPct val="90000"/>
        </a:lnSpc>
        <a:spcBef>
          <a:spcPts val="650"/>
        </a:spcBef>
        <a:buFont typeface="Arial" panose="020B0604020202090204" pitchFamily="34" charset="0"/>
        <a:buChar char="•"/>
        <a:defRPr sz="3115" kern="1200">
          <a:solidFill>
            <a:schemeClr val="tx1"/>
          </a:solidFill>
          <a:latin typeface="+mn-lt"/>
          <a:ea typeface="+mn-ea"/>
          <a:cs typeface="+mn-cs"/>
        </a:defRPr>
      </a:lvl2pPr>
      <a:lvl3pPr marL="1482090" indent="-296545" algn="l" defTabSz="1186180" rtl="0" eaLnBrk="1" latinLnBrk="0" hangingPunct="1">
        <a:lnSpc>
          <a:spcPct val="90000"/>
        </a:lnSpc>
        <a:spcBef>
          <a:spcPts val="650"/>
        </a:spcBef>
        <a:buFont typeface="Arial" panose="020B0604020202090204" pitchFamily="34" charset="0"/>
        <a:buChar char="•"/>
        <a:defRPr sz="2595" kern="1200">
          <a:solidFill>
            <a:schemeClr val="tx1"/>
          </a:solidFill>
          <a:latin typeface="+mn-lt"/>
          <a:ea typeface="+mn-ea"/>
          <a:cs typeface="+mn-cs"/>
        </a:defRPr>
      </a:lvl3pPr>
      <a:lvl4pPr marL="207518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4pPr>
      <a:lvl5pPr marL="266827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5pPr>
      <a:lvl6pPr marL="326136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6pPr>
      <a:lvl7pPr marL="3854450"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7pPr>
      <a:lvl8pPr marL="4446905"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8pPr>
      <a:lvl9pPr marL="5039995" indent="-296545" algn="l" defTabSz="1186180"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9pPr>
    </p:bodyStyle>
    <p:otherStyle>
      <a:defPPr>
        <a:defRPr lang="en-US"/>
      </a:defPPr>
      <a:lvl1pPr marL="0" algn="l" defTabSz="1186180" rtl="0" eaLnBrk="1" latinLnBrk="0" hangingPunct="1">
        <a:defRPr sz="2335" kern="1200">
          <a:solidFill>
            <a:schemeClr val="tx1"/>
          </a:solidFill>
          <a:latin typeface="+mn-lt"/>
          <a:ea typeface="+mn-ea"/>
          <a:cs typeface="+mn-cs"/>
        </a:defRPr>
      </a:lvl1pPr>
      <a:lvl2pPr marL="593090" algn="l" defTabSz="1186180" rtl="0" eaLnBrk="1" latinLnBrk="0" hangingPunct="1">
        <a:defRPr sz="2335" kern="1200">
          <a:solidFill>
            <a:schemeClr val="tx1"/>
          </a:solidFill>
          <a:latin typeface="+mn-lt"/>
          <a:ea typeface="+mn-ea"/>
          <a:cs typeface="+mn-cs"/>
        </a:defRPr>
      </a:lvl2pPr>
      <a:lvl3pPr marL="1186180" algn="l" defTabSz="1186180" rtl="0" eaLnBrk="1" latinLnBrk="0" hangingPunct="1">
        <a:defRPr sz="2335" kern="1200">
          <a:solidFill>
            <a:schemeClr val="tx1"/>
          </a:solidFill>
          <a:latin typeface="+mn-lt"/>
          <a:ea typeface="+mn-ea"/>
          <a:cs typeface="+mn-cs"/>
        </a:defRPr>
      </a:lvl3pPr>
      <a:lvl4pPr marL="1778635" algn="l" defTabSz="1186180" rtl="0" eaLnBrk="1" latinLnBrk="0" hangingPunct="1">
        <a:defRPr sz="2335" kern="1200">
          <a:solidFill>
            <a:schemeClr val="tx1"/>
          </a:solidFill>
          <a:latin typeface="+mn-lt"/>
          <a:ea typeface="+mn-ea"/>
          <a:cs typeface="+mn-cs"/>
        </a:defRPr>
      </a:lvl4pPr>
      <a:lvl5pPr marL="2371725" algn="l" defTabSz="1186180" rtl="0" eaLnBrk="1" latinLnBrk="0" hangingPunct="1">
        <a:defRPr sz="2335" kern="1200">
          <a:solidFill>
            <a:schemeClr val="tx1"/>
          </a:solidFill>
          <a:latin typeface="+mn-lt"/>
          <a:ea typeface="+mn-ea"/>
          <a:cs typeface="+mn-cs"/>
        </a:defRPr>
      </a:lvl5pPr>
      <a:lvl6pPr marL="2964815" algn="l" defTabSz="1186180" rtl="0" eaLnBrk="1" latinLnBrk="0" hangingPunct="1">
        <a:defRPr sz="2335" kern="1200">
          <a:solidFill>
            <a:schemeClr val="tx1"/>
          </a:solidFill>
          <a:latin typeface="+mn-lt"/>
          <a:ea typeface="+mn-ea"/>
          <a:cs typeface="+mn-cs"/>
        </a:defRPr>
      </a:lvl6pPr>
      <a:lvl7pPr marL="3557905" algn="l" defTabSz="1186180" rtl="0" eaLnBrk="1" latinLnBrk="0" hangingPunct="1">
        <a:defRPr sz="2335" kern="1200">
          <a:solidFill>
            <a:schemeClr val="tx1"/>
          </a:solidFill>
          <a:latin typeface="+mn-lt"/>
          <a:ea typeface="+mn-ea"/>
          <a:cs typeface="+mn-cs"/>
        </a:defRPr>
      </a:lvl7pPr>
      <a:lvl8pPr marL="4150360" algn="l" defTabSz="1186180" rtl="0" eaLnBrk="1" latinLnBrk="0" hangingPunct="1">
        <a:defRPr sz="2335" kern="1200">
          <a:solidFill>
            <a:schemeClr val="tx1"/>
          </a:solidFill>
          <a:latin typeface="+mn-lt"/>
          <a:ea typeface="+mn-ea"/>
          <a:cs typeface="+mn-cs"/>
        </a:defRPr>
      </a:lvl8pPr>
      <a:lvl9pPr marL="4743450" algn="l" defTabSz="1186180" rtl="0" eaLnBrk="1" latinLnBrk="0" hangingPunct="1">
        <a:defRPr sz="2335"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73" y="6356939"/>
            <a:ext cx="1463467" cy="230832"/>
          </a:xfrm>
          <a:prstGeom prst="rect">
            <a:avLst/>
          </a:prstGeom>
          <a:noFill/>
        </p:spPr>
        <p:txBody>
          <a:bodyPr wrap="square" rtlCol="0">
            <a:spAutoFit/>
          </a:bodyPr>
          <a:lstStyle/>
          <a:p>
            <a:pPr defTabSz="912495"/>
            <a:r>
              <a:rPr lang="en-US" sz="900" dirty="0">
                <a:solidFill>
                  <a:srgbClr val="1D1D1B"/>
                </a:solidFill>
                <a:latin typeface="Arial" panose="020B0604020202090204" pitchFamily="34" charset="0"/>
                <a:cs typeface="Arial" panose="020B0604020202090204" pitchFamily="34" charset="0"/>
              </a:rPr>
              <a:t>Huawei Confidential</a:t>
            </a:r>
          </a:p>
        </p:txBody>
      </p:sp>
      <p:sp>
        <p:nvSpPr>
          <p:cNvPr id="4" name="TextBox 3"/>
          <p:cNvSpPr txBox="1"/>
          <p:nvPr userDrawn="1"/>
        </p:nvSpPr>
        <p:spPr>
          <a:xfrm>
            <a:off x="368376" y="6402818"/>
            <a:ext cx="629157" cy="138499"/>
          </a:xfrm>
          <a:prstGeom prst="rect">
            <a:avLst/>
          </a:prstGeom>
          <a:noFill/>
        </p:spPr>
        <p:txBody>
          <a:bodyPr wrap="square" lIns="0" tIns="0" rIns="0" bIns="0" rtlCol="0">
            <a:spAutoFit/>
          </a:bodyPr>
          <a:lstStyle/>
          <a:p>
            <a:pPr defTabSz="889000">
              <a:defRPr/>
            </a:pPr>
            <a:r>
              <a:rPr lang="en-US" altLang="zh-CN" sz="900" dirty="0">
                <a:solidFill>
                  <a:srgbClr val="1D1D1B"/>
                </a:solidFill>
                <a:latin typeface="Arial" panose="020B0604020202090204" pitchFamily="34" charset="0"/>
                <a:cs typeface="Arial" panose="020B0604020202090204" pitchFamily="34" charset="0"/>
              </a:rPr>
              <a:t>Page </a:t>
            </a:r>
            <a:fld id="{C3837181-38C6-AD4F-B8BA-B444770388BB}" type="slidenum">
              <a:rPr lang="en-US" sz="900">
                <a:solidFill>
                  <a:srgbClr val="1D1D1B"/>
                </a:solidFill>
                <a:latin typeface="Arial" panose="020B0604020202090204" pitchFamily="34" charset="0"/>
                <a:cs typeface="Arial" panose="020B0604020202090204" pitchFamily="34" charset="0"/>
              </a:rPr>
              <a:t>‹#›</a:t>
            </a:fld>
            <a:r>
              <a:rPr lang="en-US" sz="900" dirty="0">
                <a:solidFill>
                  <a:srgbClr val="1D1D1B"/>
                </a:solidFill>
                <a:latin typeface="Arial" panose="020B0604020202090204" pitchFamily="34" charset="0"/>
                <a:cs typeface="Arial" panose="020B0604020202090204" pitchFamily="34" charset="0"/>
              </a:rPr>
              <a:t>/21</a:t>
            </a:r>
          </a:p>
        </p:txBody>
      </p:sp>
      <p:grpSp>
        <p:nvGrpSpPr>
          <p:cNvPr id="88" name="Group 87"/>
          <p:cNvGrpSpPr>
            <a:grpSpLocks noChangeAspect="1"/>
          </p:cNvGrpSpPr>
          <p:nvPr userDrawn="1"/>
        </p:nvGrpSpPr>
        <p:grpSpPr>
          <a:xfrm>
            <a:off x="12290471" y="2625401"/>
            <a:ext cx="1963323" cy="4233515"/>
            <a:chOff x="5343885" y="-48857"/>
            <a:chExt cx="326358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defTabSz="912495"/>
              <a:r>
                <a:rPr kumimoji="1" lang="zh-CN" altLang="en-US" sz="800" dirty="0">
                  <a:solidFill>
                    <a:srgbClr val="1D1D1A"/>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185C</a:t>
              </a:r>
            </a:p>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defTabSz="912495"/>
              <a:r>
                <a:rPr kumimoji="1" lang="zh-CN" altLang="en-US" sz="800" dirty="0">
                  <a:solidFill>
                    <a:srgbClr val="1D1D1A"/>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186C</a:t>
              </a:r>
            </a:p>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35/24/21</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defTabSz="912495">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defTabSz="912495">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696" r:id="rId1"/>
  </p:sldLayoutIdLst>
  <p:hf hdr="0" ftr="0" dt="0"/>
  <p:txStyles>
    <p:titleStyle>
      <a:lvl1pPr algn="l" defTabSz="1184910" rtl="0" eaLnBrk="1" latinLnBrk="0" hangingPunct="1">
        <a:lnSpc>
          <a:spcPct val="90000"/>
        </a:lnSpc>
        <a:spcBef>
          <a:spcPct val="0"/>
        </a:spcBef>
        <a:buNone/>
        <a:defRPr sz="5705" kern="1200">
          <a:solidFill>
            <a:schemeClr val="tx1"/>
          </a:solidFill>
          <a:latin typeface="+mj-lt"/>
          <a:ea typeface="+mj-ea"/>
          <a:cs typeface="+mj-cs"/>
        </a:defRPr>
      </a:lvl1pPr>
    </p:titleStyle>
    <p:bodyStyle>
      <a:lvl1pPr marL="296545" indent="-296545" algn="l" defTabSz="1184910" rtl="0" eaLnBrk="1" latinLnBrk="0" hangingPunct="1">
        <a:lnSpc>
          <a:spcPct val="90000"/>
        </a:lnSpc>
        <a:spcBef>
          <a:spcPts val="1295"/>
        </a:spcBef>
        <a:buFont typeface="Arial" panose="020B0604020202090204" pitchFamily="34" charset="0"/>
        <a:buChar char="•"/>
        <a:defRPr sz="3630" kern="1200">
          <a:solidFill>
            <a:schemeClr val="tx1"/>
          </a:solidFill>
          <a:latin typeface="+mn-lt"/>
          <a:ea typeface="+mn-ea"/>
          <a:cs typeface="+mn-cs"/>
        </a:defRPr>
      </a:lvl1pPr>
      <a:lvl2pPr marL="889000" indent="-296545" algn="l" defTabSz="1184910" rtl="0" eaLnBrk="1" latinLnBrk="0" hangingPunct="1">
        <a:lnSpc>
          <a:spcPct val="90000"/>
        </a:lnSpc>
        <a:spcBef>
          <a:spcPts val="650"/>
        </a:spcBef>
        <a:buFont typeface="Arial" panose="020B0604020202090204" pitchFamily="34" charset="0"/>
        <a:buChar char="•"/>
        <a:defRPr sz="3110" kern="1200">
          <a:solidFill>
            <a:schemeClr val="tx1"/>
          </a:solidFill>
          <a:latin typeface="+mn-lt"/>
          <a:ea typeface="+mn-ea"/>
          <a:cs typeface="+mn-cs"/>
        </a:defRPr>
      </a:lvl2pPr>
      <a:lvl3pPr marL="1481455" indent="-296545" algn="l" defTabSz="1184910" rtl="0" eaLnBrk="1" latinLnBrk="0" hangingPunct="1">
        <a:lnSpc>
          <a:spcPct val="90000"/>
        </a:lnSpc>
        <a:spcBef>
          <a:spcPts val="650"/>
        </a:spcBef>
        <a:buFont typeface="Arial" panose="020B0604020202090204" pitchFamily="34" charset="0"/>
        <a:buChar char="•"/>
        <a:defRPr sz="2590" kern="1200">
          <a:solidFill>
            <a:schemeClr val="tx1"/>
          </a:solidFill>
          <a:latin typeface="+mn-lt"/>
          <a:ea typeface="+mn-ea"/>
          <a:cs typeface="+mn-cs"/>
        </a:defRPr>
      </a:lvl3pPr>
      <a:lvl4pPr marL="2073910" indent="-296545" algn="l" defTabSz="1184910" rtl="0" eaLnBrk="1" latinLnBrk="0" hangingPunct="1">
        <a:lnSpc>
          <a:spcPct val="90000"/>
        </a:lnSpc>
        <a:spcBef>
          <a:spcPts val="650"/>
        </a:spcBef>
        <a:buFont typeface="Arial" panose="020B0604020202090204" pitchFamily="34" charset="0"/>
        <a:buChar char="•"/>
        <a:defRPr sz="2330" kern="1200">
          <a:solidFill>
            <a:schemeClr val="tx1"/>
          </a:solidFill>
          <a:latin typeface="+mn-lt"/>
          <a:ea typeface="+mn-ea"/>
          <a:cs typeface="+mn-cs"/>
        </a:defRPr>
      </a:lvl4pPr>
      <a:lvl5pPr marL="2666365" indent="-296545" algn="l" defTabSz="1184910" rtl="0" eaLnBrk="1" latinLnBrk="0" hangingPunct="1">
        <a:lnSpc>
          <a:spcPct val="90000"/>
        </a:lnSpc>
        <a:spcBef>
          <a:spcPts val="650"/>
        </a:spcBef>
        <a:buFont typeface="Arial" panose="020B0604020202090204" pitchFamily="34" charset="0"/>
        <a:buChar char="•"/>
        <a:defRPr sz="2330" kern="1200">
          <a:solidFill>
            <a:schemeClr val="tx1"/>
          </a:solidFill>
          <a:latin typeface="+mn-lt"/>
          <a:ea typeface="+mn-ea"/>
          <a:cs typeface="+mn-cs"/>
        </a:defRPr>
      </a:lvl5pPr>
      <a:lvl6pPr marL="3258820" indent="-296545" algn="l" defTabSz="1184910" rtl="0" eaLnBrk="1" latinLnBrk="0" hangingPunct="1">
        <a:lnSpc>
          <a:spcPct val="90000"/>
        </a:lnSpc>
        <a:spcBef>
          <a:spcPts val="650"/>
        </a:spcBef>
        <a:buFont typeface="Arial" panose="020B0604020202090204" pitchFamily="34" charset="0"/>
        <a:buChar char="•"/>
        <a:defRPr sz="2330" kern="1200">
          <a:solidFill>
            <a:schemeClr val="tx1"/>
          </a:solidFill>
          <a:latin typeface="+mn-lt"/>
          <a:ea typeface="+mn-ea"/>
          <a:cs typeface="+mn-cs"/>
        </a:defRPr>
      </a:lvl6pPr>
      <a:lvl7pPr marL="3851275" indent="-296545" algn="l" defTabSz="1184910" rtl="0" eaLnBrk="1" latinLnBrk="0" hangingPunct="1">
        <a:lnSpc>
          <a:spcPct val="90000"/>
        </a:lnSpc>
        <a:spcBef>
          <a:spcPts val="650"/>
        </a:spcBef>
        <a:buFont typeface="Arial" panose="020B0604020202090204" pitchFamily="34" charset="0"/>
        <a:buChar char="•"/>
        <a:defRPr sz="2330" kern="1200">
          <a:solidFill>
            <a:schemeClr val="tx1"/>
          </a:solidFill>
          <a:latin typeface="+mn-lt"/>
          <a:ea typeface="+mn-ea"/>
          <a:cs typeface="+mn-cs"/>
        </a:defRPr>
      </a:lvl7pPr>
      <a:lvl8pPr marL="4443730" indent="-296545" algn="l" defTabSz="1184910" rtl="0" eaLnBrk="1" latinLnBrk="0" hangingPunct="1">
        <a:lnSpc>
          <a:spcPct val="90000"/>
        </a:lnSpc>
        <a:spcBef>
          <a:spcPts val="650"/>
        </a:spcBef>
        <a:buFont typeface="Arial" panose="020B0604020202090204" pitchFamily="34" charset="0"/>
        <a:buChar char="•"/>
        <a:defRPr sz="2330" kern="1200">
          <a:solidFill>
            <a:schemeClr val="tx1"/>
          </a:solidFill>
          <a:latin typeface="+mn-lt"/>
          <a:ea typeface="+mn-ea"/>
          <a:cs typeface="+mn-cs"/>
        </a:defRPr>
      </a:lvl8pPr>
      <a:lvl9pPr marL="5036185" indent="-296545" algn="l" defTabSz="1184910" rtl="0" eaLnBrk="1" latinLnBrk="0" hangingPunct="1">
        <a:lnSpc>
          <a:spcPct val="90000"/>
        </a:lnSpc>
        <a:spcBef>
          <a:spcPts val="650"/>
        </a:spcBef>
        <a:buFont typeface="Arial" panose="020B0604020202090204" pitchFamily="34" charset="0"/>
        <a:buChar char="•"/>
        <a:defRPr sz="2330" kern="1200">
          <a:solidFill>
            <a:schemeClr val="tx1"/>
          </a:solidFill>
          <a:latin typeface="+mn-lt"/>
          <a:ea typeface="+mn-ea"/>
          <a:cs typeface="+mn-cs"/>
        </a:defRPr>
      </a:lvl9pPr>
    </p:bodyStyle>
    <p:otherStyle>
      <a:defPPr>
        <a:defRPr lang="en-US"/>
      </a:defPPr>
      <a:lvl1pPr marL="0" algn="l" defTabSz="1184910" rtl="0" eaLnBrk="1" latinLnBrk="0" hangingPunct="1">
        <a:defRPr sz="2330" kern="1200">
          <a:solidFill>
            <a:schemeClr val="tx1"/>
          </a:solidFill>
          <a:latin typeface="+mn-lt"/>
          <a:ea typeface="+mn-ea"/>
          <a:cs typeface="+mn-cs"/>
        </a:defRPr>
      </a:lvl1pPr>
      <a:lvl2pPr marL="592455" algn="l" defTabSz="1184910" rtl="0" eaLnBrk="1" latinLnBrk="0" hangingPunct="1">
        <a:defRPr sz="2330" kern="1200">
          <a:solidFill>
            <a:schemeClr val="tx1"/>
          </a:solidFill>
          <a:latin typeface="+mn-lt"/>
          <a:ea typeface="+mn-ea"/>
          <a:cs typeface="+mn-cs"/>
        </a:defRPr>
      </a:lvl2pPr>
      <a:lvl3pPr marL="1184910" algn="l" defTabSz="1184910" rtl="0" eaLnBrk="1" latinLnBrk="0" hangingPunct="1">
        <a:defRPr sz="2330" kern="1200">
          <a:solidFill>
            <a:schemeClr val="tx1"/>
          </a:solidFill>
          <a:latin typeface="+mn-lt"/>
          <a:ea typeface="+mn-ea"/>
          <a:cs typeface="+mn-cs"/>
        </a:defRPr>
      </a:lvl3pPr>
      <a:lvl4pPr marL="1777365" algn="l" defTabSz="1184910" rtl="0" eaLnBrk="1" latinLnBrk="0" hangingPunct="1">
        <a:defRPr sz="2330" kern="1200">
          <a:solidFill>
            <a:schemeClr val="tx1"/>
          </a:solidFill>
          <a:latin typeface="+mn-lt"/>
          <a:ea typeface="+mn-ea"/>
          <a:cs typeface="+mn-cs"/>
        </a:defRPr>
      </a:lvl4pPr>
      <a:lvl5pPr marL="2369820" algn="l" defTabSz="1184910" rtl="0" eaLnBrk="1" latinLnBrk="0" hangingPunct="1">
        <a:defRPr sz="2330" kern="1200">
          <a:solidFill>
            <a:schemeClr val="tx1"/>
          </a:solidFill>
          <a:latin typeface="+mn-lt"/>
          <a:ea typeface="+mn-ea"/>
          <a:cs typeface="+mn-cs"/>
        </a:defRPr>
      </a:lvl5pPr>
      <a:lvl6pPr marL="2962275" algn="l" defTabSz="1184910" rtl="0" eaLnBrk="1" latinLnBrk="0" hangingPunct="1">
        <a:defRPr sz="2330" kern="1200">
          <a:solidFill>
            <a:schemeClr val="tx1"/>
          </a:solidFill>
          <a:latin typeface="+mn-lt"/>
          <a:ea typeface="+mn-ea"/>
          <a:cs typeface="+mn-cs"/>
        </a:defRPr>
      </a:lvl6pPr>
      <a:lvl7pPr marL="3554730" algn="l" defTabSz="1184910" rtl="0" eaLnBrk="1" latinLnBrk="0" hangingPunct="1">
        <a:defRPr sz="2330" kern="1200">
          <a:solidFill>
            <a:schemeClr val="tx1"/>
          </a:solidFill>
          <a:latin typeface="+mn-lt"/>
          <a:ea typeface="+mn-ea"/>
          <a:cs typeface="+mn-cs"/>
        </a:defRPr>
      </a:lvl7pPr>
      <a:lvl8pPr marL="4147185" algn="l" defTabSz="1184910" rtl="0" eaLnBrk="1" latinLnBrk="0" hangingPunct="1">
        <a:defRPr sz="2330" kern="1200">
          <a:solidFill>
            <a:schemeClr val="tx1"/>
          </a:solidFill>
          <a:latin typeface="+mn-lt"/>
          <a:ea typeface="+mn-ea"/>
          <a:cs typeface="+mn-cs"/>
        </a:defRPr>
      </a:lvl8pPr>
      <a:lvl9pPr marL="4739640" algn="l" defTabSz="1184910" rtl="0" eaLnBrk="1" latinLnBrk="0" hangingPunct="1">
        <a:defRPr sz="233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1463467" cy="242864"/>
          </a:xfrm>
          <a:prstGeom prst="rect">
            <a:avLst/>
          </a:prstGeom>
          <a:noFill/>
        </p:spPr>
        <p:txBody>
          <a:bodyPr wrap="square" rtlCol="0">
            <a:spAutoFit/>
          </a:bodyPr>
          <a:lstStyle/>
          <a:p>
            <a:r>
              <a:rPr lang="en-US" sz="975" dirty="0">
                <a:solidFill>
                  <a:srgbClr val="1D1D1B"/>
                </a:solidFill>
                <a:latin typeface="Arial" panose="020B0604020202090204" pitchFamily="34" charset="0"/>
                <a:cs typeface="Arial" panose="020B0604020202090204" pitchFamily="34" charset="0"/>
              </a:rPr>
              <a:t>Huawei Confidential</a:t>
            </a:r>
          </a:p>
        </p:txBody>
      </p:sp>
      <p:sp>
        <p:nvSpPr>
          <p:cNvPr id="4" name="TextBox 3"/>
          <p:cNvSpPr txBox="1"/>
          <p:nvPr userDrawn="1"/>
        </p:nvSpPr>
        <p:spPr>
          <a:xfrm>
            <a:off x="734131" y="6402806"/>
            <a:ext cx="499729" cy="150296"/>
          </a:xfrm>
          <a:prstGeom prst="rect">
            <a:avLst/>
          </a:prstGeom>
          <a:noFill/>
        </p:spPr>
        <p:txBody>
          <a:bodyPr wrap="square" lIns="0" tIns="0" rIns="0" bIns="0" rtlCol="0">
            <a:spAutoFit/>
          </a:bodyPr>
          <a:lstStyle/>
          <a:p>
            <a:pPr defTabSz="890905">
              <a:defRPr/>
            </a:pPr>
            <a:fld id="{C3837181-38C6-AD4F-B8BA-B444770388BB}" type="slidenum">
              <a:rPr lang="en-US" sz="975" smtClean="0">
                <a:solidFill>
                  <a:srgbClr val="1D1D1B"/>
                </a:solidFill>
                <a:latin typeface="Arial" panose="020B0604020202090204" pitchFamily="34" charset="0"/>
                <a:cs typeface="Arial" panose="020B0604020202090204" pitchFamily="34" charset="0"/>
              </a:rPr>
              <a:t>‹#›</a:t>
            </a:fld>
            <a:endParaRPr lang="en-US" sz="975" dirty="0">
              <a:solidFill>
                <a:srgbClr val="1D1D1B"/>
              </a:solidFill>
              <a:latin typeface="Arial" panose="020B0604020202090204" pitchFamily="34" charset="0"/>
              <a:cs typeface="Arial" panose="020B0604020202090204" pitchFamily="34" charset="0"/>
            </a:endParaRPr>
          </a:p>
        </p:txBody>
      </p:sp>
      <p:pic>
        <p:nvPicPr>
          <p:cNvPr id="41" name="图片 4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P</a:t>
                </a:r>
                <a:r>
                  <a:rPr kumimoji="1" lang="en-US" altLang="en-US" sz="700" b="1" dirty="0">
                    <a:solidFill>
                      <a:srgbClr val="FFFFFF"/>
                    </a:solidFill>
                    <a:latin typeface="Arial" panose="020B0604020202090204" pitchFamily="34" charset="0"/>
                    <a:ea typeface="Arial" panose="020B0604020202090204" pitchFamily="34" charset="0"/>
                    <a:cs typeface="Arial" panose="020B0604020202090204" pitchFamily="34" charset="0"/>
                  </a:rPr>
                  <a:t>ANTONE</a:t>
                </a: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 186C</a:t>
                </a:r>
              </a:p>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200/16/46</a:t>
                </a:r>
              </a:p>
            </p:txBody>
          </p:sp>
          <p:sp>
            <p:nvSpPr>
              <p:cNvPr id="45" name="矩形 9"/>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P</a:t>
                </a:r>
                <a:r>
                  <a:rPr kumimoji="1" lang="en-US" altLang="en-US" sz="700" b="1" dirty="0">
                    <a:solidFill>
                      <a:srgbClr val="FFFFFF"/>
                    </a:solidFill>
                    <a:latin typeface="Arial" panose="020B0604020202090204" pitchFamily="34" charset="0"/>
                    <a:ea typeface="Arial" panose="020B0604020202090204" pitchFamily="34" charset="0"/>
                    <a:cs typeface="Arial" panose="020B0604020202090204" pitchFamily="34" charset="0"/>
                  </a:rPr>
                  <a:t>ANTONE</a:t>
                </a: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 185C</a:t>
                </a:r>
              </a:p>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199/0/11</a:t>
                </a:r>
              </a:p>
            </p:txBody>
          </p:sp>
          <p:sp>
            <p:nvSpPr>
              <p:cNvPr id="46" name="文本框 31"/>
              <p:cNvSpPr txBox="1"/>
              <p:nvPr userDrawn="1"/>
            </p:nvSpPr>
            <p:spPr>
              <a:xfrm>
                <a:off x="12326898" y="2207613"/>
                <a:ext cx="384721" cy="153888"/>
              </a:xfrm>
              <a:prstGeom prst="rect">
                <a:avLst/>
              </a:prstGeom>
              <a:noFill/>
            </p:spPr>
            <p:txBody>
              <a:bodyPr wrap="none" lIns="0" tIns="0" rIns="0" bIns="0" rtlCol="0">
                <a:spAutoFit/>
              </a:bodyPr>
              <a:lstStyle/>
              <a:p>
                <a:pPr algn="ctr"/>
                <a:r>
                  <a:rPr kumimoji="1" lang="zh-CN" altLang="en-US" sz="1000" dirty="0">
                    <a:solidFill>
                      <a:srgbClr val="1D1D1A"/>
                    </a:solidFill>
                    <a:latin typeface="微软雅黑" panose="020B0503020204020204" pitchFamily="34" charset="-122"/>
                    <a:ea typeface="微软雅黑" panose="020B0503020204020204" pitchFamily="34" charset="-122"/>
                  </a:rPr>
                  <a:t>品牌色</a:t>
                </a:r>
              </a:p>
            </p:txBody>
          </p:sp>
        </p:grpSp>
        <p:grpSp>
          <p:nvGrpSpPr>
            <p:cNvPr id="27" name="组合 26"/>
            <p:cNvGrpSpPr/>
            <p:nvPr userDrawn="1"/>
          </p:nvGrpSpPr>
          <p:grpSpPr>
            <a:xfrm>
              <a:off x="12216278" y="3080825"/>
              <a:ext cx="1982912" cy="3785795"/>
              <a:chOff x="12216278" y="3080825"/>
              <a:chExt cx="1982912" cy="3785795"/>
            </a:xfrm>
          </p:grpSpPr>
          <p:sp>
            <p:nvSpPr>
              <p:cNvPr id="28" name="矩形 12"/>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234/90/79</a:t>
                </a:r>
              </a:p>
            </p:txBody>
          </p:sp>
          <p:sp>
            <p:nvSpPr>
              <p:cNvPr id="29" name="矩形 13"/>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120/0/15</a:t>
                </a:r>
              </a:p>
            </p:txBody>
          </p:sp>
          <p:sp>
            <p:nvSpPr>
              <p:cNvPr id="30" name="文本框 15"/>
              <p:cNvSpPr txBox="1"/>
              <p:nvPr userDrawn="1"/>
            </p:nvSpPr>
            <p:spPr>
              <a:xfrm>
                <a:off x="12216278" y="3080825"/>
                <a:ext cx="569387" cy="153888"/>
              </a:xfrm>
              <a:prstGeom prst="rect">
                <a:avLst/>
              </a:prstGeom>
              <a:noFill/>
            </p:spPr>
            <p:txBody>
              <a:bodyPr wrap="square" lIns="0" tIns="0" rIns="0" bIns="0" rtlCol="0" anchor="b" anchorCtr="0">
                <a:spAutoFit/>
              </a:bodyPr>
              <a:lstStyle/>
              <a:p>
                <a:pPr algn="ctr"/>
                <a:r>
                  <a:rPr kumimoji="1" lang="zh-CN" altLang="en-US" sz="1000" dirty="0">
                    <a:solidFill>
                      <a:srgbClr val="1D1D1A"/>
                    </a:solidFill>
                    <a:latin typeface="微软雅黑" panose="020B0503020204020204" pitchFamily="34" charset="-122"/>
                    <a:ea typeface="微软雅黑" panose="020B0503020204020204" pitchFamily="34" charset="-122"/>
                  </a:rPr>
                  <a:t>辅助色</a:t>
                </a:r>
              </a:p>
            </p:txBody>
          </p:sp>
          <p:sp>
            <p:nvSpPr>
              <p:cNvPr id="31" name="矩形 16"/>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248/181/60</a:t>
                </a:r>
              </a:p>
            </p:txBody>
          </p:sp>
          <p:sp>
            <p:nvSpPr>
              <p:cNvPr id="32" name="矩形 17"/>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235/92/1</a:t>
                </a:r>
              </a:p>
            </p:txBody>
          </p:sp>
          <p:sp>
            <p:nvSpPr>
              <p:cNvPr id="33" name="矩形 18"/>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137/137/137</a:t>
                </a:r>
              </a:p>
            </p:txBody>
          </p:sp>
          <p:sp>
            <p:nvSpPr>
              <p:cNvPr id="34" name="矩形 19"/>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35/24/21</a:t>
                </a:r>
              </a:p>
            </p:txBody>
          </p:sp>
          <p:sp>
            <p:nvSpPr>
              <p:cNvPr id="35" name="矩形 22"/>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666666"/>
                    </a:solidFill>
                    <a:latin typeface="Arial" panose="020B0604020202090204" pitchFamily="34" charset="0"/>
                    <a:ea typeface="Arial" panose="020B0604020202090204" pitchFamily="34" charset="0"/>
                    <a:cs typeface="Arial" panose="020B0604020202090204" pitchFamily="34" charset="0"/>
                  </a:rPr>
                  <a:t>RGB 221/221/221</a:t>
                </a:r>
              </a:p>
            </p:txBody>
          </p:sp>
          <p:sp>
            <p:nvSpPr>
              <p:cNvPr id="36" name="矩形 12"/>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233/140/128</a:t>
                </a:r>
              </a:p>
            </p:txBody>
          </p:sp>
          <p:sp>
            <p:nvSpPr>
              <p:cNvPr id="37" name="矩形 13"/>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159/0/1</a:t>
                </a:r>
              </a:p>
            </p:txBody>
          </p:sp>
          <p:sp>
            <p:nvSpPr>
              <p:cNvPr id="38" name="矩形 16"/>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666666"/>
                    </a:solidFill>
                    <a:latin typeface="Arial" panose="020B0604020202090204" pitchFamily="34" charset="0"/>
                    <a:ea typeface="Arial" panose="020B0604020202090204" pitchFamily="34" charset="0"/>
                    <a:cs typeface="Arial" panose="020B0604020202090204" pitchFamily="34" charset="0"/>
                  </a:rPr>
                  <a:t>RGB 245/220/87</a:t>
                </a:r>
              </a:p>
            </p:txBody>
          </p:sp>
          <p:sp>
            <p:nvSpPr>
              <p:cNvPr id="39" name="矩形 17"/>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240/133/0</a:t>
                </a:r>
              </a:p>
            </p:txBody>
          </p:sp>
          <p:sp>
            <p:nvSpPr>
              <p:cNvPr id="40" name="矩形 18"/>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181/181/181</a:t>
                </a:r>
              </a:p>
            </p:txBody>
          </p:sp>
          <p:sp>
            <p:nvSpPr>
              <p:cNvPr id="42" name="矩形 19"/>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90204" pitchFamily="34" charset="0"/>
                    <a:ea typeface="Arial" panose="020B0604020202090204" pitchFamily="34" charset="0"/>
                    <a:cs typeface="Arial" panose="020B0604020202090204" pitchFamily="34" charset="0"/>
                  </a:rPr>
                  <a:t>RGB 89/87/87</a:t>
                </a:r>
              </a:p>
            </p:txBody>
          </p:sp>
          <p:sp>
            <p:nvSpPr>
              <p:cNvPr id="43" name="矩形 22"/>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666666"/>
                    </a:solidFill>
                    <a:latin typeface="Arial" panose="020B0604020202090204" pitchFamily="34" charset="0"/>
                    <a:ea typeface="Arial" panose="020B0604020202090204" pitchFamily="34" charset="0"/>
                    <a:cs typeface="Arial" panose="020B0604020202090204" pitchFamily="34" charset="0"/>
                  </a:rPr>
                  <a:t>RGB 255/255/255</a:t>
                </a:r>
              </a:p>
            </p:txBody>
          </p:sp>
        </p:grpSp>
      </p:gr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90204" pitchFamily="34" charset="0"/>
                <a:ea typeface="+mn-ea"/>
                <a:cs typeface="Arial" panose="020B0604020202090204" pitchFamily="34" charset="0"/>
              </a:rPr>
              <a:t>Huawei Proprietary - Restricted Distribution</a:t>
            </a:r>
            <a:endParaRPr lang="en-US" sz="900" b="0" kern="1200" baseline="0" dirty="0">
              <a:solidFill>
                <a:srgbClr val="1D1D1B"/>
              </a:solidFill>
              <a:latin typeface="Arial" panose="020B0604020202090204" pitchFamily="34" charset="0"/>
              <a:ea typeface="+mn-ea"/>
              <a:cs typeface="Arial" panose="020B0604020202090204" pitchFamily="34" charset="0"/>
            </a:endParaRPr>
          </a:p>
        </p:txBody>
      </p:sp>
      <p:sp>
        <p:nvSpPr>
          <p:cNvPr id="4" name="TextBox 3"/>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90204" pitchFamily="34" charset="0"/>
                <a:cs typeface="Arial" panose="020B0604020202090204" pitchFamily="34" charset="0"/>
              </a:rPr>
              <a:t>‹#›</a:t>
            </a:fld>
            <a:endParaRPr lang="en-US" sz="900" dirty="0">
              <a:solidFill>
                <a:srgbClr val="1D1D1B"/>
              </a:solidFill>
              <a:latin typeface="Arial" panose="020B0604020202090204" pitchFamily="34" charset="0"/>
              <a:cs typeface="Arial" panose="020B0604020202090204" pitchFamily="34" charset="0"/>
            </a:endParaRPr>
          </a:p>
        </p:txBody>
      </p:sp>
      <p:grpSp>
        <p:nvGrpSpPr>
          <p:cNvPr id="88" name="Group 87"/>
          <p:cNvGrpSpPr>
            <a:grpSpLocks noChangeAspect="1"/>
          </p:cNvGrpSpPr>
          <p:nvPr userDrawn="1"/>
        </p:nvGrpSpPr>
        <p:grpSpPr>
          <a:xfrm>
            <a:off x="12290470" y="262538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185C</a:t>
              </a:r>
            </a:p>
            <a:p>
              <a:pPr algn="ctr">
                <a:lnSpc>
                  <a:spcPts val="620"/>
                </a:lnSpc>
                <a:spcBef>
                  <a:spcPts val="0"/>
                </a:spcBef>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1463467" cy="230832"/>
          </a:xfrm>
          <a:prstGeom prst="rect">
            <a:avLst/>
          </a:prstGeom>
          <a:noFill/>
        </p:spPr>
        <p:txBody>
          <a:bodyPr wrap="square" rtlCol="0">
            <a:spAutoFit/>
          </a:bodyPr>
          <a:lstStyle/>
          <a:p>
            <a:r>
              <a:rPr lang="en-US" sz="900" b="0" baseline="0" dirty="0">
                <a:solidFill>
                  <a:srgbClr val="1D1D1B"/>
                </a:solidFill>
                <a:latin typeface="Arial" panose="020B0604020202090204" pitchFamily="34" charset="0"/>
                <a:cs typeface="Arial" panose="020B0604020202090204" pitchFamily="34" charset="0"/>
              </a:rPr>
              <a:t>Huawei Confidential</a:t>
            </a:r>
          </a:p>
        </p:txBody>
      </p:sp>
      <p:sp>
        <p:nvSpPr>
          <p:cNvPr id="4" name="TextBox 3"/>
          <p:cNvSpPr txBox="1"/>
          <p:nvPr userDrawn="1"/>
        </p:nvSpPr>
        <p:spPr>
          <a:xfrm>
            <a:off x="368370" y="6402806"/>
            <a:ext cx="629157"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r>
              <a:rPr lang="en-US" altLang="zh-CN" sz="900" dirty="0">
                <a:solidFill>
                  <a:srgbClr val="1D1D1B"/>
                </a:solidFill>
                <a:latin typeface="Arial" panose="020B0604020202090204" pitchFamily="34" charset="0"/>
                <a:cs typeface="Arial" panose="020B0604020202090204" pitchFamily="34" charset="0"/>
              </a:rPr>
              <a:t>Page </a:t>
            </a:r>
            <a:fld id="{C3837181-38C6-AD4F-B8BA-B444770388BB}" type="slidenum">
              <a:rPr lang="en-US" sz="900" smtClean="0">
                <a:solidFill>
                  <a:srgbClr val="1D1D1B"/>
                </a:solidFill>
                <a:latin typeface="Arial" panose="020B0604020202090204" pitchFamily="34" charset="0"/>
                <a:cs typeface="Arial" panose="020B0604020202090204" pitchFamily="34" charset="0"/>
              </a:rPr>
              <a:t>‹#›</a:t>
            </a:fld>
            <a:r>
              <a:rPr lang="en-US" sz="900" dirty="0">
                <a:solidFill>
                  <a:srgbClr val="1D1D1B"/>
                </a:solidFill>
                <a:latin typeface="Arial" panose="020B0604020202090204" pitchFamily="34" charset="0"/>
                <a:cs typeface="Arial" panose="020B0604020202090204" pitchFamily="34" charset="0"/>
              </a:rPr>
              <a:t>/32</a:t>
            </a:r>
          </a:p>
        </p:txBody>
      </p:sp>
      <p:grpSp>
        <p:nvGrpSpPr>
          <p:cNvPr id="88" name="Group 87"/>
          <p:cNvGrpSpPr>
            <a:grpSpLocks noChangeAspect="1"/>
          </p:cNvGrpSpPr>
          <p:nvPr userDrawn="1"/>
        </p:nvGrpSpPr>
        <p:grpSpPr>
          <a:xfrm>
            <a:off x="12290471" y="2625389"/>
            <a:ext cx="1963323" cy="4233515"/>
            <a:chOff x="5343885" y="-48857"/>
            <a:chExt cx="326358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185C</a:t>
              </a:r>
            </a:p>
            <a:p>
              <a:pPr algn="ctr">
                <a:lnSpc>
                  <a:spcPts val="620"/>
                </a:lnSpc>
                <a:spcBef>
                  <a:spcPts val="0"/>
                </a:spcBef>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35/24/21</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extBox 2"/>
          <p:cNvSpPr txBox="1"/>
          <p:nvPr/>
        </p:nvSpPr>
        <p:spPr>
          <a:xfrm>
            <a:off x="1095467" y="6356939"/>
            <a:ext cx="1463467" cy="230832"/>
          </a:xfrm>
          <a:prstGeom prst="rect">
            <a:avLst/>
          </a:prstGeom>
          <a:noFill/>
        </p:spPr>
        <p:txBody>
          <a:bodyPr wrap="square" rtlCol="0">
            <a:spAutoFit/>
          </a:bodyPr>
          <a:lstStyle/>
          <a:p>
            <a:r>
              <a:rPr lang="en-US" sz="900" dirty="0">
                <a:solidFill>
                  <a:srgbClr val="FFFFFF"/>
                </a:solidFill>
                <a:cs typeface="Arial" panose="020B0604020202090204" pitchFamily="34" charset="0"/>
              </a:rPr>
              <a:t>Huawei Confidential</a:t>
            </a:r>
          </a:p>
        </p:txBody>
      </p:sp>
      <p:sp>
        <p:nvSpPr>
          <p:cNvPr id="4" name="TextBox 3"/>
          <p:cNvSpPr txBox="1"/>
          <p:nvPr/>
        </p:nvSpPr>
        <p:spPr>
          <a:xfrm>
            <a:off x="734131" y="6402806"/>
            <a:ext cx="499729" cy="138499"/>
          </a:xfrm>
          <a:prstGeom prst="rect">
            <a:avLst/>
          </a:prstGeom>
          <a:noFill/>
        </p:spPr>
        <p:txBody>
          <a:bodyPr wrap="square" lIns="0" tIns="0" rIns="0" bIns="0" rtlCol="0">
            <a:spAutoFit/>
          </a:bodyPr>
          <a:lstStyle/>
          <a:p>
            <a:pPr defTabSz="890905">
              <a:defRPr/>
            </a:pPr>
            <a:fld id="{C3837181-38C6-AD4F-B8BA-B444770388BB}" type="slidenum">
              <a:rPr lang="en-US" sz="900" smtClean="0">
                <a:solidFill>
                  <a:srgbClr val="FFFFFF"/>
                </a:solidFill>
                <a:cs typeface="Arial" panose="020B0604020202090204" pitchFamily="34" charset="0"/>
              </a:rPr>
              <a:t>‹#›</a:t>
            </a:fld>
            <a:endParaRPr lang="en-US" sz="900" dirty="0">
              <a:solidFill>
                <a:srgbClr val="FFFFFF"/>
              </a:solidFill>
              <a:cs typeface="Arial" panose="020B0604020202090204" pitchFamily="34" charset="0"/>
            </a:endParaRPr>
          </a:p>
        </p:txBody>
      </p:sp>
      <p:grpSp>
        <p:nvGrpSpPr>
          <p:cNvPr id="88" name="Group 87"/>
          <p:cNvGrpSpPr>
            <a:grpSpLocks noChangeAspect="1"/>
          </p:cNvGrpSpPr>
          <p:nvPr/>
        </p:nvGrpSpPr>
        <p:grpSpPr>
          <a:xfrm>
            <a:off x="12290471" y="2625389"/>
            <a:ext cx="1963323" cy="4233515"/>
            <a:chOff x="5343885" y="-48857"/>
            <a:chExt cx="326358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PANTONE 185C</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48/181/197</a:t>
              </a:r>
            </a:p>
          </p:txBody>
        </p:sp>
        <p:sp>
          <p:nvSpPr>
            <p:cNvPr id="102"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129/193/95</a:t>
              </a:r>
            </a:p>
          </p:txBody>
        </p:sp>
        <p:sp>
          <p:nvSpPr>
            <p:cNvPr id="103"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253/211/81</a:t>
              </a:r>
            </a:p>
          </p:txBody>
        </p:sp>
        <p:sp>
          <p:nvSpPr>
            <p:cNvPr id="104"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ea typeface="Arial" panose="020B0604020202090204" pitchFamily="34" charset="0"/>
                  <a:cs typeface="Arial" panose="020B0604020202090204" pitchFamily="34" charset="0"/>
                </a:rPr>
                <a:t>RGB 216/179/179</a:t>
              </a:r>
            </a:p>
          </p:txBody>
        </p:sp>
        <p:sp>
          <p:nvSpPr>
            <p:cNvPr id="117"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250/211/187</a:t>
              </a:r>
            </a:p>
          </p:txBody>
        </p:sp>
        <p:sp>
          <p:nvSpPr>
            <p:cNvPr id="118"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208/232/196</a:t>
              </a:r>
            </a:p>
          </p:txBody>
        </p:sp>
        <p:sp>
          <p:nvSpPr>
            <p:cNvPr id="119"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254/238/193</a:t>
              </a:r>
            </a:p>
          </p:txBody>
        </p:sp>
        <p:sp>
          <p:nvSpPr>
            <p:cNvPr id="120"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a:t>
              </a:r>
              <a:br>
                <a:rPr kumimoji="1" lang="en-US" altLang="zh-CN" sz="500" b="1" dirty="0">
                  <a:solidFill>
                    <a:srgbClr val="595757"/>
                  </a:solidFill>
                  <a:ea typeface="Arial" panose="020B0604020202090204" pitchFamily="34" charset="0"/>
                  <a:cs typeface="Arial" panose="020B0604020202090204" pitchFamily="34" charset="0"/>
                </a:rPr>
              </a:br>
              <a:r>
                <a:rPr kumimoji="1" lang="en-US" altLang="zh-CN" sz="500" b="1" dirty="0">
                  <a:solidFill>
                    <a:srgbClr val="595757"/>
                  </a:solidFill>
                  <a:ea typeface="Arial" panose="020B0604020202090204" pitchFamily="34" charset="0"/>
                  <a:cs typeface="Arial" panose="020B0604020202090204" pitchFamily="34" charset="0"/>
                </a:rPr>
                <a:t>190/23/238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89/87/87</a:t>
              </a:r>
            </a:p>
          </p:txBody>
        </p:sp>
        <p:sp>
          <p:nvSpPr>
            <p:cNvPr id="125"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137/137/</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137</a:t>
              </a:r>
            </a:p>
          </p:txBody>
        </p:sp>
        <p:sp>
          <p:nvSpPr>
            <p:cNvPr id="126"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181/181/</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181</a:t>
              </a:r>
            </a:p>
          </p:txBody>
        </p:sp>
        <p:sp>
          <p:nvSpPr>
            <p:cNvPr id="127"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221/221/</a:t>
              </a:r>
              <a:br>
                <a:rPr kumimoji="1" lang="en-US" altLang="zh-CN" sz="500" b="1" dirty="0">
                  <a:solidFill>
                    <a:srgbClr val="595757"/>
                  </a:solidFill>
                  <a:ea typeface="Arial" panose="020B0604020202090204" pitchFamily="34" charset="0"/>
                  <a:cs typeface="Arial" panose="020B0604020202090204" pitchFamily="34" charset="0"/>
                </a:rPr>
              </a:br>
              <a:r>
                <a:rPr kumimoji="1" lang="en-US" altLang="zh-CN" sz="500" b="1" dirty="0">
                  <a:solidFill>
                    <a:srgbClr val="595757"/>
                  </a:solidFill>
                  <a:ea typeface="Arial" panose="020B0604020202090204" pitchFamily="34" charset="0"/>
                  <a:cs typeface="Arial" panose="020B0604020202090204" pitchFamily="34" charset="0"/>
                </a:rPr>
                <a:t>221</a:t>
              </a:r>
            </a:p>
          </p:txBody>
        </p:sp>
        <p:sp>
          <p:nvSpPr>
            <p:cNvPr id="128"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255/255/</a:t>
              </a:r>
              <a:br>
                <a:rPr kumimoji="1" lang="en-US" altLang="zh-CN" sz="500" b="1" dirty="0">
                  <a:solidFill>
                    <a:srgbClr val="595757"/>
                  </a:solidFill>
                  <a:ea typeface="Arial" panose="020B0604020202090204" pitchFamily="34" charset="0"/>
                  <a:cs typeface="Arial" panose="020B0604020202090204" pitchFamily="34" charset="0"/>
                </a:rPr>
              </a:br>
              <a:r>
                <a:rPr kumimoji="1" lang="en-US" altLang="zh-CN" sz="500" b="1" dirty="0">
                  <a:solidFill>
                    <a:srgbClr val="595757"/>
                  </a:solidFill>
                  <a:ea typeface="Arial" panose="020B0604020202090204" pitchFamily="34" charset="0"/>
                  <a:cs typeface="Arial" panose="020B0604020202090204" pitchFamily="34" charset="0"/>
                </a:rPr>
                <a:t>255</a:t>
              </a:r>
            </a:p>
          </p:txBody>
        </p:sp>
      </p:grpSp>
      <p:pic>
        <p:nvPicPr>
          <p:cNvPr id="46" name="图片 4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0118082" y="6250494"/>
            <a:ext cx="1390166" cy="412471"/>
          </a:xfrm>
          <a:prstGeom prst="rect">
            <a:avLst/>
          </a:prstGeom>
        </p:spPr>
      </p:pic>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extBox 2"/>
          <p:cNvSpPr txBox="1"/>
          <p:nvPr/>
        </p:nvSpPr>
        <p:spPr>
          <a:xfrm>
            <a:off x="1095467" y="6356939"/>
            <a:ext cx="1463467" cy="230832"/>
          </a:xfrm>
          <a:prstGeom prst="rect">
            <a:avLst/>
          </a:prstGeom>
          <a:noFill/>
        </p:spPr>
        <p:txBody>
          <a:bodyPr wrap="square" rtlCol="0">
            <a:spAutoFit/>
          </a:bodyPr>
          <a:lstStyle/>
          <a:p>
            <a:r>
              <a:rPr lang="en-US" sz="900" dirty="0">
                <a:solidFill>
                  <a:srgbClr val="FFFFFF"/>
                </a:solidFill>
                <a:cs typeface="Arial" panose="020B0604020202090204" pitchFamily="34" charset="0"/>
              </a:rPr>
              <a:t>Huawei Confidential</a:t>
            </a:r>
          </a:p>
        </p:txBody>
      </p:sp>
      <p:sp>
        <p:nvSpPr>
          <p:cNvPr id="4" name="TextBox 3"/>
          <p:cNvSpPr txBox="1"/>
          <p:nvPr/>
        </p:nvSpPr>
        <p:spPr>
          <a:xfrm>
            <a:off x="734131" y="6402806"/>
            <a:ext cx="499729" cy="138499"/>
          </a:xfrm>
          <a:prstGeom prst="rect">
            <a:avLst/>
          </a:prstGeom>
          <a:noFill/>
        </p:spPr>
        <p:txBody>
          <a:bodyPr wrap="square" lIns="0" tIns="0" rIns="0" bIns="0" rtlCol="0">
            <a:spAutoFit/>
          </a:bodyPr>
          <a:lstStyle/>
          <a:p>
            <a:pPr defTabSz="890905">
              <a:defRPr/>
            </a:pPr>
            <a:fld id="{C3837181-38C6-AD4F-B8BA-B444770388BB}" type="slidenum">
              <a:rPr lang="en-US" sz="900" smtClean="0">
                <a:solidFill>
                  <a:srgbClr val="FFFFFF"/>
                </a:solidFill>
                <a:cs typeface="Arial" panose="020B0604020202090204" pitchFamily="34" charset="0"/>
              </a:rPr>
              <a:t>‹#›</a:t>
            </a:fld>
            <a:endParaRPr lang="en-US" sz="900" dirty="0">
              <a:solidFill>
                <a:srgbClr val="FFFFFF"/>
              </a:solidFill>
              <a:cs typeface="Arial" panose="020B0604020202090204" pitchFamily="34" charset="0"/>
            </a:endParaRPr>
          </a:p>
        </p:txBody>
      </p:sp>
      <p:grpSp>
        <p:nvGrpSpPr>
          <p:cNvPr id="88" name="Group 87"/>
          <p:cNvGrpSpPr>
            <a:grpSpLocks noChangeAspect="1"/>
          </p:cNvGrpSpPr>
          <p:nvPr/>
        </p:nvGrpSpPr>
        <p:grpSpPr>
          <a:xfrm>
            <a:off x="12290471" y="2625389"/>
            <a:ext cx="1963323" cy="4233515"/>
            <a:chOff x="5343885" y="-48857"/>
            <a:chExt cx="326358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PANTONE 185C</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48/181/197</a:t>
              </a:r>
            </a:p>
          </p:txBody>
        </p:sp>
        <p:sp>
          <p:nvSpPr>
            <p:cNvPr id="102"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129/193/95</a:t>
              </a:r>
            </a:p>
          </p:txBody>
        </p:sp>
        <p:sp>
          <p:nvSpPr>
            <p:cNvPr id="103"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253/211/81</a:t>
              </a:r>
            </a:p>
          </p:txBody>
        </p:sp>
        <p:sp>
          <p:nvSpPr>
            <p:cNvPr id="104"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defRPr/>
              </a:pPr>
              <a:r>
                <a:rPr kumimoji="1" lang="en-US" altLang="zh-CN" sz="500" b="1" dirty="0">
                  <a:solidFill>
                    <a:srgbClr val="595757"/>
                  </a:solidFill>
                  <a:ea typeface="Arial" panose="020B0604020202090204" pitchFamily="34" charset="0"/>
                  <a:cs typeface="Arial" panose="020B0604020202090204" pitchFamily="34" charset="0"/>
                </a:rPr>
                <a:t>RGB 216/179/179</a:t>
              </a:r>
            </a:p>
          </p:txBody>
        </p:sp>
        <p:sp>
          <p:nvSpPr>
            <p:cNvPr id="117"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250/211/187</a:t>
              </a:r>
            </a:p>
          </p:txBody>
        </p:sp>
        <p:sp>
          <p:nvSpPr>
            <p:cNvPr id="118"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208/232/196</a:t>
              </a:r>
            </a:p>
          </p:txBody>
        </p:sp>
        <p:sp>
          <p:nvSpPr>
            <p:cNvPr id="119"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254/238/193</a:t>
              </a:r>
            </a:p>
          </p:txBody>
        </p:sp>
        <p:sp>
          <p:nvSpPr>
            <p:cNvPr id="120"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a:t>
              </a:r>
              <a:br>
                <a:rPr kumimoji="1" lang="en-US" altLang="zh-CN" sz="500" b="1" dirty="0">
                  <a:solidFill>
                    <a:srgbClr val="595757"/>
                  </a:solidFill>
                  <a:ea typeface="Arial" panose="020B0604020202090204" pitchFamily="34" charset="0"/>
                  <a:cs typeface="Arial" panose="020B0604020202090204" pitchFamily="34" charset="0"/>
                </a:rPr>
              </a:br>
              <a:r>
                <a:rPr kumimoji="1" lang="en-US" altLang="zh-CN" sz="500" b="1" dirty="0">
                  <a:solidFill>
                    <a:srgbClr val="595757"/>
                  </a:solidFill>
                  <a:ea typeface="Arial" panose="020B0604020202090204" pitchFamily="34" charset="0"/>
                  <a:cs typeface="Arial" panose="020B0604020202090204" pitchFamily="34" charset="0"/>
                </a:rPr>
                <a:t>190/23/238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89/87/87</a:t>
              </a:r>
            </a:p>
          </p:txBody>
        </p:sp>
        <p:sp>
          <p:nvSpPr>
            <p:cNvPr id="125"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137/137/</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137</a:t>
              </a:r>
            </a:p>
          </p:txBody>
        </p:sp>
        <p:sp>
          <p:nvSpPr>
            <p:cNvPr id="126"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ea typeface="Arial" panose="020B0604020202090204" pitchFamily="34" charset="0"/>
                  <a:cs typeface="Arial" panose="020B0604020202090204" pitchFamily="34" charset="0"/>
                </a:rPr>
                <a:t>181/181/</a:t>
              </a:r>
              <a:br>
                <a:rPr kumimoji="1" lang="en-US" altLang="zh-CN" sz="500" b="1" dirty="0">
                  <a:solidFill>
                    <a:srgbClr val="FFFFFF"/>
                  </a:solidFill>
                  <a:ea typeface="Arial" panose="020B0604020202090204" pitchFamily="34" charset="0"/>
                  <a:cs typeface="Arial" panose="020B0604020202090204" pitchFamily="34" charset="0"/>
                </a:rPr>
              </a:br>
              <a:r>
                <a:rPr kumimoji="1" lang="en-US" altLang="zh-CN" sz="500" b="1" dirty="0">
                  <a:solidFill>
                    <a:srgbClr val="FFFFFF"/>
                  </a:solidFill>
                  <a:ea typeface="Arial" panose="020B0604020202090204" pitchFamily="34" charset="0"/>
                  <a:cs typeface="Arial" panose="020B0604020202090204" pitchFamily="34" charset="0"/>
                </a:rPr>
                <a:t>181</a:t>
              </a:r>
            </a:p>
          </p:txBody>
        </p:sp>
        <p:sp>
          <p:nvSpPr>
            <p:cNvPr id="127"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 221/221/</a:t>
              </a:r>
              <a:br>
                <a:rPr kumimoji="1" lang="en-US" altLang="zh-CN" sz="500" b="1" dirty="0">
                  <a:solidFill>
                    <a:srgbClr val="595757"/>
                  </a:solidFill>
                  <a:ea typeface="Arial" panose="020B0604020202090204" pitchFamily="34" charset="0"/>
                  <a:cs typeface="Arial" panose="020B0604020202090204" pitchFamily="34" charset="0"/>
                </a:rPr>
              </a:br>
              <a:r>
                <a:rPr kumimoji="1" lang="en-US" altLang="zh-CN" sz="500" b="1" dirty="0">
                  <a:solidFill>
                    <a:srgbClr val="595757"/>
                  </a:solidFill>
                  <a:ea typeface="Arial" panose="020B0604020202090204" pitchFamily="34" charset="0"/>
                  <a:cs typeface="Arial" panose="020B0604020202090204" pitchFamily="34" charset="0"/>
                </a:rPr>
                <a:t>221</a:t>
              </a:r>
            </a:p>
          </p:txBody>
        </p:sp>
        <p:sp>
          <p:nvSpPr>
            <p:cNvPr id="128"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ea typeface="Arial" panose="020B0604020202090204" pitchFamily="34" charset="0"/>
                  <a:cs typeface="Arial" panose="020B0604020202090204" pitchFamily="34" charset="0"/>
                </a:rPr>
                <a:t>255/255/</a:t>
              </a:r>
              <a:br>
                <a:rPr kumimoji="1" lang="en-US" altLang="zh-CN" sz="500" b="1" dirty="0">
                  <a:solidFill>
                    <a:srgbClr val="595757"/>
                  </a:solidFill>
                  <a:ea typeface="Arial" panose="020B0604020202090204" pitchFamily="34" charset="0"/>
                  <a:cs typeface="Arial" panose="020B0604020202090204" pitchFamily="34" charset="0"/>
                </a:rPr>
              </a:br>
              <a:r>
                <a:rPr kumimoji="1" lang="en-US" altLang="zh-CN" sz="500" b="1" dirty="0">
                  <a:solidFill>
                    <a:srgbClr val="595757"/>
                  </a:solidFill>
                  <a:ea typeface="Arial" panose="020B0604020202090204" pitchFamily="34" charset="0"/>
                  <a:cs typeface="Arial" panose="020B0604020202090204" pitchFamily="34" charset="0"/>
                </a:rPr>
                <a:t>255</a:t>
              </a:r>
            </a:p>
          </p:txBody>
        </p:sp>
      </p:grpSp>
      <p:pic>
        <p:nvPicPr>
          <p:cNvPr id="46" name="图片 45"/>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0118082" y="6250494"/>
            <a:ext cx="1390166" cy="412471"/>
          </a:xfrm>
          <a:prstGeom prst="rect">
            <a:avLst/>
          </a:prstGeom>
        </p:spPr>
      </p:pic>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90204" pitchFamily="34" charset="0"/>
                <a:ea typeface="+mn-ea"/>
                <a:cs typeface="Arial" panose="020B0604020202090204" pitchFamily="34" charset="0"/>
              </a:rPr>
              <a:t>Huawei Proprietary - Restricted Distribution</a:t>
            </a:r>
            <a:endParaRPr lang="en-US" sz="900" b="0" kern="1200" baseline="0" dirty="0">
              <a:solidFill>
                <a:srgbClr val="1D1D1B"/>
              </a:solidFill>
              <a:latin typeface="Arial" panose="020B0604020202090204" pitchFamily="34" charset="0"/>
              <a:ea typeface="+mn-ea"/>
              <a:cs typeface="Arial" panose="020B0604020202090204" pitchFamily="34" charset="0"/>
            </a:endParaRPr>
          </a:p>
        </p:txBody>
      </p:sp>
      <p:sp>
        <p:nvSpPr>
          <p:cNvPr id="4" name="TextBox 3"/>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90204" pitchFamily="34" charset="0"/>
                <a:cs typeface="Arial" panose="020B0604020202090204" pitchFamily="34" charset="0"/>
              </a:rPr>
              <a:t>‹#›</a:t>
            </a:fld>
            <a:endParaRPr lang="en-US" sz="900" dirty="0">
              <a:solidFill>
                <a:srgbClr val="1D1D1B"/>
              </a:solidFill>
              <a:latin typeface="Arial" panose="020B0604020202090204" pitchFamily="34" charset="0"/>
              <a:cs typeface="Arial" panose="020B0604020202090204" pitchFamily="34" charset="0"/>
            </a:endParaRPr>
          </a:p>
        </p:txBody>
      </p:sp>
      <p:grpSp>
        <p:nvGrpSpPr>
          <p:cNvPr id="88" name="Group 87"/>
          <p:cNvGrpSpPr>
            <a:grpSpLocks noChangeAspect="1"/>
          </p:cNvGrpSpPr>
          <p:nvPr userDrawn="1"/>
        </p:nvGrpSpPr>
        <p:grpSpPr>
          <a:xfrm>
            <a:off x="12290470" y="262538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185C</a:t>
              </a:r>
            </a:p>
            <a:p>
              <a:pPr algn="ctr">
                <a:lnSpc>
                  <a:spcPts val="620"/>
                </a:lnSpc>
                <a:spcBef>
                  <a:spcPts val="0"/>
                </a:spcBef>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chemeClr val="tx2"/>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cSld>
  <p:clrMap bg1="lt1" tx1="dk1" bg2="lt2" tx2="dk2" accent1="accent1" accent2="accent2" accent3="accent3" accent4="accent4" accent5="accent5" accent6="accent6" hlink="hlink" folHlink="folHlink"/>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9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9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9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9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335584" y="6512609"/>
            <a:ext cx="3503965" cy="230832"/>
          </a:xfrm>
          <a:prstGeom prst="rect">
            <a:avLst/>
          </a:prstGeom>
          <a:noFill/>
        </p:spPr>
        <p:txBody>
          <a:bodyPr wrap="square" rtlCol="0">
            <a:spAutoFit/>
          </a:bodyPr>
          <a:lstStyle/>
          <a:p>
            <a:r>
              <a:rPr lang="en-US" altLang="zh-CN" sz="900" dirty="0">
                <a:solidFill>
                  <a:srgbClr val="1D1D1B"/>
                </a:solidFill>
                <a:latin typeface="Arial" panose="020B0604020202090204" pitchFamily="34" charset="0"/>
                <a:cs typeface="Arial" panose="020B0604020202090204" pitchFamily="34" charset="0"/>
              </a:rPr>
              <a:t>Huawei Confidential</a:t>
            </a:r>
            <a:endParaRPr lang="en-US" sz="900" dirty="0">
              <a:solidFill>
                <a:srgbClr val="1D1D1B"/>
              </a:solidFill>
              <a:latin typeface="Arial" panose="020B0604020202090204" pitchFamily="34" charset="0"/>
              <a:cs typeface="Arial" panose="020B0604020202090204" pitchFamily="34" charset="0"/>
            </a:endParaRPr>
          </a:p>
        </p:txBody>
      </p:sp>
      <p:sp>
        <p:nvSpPr>
          <p:cNvPr id="4" name="TextBox 3"/>
          <p:cNvSpPr txBox="1"/>
          <p:nvPr userDrawn="1"/>
        </p:nvSpPr>
        <p:spPr>
          <a:xfrm>
            <a:off x="180763" y="6558779"/>
            <a:ext cx="499729" cy="138499"/>
          </a:xfrm>
          <a:prstGeom prst="rect">
            <a:avLst/>
          </a:prstGeom>
          <a:noFill/>
        </p:spPr>
        <p:txBody>
          <a:bodyPr wrap="square" lIns="0" tIns="0" rIns="0" bIns="0" rtlCol="0">
            <a:spAutoFit/>
          </a:bodyPr>
          <a:lstStyle/>
          <a:p>
            <a:pPr defTabSz="889000">
              <a:defRPr/>
            </a:pPr>
            <a:fld id="{C3837181-38C6-AD4F-B8BA-B444770388BB}" type="slidenum">
              <a:rPr lang="en-US" sz="900">
                <a:solidFill>
                  <a:srgbClr val="1D1D1B"/>
                </a:solidFill>
                <a:latin typeface="Arial" panose="020B0604020202090204" pitchFamily="34" charset="0"/>
                <a:cs typeface="Arial" panose="020B0604020202090204" pitchFamily="34" charset="0"/>
              </a:rPr>
              <a:t>‹#›</a:t>
            </a:fld>
            <a:endParaRPr lang="en-US" sz="900" dirty="0">
              <a:solidFill>
                <a:srgbClr val="1D1D1B"/>
              </a:solidFill>
              <a:latin typeface="Arial" panose="020B0604020202090204" pitchFamily="34" charset="0"/>
              <a:cs typeface="Arial" panose="020B0604020202090204" pitchFamily="34" charset="0"/>
            </a:endParaRPr>
          </a:p>
        </p:txBody>
      </p:sp>
      <p:grpSp>
        <p:nvGrpSpPr>
          <p:cNvPr id="88" name="Group 87"/>
          <p:cNvGrpSpPr>
            <a:grpSpLocks noChangeAspect="1"/>
          </p:cNvGrpSpPr>
          <p:nvPr userDrawn="1"/>
        </p:nvGrpSpPr>
        <p:grpSpPr>
          <a:xfrm>
            <a:off x="12290470" y="262539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185C</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r>
                <a:rPr kumimoji="1" lang="zh-CN" altLang="en-US" sz="800" dirty="0">
                  <a:solidFill>
                    <a:srgbClr val="1D1D1A"/>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PANTONE 186C</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2495">
                <a:lnSpc>
                  <a:spcPts val="620"/>
                </a:lnSpc>
                <a:defRPr/>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 </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137/137/</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181/181/</a:t>
              </a:r>
              <a:b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FFFFFF"/>
                  </a:solidFill>
                  <a:latin typeface="Arial" panose="020B0604020202090204" pitchFamily="34" charset="0"/>
                  <a:ea typeface="Arial" panose="020B0604020202090204" pitchFamily="34" charset="0"/>
                  <a:cs typeface="Arial" panose="020B060402020209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 221/221/</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RGB</a:t>
              </a:r>
            </a:p>
            <a:p>
              <a:pPr algn="ctr">
                <a:lnSpc>
                  <a:spcPts val="620"/>
                </a:lnSpc>
              </a:pP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255/255/</a:t>
              </a:r>
              <a:b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br>
              <a:r>
                <a:rPr kumimoji="1" lang="en-US" altLang="zh-CN" sz="500" b="1" dirty="0">
                  <a:solidFill>
                    <a:srgbClr val="595757"/>
                  </a:solidFill>
                  <a:latin typeface="Arial" panose="020B0604020202090204" pitchFamily="34" charset="0"/>
                  <a:ea typeface="Arial" panose="020B0604020202090204" pitchFamily="34" charset="0"/>
                  <a:cs typeface="Arial" panose="020B0604020202090204" pitchFamily="34" charset="0"/>
                </a:rPr>
                <a:t>255</a:t>
              </a:r>
            </a:p>
          </p:txBody>
        </p:sp>
      </p:grpSp>
      <p:pic>
        <p:nvPicPr>
          <p:cNvPr id="47" name="Picture 4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00788" y="6511261"/>
            <a:ext cx="1072831" cy="232180"/>
          </a:xfrm>
          <a:prstGeom prst="rect">
            <a:avLst/>
          </a:prstGeom>
        </p:spPr>
      </p:pic>
    </p:spTree>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Lst>
  <p:hf hdr="0" ftr="0" dt="0"/>
  <p:txStyles>
    <p:titleStyle>
      <a:lvl1pPr algn="l" defTabSz="1185545" rtl="0" eaLnBrk="1" latinLnBrk="0" hangingPunct="1">
        <a:lnSpc>
          <a:spcPct val="90000"/>
        </a:lnSpc>
        <a:spcBef>
          <a:spcPct val="0"/>
        </a:spcBef>
        <a:buNone/>
        <a:defRPr sz="5705" kern="1200">
          <a:solidFill>
            <a:schemeClr val="tx1"/>
          </a:solidFill>
          <a:latin typeface="+mj-lt"/>
          <a:ea typeface="+mj-ea"/>
          <a:cs typeface="+mj-cs"/>
        </a:defRPr>
      </a:lvl1pPr>
    </p:titleStyle>
    <p:bodyStyle>
      <a:lvl1pPr marL="296545" indent="-296545" algn="l" defTabSz="1185545" rtl="0" eaLnBrk="1" latinLnBrk="0" hangingPunct="1">
        <a:lnSpc>
          <a:spcPct val="90000"/>
        </a:lnSpc>
        <a:spcBef>
          <a:spcPts val="1295"/>
        </a:spcBef>
        <a:buFont typeface="Arial" panose="020B0604020202090204" pitchFamily="34" charset="0"/>
        <a:buChar char="•"/>
        <a:defRPr sz="3630" kern="1200">
          <a:solidFill>
            <a:schemeClr val="tx1"/>
          </a:solidFill>
          <a:latin typeface="+mn-lt"/>
          <a:ea typeface="+mn-ea"/>
          <a:cs typeface="+mn-cs"/>
        </a:defRPr>
      </a:lvl1pPr>
      <a:lvl2pPr marL="889000" indent="-296545" algn="l" defTabSz="1185545" rtl="0" eaLnBrk="1" latinLnBrk="0" hangingPunct="1">
        <a:lnSpc>
          <a:spcPct val="90000"/>
        </a:lnSpc>
        <a:spcBef>
          <a:spcPts val="650"/>
        </a:spcBef>
        <a:buFont typeface="Arial" panose="020B0604020202090204" pitchFamily="34" charset="0"/>
        <a:buChar char="•"/>
        <a:defRPr sz="3115" kern="1200">
          <a:solidFill>
            <a:schemeClr val="tx1"/>
          </a:solidFill>
          <a:latin typeface="+mn-lt"/>
          <a:ea typeface="+mn-ea"/>
          <a:cs typeface="+mn-cs"/>
        </a:defRPr>
      </a:lvl2pPr>
      <a:lvl3pPr marL="1482090" indent="-296545" algn="l" defTabSz="1185545" rtl="0" eaLnBrk="1" latinLnBrk="0" hangingPunct="1">
        <a:lnSpc>
          <a:spcPct val="90000"/>
        </a:lnSpc>
        <a:spcBef>
          <a:spcPts val="650"/>
        </a:spcBef>
        <a:buFont typeface="Arial" panose="020B0604020202090204" pitchFamily="34" charset="0"/>
        <a:buChar char="•"/>
        <a:defRPr sz="2595" kern="1200">
          <a:solidFill>
            <a:schemeClr val="tx1"/>
          </a:solidFill>
          <a:latin typeface="+mn-lt"/>
          <a:ea typeface="+mn-ea"/>
          <a:cs typeface="+mn-cs"/>
        </a:defRPr>
      </a:lvl3pPr>
      <a:lvl4pPr marL="2074545"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4pPr>
      <a:lvl5pPr marL="2667000"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5pPr>
      <a:lvl6pPr marL="3260090"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6pPr>
      <a:lvl7pPr marL="3852545"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7pPr>
      <a:lvl8pPr marL="4445635"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8pPr>
      <a:lvl9pPr marL="5038090" indent="-296545" algn="l" defTabSz="1185545" rtl="0" eaLnBrk="1" latinLnBrk="0" hangingPunct="1">
        <a:lnSpc>
          <a:spcPct val="90000"/>
        </a:lnSpc>
        <a:spcBef>
          <a:spcPts val="650"/>
        </a:spcBef>
        <a:buFont typeface="Arial" panose="020B0604020202090204" pitchFamily="34" charset="0"/>
        <a:buChar char="•"/>
        <a:defRPr sz="2335" kern="1200">
          <a:solidFill>
            <a:schemeClr val="tx1"/>
          </a:solidFill>
          <a:latin typeface="+mn-lt"/>
          <a:ea typeface="+mn-ea"/>
          <a:cs typeface="+mn-cs"/>
        </a:defRPr>
      </a:lvl9pPr>
    </p:bodyStyle>
    <p:otherStyle>
      <a:defPPr>
        <a:defRPr lang="en-US"/>
      </a:defPPr>
      <a:lvl1pPr marL="0" algn="l" defTabSz="1185545" rtl="0" eaLnBrk="1" latinLnBrk="0" hangingPunct="1">
        <a:defRPr sz="2335" kern="1200">
          <a:solidFill>
            <a:schemeClr val="tx1"/>
          </a:solidFill>
          <a:latin typeface="+mn-lt"/>
          <a:ea typeface="+mn-ea"/>
          <a:cs typeface="+mn-cs"/>
        </a:defRPr>
      </a:lvl1pPr>
      <a:lvl2pPr marL="592455" algn="l" defTabSz="1185545" rtl="0" eaLnBrk="1" latinLnBrk="0" hangingPunct="1">
        <a:defRPr sz="2335" kern="1200">
          <a:solidFill>
            <a:schemeClr val="tx1"/>
          </a:solidFill>
          <a:latin typeface="+mn-lt"/>
          <a:ea typeface="+mn-ea"/>
          <a:cs typeface="+mn-cs"/>
        </a:defRPr>
      </a:lvl2pPr>
      <a:lvl3pPr marL="1185545" algn="l" defTabSz="1185545" rtl="0" eaLnBrk="1" latinLnBrk="0" hangingPunct="1">
        <a:defRPr sz="2335" kern="1200">
          <a:solidFill>
            <a:schemeClr val="tx1"/>
          </a:solidFill>
          <a:latin typeface="+mn-lt"/>
          <a:ea typeface="+mn-ea"/>
          <a:cs typeface="+mn-cs"/>
        </a:defRPr>
      </a:lvl3pPr>
      <a:lvl4pPr marL="1778000" algn="l" defTabSz="1185545" rtl="0" eaLnBrk="1" latinLnBrk="0" hangingPunct="1">
        <a:defRPr sz="2335" kern="1200">
          <a:solidFill>
            <a:schemeClr val="tx1"/>
          </a:solidFill>
          <a:latin typeface="+mn-lt"/>
          <a:ea typeface="+mn-ea"/>
          <a:cs typeface="+mn-cs"/>
        </a:defRPr>
      </a:lvl4pPr>
      <a:lvl5pPr marL="2371090" algn="l" defTabSz="1185545" rtl="0" eaLnBrk="1" latinLnBrk="0" hangingPunct="1">
        <a:defRPr sz="2335" kern="1200">
          <a:solidFill>
            <a:schemeClr val="tx1"/>
          </a:solidFill>
          <a:latin typeface="+mn-lt"/>
          <a:ea typeface="+mn-ea"/>
          <a:cs typeface="+mn-cs"/>
        </a:defRPr>
      </a:lvl5pPr>
      <a:lvl6pPr marL="2963545" algn="l" defTabSz="1185545" rtl="0" eaLnBrk="1" latinLnBrk="0" hangingPunct="1">
        <a:defRPr sz="2335" kern="1200">
          <a:solidFill>
            <a:schemeClr val="tx1"/>
          </a:solidFill>
          <a:latin typeface="+mn-lt"/>
          <a:ea typeface="+mn-ea"/>
          <a:cs typeface="+mn-cs"/>
        </a:defRPr>
      </a:lvl6pPr>
      <a:lvl7pPr marL="3556000" algn="l" defTabSz="1185545" rtl="0" eaLnBrk="1" latinLnBrk="0" hangingPunct="1">
        <a:defRPr sz="2335" kern="1200">
          <a:solidFill>
            <a:schemeClr val="tx1"/>
          </a:solidFill>
          <a:latin typeface="+mn-lt"/>
          <a:ea typeface="+mn-ea"/>
          <a:cs typeface="+mn-cs"/>
        </a:defRPr>
      </a:lvl7pPr>
      <a:lvl8pPr marL="4149090" algn="l" defTabSz="1185545" rtl="0" eaLnBrk="1" latinLnBrk="0" hangingPunct="1">
        <a:defRPr sz="2335" kern="1200">
          <a:solidFill>
            <a:schemeClr val="tx1"/>
          </a:solidFill>
          <a:latin typeface="+mn-lt"/>
          <a:ea typeface="+mn-ea"/>
          <a:cs typeface="+mn-cs"/>
        </a:defRPr>
      </a:lvl8pPr>
      <a:lvl9pPr marL="4741545" algn="l" defTabSz="1185545" rtl="0" eaLnBrk="1" latinLnBrk="0" hangingPunct="1">
        <a:defRPr sz="2335"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2056381"/>
      </p:ext>
    </p:extLst>
  </p:cSld>
  <p:clrMap bg1="lt1" tx1="dk1" bg2="lt2" tx2="dk2" accent1="accent1" accent2="accent2" accent3="accent3" accent4="accent4" accent5="accent5" accent6="accent6" hlink="hlink" folHlink="folHlink"/>
  <p:sldLayoutIdLst>
    <p:sldLayoutId id="214748374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85A3D6-1271-D247-9E96-1B376F4BE7BE}"/>
              </a:ext>
            </a:extLst>
          </p:cNvPr>
          <p:cNvSpPr>
            <a:spLocks noGrp="1"/>
          </p:cNvSpPr>
          <p:nvPr/>
        </p:nvSpPr>
        <p:spPr>
          <a:xfrm>
            <a:off x="1095467" y="6356939"/>
            <a:ext cx="1463467" cy="242864"/>
          </a:xfrm>
          <a:prstGeom prst="rect">
            <a:avLst/>
          </a:prstGeom>
          <a:noFill/>
        </p:spPr>
        <p:txBody>
          <a:bodyPr wrap="square">
            <a:spAutoFit/>
          </a:bodyPr>
          <a:lstStyle/>
          <a:p>
            <a:r>
              <a:rPr sz="974" b="0">
                <a:solidFill>
                  <a:srgbClr val="1D1D1B"/>
                </a:solidFill>
                <a:latin typeface="Arial"/>
                <a:ea typeface="Arial"/>
                <a:cs typeface="Arial"/>
              </a:rPr>
              <a:t>Huawei Confidential</a:t>
            </a:r>
          </a:p>
        </p:txBody>
      </p:sp>
      <p:sp>
        <p:nvSpPr>
          <p:cNvPr id="4" name="TextBox 3">
            <a:extLst>
              <a:ext uri="{FF2B5EF4-FFF2-40B4-BE49-F238E27FC236}">
                <a16:creationId xmlns:a16="http://schemas.microsoft.com/office/drawing/2014/main" id="{EABEE2EE-BF4D-7A4A-B3C6-9E47668CCD98}"/>
              </a:ext>
            </a:extLst>
          </p:cNvPr>
          <p:cNvSpPr>
            <a:spLocks noGrp="1"/>
          </p:cNvSpPr>
          <p:nvPr/>
        </p:nvSpPr>
        <p:spPr>
          <a:xfrm>
            <a:off x="734131" y="6402806"/>
            <a:ext cx="499729" cy="150296"/>
          </a:xfrm>
          <a:prstGeom prst="rect">
            <a:avLst/>
          </a:prstGeom>
          <a:noFill/>
        </p:spPr>
        <p:txBody>
          <a:bodyPr wrap="square" lIns="0" tIns="0" rIns="0" bIns="0">
            <a:spAutoFit/>
          </a:bodyPr>
          <a:lstStyle/>
          <a:p>
            <a:pPr marL="0" marR="0" lvl="0" indent="0" algn="l" defTabSz="890849">
              <a:lnSpc>
                <a:spcPct val="100000"/>
              </a:lnSpc>
              <a:spcBef>
                <a:spcPts val="0"/>
              </a:spcBef>
              <a:spcAft>
                <a:spcPts val="0"/>
              </a:spcAft>
              <a:buClrTx/>
              <a:buSzTx/>
              <a:buFontTx/>
              <a:buNone/>
            </a:pPr>
            <a:fld id="{C3837181-38C6-AD4F-B8BA-B444770388BB}" type="slidenum">
              <a:rPr sz="974">
                <a:solidFill>
                  <a:srgbClr val="1D1D1B"/>
                </a:solidFill>
                <a:latin typeface="Arial"/>
                <a:ea typeface="Arial"/>
                <a:cs typeface="Arial"/>
              </a:rPr>
              <a:t>‹#›</a:t>
            </a:fld>
            <a:endParaRPr sz="974">
              <a:solidFill>
                <a:srgbClr val="1D1D1B"/>
              </a:solidFill>
              <a:latin typeface="Arial"/>
              <a:ea typeface="Arial"/>
              <a:cs typeface="Arial"/>
            </a:endParaRPr>
          </a:p>
        </p:txBody>
      </p:sp>
      <p:pic>
        <p:nvPicPr>
          <p:cNvPr id="50" name="图片 40"/>
          <p:cNvPicPr>
            <a:picLocks noChangeAspect="1"/>
          </p:cNvPicPr>
          <p:nvPr/>
        </p:nvPicPr>
        <p:blipFill>
          <a:blip r:embed="rId4"/>
          <a:stretch>
            <a:fillRect/>
          </a:stretch>
        </p:blipFill>
        <p:spPr>
          <a:xfrm>
            <a:off x="10195999" y="6319870"/>
            <a:ext cx="1269075" cy="271153"/>
          </a:xfrm>
          <a:prstGeom prst="rect">
            <a:avLst/>
          </a:prstGeom>
        </p:spPr>
      </p:pic>
      <p:sp>
        <p:nvSpPr>
          <p:cNvPr id="44" name="矩形 5">
            <a:extLst>
              <a:ext uri="{FF2B5EF4-FFF2-40B4-BE49-F238E27FC236}">
                <a16:creationId xmlns:a16="http://schemas.microsoft.com/office/drawing/2014/main" id="{3B0B5EC2-EA55-CC45-A9D0-D5EA5D768C99}"/>
              </a:ext>
            </a:extLst>
          </p:cNvPr>
          <p:cNvSpPr>
            <a:spLocks noGrp="1"/>
          </p:cNvSpPr>
          <p:nvPr/>
        </p:nvSpPr>
        <p:spPr>
          <a:xfrm>
            <a:off x="12315635" y="3097895"/>
            <a:ext cx="911019" cy="425955"/>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PANTONE 186C</a:t>
            </a:r>
          </a:p>
          <a:p>
            <a:pPr algn="ctr">
              <a:lnSpc>
                <a:spcPct val="100000"/>
              </a:lnSpc>
              <a:buNone/>
            </a:pPr>
            <a:r>
              <a:rPr sz="700" b="1">
                <a:solidFill>
                  <a:schemeClr val="tx2"/>
                </a:solidFill>
                <a:latin typeface="Arial"/>
                <a:ea typeface="Arial"/>
                <a:cs typeface="Arial"/>
              </a:rPr>
              <a:t>RGB 200/16/46</a:t>
            </a:r>
          </a:p>
        </p:txBody>
      </p:sp>
      <p:sp>
        <p:nvSpPr>
          <p:cNvPr id="45" name="矩形 9">
            <a:extLst>
              <a:ext uri="{FF2B5EF4-FFF2-40B4-BE49-F238E27FC236}">
                <a16:creationId xmlns:a16="http://schemas.microsoft.com/office/drawing/2014/main" id="{992224C5-04A6-C041-B257-13137945DBB8}"/>
              </a:ext>
            </a:extLst>
          </p:cNvPr>
          <p:cNvSpPr>
            <a:spLocks noGrp="1"/>
          </p:cNvSpPr>
          <p:nvPr/>
        </p:nvSpPr>
        <p:spPr>
          <a:xfrm>
            <a:off x="13288175" y="3097895"/>
            <a:ext cx="911019" cy="425955"/>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PANTONE 185C</a:t>
            </a:r>
          </a:p>
          <a:p>
            <a:pPr algn="ctr">
              <a:lnSpc>
                <a:spcPct val="100000"/>
              </a:lnSpc>
              <a:buNone/>
            </a:pPr>
            <a:r>
              <a:rPr sz="700" b="1">
                <a:solidFill>
                  <a:schemeClr val="tx2"/>
                </a:solidFill>
                <a:latin typeface="Arial"/>
                <a:ea typeface="Arial"/>
                <a:cs typeface="Arial"/>
              </a:rPr>
              <a:t>RGB 199/0/11</a:t>
            </a:r>
          </a:p>
        </p:txBody>
      </p:sp>
      <p:sp>
        <p:nvSpPr>
          <p:cNvPr id="46" name="文本框 31">
            <a:extLst>
              <a:ext uri="{FF2B5EF4-FFF2-40B4-BE49-F238E27FC236}">
                <a16:creationId xmlns:a16="http://schemas.microsoft.com/office/drawing/2014/main" id="{58918196-0639-EE4B-AFC2-315BE04587B9}"/>
              </a:ext>
            </a:extLst>
          </p:cNvPr>
          <p:cNvSpPr>
            <a:spLocks noGrp="1"/>
          </p:cNvSpPr>
          <p:nvPr/>
        </p:nvSpPr>
        <p:spPr>
          <a:xfrm>
            <a:off x="12326898" y="2931937"/>
            <a:ext cx="384721" cy="131512"/>
          </a:xfrm>
          <a:prstGeom prst="rect">
            <a:avLst/>
          </a:prstGeom>
          <a:noFill/>
        </p:spPr>
        <p:txBody>
          <a:bodyPr wrap="none" lIns="0" tIns="0" rIns="0" bIns="0">
            <a:spAutoFit/>
          </a:bodyPr>
          <a:lstStyle/>
          <a:p>
            <a:pPr algn="ctr">
              <a:lnSpc>
                <a:spcPct val="100000"/>
              </a:lnSpc>
              <a:buNone/>
            </a:pPr>
            <a:r>
              <a:rPr sz="1000">
                <a:solidFill>
                  <a:schemeClr val="tx1"/>
                </a:solidFill>
                <a:latin typeface="Microsoft YaHei"/>
                <a:ea typeface="Microsoft YaHei"/>
                <a:cs typeface="Microsoft YaHei"/>
              </a:rPr>
              <a:t>品牌色</a:t>
            </a:r>
          </a:p>
        </p:txBody>
      </p:sp>
      <p:sp>
        <p:nvSpPr>
          <p:cNvPr id="28" name="矩形 12">
            <a:extLst>
              <a:ext uri="{FF2B5EF4-FFF2-40B4-BE49-F238E27FC236}">
                <a16:creationId xmlns:a16="http://schemas.microsoft.com/office/drawing/2014/main" id="{DCA8B73C-0B87-284F-805F-752EBF20B768}"/>
              </a:ext>
            </a:extLst>
          </p:cNvPr>
          <p:cNvSpPr>
            <a:spLocks noGrp="1"/>
          </p:cNvSpPr>
          <p:nvPr/>
        </p:nvSpPr>
        <p:spPr>
          <a:xfrm>
            <a:off x="12315640" y="4233909"/>
            <a:ext cx="885201" cy="395397"/>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234/90/79</a:t>
            </a:r>
          </a:p>
        </p:txBody>
      </p:sp>
      <p:sp>
        <p:nvSpPr>
          <p:cNvPr id="29" name="矩形 13">
            <a:extLst>
              <a:ext uri="{FF2B5EF4-FFF2-40B4-BE49-F238E27FC236}">
                <a16:creationId xmlns:a16="http://schemas.microsoft.com/office/drawing/2014/main" id="{138A39A8-BB4E-CD4E-9201-F1785C874F92}"/>
              </a:ext>
            </a:extLst>
          </p:cNvPr>
          <p:cNvSpPr>
            <a:spLocks noGrp="1"/>
          </p:cNvSpPr>
          <p:nvPr/>
        </p:nvSpPr>
        <p:spPr>
          <a:xfrm>
            <a:off x="12315640" y="3783828"/>
            <a:ext cx="885201" cy="395397"/>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120/0/15</a:t>
            </a:r>
          </a:p>
        </p:txBody>
      </p:sp>
      <p:sp>
        <p:nvSpPr>
          <p:cNvPr id="30" name="文本框 15">
            <a:extLst>
              <a:ext uri="{FF2B5EF4-FFF2-40B4-BE49-F238E27FC236}">
                <a16:creationId xmlns:a16="http://schemas.microsoft.com/office/drawing/2014/main" id="{8F53C07A-1022-C740-8F8D-97538E174D38}"/>
              </a:ext>
            </a:extLst>
          </p:cNvPr>
          <p:cNvSpPr>
            <a:spLocks noGrp="1"/>
          </p:cNvSpPr>
          <p:nvPr/>
        </p:nvSpPr>
        <p:spPr>
          <a:xfrm>
            <a:off x="12216278" y="3631294"/>
            <a:ext cx="569387" cy="131512"/>
          </a:xfrm>
          <a:prstGeom prst="rect">
            <a:avLst/>
          </a:prstGeom>
          <a:noFill/>
        </p:spPr>
        <p:txBody>
          <a:bodyPr wrap="square" lIns="0" tIns="0" rIns="0" bIns="0" anchor="b">
            <a:spAutoFit/>
          </a:bodyPr>
          <a:lstStyle/>
          <a:p>
            <a:pPr algn="ctr">
              <a:lnSpc>
                <a:spcPct val="100000"/>
              </a:lnSpc>
              <a:buNone/>
            </a:pPr>
            <a:r>
              <a:rPr sz="1000">
                <a:solidFill>
                  <a:schemeClr val="tx1"/>
                </a:solidFill>
                <a:latin typeface="Microsoft YaHei"/>
                <a:ea typeface="Microsoft YaHei"/>
                <a:cs typeface="Microsoft YaHei"/>
              </a:rPr>
              <a:t>辅助色</a:t>
            </a:r>
          </a:p>
        </p:txBody>
      </p:sp>
      <p:sp>
        <p:nvSpPr>
          <p:cNvPr id="31" name="矩形 16">
            <a:extLst>
              <a:ext uri="{FF2B5EF4-FFF2-40B4-BE49-F238E27FC236}">
                <a16:creationId xmlns:a16="http://schemas.microsoft.com/office/drawing/2014/main" id="{306A7598-C00D-994F-82DA-B39F3C2E0AAD}"/>
              </a:ext>
            </a:extLst>
          </p:cNvPr>
          <p:cNvSpPr>
            <a:spLocks noGrp="1"/>
          </p:cNvSpPr>
          <p:nvPr/>
        </p:nvSpPr>
        <p:spPr>
          <a:xfrm>
            <a:off x="12315640" y="5131937"/>
            <a:ext cx="885201" cy="395397"/>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248/181/60</a:t>
            </a:r>
          </a:p>
        </p:txBody>
      </p:sp>
      <p:sp>
        <p:nvSpPr>
          <p:cNvPr id="32" name="矩形 17">
            <a:extLst>
              <a:ext uri="{FF2B5EF4-FFF2-40B4-BE49-F238E27FC236}">
                <a16:creationId xmlns:a16="http://schemas.microsoft.com/office/drawing/2014/main" id="{C1423292-FF2F-A74C-943E-1C3C47534098}"/>
              </a:ext>
            </a:extLst>
          </p:cNvPr>
          <p:cNvSpPr>
            <a:spLocks noGrp="1"/>
          </p:cNvSpPr>
          <p:nvPr/>
        </p:nvSpPr>
        <p:spPr>
          <a:xfrm>
            <a:off x="12315640" y="4689671"/>
            <a:ext cx="885201" cy="395397"/>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235/92/1</a:t>
            </a:r>
          </a:p>
        </p:txBody>
      </p:sp>
      <p:sp>
        <p:nvSpPr>
          <p:cNvPr id="33" name="矩形 18">
            <a:extLst>
              <a:ext uri="{FF2B5EF4-FFF2-40B4-BE49-F238E27FC236}">
                <a16:creationId xmlns:a16="http://schemas.microsoft.com/office/drawing/2014/main" id="{2A29AF15-F5C4-A842-A63B-5DBA549CB92F}"/>
              </a:ext>
            </a:extLst>
          </p:cNvPr>
          <p:cNvSpPr>
            <a:spLocks noGrp="1"/>
          </p:cNvSpPr>
          <p:nvPr/>
        </p:nvSpPr>
        <p:spPr>
          <a:xfrm>
            <a:off x="12315636" y="6023709"/>
            <a:ext cx="911019" cy="395397"/>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137/137/137</a:t>
            </a:r>
          </a:p>
        </p:txBody>
      </p:sp>
      <p:sp>
        <p:nvSpPr>
          <p:cNvPr id="34" name="矩形 19">
            <a:extLst>
              <a:ext uri="{FF2B5EF4-FFF2-40B4-BE49-F238E27FC236}">
                <a16:creationId xmlns:a16="http://schemas.microsoft.com/office/drawing/2014/main" id="{E9EA970A-4D36-BC41-B8BE-40DF553320E7}"/>
              </a:ext>
            </a:extLst>
          </p:cNvPr>
          <p:cNvSpPr>
            <a:spLocks noGrp="1"/>
          </p:cNvSpPr>
          <p:nvPr/>
        </p:nvSpPr>
        <p:spPr>
          <a:xfrm>
            <a:off x="12315636" y="5581443"/>
            <a:ext cx="911019" cy="395397"/>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35/24/21</a:t>
            </a:r>
          </a:p>
        </p:txBody>
      </p:sp>
      <p:sp>
        <p:nvSpPr>
          <p:cNvPr id="35" name="矩形 22">
            <a:extLst>
              <a:ext uri="{FF2B5EF4-FFF2-40B4-BE49-F238E27FC236}">
                <a16:creationId xmlns:a16="http://schemas.microsoft.com/office/drawing/2014/main" id="{14EE21FB-1D92-0241-ABA5-5E9A6AEE0DC8}"/>
              </a:ext>
            </a:extLst>
          </p:cNvPr>
          <p:cNvSpPr>
            <a:spLocks noGrp="1"/>
          </p:cNvSpPr>
          <p:nvPr/>
        </p:nvSpPr>
        <p:spPr>
          <a:xfrm>
            <a:off x="12315636" y="6471222"/>
            <a:ext cx="911019" cy="395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bg1"/>
                </a:solidFill>
                <a:latin typeface="Arial"/>
                <a:ea typeface="Arial"/>
                <a:cs typeface="Arial"/>
              </a:rPr>
              <a:t>RGB 221/221/221</a:t>
            </a:r>
          </a:p>
        </p:txBody>
      </p:sp>
      <p:sp>
        <p:nvSpPr>
          <p:cNvPr id="36" name="矩形 12">
            <a:extLst>
              <a:ext uri="{FF2B5EF4-FFF2-40B4-BE49-F238E27FC236}">
                <a16:creationId xmlns:a16="http://schemas.microsoft.com/office/drawing/2014/main" id="{883734A3-2645-434A-9DCC-1416B6C687CC}"/>
              </a:ext>
            </a:extLst>
          </p:cNvPr>
          <p:cNvSpPr>
            <a:spLocks noGrp="1"/>
          </p:cNvSpPr>
          <p:nvPr/>
        </p:nvSpPr>
        <p:spPr>
          <a:xfrm>
            <a:off x="13288175" y="4233909"/>
            <a:ext cx="885201" cy="395397"/>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233/140/128</a:t>
            </a:r>
          </a:p>
        </p:txBody>
      </p:sp>
      <p:sp>
        <p:nvSpPr>
          <p:cNvPr id="37" name="矩形 13">
            <a:extLst>
              <a:ext uri="{FF2B5EF4-FFF2-40B4-BE49-F238E27FC236}">
                <a16:creationId xmlns:a16="http://schemas.microsoft.com/office/drawing/2014/main" id="{1FF13552-FB3D-134A-A80A-6CFB35DFE1A1}"/>
              </a:ext>
            </a:extLst>
          </p:cNvPr>
          <p:cNvSpPr>
            <a:spLocks noGrp="1"/>
          </p:cNvSpPr>
          <p:nvPr/>
        </p:nvSpPr>
        <p:spPr>
          <a:xfrm>
            <a:off x="13288175" y="3783828"/>
            <a:ext cx="885201" cy="395397"/>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159/0/1</a:t>
            </a:r>
          </a:p>
        </p:txBody>
      </p:sp>
      <p:sp>
        <p:nvSpPr>
          <p:cNvPr id="38" name="矩形 16">
            <a:extLst>
              <a:ext uri="{FF2B5EF4-FFF2-40B4-BE49-F238E27FC236}">
                <a16:creationId xmlns:a16="http://schemas.microsoft.com/office/drawing/2014/main" id="{0A96471B-CB12-1443-B01F-C14C9112C149}"/>
              </a:ext>
            </a:extLst>
          </p:cNvPr>
          <p:cNvSpPr>
            <a:spLocks noGrp="1"/>
          </p:cNvSpPr>
          <p:nvPr/>
        </p:nvSpPr>
        <p:spPr>
          <a:xfrm>
            <a:off x="13288175" y="5131937"/>
            <a:ext cx="885201" cy="395397"/>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bg1"/>
                </a:solidFill>
                <a:latin typeface="Arial"/>
                <a:ea typeface="Arial"/>
                <a:cs typeface="Arial"/>
              </a:rPr>
              <a:t>RGB 245/220/87</a:t>
            </a:r>
          </a:p>
        </p:txBody>
      </p:sp>
      <p:sp>
        <p:nvSpPr>
          <p:cNvPr id="39" name="矩形 17">
            <a:extLst>
              <a:ext uri="{FF2B5EF4-FFF2-40B4-BE49-F238E27FC236}">
                <a16:creationId xmlns:a16="http://schemas.microsoft.com/office/drawing/2014/main" id="{61890D59-CF8B-1449-A836-3A304EC9A907}"/>
              </a:ext>
            </a:extLst>
          </p:cNvPr>
          <p:cNvSpPr>
            <a:spLocks noGrp="1"/>
          </p:cNvSpPr>
          <p:nvPr/>
        </p:nvSpPr>
        <p:spPr>
          <a:xfrm>
            <a:off x="13288175" y="4689671"/>
            <a:ext cx="885201" cy="395397"/>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240/133/0</a:t>
            </a:r>
          </a:p>
        </p:txBody>
      </p:sp>
      <p:sp>
        <p:nvSpPr>
          <p:cNvPr id="40" name="矩形 18">
            <a:extLst>
              <a:ext uri="{FF2B5EF4-FFF2-40B4-BE49-F238E27FC236}">
                <a16:creationId xmlns:a16="http://schemas.microsoft.com/office/drawing/2014/main" id="{0466A1E1-E7C7-FD49-9880-9E44BED19FF5}"/>
              </a:ext>
            </a:extLst>
          </p:cNvPr>
          <p:cNvSpPr>
            <a:spLocks noGrp="1"/>
          </p:cNvSpPr>
          <p:nvPr/>
        </p:nvSpPr>
        <p:spPr>
          <a:xfrm>
            <a:off x="13288171" y="6023709"/>
            <a:ext cx="911019" cy="395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181/181/181</a:t>
            </a:r>
          </a:p>
        </p:txBody>
      </p:sp>
      <p:sp>
        <p:nvSpPr>
          <p:cNvPr id="42" name="矩形 19">
            <a:extLst>
              <a:ext uri="{FF2B5EF4-FFF2-40B4-BE49-F238E27FC236}">
                <a16:creationId xmlns:a16="http://schemas.microsoft.com/office/drawing/2014/main" id="{B21AD6AC-1275-0142-A9EA-D77B26CB40EF}"/>
              </a:ext>
            </a:extLst>
          </p:cNvPr>
          <p:cNvSpPr>
            <a:spLocks noGrp="1"/>
          </p:cNvSpPr>
          <p:nvPr/>
        </p:nvSpPr>
        <p:spPr>
          <a:xfrm>
            <a:off x="13288171" y="5581443"/>
            <a:ext cx="911019" cy="395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tx2"/>
                </a:solidFill>
                <a:latin typeface="Arial"/>
                <a:ea typeface="Arial"/>
                <a:cs typeface="Arial"/>
              </a:rPr>
              <a:t>RGB 89/87/87</a:t>
            </a:r>
          </a:p>
        </p:txBody>
      </p:sp>
      <p:sp>
        <p:nvSpPr>
          <p:cNvPr id="43" name="矩形 22">
            <a:extLst>
              <a:ext uri="{FF2B5EF4-FFF2-40B4-BE49-F238E27FC236}">
                <a16:creationId xmlns:a16="http://schemas.microsoft.com/office/drawing/2014/main" id="{238BAC2A-AE09-A84D-875D-8472236D6610}"/>
              </a:ext>
            </a:extLst>
          </p:cNvPr>
          <p:cNvSpPr>
            <a:spLocks noGrp="1"/>
          </p:cNvSpPr>
          <p:nvPr/>
        </p:nvSpPr>
        <p:spPr>
          <a:xfrm>
            <a:off x="13288171" y="6471222"/>
            <a:ext cx="911019" cy="395397"/>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ct val="100000"/>
              </a:lnSpc>
              <a:buNone/>
            </a:pPr>
            <a:r>
              <a:rPr sz="700" b="1">
                <a:solidFill>
                  <a:schemeClr val="bg1"/>
                </a:solidFill>
                <a:latin typeface="Arial"/>
                <a:ea typeface="Arial"/>
                <a:cs typeface="Arial"/>
              </a:rPr>
              <a:t>RGB 255/255/255</a:t>
            </a:r>
          </a:p>
        </p:txBody>
      </p:sp>
    </p:spTree>
    <p:extLst>
      <p:ext uri="{BB962C8B-B14F-4D97-AF65-F5344CB8AC3E}">
        <p14:creationId xmlns:p14="http://schemas.microsoft.com/office/powerpoint/2010/main" val="1113538632"/>
      </p:ext>
    </p:extLst>
  </p:cSld>
  <p:clrMap bg1="lt1" tx1="dk1" bg2="lt2" tx2="dk2" accent1="accent1" accent2="accent2" accent3="accent3" accent4="accent4" accent5="accent5" accent6="accent6" hlink="hlink" folHlink="folHlink"/>
  <p:sldLayoutIdLst>
    <p:sldLayoutId id="2147483750" r:id="rId1"/>
    <p:sldLayoutId id="2147483751" r:id="rId2"/>
  </p:sldLayoutIdLst>
  <p:hf hdr="0" ftr="0" dt="0"/>
  <p:txStyles>
    <p:titleStyle>
      <a:lvl1pPr algn="l" defTabSz="1187798">
        <a:lnSpc>
          <a:spcPct val="90000"/>
        </a:lnSpc>
        <a:spcBef>
          <a:spcPct val="0"/>
        </a:spcBef>
        <a:buNone/>
        <a:defRPr sz="5716" kern="1200">
          <a:solidFill>
            <a:schemeClr val="tx1"/>
          </a:solidFill>
          <a:latin typeface="+mj-lt"/>
          <a:ea typeface="+mj-lt"/>
          <a:cs typeface="+mj-lt"/>
        </a:defRPr>
      </a:lvl1pPr>
    </p:titleStyle>
    <p:bodyStyle>
      <a:lvl1pPr marL="296950" indent="-296950" algn="l" defTabSz="1187798">
        <a:lnSpc>
          <a:spcPct val="90000"/>
        </a:lnSpc>
        <a:spcBef>
          <a:spcPts val="1299"/>
        </a:spcBef>
        <a:buFont typeface="Arial"/>
        <a:buChar char="•"/>
        <a:defRPr sz="3636" kern="1200">
          <a:solidFill>
            <a:schemeClr val="tx1"/>
          </a:solidFill>
          <a:latin typeface="+mn-lt"/>
          <a:ea typeface="+mn-lt"/>
          <a:cs typeface="+mn-lt"/>
        </a:defRPr>
      </a:lvl1pPr>
      <a:lvl2pPr marL="890849" indent="-296950" algn="l" defTabSz="1187798">
        <a:lnSpc>
          <a:spcPct val="90000"/>
        </a:lnSpc>
        <a:spcBef>
          <a:spcPts val="650"/>
        </a:spcBef>
        <a:buFont typeface="Arial"/>
        <a:buChar char="•"/>
        <a:defRPr sz="3118" kern="1200">
          <a:solidFill>
            <a:schemeClr val="tx1"/>
          </a:solidFill>
          <a:latin typeface="+mn-lt"/>
          <a:ea typeface="+mn-lt"/>
          <a:cs typeface="+mn-lt"/>
        </a:defRPr>
      </a:lvl2pPr>
      <a:lvl3pPr marL="1484748" indent="-296950" algn="l" defTabSz="1187798">
        <a:lnSpc>
          <a:spcPct val="90000"/>
        </a:lnSpc>
        <a:spcBef>
          <a:spcPts val="650"/>
        </a:spcBef>
        <a:buFont typeface="Arial"/>
        <a:buChar char="•"/>
        <a:defRPr sz="2598" kern="1200">
          <a:solidFill>
            <a:schemeClr val="tx1"/>
          </a:solidFill>
          <a:latin typeface="+mn-lt"/>
          <a:ea typeface="+mn-lt"/>
          <a:cs typeface="+mn-lt"/>
        </a:defRPr>
      </a:lvl3pPr>
      <a:lvl4pPr marL="2078648" indent="-296950" algn="l" defTabSz="1187798">
        <a:lnSpc>
          <a:spcPct val="90000"/>
        </a:lnSpc>
        <a:spcBef>
          <a:spcPts val="650"/>
        </a:spcBef>
        <a:buFont typeface="Arial"/>
        <a:buChar char="•"/>
        <a:defRPr sz="2338" kern="1200">
          <a:solidFill>
            <a:schemeClr val="tx1"/>
          </a:solidFill>
          <a:latin typeface="+mn-lt"/>
          <a:ea typeface="+mn-lt"/>
          <a:cs typeface="+mn-lt"/>
        </a:defRPr>
      </a:lvl4pPr>
      <a:lvl5pPr marL="2672547" indent="-296950" algn="l" defTabSz="1187798">
        <a:lnSpc>
          <a:spcPct val="90000"/>
        </a:lnSpc>
        <a:spcBef>
          <a:spcPts val="650"/>
        </a:spcBef>
        <a:buFont typeface="Arial"/>
        <a:buChar char="•"/>
        <a:defRPr sz="2338" kern="1200">
          <a:solidFill>
            <a:schemeClr val="tx1"/>
          </a:solidFill>
          <a:latin typeface="+mn-lt"/>
          <a:ea typeface="+mn-lt"/>
          <a:cs typeface="+mn-lt"/>
        </a:defRPr>
      </a:lvl5pPr>
      <a:lvl6pPr marL="3266447" indent="-296950" algn="l" defTabSz="1187798">
        <a:lnSpc>
          <a:spcPct val="90000"/>
        </a:lnSpc>
        <a:spcBef>
          <a:spcPts val="650"/>
        </a:spcBef>
        <a:buFont typeface="Arial"/>
        <a:buChar char="•"/>
        <a:defRPr sz="2338" kern="1200">
          <a:solidFill>
            <a:schemeClr val="tx1"/>
          </a:solidFill>
          <a:latin typeface="+mn-lt"/>
          <a:ea typeface="+mn-lt"/>
          <a:cs typeface="+mn-lt"/>
        </a:defRPr>
      </a:lvl6pPr>
      <a:lvl7pPr marL="3860346" indent="-296950" algn="l" defTabSz="1187798">
        <a:lnSpc>
          <a:spcPct val="90000"/>
        </a:lnSpc>
        <a:spcBef>
          <a:spcPts val="650"/>
        </a:spcBef>
        <a:buFont typeface="Arial"/>
        <a:buChar char="•"/>
        <a:defRPr sz="2338" kern="1200">
          <a:solidFill>
            <a:schemeClr val="tx1"/>
          </a:solidFill>
          <a:latin typeface="+mn-lt"/>
          <a:ea typeface="+mn-lt"/>
          <a:cs typeface="+mn-lt"/>
        </a:defRPr>
      </a:lvl7pPr>
      <a:lvl8pPr marL="4454245" indent="-296950" algn="l" defTabSz="1187798">
        <a:lnSpc>
          <a:spcPct val="90000"/>
        </a:lnSpc>
        <a:spcBef>
          <a:spcPts val="650"/>
        </a:spcBef>
        <a:buFont typeface="Arial"/>
        <a:buChar char="•"/>
        <a:defRPr sz="2338" kern="1200">
          <a:solidFill>
            <a:schemeClr val="tx1"/>
          </a:solidFill>
          <a:latin typeface="+mn-lt"/>
          <a:ea typeface="+mn-lt"/>
          <a:cs typeface="+mn-lt"/>
        </a:defRPr>
      </a:lvl8pPr>
      <a:lvl9pPr marL="5048144" indent="-296950" algn="l" defTabSz="1187798">
        <a:lnSpc>
          <a:spcPct val="90000"/>
        </a:lnSpc>
        <a:spcBef>
          <a:spcPts val="650"/>
        </a:spcBef>
        <a:buFont typeface="Arial"/>
        <a:buChar char="•"/>
        <a:defRPr sz="2338" kern="1200">
          <a:solidFill>
            <a:schemeClr val="tx1"/>
          </a:solidFill>
          <a:latin typeface="+mn-lt"/>
          <a:ea typeface="+mn-lt"/>
          <a:cs typeface="+mn-lt"/>
        </a:defRPr>
      </a:lvl9pPr>
    </p:bodyStyle>
    <p:otherStyle>
      <a:lvl1pPr marL="0" algn="l" defTabSz="1187798">
        <a:buNone/>
        <a:defRPr sz="2338" kern="1200">
          <a:solidFill>
            <a:schemeClr val="tx1"/>
          </a:solidFill>
          <a:latin typeface="+mn-lt"/>
          <a:ea typeface="+mn-lt"/>
          <a:cs typeface="+mn-lt"/>
        </a:defRPr>
      </a:lvl1pPr>
      <a:lvl2pPr marL="593900" algn="l" defTabSz="1187798">
        <a:buNone/>
        <a:defRPr sz="2338" kern="1200">
          <a:solidFill>
            <a:schemeClr val="tx1"/>
          </a:solidFill>
          <a:latin typeface="+mn-lt"/>
          <a:ea typeface="+mn-lt"/>
          <a:cs typeface="+mn-lt"/>
        </a:defRPr>
      </a:lvl2pPr>
      <a:lvl3pPr marL="1187798" algn="l" defTabSz="1187798">
        <a:buNone/>
        <a:defRPr sz="2338" kern="1200">
          <a:solidFill>
            <a:schemeClr val="tx1"/>
          </a:solidFill>
          <a:latin typeface="+mn-lt"/>
          <a:ea typeface="+mn-lt"/>
          <a:cs typeface="+mn-lt"/>
        </a:defRPr>
      </a:lvl3pPr>
      <a:lvl4pPr marL="1781699" algn="l" defTabSz="1187798">
        <a:buNone/>
        <a:defRPr sz="2338" kern="1200">
          <a:solidFill>
            <a:schemeClr val="tx1"/>
          </a:solidFill>
          <a:latin typeface="+mn-lt"/>
          <a:ea typeface="+mn-lt"/>
          <a:cs typeface="+mn-lt"/>
        </a:defRPr>
      </a:lvl4pPr>
      <a:lvl5pPr marL="2375598" algn="l" defTabSz="1187798">
        <a:buNone/>
        <a:defRPr sz="2338" kern="1200">
          <a:solidFill>
            <a:schemeClr val="tx1"/>
          </a:solidFill>
          <a:latin typeface="+mn-lt"/>
          <a:ea typeface="+mn-lt"/>
          <a:cs typeface="+mn-lt"/>
        </a:defRPr>
      </a:lvl5pPr>
      <a:lvl6pPr marL="2969497" algn="l" defTabSz="1187798">
        <a:buNone/>
        <a:defRPr sz="2338" kern="1200">
          <a:solidFill>
            <a:schemeClr val="tx1"/>
          </a:solidFill>
          <a:latin typeface="+mn-lt"/>
          <a:ea typeface="+mn-lt"/>
          <a:cs typeface="+mn-lt"/>
        </a:defRPr>
      </a:lvl6pPr>
      <a:lvl7pPr marL="3563396" algn="l" defTabSz="1187798">
        <a:buNone/>
        <a:defRPr sz="2338" kern="1200">
          <a:solidFill>
            <a:schemeClr val="tx1"/>
          </a:solidFill>
          <a:latin typeface="+mn-lt"/>
          <a:ea typeface="+mn-lt"/>
          <a:cs typeface="+mn-lt"/>
        </a:defRPr>
      </a:lvl7pPr>
      <a:lvl8pPr marL="4157297" algn="l" defTabSz="1187798">
        <a:buNone/>
        <a:defRPr sz="2338" kern="1200">
          <a:solidFill>
            <a:schemeClr val="tx1"/>
          </a:solidFill>
          <a:latin typeface="+mn-lt"/>
          <a:ea typeface="+mn-lt"/>
          <a:cs typeface="+mn-lt"/>
        </a:defRPr>
      </a:lvl8pPr>
      <a:lvl9pPr marL="4751195" algn="l" defTabSz="1187798">
        <a:buNone/>
        <a:defRPr sz="2338"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3503965" cy="230832"/>
          </a:xfrm>
          <a:prstGeom prst="rect">
            <a:avLst/>
          </a:prstGeom>
          <a:noFill/>
        </p:spPr>
        <p:txBody>
          <a:bodyPr wrap="square" rtlCol="0">
            <a:spAutoFit/>
          </a:bodyPr>
          <a:lstStyle/>
          <a:p>
            <a:r>
              <a:rPr lang="en-US" altLang="zh-CN" sz="900" b="0" kern="1200" baseline="0" dirty="0">
                <a:solidFill>
                  <a:srgbClr val="1D1D1B"/>
                </a:solidFill>
                <a:latin typeface="Arial" panose="020B0604020202020204" pitchFamily="34" charset="0"/>
                <a:ea typeface="+mn-ea"/>
                <a:cs typeface="Arial" panose="020B0604020202020204" pitchFamily="34" charset="0"/>
              </a:rPr>
              <a:t>Huawei Proprietary - Restricted Distribution</a:t>
            </a:r>
            <a:endParaRPr lang="en-US" sz="900" b="0" kern="1200" baseline="0" dirty="0">
              <a:solidFill>
                <a:srgbClr val="1D1D1B"/>
              </a:solidFill>
              <a:latin typeface="Arial" panose="020B0604020202020204" pitchFamily="34" charset="0"/>
              <a:ea typeface="+mn-ea"/>
              <a:cs typeface="Arial" panose="020B0604020202020204" pitchFamily="34" charset="0"/>
            </a:endParaRPr>
          </a:p>
        </p:txBody>
      </p:sp>
      <p:sp>
        <p:nvSpPr>
          <p:cNvPr id="4" name="TextBox 3"/>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t>‹#›</a:t>
            </a:fld>
            <a:endParaRPr lang="en-US" sz="900" dirty="0">
              <a:solidFill>
                <a:srgbClr val="1D1D1B"/>
              </a:solidFill>
              <a:latin typeface="Arial" panose="020B0604020202020204" pitchFamily="34" charset="0"/>
              <a:cs typeface="Arial" panose="020B0604020202020204" pitchFamily="34" charset="0"/>
            </a:endParaRPr>
          </a:p>
        </p:txBody>
      </p:sp>
      <p:grpSp>
        <p:nvGrpSpPr>
          <p:cNvPr id="88" name="Group 87"/>
          <p:cNvGrpSpPr>
            <a:grpSpLocks noChangeAspect="1"/>
          </p:cNvGrpSpPr>
          <p:nvPr userDrawn="1"/>
        </p:nvGrpSpPr>
        <p:grpSpPr>
          <a:xfrm>
            <a:off x="12290470" y="2625389"/>
            <a:ext cx="1967973" cy="4233515"/>
            <a:chOff x="5343885" y="-48857"/>
            <a:chExt cx="3271316" cy="7037279"/>
          </a:xfrm>
        </p:grpSpPr>
        <p:sp>
          <p:nvSpPr>
            <p:cNvPr id="89"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p>
          </p:txBody>
        </p:sp>
        <p:sp>
          <p:nvSpPr>
            <p:cNvPr id="90"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公司辅助色</a:t>
              </a:r>
            </a:p>
          </p:txBody>
        </p:sp>
        <p:sp>
          <p:nvSpPr>
            <p:cNvPr id="91"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p>
          </p:txBody>
        </p:sp>
        <p:sp>
          <p:nvSpPr>
            <p:cNvPr id="92"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p>
          </p:txBody>
        </p:sp>
        <p:sp>
          <p:nvSpPr>
            <p:cNvPr id="93"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p>
          </p:txBody>
        </p:sp>
        <p:sp>
          <p:nvSpPr>
            <p:cNvPr id="94"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p>
          </p:txBody>
        </p:sp>
        <p:sp>
          <p:nvSpPr>
            <p:cNvPr id="95"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p>
          </p:txBody>
        </p:sp>
        <p:sp>
          <p:nvSpPr>
            <p:cNvPr id="96"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p>
          </p:txBody>
        </p:sp>
        <p:sp>
          <p:nvSpPr>
            <p:cNvPr id="97"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pitchFamily="34" charset="-122"/>
                  <a:ea typeface="微软雅黑" panose="020B0503020204020204" pitchFamily="34" charset="-122"/>
                </a:rPr>
                <a:t>公司色</a:t>
              </a:r>
            </a:p>
          </p:txBody>
        </p:sp>
        <p:sp>
          <p:nvSpPr>
            <p:cNvPr id="98"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p>
          </p:txBody>
        </p:sp>
        <p:sp>
          <p:nvSpPr>
            <p:cNvPr id="99"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p>
          </p:txBody>
        </p:sp>
        <p:sp>
          <p:nvSpPr>
            <p:cNvPr id="100"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p>
          </p:txBody>
        </p:sp>
        <p:sp>
          <p:nvSpPr>
            <p:cNvPr id="101"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p>
          </p:txBody>
        </p:sp>
        <p:sp>
          <p:nvSpPr>
            <p:cNvPr id="102" name="矩形 13"/>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p>
          </p:txBody>
        </p:sp>
        <p:sp>
          <p:nvSpPr>
            <p:cNvPr id="103" name="矩形 13"/>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p>
          </p:txBody>
        </p:sp>
        <p:sp>
          <p:nvSpPr>
            <p:cNvPr id="104" name="矩形 13"/>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p>
          </p:txBody>
        </p:sp>
        <p:sp>
          <p:nvSpPr>
            <p:cNvPr id="105"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p>
          </p:txBody>
        </p:sp>
        <p:sp>
          <p:nvSpPr>
            <p:cNvPr id="106"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p>
          </p:txBody>
        </p:sp>
        <p:sp>
          <p:nvSpPr>
            <p:cNvPr id="107"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p>
          </p:txBody>
        </p:sp>
        <p:sp>
          <p:nvSpPr>
            <p:cNvPr id="108"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p>
          </p:txBody>
        </p:sp>
        <p:sp>
          <p:nvSpPr>
            <p:cNvPr id="109"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p>
          </p:txBody>
        </p:sp>
        <p:sp>
          <p:nvSpPr>
            <p:cNvPr id="110"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p>
          </p:txBody>
        </p:sp>
        <p:sp>
          <p:nvSpPr>
            <p:cNvPr id="111"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p>
          </p:txBody>
        </p:sp>
        <p:sp>
          <p:nvSpPr>
            <p:cNvPr id="112"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p>
          </p:txBody>
        </p:sp>
        <p:sp>
          <p:nvSpPr>
            <p:cNvPr id="113"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p>
          </p:txBody>
        </p:sp>
        <p:sp>
          <p:nvSpPr>
            <p:cNvPr id="114"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p>
          </p:txBody>
        </p:sp>
        <p:sp>
          <p:nvSpPr>
            <p:cNvPr id="115"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p>
          </p:txBody>
        </p:sp>
        <p:sp>
          <p:nvSpPr>
            <p:cNvPr id="116"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p>
          </p:txBody>
        </p:sp>
        <p:sp>
          <p:nvSpPr>
            <p:cNvPr id="117" name="矩形 13"/>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p>
          </p:txBody>
        </p:sp>
        <p:sp>
          <p:nvSpPr>
            <p:cNvPr id="118" name="矩形 13"/>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p>
          </p:txBody>
        </p:sp>
        <p:sp>
          <p:nvSpPr>
            <p:cNvPr id="119" name="矩形 13"/>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p>
          </p:txBody>
        </p:sp>
        <p:sp>
          <p:nvSpPr>
            <p:cNvPr id="120" name="矩形 13"/>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190/233/238</a:t>
              </a:r>
            </a:p>
          </p:txBody>
        </p:sp>
        <p:sp>
          <p:nvSpPr>
            <p:cNvPr id="121"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p>
          </p:txBody>
        </p:sp>
        <p:sp>
          <p:nvSpPr>
            <p:cNvPr id="122"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p>
          </p:txBody>
        </p:sp>
        <p:sp>
          <p:nvSpPr>
            <p:cNvPr id="123"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0/0/0</a:t>
              </a:r>
            </a:p>
          </p:txBody>
        </p:sp>
        <p:sp>
          <p:nvSpPr>
            <p:cNvPr id="124"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p>
          </p:txBody>
        </p:sp>
        <p:sp>
          <p:nvSpPr>
            <p:cNvPr id="125" name="矩形 13"/>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p>
          </p:txBody>
        </p:sp>
        <p:sp>
          <p:nvSpPr>
            <p:cNvPr id="126" name="矩形 13"/>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p>
          </p:txBody>
        </p:sp>
        <p:sp>
          <p:nvSpPr>
            <p:cNvPr id="127" name="矩形 13"/>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p>
          </p:txBody>
        </p:sp>
        <p:sp>
          <p:nvSpPr>
            <p:cNvPr id="128" name="矩形 13"/>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p>
          </p:txBody>
        </p:sp>
      </p:grpSp>
      <p:pic>
        <p:nvPicPr>
          <p:cNvPr id="47" name="Picture 4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Tree>
    <p:extLst>
      <p:ext uri="{BB962C8B-B14F-4D97-AF65-F5344CB8AC3E}">
        <p14:creationId xmlns:p14="http://schemas.microsoft.com/office/powerpoint/2010/main" val="1242169966"/>
      </p:ext>
    </p:extLst>
  </p:cSld>
  <p:clrMap bg1="lt1" tx1="dk1" bg2="lt2" tx2="dk2" accent1="accent1" accent2="accent2" accent3="accent3" accent4="accent4" accent5="accent5" accent6="accent6" hlink="hlink" folHlink="folHlink"/>
  <p:sldLayoutIdLst>
    <p:sldLayoutId id="2147483753" r:id="rId1"/>
    <p:sldLayoutId id="2147483754" r:id="rId2"/>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379" y="274638"/>
            <a:ext cx="8232815"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379" y="1600201"/>
            <a:ext cx="8232815"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378" y="6356351"/>
            <a:ext cx="2134434"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5421" y="6356351"/>
            <a:ext cx="289673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5760" y="6356351"/>
            <a:ext cx="213443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52674883"/>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5.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xml"/><Relationship Id="rId1" Type="http://schemas.openxmlformats.org/officeDocument/2006/relationships/tags" Target="../tags/tag34.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80.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80.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80.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80.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80.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80.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8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8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82.xml"/><Relationship Id="rId6" Type="http://schemas.openxmlformats.org/officeDocument/2006/relationships/image" Target="../media/image28.png"/><Relationship Id="rId5" Type="http://schemas.openxmlformats.org/officeDocument/2006/relationships/hyperlink" Target="https://arxiv.org/html/2605.08933v1" TargetMode="Externa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9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91.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1.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9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5471962" y="2055861"/>
            <a:ext cx="5333198" cy="1339450"/>
          </a:xfrm>
          <a:prstGeom prst="rect">
            <a:avLst/>
          </a:prstGeom>
        </p:spPr>
        <p:txBody>
          <a:bodyPr>
            <a:normAutofit/>
          </a:bodyPr>
          <a:lstStyle>
            <a:lvl1pPr algn="l" defTabSz="914400" rtl="0" eaLnBrk="1" latinLnBrk="0" hangingPunct="1">
              <a:lnSpc>
                <a:spcPts val="344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a:lstStyle>
          <a:p>
            <a:pPr defTabSz="913765">
              <a:lnSpc>
                <a:spcPct val="150000"/>
              </a:lnSpc>
            </a:pPr>
            <a:r>
              <a:rPr lang="en-US" altLang="zh-CN" sz="2400" dirty="0">
                <a:solidFill>
                  <a:schemeClr val="bg1"/>
                </a:solidFill>
                <a:sym typeface="+mn-ea"/>
              </a:rPr>
              <a:t>KIMI K3</a:t>
            </a:r>
            <a:r>
              <a:rPr lang="en-US" altLang="zh-CN" sz="2400" b="1" dirty="0">
                <a:solidFill>
                  <a:schemeClr val="bg1"/>
                </a:solidFill>
              </a:rPr>
              <a:t> </a:t>
            </a:r>
            <a:r>
              <a:rPr lang="zh-CN" altLang="en-US" sz="2400" b="1" dirty="0">
                <a:solidFill>
                  <a:srgbClr val="1D1D1A"/>
                </a:solidFill>
              </a:rPr>
              <a:t>模型结构分析</a:t>
            </a:r>
            <a:endParaRPr lang="en-US" altLang="zh-CN" sz="2400" b="1" dirty="0">
              <a:solidFill>
                <a:srgbClr val="1D1D1A"/>
              </a:solidFill>
            </a:endParaRPr>
          </a:p>
          <a:p>
            <a:pPr defTabSz="913765">
              <a:lnSpc>
                <a:spcPct val="150000"/>
              </a:lnSpc>
            </a:pPr>
            <a:endParaRPr lang="en-US" altLang="zh-CN" sz="2400" b="1" dirty="0">
              <a:solidFill>
                <a:srgbClr val="1D1D1A"/>
              </a:solidFill>
            </a:endParaRPr>
          </a:p>
          <a:p>
            <a:pPr defTabSz="913765">
              <a:lnSpc>
                <a:spcPct val="150000"/>
              </a:lnSpc>
            </a:pPr>
            <a:endParaRPr lang="en-US" altLang="zh-CN" sz="2400" b="1" dirty="0">
              <a:solidFill>
                <a:srgbClr val="1D1D1A"/>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bwMode="auto">
          <a:xfrm>
            <a:off x="171450" y="73118"/>
            <a:ext cx="12267344" cy="550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038" tIns="39019" rIns="78038" bIns="39019" numCol="1" anchor="ctr" anchorCtr="0" compatLnSpc="1"/>
          <a:lstStyle>
            <a:lvl1pPr algn="l" defTabSz="775970" rtl="0" eaLnBrk="0" fontAlgn="base" hangingPunct="0">
              <a:spcBef>
                <a:spcPct val="0"/>
              </a:spcBef>
              <a:spcAft>
                <a:spcPct val="0"/>
              </a:spcAft>
              <a:defRPr sz="3000" b="1">
                <a:solidFill>
                  <a:srgbClr val="990000"/>
                </a:solidFill>
                <a:latin typeface="+mj-lt"/>
                <a:ea typeface="+mj-ea"/>
                <a:cs typeface="+mj-cs"/>
              </a:defRPr>
            </a:lvl1pPr>
            <a:lvl2pPr algn="l" defTabSz="775970" rtl="0" eaLnBrk="0" fontAlgn="base" hangingPunct="0">
              <a:spcBef>
                <a:spcPct val="0"/>
              </a:spcBef>
              <a:spcAft>
                <a:spcPct val="0"/>
              </a:spcAft>
              <a:defRPr sz="3000" b="1">
                <a:solidFill>
                  <a:srgbClr val="990000"/>
                </a:solidFill>
                <a:latin typeface="Arial" panose="020B0604020202090204" pitchFamily="34" charset="0"/>
                <a:ea typeface="宋体" pitchFamily="2" charset="-122"/>
              </a:defRPr>
            </a:lvl2pPr>
            <a:lvl3pPr algn="l" defTabSz="775970" rtl="0" eaLnBrk="0" fontAlgn="base" hangingPunct="0">
              <a:spcBef>
                <a:spcPct val="0"/>
              </a:spcBef>
              <a:spcAft>
                <a:spcPct val="0"/>
              </a:spcAft>
              <a:defRPr sz="3000" b="1">
                <a:solidFill>
                  <a:srgbClr val="990000"/>
                </a:solidFill>
                <a:latin typeface="Arial" panose="020B0604020202090204" pitchFamily="34" charset="0"/>
                <a:ea typeface="宋体" pitchFamily="2" charset="-122"/>
              </a:defRPr>
            </a:lvl3pPr>
            <a:lvl4pPr algn="l" defTabSz="775970" rtl="0" eaLnBrk="0" fontAlgn="base" hangingPunct="0">
              <a:spcBef>
                <a:spcPct val="0"/>
              </a:spcBef>
              <a:spcAft>
                <a:spcPct val="0"/>
              </a:spcAft>
              <a:defRPr sz="3000" b="1">
                <a:solidFill>
                  <a:srgbClr val="990000"/>
                </a:solidFill>
                <a:latin typeface="Arial" panose="020B0604020202090204" pitchFamily="34" charset="0"/>
                <a:ea typeface="宋体" pitchFamily="2" charset="-122"/>
              </a:defRPr>
            </a:lvl4pPr>
            <a:lvl5pPr algn="l" defTabSz="775970" rtl="0" eaLnBrk="0" fontAlgn="base" hangingPunct="0">
              <a:spcBef>
                <a:spcPct val="0"/>
              </a:spcBef>
              <a:spcAft>
                <a:spcPct val="0"/>
              </a:spcAft>
              <a:defRPr sz="3000" b="1">
                <a:solidFill>
                  <a:srgbClr val="990000"/>
                </a:solidFill>
                <a:latin typeface="Arial" panose="020B0604020202090204" pitchFamily="34" charset="0"/>
                <a:ea typeface="宋体" pitchFamily="2" charset="-122"/>
              </a:defRPr>
            </a:lvl5pPr>
            <a:lvl6pPr marL="455930" algn="l" defTabSz="782320" rtl="0" fontAlgn="base">
              <a:spcBef>
                <a:spcPct val="0"/>
              </a:spcBef>
              <a:spcAft>
                <a:spcPct val="0"/>
              </a:spcAft>
              <a:defRPr sz="3000" b="1">
                <a:solidFill>
                  <a:srgbClr val="990000"/>
                </a:solidFill>
                <a:latin typeface="Arial" panose="020B0604020202090204" pitchFamily="34" charset="0"/>
                <a:ea typeface="宋体" pitchFamily="2" charset="-122"/>
              </a:defRPr>
            </a:lvl6pPr>
            <a:lvl7pPr marL="911860" algn="l" defTabSz="782320" rtl="0" fontAlgn="base">
              <a:spcBef>
                <a:spcPct val="0"/>
              </a:spcBef>
              <a:spcAft>
                <a:spcPct val="0"/>
              </a:spcAft>
              <a:defRPr sz="3000" b="1">
                <a:solidFill>
                  <a:srgbClr val="990000"/>
                </a:solidFill>
                <a:latin typeface="Arial" panose="020B0604020202090204" pitchFamily="34" charset="0"/>
                <a:ea typeface="宋体" pitchFamily="2" charset="-122"/>
              </a:defRPr>
            </a:lvl7pPr>
            <a:lvl8pPr marL="1368425" algn="l" defTabSz="782320" rtl="0" fontAlgn="base">
              <a:spcBef>
                <a:spcPct val="0"/>
              </a:spcBef>
              <a:spcAft>
                <a:spcPct val="0"/>
              </a:spcAft>
              <a:defRPr sz="3000" b="1">
                <a:solidFill>
                  <a:srgbClr val="990000"/>
                </a:solidFill>
                <a:latin typeface="Arial" panose="020B0604020202090204" pitchFamily="34" charset="0"/>
                <a:ea typeface="宋体" pitchFamily="2" charset="-122"/>
              </a:defRPr>
            </a:lvl8pPr>
            <a:lvl9pPr marL="1824355" algn="l" defTabSz="782320" rtl="0" fontAlgn="base">
              <a:spcBef>
                <a:spcPct val="0"/>
              </a:spcBef>
              <a:spcAft>
                <a:spcPct val="0"/>
              </a:spcAft>
              <a:defRPr sz="3000" b="1">
                <a:solidFill>
                  <a:srgbClr val="990000"/>
                </a:solidFill>
                <a:latin typeface="Arial" panose="020B0604020202090204" pitchFamily="34" charset="0"/>
                <a:ea typeface="宋体" pitchFamily="2" charset="-122"/>
              </a:defRPr>
            </a:lvl9pPr>
          </a:lstStyle>
          <a:p>
            <a:pPr lvl="0" indent="0" algn="l" defTabSz="913130" rtl="0" latinLnBrk="0">
              <a:lnSpc>
                <a:spcPct val="100000"/>
              </a:lnSpc>
              <a:buFont typeface="Wingdings" panose="05000000000000000000" pitchFamily="2" charset="2"/>
              <a:buNone/>
              <a:defRPr/>
            </a:pPr>
            <a:r>
              <a:rPr lang="en-US" altLang="zh-CN" sz="1800" dirty="0">
                <a:solidFill>
                  <a:srgbClr val="C00000"/>
                </a:solidFill>
                <a:latin typeface="微软雅黑" panose="020B0503020204020204" pitchFamily="34" charset="-122"/>
                <a:ea typeface="微软雅黑" panose="020B0503020204020204" pitchFamily="34" charset="-122"/>
              </a:rPr>
              <a:t>KIMI K3</a:t>
            </a:r>
            <a:r>
              <a:rPr lang="zh-CN" altLang="en-US" sz="1800" dirty="0">
                <a:solidFill>
                  <a:srgbClr val="C00000"/>
                </a:solidFill>
                <a:latin typeface="微软雅黑" panose="020B0503020204020204" pitchFamily="34" charset="-122"/>
                <a:ea typeface="微软雅黑" panose="020B0503020204020204" pitchFamily="34" charset="-122"/>
              </a:rPr>
              <a:t>：</a:t>
            </a:r>
            <a:r>
              <a:rPr lang="en-US" altLang="zh-CN" sz="1800" dirty="0">
                <a:solidFill>
                  <a:srgbClr val="C00000"/>
                </a:solidFill>
                <a:latin typeface="微软雅黑" panose="020B0503020204020204" pitchFamily="34" charset="-122"/>
                <a:ea typeface="微软雅黑" panose="020B0503020204020204" pitchFamily="34" charset="-122"/>
                <a:sym typeface="+mn-ea"/>
              </a:rPr>
              <a:t>2.8T 参数开源模型</a:t>
            </a:r>
            <a:r>
              <a:rPr lang="zh-CN" altLang="en-US" sz="1800" dirty="0">
                <a:solidFill>
                  <a:srgbClr val="C00000"/>
                </a:solidFill>
                <a:latin typeface="微软雅黑" panose="020B0503020204020204" pitchFamily="34" charset="-122"/>
                <a:ea typeface="微软雅黑" panose="020B0503020204020204" pitchFamily="34" charset="-122"/>
                <a:sym typeface="+mn-ea"/>
              </a:rPr>
              <a:t>，</a:t>
            </a:r>
            <a:r>
              <a:rPr lang="en-US" altLang="zh-CN" sz="1800" dirty="0">
                <a:solidFill>
                  <a:srgbClr val="C00000"/>
                </a:solidFill>
                <a:latin typeface="微软雅黑" panose="020B0503020204020204" pitchFamily="34" charset="-122"/>
                <a:ea typeface="微软雅黑" panose="020B0503020204020204" pitchFamily="34" charset="-122"/>
                <a:sym typeface="+mn-ea"/>
              </a:rPr>
              <a:t>Agentic 8 项 SOTA</a:t>
            </a:r>
            <a:r>
              <a:rPr lang="zh-CN" altLang="en-US" sz="1800" dirty="0">
                <a:solidFill>
                  <a:srgbClr val="C00000"/>
                </a:solidFill>
                <a:latin typeface="微软雅黑" panose="020B0503020204020204" pitchFamily="34" charset="-122"/>
                <a:ea typeface="微软雅黑" panose="020B0503020204020204" pitchFamily="34" charset="-122"/>
                <a:sym typeface="+mn-ea"/>
              </a:rPr>
              <a:t>，</a:t>
            </a:r>
            <a:r>
              <a:rPr lang="en-US" altLang="zh-CN" sz="1800" dirty="0">
                <a:solidFill>
                  <a:srgbClr val="C00000"/>
                </a:solidFill>
                <a:latin typeface="微软雅黑" panose="020B0503020204020204" pitchFamily="34" charset="-122"/>
                <a:ea typeface="微软雅黑" panose="020B0503020204020204" pitchFamily="34" charset="-122"/>
                <a:sym typeface="+mn-ea"/>
              </a:rPr>
              <a:t>开源阵营首个 WebDev Arena 登顶</a:t>
            </a:r>
            <a:endParaRPr kumimoji="0" lang="zh-CN" altLang="en-US" sz="18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endParaRPr>
          </a:p>
        </p:txBody>
      </p:sp>
      <p:sp>
        <p:nvSpPr>
          <p:cNvPr id="306" name="矩形 305"/>
          <p:cNvSpPr/>
          <p:nvPr/>
        </p:nvSpPr>
        <p:spPr>
          <a:xfrm>
            <a:off x="171450" y="547370"/>
            <a:ext cx="707390" cy="414020"/>
          </a:xfrm>
          <a:prstGeom prst="rect">
            <a:avLst/>
          </a:prstGeom>
          <a:solidFill>
            <a:srgbClr val="C00000"/>
          </a:solidFill>
          <a:ln w="3175" cap="flat">
            <a:noFill/>
            <a:miter lim="400000"/>
          </a:ln>
          <a:effectLst/>
        </p:spPr>
        <p:txBody>
          <a:bodyPr wrap="square" lIns="35949" tIns="35949" rIns="35949" bIns="35949" numCol="1" anchor="ctr">
            <a:noAutofit/>
          </a:bodyPr>
          <a:lstStyle/>
          <a:p>
            <a:pPr algn="ctr" defTabSz="1718310">
              <a:defRPr/>
            </a:pPr>
            <a:r>
              <a:rPr lang="zh-CN" altLang="en-US" sz="1400" b="1" kern="0" dirty="0">
                <a:solidFill>
                  <a:srgbClr val="FFFFFF"/>
                </a:solidFill>
                <a:latin typeface="微软雅黑" panose="020B0503020204020204" pitchFamily="34" charset="-122"/>
                <a:ea typeface="微软雅黑" panose="020B0503020204020204" pitchFamily="34" charset="-122"/>
              </a:rPr>
              <a:t>亮点</a:t>
            </a:r>
          </a:p>
        </p:txBody>
      </p:sp>
      <p:sp>
        <p:nvSpPr>
          <p:cNvPr id="307" name="矩形 306"/>
          <p:cNvSpPr/>
          <p:nvPr/>
        </p:nvSpPr>
        <p:spPr>
          <a:xfrm>
            <a:off x="902970" y="544195"/>
            <a:ext cx="11081385" cy="417195"/>
          </a:xfrm>
          <a:prstGeom prst="rect">
            <a:avLst/>
          </a:prstGeom>
          <a:solidFill>
            <a:srgbClr val="FFFFFF">
              <a:lumMod val="95000"/>
            </a:srgbClr>
          </a:solidFill>
          <a:ln w="12700" cap="flat" cmpd="sng" algn="ctr">
            <a:noFill/>
            <a:prstDash val="solid"/>
            <a:miter lim="800000"/>
          </a:ln>
          <a:effectLst/>
        </p:spPr>
        <p:txBody>
          <a:bodyPr rtlCol="0" anchor="ctr"/>
          <a:lstStyle/>
          <a:p>
            <a:pPr marL="171450" indent="-171450" defTabSz="913130" eaLnBrk="0" fontAlgn="base" hangingPunct="0">
              <a:spcBef>
                <a:spcPct val="0"/>
              </a:spcBef>
              <a:spcAft>
                <a:spcPct val="0"/>
              </a:spcAft>
              <a:buFont typeface="Wingdings" panose="05000000000000000000" pitchFamily="2" charset="2"/>
              <a:buChar char="Ø"/>
              <a:defRPr/>
            </a:pPr>
            <a:r>
              <a:rPr lang="en-US" altLang="zh-CN" sz="1200" kern="0" dirty="0">
                <a:latin typeface="微软雅黑" panose="020B0503020204020204" pitchFamily="34" charset="-122"/>
                <a:ea typeface="微软雅黑" panose="020B0503020204020204" pitchFamily="34" charset="-122"/>
              </a:rPr>
              <a:t>2.8T </a:t>
            </a:r>
            <a:r>
              <a:rPr lang="zh-CN" altLang="en-US" sz="1200" kern="0" dirty="0">
                <a:latin typeface="微软雅黑" panose="020B0503020204020204" pitchFamily="34" charset="-122"/>
                <a:ea typeface="微软雅黑" panose="020B0503020204020204" pitchFamily="34" charset="-122"/>
              </a:rPr>
              <a:t>参数开源模型,</a:t>
            </a:r>
            <a:r>
              <a:rPr lang="en-US" altLang="zh-CN" sz="1200" kern="0" dirty="0">
                <a:latin typeface="微软雅黑" panose="020B0503020204020204" pitchFamily="34" charset="-122"/>
                <a:ea typeface="微软雅黑" panose="020B0503020204020204" pitchFamily="34" charset="-122"/>
              </a:rPr>
              <a:t>Agentic 8 </a:t>
            </a:r>
            <a:r>
              <a:rPr lang="zh-CN" altLang="en-US" sz="1200" kern="0" dirty="0">
                <a:latin typeface="微软雅黑" panose="020B0503020204020204" pitchFamily="34" charset="-122"/>
                <a:ea typeface="微软雅黑" panose="020B0503020204020204" pitchFamily="34" charset="-122"/>
              </a:rPr>
              <a:t>项 </a:t>
            </a:r>
            <a:r>
              <a:rPr lang="en-US" altLang="zh-CN" sz="1200" kern="0" dirty="0">
                <a:latin typeface="微软雅黑" panose="020B0503020204020204" pitchFamily="34" charset="-122"/>
                <a:ea typeface="微软雅黑" panose="020B0503020204020204" pitchFamily="34" charset="-122"/>
              </a:rPr>
              <a:t>SOTA</a:t>
            </a:r>
            <a:r>
              <a:rPr lang="zh-CN" altLang="en-US" sz="1200" kern="0" dirty="0">
                <a:latin typeface="微软雅黑" panose="020B0503020204020204" pitchFamily="34" charset="-122"/>
                <a:ea typeface="微软雅黑" panose="020B0503020204020204" pitchFamily="34" charset="-122"/>
              </a:rPr>
              <a:t>，开源阵营首个 </a:t>
            </a:r>
            <a:r>
              <a:rPr lang="en-US" altLang="zh-CN" sz="1200" kern="0" dirty="0">
                <a:latin typeface="微软雅黑" panose="020B0503020204020204" pitchFamily="34" charset="-122"/>
                <a:ea typeface="微软雅黑" panose="020B0503020204020204" pitchFamily="34" charset="-122"/>
              </a:rPr>
              <a:t>WebDev Arena </a:t>
            </a:r>
            <a:r>
              <a:rPr lang="zh-CN" altLang="en-US" sz="1200" kern="0" dirty="0">
                <a:latin typeface="微软雅黑" panose="020B0503020204020204" pitchFamily="34" charset="-122"/>
                <a:ea typeface="微软雅黑" panose="020B0503020204020204" pitchFamily="34" charset="-122"/>
              </a:rPr>
              <a:t>登顶</a:t>
            </a:r>
          </a:p>
        </p:txBody>
      </p:sp>
      <p:pic>
        <p:nvPicPr>
          <p:cNvPr id="2" name="图片 1"/>
          <p:cNvPicPr>
            <a:picLocks noChangeAspect="1"/>
          </p:cNvPicPr>
          <p:nvPr/>
        </p:nvPicPr>
        <p:blipFill>
          <a:blip r:embed="rId5"/>
          <a:srcRect t="6837"/>
          <a:stretch>
            <a:fillRect/>
          </a:stretch>
        </p:blipFill>
        <p:spPr>
          <a:xfrm>
            <a:off x="277495" y="1113790"/>
            <a:ext cx="5170170" cy="2912745"/>
          </a:xfrm>
          <a:prstGeom prst="rect">
            <a:avLst/>
          </a:prstGeom>
        </p:spPr>
      </p:pic>
      <p:sp>
        <p:nvSpPr>
          <p:cNvPr id="5" name="文本框 4"/>
          <p:cNvSpPr txBox="1"/>
          <p:nvPr/>
        </p:nvSpPr>
        <p:spPr>
          <a:xfrm>
            <a:off x="173672" y="4102100"/>
            <a:ext cx="5080000" cy="306705"/>
          </a:xfrm>
          <a:prstGeom prst="rect">
            <a:avLst/>
          </a:prstGeom>
        </p:spPr>
        <p:txBody>
          <a:bodyPr>
            <a:spAutoFit/>
          </a:bodyPr>
          <a:lstStyle/>
          <a:p>
            <a:pPr marL="0" indent="0"/>
            <a:r>
              <a:rPr lang="en-US" altLang="zh-CN" sz="700" b="0">
                <a:solidFill>
                  <a:schemeClr val="bg1"/>
                </a:solidFill>
                <a:latin typeface="-apple-system"/>
                <a:ea typeface="-apple-system"/>
              </a:rPr>
              <a:t>Kimi K3 </a:t>
            </a:r>
            <a:r>
              <a:rPr lang="zh-CN" altLang="en-US" sz="700" b="0">
                <a:solidFill>
                  <a:schemeClr val="bg1"/>
                </a:solidFill>
                <a:latin typeface="-apple-system"/>
                <a:ea typeface="-apple-system"/>
              </a:rPr>
              <a:t>在 </a:t>
            </a:r>
            <a:r>
              <a:rPr lang="en-US" altLang="zh-CN" sz="700" b="0">
                <a:solidFill>
                  <a:schemeClr val="bg1"/>
                </a:solidFill>
                <a:latin typeface="-apple-system"/>
                <a:ea typeface="-apple-system"/>
              </a:rPr>
              <a:t>66 </a:t>
            </a:r>
            <a:r>
              <a:rPr lang="zh-CN" altLang="en-US" sz="700" b="0">
                <a:solidFill>
                  <a:schemeClr val="bg1"/>
                </a:solidFill>
                <a:latin typeface="-apple-system"/>
                <a:ea typeface="-apple-system"/>
              </a:rPr>
              <a:t>项基准中 </a:t>
            </a:r>
            <a:r>
              <a:rPr lang="en-US" altLang="zh-CN" sz="700" b="0">
                <a:solidFill>
                  <a:schemeClr val="bg1"/>
                </a:solidFill>
                <a:latin typeface="-apple-system"/>
                <a:ea typeface="-apple-system"/>
              </a:rPr>
              <a:t>41 </a:t>
            </a:r>
            <a:r>
              <a:rPr lang="zh-CN" altLang="en-US" sz="700" b="0">
                <a:solidFill>
                  <a:schemeClr val="bg1"/>
                </a:solidFill>
                <a:latin typeface="-apple-system"/>
                <a:ea typeface="-apple-system"/>
              </a:rPr>
              <a:t>项居对比首位</a:t>
            </a:r>
            <a:r>
              <a:rPr lang="en-US" altLang="zh-CN" sz="700" b="0">
                <a:solidFill>
                  <a:schemeClr val="bg1"/>
                </a:solidFill>
                <a:latin typeface="-apple-system"/>
                <a:ea typeface="-apple-system"/>
              </a:rPr>
              <a:t>,</a:t>
            </a:r>
            <a:r>
              <a:rPr lang="zh-CN" altLang="en-US" sz="700" b="0">
                <a:solidFill>
                  <a:schemeClr val="bg1"/>
                </a:solidFill>
                <a:latin typeface="-apple-system"/>
                <a:ea typeface="-apple-system"/>
              </a:rPr>
              <a:t>分 </a:t>
            </a:r>
            <a:r>
              <a:rPr lang="en-US" altLang="zh-CN" sz="700" b="0">
                <a:solidFill>
                  <a:schemeClr val="bg1"/>
                </a:solidFill>
                <a:latin typeface="-apple-system"/>
                <a:ea typeface="-apple-system"/>
              </a:rPr>
              <a:t>Coding </a:t>
            </a:r>
            <a:r>
              <a:rPr lang="zh-CN" altLang="en-US" sz="700" b="0">
                <a:solidFill>
                  <a:schemeClr val="bg1"/>
                </a:solidFill>
                <a:latin typeface="-apple-system"/>
                <a:ea typeface="-apple-system"/>
              </a:rPr>
              <a:t>与 </a:t>
            </a:r>
            <a:r>
              <a:rPr lang="en-US" altLang="zh-CN" sz="700" b="0">
                <a:solidFill>
                  <a:schemeClr val="bg1"/>
                </a:solidFill>
                <a:latin typeface="-apple-system"/>
                <a:ea typeface="-apple-system"/>
              </a:rPr>
              <a:t>General &amp; Visual Agents </a:t>
            </a:r>
            <a:r>
              <a:rPr lang="zh-CN" altLang="en-US" sz="700" b="0">
                <a:solidFill>
                  <a:schemeClr val="bg1"/>
                </a:solidFill>
                <a:latin typeface="-apple-system"/>
                <a:ea typeface="-apple-system"/>
              </a:rPr>
              <a:t>两组</a:t>
            </a:r>
            <a:r>
              <a:rPr lang="en-US" altLang="zh-CN" sz="700" b="0">
                <a:solidFill>
                  <a:schemeClr val="bg1"/>
                </a:solidFill>
                <a:latin typeface="-apple-system"/>
                <a:ea typeface="-apple-system"/>
              </a:rPr>
              <a:t>,</a:t>
            </a:r>
            <a:r>
              <a:rPr lang="zh-CN" altLang="en-US" sz="700" b="0">
                <a:solidFill>
                  <a:schemeClr val="bg1"/>
                </a:solidFill>
                <a:latin typeface="-apple-system"/>
                <a:ea typeface="-apple-system"/>
              </a:rPr>
              <a:t>对照 </a:t>
            </a:r>
            <a:r>
              <a:rPr lang="en-US" altLang="zh-CN" sz="700" b="0">
                <a:solidFill>
                  <a:schemeClr val="bg1"/>
                </a:solidFill>
                <a:latin typeface="-apple-system"/>
                <a:ea typeface="-apple-system"/>
              </a:rPr>
              <a:t>Fable 5 / GPT-5.6 Sol / Opus 4.8 / GLM-5.2(</a:t>
            </a:r>
            <a:r>
              <a:rPr lang="zh-CN" altLang="en-US" sz="700" b="0">
                <a:solidFill>
                  <a:schemeClr val="bg1"/>
                </a:solidFill>
                <a:latin typeface="-apple-system"/>
                <a:ea typeface="-apple-system"/>
              </a:rPr>
              <a:t>来源</a:t>
            </a:r>
            <a:r>
              <a:rPr lang="en-US" altLang="zh-CN" sz="700" b="0">
                <a:solidFill>
                  <a:schemeClr val="bg1"/>
                </a:solidFill>
                <a:latin typeface="-apple-system"/>
                <a:ea typeface="-apple-system"/>
              </a:rPr>
              <a:t>:Kimi K3 tech report v2,Figure 1)</a:t>
            </a:r>
          </a:p>
        </p:txBody>
      </p:sp>
      <p:sp>
        <p:nvSpPr>
          <p:cNvPr id="7" name="文本框 6"/>
          <p:cNvSpPr txBox="1"/>
          <p:nvPr/>
        </p:nvSpPr>
        <p:spPr>
          <a:xfrm>
            <a:off x="277495" y="4557395"/>
            <a:ext cx="4931410" cy="1923415"/>
          </a:xfrm>
          <a:prstGeom prst="rect">
            <a:avLst/>
          </a:prstGeom>
          <a:noFill/>
        </p:spPr>
        <p:txBody>
          <a:bodyPr wrap="square" lIns="0" tIns="0" rIns="0" bIns="0" rtlCol="0" anchor="t">
            <a:spAutoFit/>
          </a:bodyPr>
          <a:lstStyle/>
          <a:p>
            <a:pPr marL="172720" indent="-172720" algn="l">
              <a:lnSpc>
                <a:spcPct val="125000"/>
              </a:lnSpc>
              <a:buFont typeface="Wingdings" panose="05000000000000000000" charset="0"/>
              <a:buChar char=""/>
            </a:pPr>
            <a:r>
              <a:rPr kumimoji="1" lang="zh-CN" altLang="en-US" sz="1000" b="1" dirty="0">
                <a:solidFill>
                  <a:srgbClr val="000000"/>
                </a:solidFill>
                <a:latin typeface="微软雅黑"/>
                <a:ea typeface="微软雅黑"/>
                <a:sym typeface="+mn-ea"/>
              </a:rPr>
              <a:t>8 项</a:t>
            </a:r>
            <a:r>
              <a:rPr kumimoji="1" lang="en-US" altLang="zh-CN" sz="1000" b="1" dirty="0">
                <a:solidFill>
                  <a:srgbClr val="000000"/>
                </a:solidFill>
                <a:latin typeface="微软雅黑"/>
                <a:ea typeface="微软雅黑"/>
                <a:sym typeface="+mn-ea"/>
              </a:rPr>
              <a:t>SOTA</a:t>
            </a:r>
            <a:r>
              <a:rPr kumimoji="1" lang="zh-CN" altLang="en-US" sz="1000" dirty="0">
                <a:solidFill>
                  <a:srgbClr val="000000"/>
                </a:solidFill>
                <a:latin typeface="微软雅黑"/>
                <a:ea typeface="微软雅黑"/>
                <a:sym typeface="+mn-ea"/>
              </a:rPr>
              <a:t>：</a:t>
            </a:r>
            <a:r>
              <a:rPr kumimoji="1" lang="en-US" altLang="zh-CN" sz="1000" dirty="0">
                <a:solidFill>
                  <a:srgbClr val="000000"/>
                </a:solidFill>
                <a:latin typeface="微软雅黑"/>
                <a:ea typeface="微软雅黑"/>
                <a:sym typeface="+mn-ea"/>
              </a:rPr>
              <a:t>ProgramBench 77.8 · SWE-Marathon 42.0 · BrowseComp 91.2 · MCPMark 94.5 · AutomationBench 30.8 · Harvey 94.6 · OmniDocBench 91.1 · Video-MME 90.0</a:t>
            </a:r>
          </a:p>
          <a:p>
            <a:pPr marL="172720" indent="-172720" algn="l">
              <a:lnSpc>
                <a:spcPct val="125000"/>
              </a:lnSpc>
              <a:buFont typeface="Wingdings" panose="05000000000000000000" charset="0"/>
              <a:buChar char=""/>
            </a:pPr>
            <a:endParaRPr kumimoji="1" lang="zh-CN" altLang="en-US" sz="1000" b="1" dirty="0">
              <a:solidFill>
                <a:srgbClr val="000000"/>
              </a:solidFill>
              <a:latin typeface="微软雅黑"/>
              <a:ea typeface="微软雅黑"/>
              <a:sym typeface="+mn-ea"/>
            </a:endParaRPr>
          </a:p>
          <a:p>
            <a:pPr marL="172720" indent="-172720" algn="l">
              <a:lnSpc>
                <a:spcPct val="125000"/>
              </a:lnSpc>
              <a:buFont typeface="Wingdings" panose="05000000000000000000" charset="0"/>
              <a:buChar char=""/>
            </a:pPr>
            <a:r>
              <a:rPr kumimoji="1" lang="zh-CN" altLang="en-US" sz="1000" b="1" dirty="0">
                <a:solidFill>
                  <a:srgbClr val="000000"/>
                </a:solidFill>
                <a:latin typeface="微软雅黑"/>
                <a:ea typeface="微软雅黑"/>
                <a:sym typeface="+mn-ea"/>
              </a:rPr>
              <a:t>对标闭源旗舰</a:t>
            </a:r>
            <a:r>
              <a:rPr kumimoji="1" lang="zh-CN" altLang="en-US" sz="1000" dirty="0">
                <a:solidFill>
                  <a:srgbClr val="000000"/>
                </a:solidFill>
                <a:latin typeface="微软雅黑"/>
                <a:ea typeface="微软雅黑"/>
                <a:sym typeface="+mn-ea"/>
              </a:rPr>
              <a:t>：</a:t>
            </a:r>
            <a:r>
              <a:rPr kumimoji="1" lang="en-US" altLang="zh-CN" sz="1000" dirty="0">
                <a:solidFill>
                  <a:srgbClr val="000000"/>
                </a:solidFill>
                <a:latin typeface="微软雅黑"/>
                <a:ea typeface="微软雅黑"/>
                <a:sym typeface="+mn-ea"/>
              </a:rPr>
              <a:t>GPQA 93.5 / HLE 56.0 / Terminal-Bench 88.3 / FrontierSWE 81.2 </a:t>
            </a:r>
            <a:r>
              <a:rPr kumimoji="1" lang="zh-CN" altLang="en-US" sz="1000" dirty="0">
                <a:solidFill>
                  <a:srgbClr val="000000"/>
                </a:solidFill>
                <a:latin typeface="微软雅黑"/>
                <a:ea typeface="微软雅黑"/>
                <a:sym typeface="+mn-ea"/>
              </a:rPr>
              <a:t>等全面接近两大闭源旗舰</a:t>
            </a:r>
          </a:p>
          <a:p>
            <a:pPr marL="172720" indent="-172720" algn="l">
              <a:lnSpc>
                <a:spcPct val="125000"/>
              </a:lnSpc>
              <a:buFont typeface="Wingdings" panose="05000000000000000000" charset="0"/>
              <a:buChar char=""/>
            </a:pPr>
            <a:endParaRPr kumimoji="1" lang="zh-CN" altLang="en-US" sz="1000" b="1" dirty="0">
              <a:solidFill>
                <a:srgbClr val="000000"/>
              </a:solidFill>
              <a:latin typeface="微软雅黑"/>
              <a:ea typeface="微软雅黑"/>
              <a:sym typeface="+mn-ea"/>
            </a:endParaRPr>
          </a:p>
          <a:p>
            <a:pPr marL="172720" indent="-172720" algn="l">
              <a:lnSpc>
                <a:spcPct val="125000"/>
              </a:lnSpc>
              <a:buFont typeface="Wingdings" panose="05000000000000000000" charset="0"/>
              <a:buChar char=""/>
            </a:pPr>
            <a:r>
              <a:rPr kumimoji="1" lang="zh-CN" altLang="en-US" sz="1000" b="1" dirty="0">
                <a:solidFill>
                  <a:srgbClr val="000000"/>
                </a:solidFill>
                <a:latin typeface="微软雅黑"/>
                <a:ea typeface="微软雅黑"/>
                <a:sym typeface="+mn-ea"/>
              </a:rPr>
              <a:t>开源第一</a:t>
            </a:r>
            <a:r>
              <a:rPr kumimoji="1" lang="zh-CN" altLang="en-US" sz="1000" dirty="0">
                <a:solidFill>
                  <a:srgbClr val="000000"/>
                </a:solidFill>
                <a:latin typeface="微软雅黑"/>
                <a:ea typeface="微软雅黑"/>
                <a:sym typeface="+mn-ea"/>
              </a:rPr>
              <a:t>：全球首个开源 3</a:t>
            </a:r>
            <a:r>
              <a:rPr kumimoji="1" lang="en-US" altLang="zh-CN" sz="1000" dirty="0">
                <a:solidFill>
                  <a:srgbClr val="000000"/>
                </a:solidFill>
                <a:latin typeface="微软雅黑"/>
                <a:ea typeface="微软雅黑"/>
                <a:sym typeface="+mn-ea"/>
              </a:rPr>
              <a:t>T </a:t>
            </a:r>
            <a:r>
              <a:rPr kumimoji="1" lang="zh-CN" altLang="en-US" sz="1000" dirty="0">
                <a:solidFill>
                  <a:srgbClr val="000000"/>
                </a:solidFill>
                <a:latin typeface="微软雅黑"/>
                <a:ea typeface="微软雅黑"/>
                <a:sym typeface="+mn-ea"/>
              </a:rPr>
              <a:t>级模型即进入第一梯队，权重 </a:t>
            </a:r>
            <a:r>
              <a:rPr kumimoji="1" lang="en-US" altLang="zh-CN" sz="1000" dirty="0">
                <a:solidFill>
                  <a:srgbClr val="000000"/>
                </a:solidFill>
                <a:latin typeface="微软雅黑"/>
                <a:ea typeface="微软雅黑"/>
                <a:sym typeface="+mn-ea"/>
              </a:rPr>
              <a:t>MXFP4 </a:t>
            </a:r>
            <a:r>
              <a:rPr kumimoji="1" lang="zh-CN" altLang="en-US" sz="1000" dirty="0">
                <a:solidFill>
                  <a:srgbClr val="000000"/>
                </a:solidFill>
                <a:latin typeface="微软雅黑"/>
                <a:ea typeface="微软雅黑"/>
                <a:sym typeface="+mn-ea"/>
              </a:rPr>
              <a:t>开源（</a:t>
            </a:r>
            <a:r>
              <a:rPr kumimoji="1" lang="en-US" altLang="zh-CN" sz="1000" dirty="0">
                <a:solidFill>
                  <a:srgbClr val="000000"/>
                </a:solidFill>
                <a:latin typeface="微软雅黑"/>
                <a:ea typeface="微软雅黑"/>
                <a:sym typeface="+mn-ea"/>
              </a:rPr>
              <a:t>HF/ModelScope）</a:t>
            </a:r>
          </a:p>
          <a:p>
            <a:pPr marL="172720" indent="-172720" algn="l">
              <a:lnSpc>
                <a:spcPct val="125000"/>
              </a:lnSpc>
            </a:pPr>
            <a:endParaRPr kumimoji="1" lang="en-US" altLang="zh-CN" sz="1000" dirty="0">
              <a:solidFill>
                <a:srgbClr val="000000"/>
              </a:solidFill>
              <a:latin typeface="微软雅黑"/>
              <a:ea typeface="微软雅黑"/>
              <a:sym typeface="+mn-ea"/>
            </a:endParaRPr>
          </a:p>
        </p:txBody>
      </p:sp>
      <p:sp>
        <p:nvSpPr>
          <p:cNvPr id="10" name="文本框 9"/>
          <p:cNvSpPr txBox="1"/>
          <p:nvPr/>
        </p:nvSpPr>
        <p:spPr>
          <a:xfrm>
            <a:off x="5861685" y="1113790"/>
            <a:ext cx="4065270" cy="184150"/>
          </a:xfrm>
          <a:prstGeom prst="rect">
            <a:avLst/>
          </a:prstGeom>
          <a:noFill/>
        </p:spPr>
        <p:txBody>
          <a:bodyPr wrap="square" lIns="0" tIns="0" rIns="0" bIns="0" rtlCol="0">
            <a:spAutoFit/>
          </a:bodyPr>
          <a:lstStyle/>
          <a:p>
            <a:pPr marL="171450" indent="-171450" algn="l">
              <a:buFont typeface="Wingdings" panose="05000000000000000000" charset="0"/>
              <a:buChar char=""/>
            </a:pPr>
            <a:r>
              <a:rPr kumimoji="1" lang="en-US" altLang="zh-CN" sz="1200" b="1" dirty="0">
                <a:solidFill>
                  <a:srgbClr val="000000"/>
                </a:solidFill>
                <a:latin typeface="微软雅黑" panose="020B0503020204020204" pitchFamily="34" charset="-122"/>
                <a:ea typeface="微软雅黑" panose="020B0503020204020204" pitchFamily="34" charset="-122"/>
              </a:rPr>
              <a:t>K2 </a:t>
            </a:r>
            <a:r>
              <a:rPr kumimoji="1" lang="zh-CN" altLang="en-US" sz="1200" b="1" dirty="0">
                <a:solidFill>
                  <a:srgbClr val="000000"/>
                </a:solidFill>
                <a:latin typeface="微软雅黑" panose="020B0503020204020204" pitchFamily="34" charset="-122"/>
                <a:ea typeface="微软雅黑" panose="020B0503020204020204" pitchFamily="34" charset="-122"/>
              </a:rPr>
              <a:t>到</a:t>
            </a:r>
            <a:r>
              <a:rPr kumimoji="1" lang="en-US" altLang="zh-CN" sz="1200" b="1" dirty="0">
                <a:solidFill>
                  <a:srgbClr val="000000"/>
                </a:solidFill>
                <a:latin typeface="微软雅黑" panose="020B0503020204020204" pitchFamily="34" charset="-122"/>
                <a:ea typeface="微软雅黑" panose="020B0503020204020204" pitchFamily="34" charset="-122"/>
              </a:rPr>
              <a:t> K3</a:t>
            </a:r>
            <a:r>
              <a:rPr kumimoji="1" lang="zh-CN" altLang="en-US" sz="1200" b="1" dirty="0">
                <a:solidFill>
                  <a:srgbClr val="000000"/>
                </a:solidFill>
                <a:latin typeface="微软雅黑" panose="020B0503020204020204" pitchFamily="34" charset="-122"/>
                <a:ea typeface="微软雅黑" panose="020B0503020204020204" pitchFamily="34" charset="-122"/>
              </a:rPr>
              <a:t>：七个维度全线放大，智能与速度同提效</a:t>
            </a:r>
          </a:p>
        </p:txBody>
      </p:sp>
      <p:graphicFrame>
        <p:nvGraphicFramePr>
          <p:cNvPr id="16" name="表格 15"/>
          <p:cNvGraphicFramePr/>
          <p:nvPr>
            <p:custDataLst>
              <p:tags r:id="rId1"/>
            </p:custDataLst>
            <p:extLst>
              <p:ext uri="{D42A27DB-BD31-4B8C-83A1-F6EECF244321}">
                <p14:modId xmlns:p14="http://schemas.microsoft.com/office/powerpoint/2010/main" val="1472929374"/>
              </p:ext>
            </p:extLst>
          </p:nvPr>
        </p:nvGraphicFramePr>
        <p:xfrm>
          <a:off x="5861685" y="1350010"/>
          <a:ext cx="5932170" cy="2206940"/>
        </p:xfrm>
        <a:graphic>
          <a:graphicData uri="http://schemas.openxmlformats.org/drawingml/2006/table">
            <a:tbl>
              <a:tblPr/>
              <a:tblGrid>
                <a:gridCol w="1445895">
                  <a:extLst>
                    <a:ext uri="{9D8B030D-6E8A-4147-A177-3AD203B41FA5}">
                      <a16:colId xmlns:a16="http://schemas.microsoft.com/office/drawing/2014/main" val="20000"/>
                    </a:ext>
                  </a:extLst>
                </a:gridCol>
                <a:gridCol w="1473835">
                  <a:extLst>
                    <a:ext uri="{9D8B030D-6E8A-4147-A177-3AD203B41FA5}">
                      <a16:colId xmlns:a16="http://schemas.microsoft.com/office/drawing/2014/main" val="20001"/>
                    </a:ext>
                  </a:extLst>
                </a:gridCol>
                <a:gridCol w="1466215">
                  <a:extLst>
                    <a:ext uri="{9D8B030D-6E8A-4147-A177-3AD203B41FA5}">
                      <a16:colId xmlns:a16="http://schemas.microsoft.com/office/drawing/2014/main" val="20002"/>
                    </a:ext>
                  </a:extLst>
                </a:gridCol>
                <a:gridCol w="1546225">
                  <a:extLst>
                    <a:ext uri="{9D8B030D-6E8A-4147-A177-3AD203B41FA5}">
                      <a16:colId xmlns:a16="http://schemas.microsoft.com/office/drawing/2014/main" val="20003"/>
                    </a:ext>
                  </a:extLst>
                </a:gridCol>
              </a:tblGrid>
              <a:tr h="165100">
                <a:tc>
                  <a:txBody>
                    <a:bodyPr/>
                    <a:lstStyle/>
                    <a:p>
                      <a:pPr algn="ctr" fontAlgn="ctr"/>
                      <a:r>
                        <a:rPr lang="zh-CN" altLang="en-US" sz="1000" b="1" i="0">
                          <a:solidFill>
                            <a:srgbClr val="1D1D1A"/>
                          </a:solidFill>
                          <a:latin typeface="微软雅黑"/>
                          <a:ea typeface="微软雅黑"/>
                        </a:rPr>
                        <a:t>指标</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solidFill>
                      <a:srgbClr val="C7C7C7"/>
                    </a:solidFill>
                  </a:tcPr>
                </a:tc>
                <a:tc>
                  <a:txBody>
                    <a:bodyPr/>
                    <a:lstStyle/>
                    <a:p>
                      <a:pPr algn="ctr" fontAlgn="ctr"/>
                      <a:r>
                        <a:rPr lang="en-US" altLang="zh-CN" sz="1000" b="1" i="0">
                          <a:solidFill>
                            <a:srgbClr val="1D1D1A"/>
                          </a:solidFill>
                          <a:latin typeface="微软雅黑"/>
                          <a:ea typeface="微软雅黑"/>
                        </a:rPr>
                        <a:t>K2</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solidFill>
                      <a:srgbClr val="C7C7C7"/>
                    </a:solidFill>
                  </a:tcPr>
                </a:tc>
                <a:tc>
                  <a:txBody>
                    <a:bodyPr/>
                    <a:lstStyle/>
                    <a:p>
                      <a:pPr algn="ctr" fontAlgn="ctr"/>
                      <a:r>
                        <a:rPr lang="en-US" altLang="zh-CN" sz="1000" b="0" i="0">
                          <a:solidFill>
                            <a:srgbClr val="1D1D1A"/>
                          </a:solidFill>
                          <a:latin typeface="微软雅黑"/>
                          <a:ea typeface="微软雅黑"/>
                        </a:rPr>
                        <a:t>K3</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solidFill>
                      <a:srgbClr val="C7C7C7"/>
                    </a:solidFill>
                  </a:tcPr>
                </a:tc>
                <a:tc>
                  <a:txBody>
                    <a:bodyPr/>
                    <a:lstStyle/>
                    <a:p>
                      <a:pPr algn="ctr" fontAlgn="ctr"/>
                      <a:r>
                        <a:rPr lang="zh-CN" altLang="en-US" sz="1000" b="1" i="0">
                          <a:solidFill>
                            <a:srgbClr val="1D1D1A"/>
                          </a:solidFill>
                          <a:latin typeface="微软雅黑"/>
                          <a:ea typeface="微软雅黑"/>
                        </a:rPr>
                        <a:t>变化</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solidFill>
                      <a:srgbClr val="C7C7C7"/>
                    </a:solidFill>
                  </a:tcPr>
                </a:tc>
                <a:extLst>
                  <a:ext uri="{0D108BD9-81ED-4DB2-BD59-A6C34878D82A}">
                    <a16:rowId xmlns:a16="http://schemas.microsoft.com/office/drawing/2014/main" val="10000"/>
                  </a:ext>
                </a:extLst>
              </a:tr>
              <a:tr h="165100">
                <a:tc>
                  <a:txBody>
                    <a:bodyPr/>
                    <a:lstStyle/>
                    <a:p>
                      <a:pPr algn="l" fontAlgn="ctr"/>
                      <a:r>
                        <a:rPr lang="zh-CN" altLang="en-US" sz="1000" b="0" i="0">
                          <a:solidFill>
                            <a:srgbClr val="1D1D1A"/>
                          </a:solidFill>
                          <a:latin typeface="微软雅黑"/>
                          <a:ea typeface="微软雅黑"/>
                        </a:rPr>
                        <a:t>层数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61</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93</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52%</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1"/>
                  </a:ext>
                </a:extLst>
              </a:tr>
              <a:tr h="165100">
                <a:tc>
                  <a:txBody>
                    <a:bodyPr/>
                    <a:lstStyle/>
                    <a:p>
                      <a:pPr algn="l" fontAlgn="ctr"/>
                      <a:r>
                        <a:rPr lang="zh-CN" altLang="en-US" sz="1000" b="0" i="0">
                          <a:solidFill>
                            <a:srgbClr val="1D1D1A"/>
                          </a:solidFill>
                          <a:latin typeface="微软雅黑"/>
                          <a:ea typeface="微软雅黑"/>
                        </a:rPr>
                        <a:t>总参数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1.04T</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2.78T</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167%</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2"/>
                  </a:ext>
                </a:extLst>
              </a:tr>
              <a:tr h="165100">
                <a:tc>
                  <a:txBody>
                    <a:bodyPr/>
                    <a:lstStyle/>
                    <a:p>
                      <a:pPr algn="l" fontAlgn="ctr"/>
                      <a:r>
                        <a:rPr lang="zh-CN" altLang="en-US" sz="1000" b="0" i="0">
                          <a:solidFill>
                            <a:srgbClr val="1D1D1A"/>
                          </a:solidFill>
                          <a:latin typeface="微软雅黑"/>
                          <a:ea typeface="微软雅黑"/>
                        </a:rPr>
                        <a:t>激活参数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32.6B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104.2B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220%</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3"/>
                  </a:ext>
                </a:extLst>
              </a:tr>
              <a:tr h="241935">
                <a:tc>
                  <a:txBody>
                    <a:bodyPr/>
                    <a:lstStyle/>
                    <a:p>
                      <a:pPr algn="l" fontAlgn="ctr"/>
                      <a:r>
                        <a:rPr lang="zh-CN" altLang="en-US" sz="1000" b="0" i="0">
                          <a:solidFill>
                            <a:srgbClr val="1D1D1A"/>
                          </a:solidFill>
                          <a:latin typeface="微软雅黑"/>
                          <a:ea typeface="微软雅黑"/>
                        </a:rPr>
                        <a:t>路由专家数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384</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896</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133%</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4"/>
                  </a:ext>
                </a:extLst>
              </a:tr>
              <a:tr h="242570">
                <a:tc>
                  <a:txBody>
                    <a:bodyPr/>
                    <a:lstStyle/>
                    <a:p>
                      <a:pPr algn="l" fontAlgn="ctr"/>
                      <a:r>
                        <a:rPr lang="zh-CN" altLang="en-US" sz="1000" b="0" i="0">
                          <a:solidFill>
                            <a:srgbClr val="1D1D1A"/>
                          </a:solidFill>
                          <a:latin typeface="微软雅黑"/>
                          <a:ea typeface="微软雅黑"/>
                        </a:rPr>
                        <a:t>每 </a:t>
                      </a:r>
                      <a:r>
                        <a:rPr lang="en-US" altLang="zh-CN" sz="1000" b="0" i="0">
                          <a:solidFill>
                            <a:srgbClr val="1D1D1A"/>
                          </a:solidFill>
                          <a:latin typeface="微软雅黑"/>
                          <a:ea typeface="微软雅黑"/>
                        </a:rPr>
                        <a:t>token </a:t>
                      </a:r>
                      <a:r>
                        <a:rPr lang="zh-CN" altLang="en-US" sz="1000" b="0" i="0">
                          <a:solidFill>
                            <a:srgbClr val="1D1D1A"/>
                          </a:solidFill>
                          <a:latin typeface="微软雅黑"/>
                          <a:ea typeface="微软雅黑"/>
                        </a:rPr>
                        <a:t>激活专家</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8</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16</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100%</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5"/>
                  </a:ext>
                </a:extLst>
              </a:tr>
              <a:tr h="242570">
                <a:tc>
                  <a:txBody>
                    <a:bodyPr/>
                    <a:lstStyle/>
                    <a:p>
                      <a:pPr algn="l" fontAlgn="ctr"/>
                      <a:r>
                        <a:rPr lang="zh-CN" altLang="en-US" sz="1000" b="0" i="0">
                          <a:solidFill>
                            <a:srgbClr val="1D1D1A"/>
                          </a:solidFill>
                          <a:latin typeface="微软雅黑"/>
                          <a:ea typeface="微软雅黑"/>
                        </a:rPr>
                        <a:t>注意力头数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64</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96</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50%</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6"/>
                  </a:ext>
                </a:extLst>
              </a:tr>
              <a:tr h="241935">
                <a:tc>
                  <a:txBody>
                    <a:bodyPr/>
                    <a:lstStyle/>
                    <a:p>
                      <a:pPr algn="l" fontAlgn="ctr"/>
                      <a:r>
                        <a:rPr lang="zh-CN" altLang="en-US" sz="1000" b="0" i="0">
                          <a:solidFill>
                            <a:srgbClr val="1D1D1A"/>
                          </a:solidFill>
                          <a:latin typeface="微软雅黑"/>
                          <a:ea typeface="微软雅黑"/>
                        </a:rPr>
                        <a:t>训练上下文</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128K</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1M</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rgbClr val="1D1D1A"/>
                          </a:solidFill>
                          <a:latin typeface="微软雅黑"/>
                          <a:ea typeface="微软雅黑"/>
                        </a:rPr>
                        <a:t>8×</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7"/>
                  </a:ext>
                </a:extLst>
              </a:tr>
              <a:tr h="191135">
                <a:tc>
                  <a:txBody>
                    <a:bodyPr/>
                    <a:lstStyle/>
                    <a:p>
                      <a:pPr algn="l" fontAlgn="t"/>
                      <a:r>
                        <a:rPr lang="zh-CN" altLang="en-US" sz="1000" b="0" i="0">
                          <a:solidFill>
                            <a:srgbClr val="1D1D1A"/>
                          </a:solidFill>
                          <a:latin typeface="微软雅黑"/>
                          <a:ea typeface="微软雅黑"/>
                        </a:rPr>
                        <a:t>单位算力的智能产出</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gridSpan="3">
                  <a:txBody>
                    <a:bodyPr/>
                    <a:lstStyle/>
                    <a:p>
                      <a:pPr algn="ctr" fontAlgn="t"/>
                      <a:r>
                        <a:rPr lang="zh-CN" altLang="en-US" sz="1000" b="0" i="0">
                          <a:solidFill>
                            <a:srgbClr val="1D1D1A"/>
                          </a:solidFill>
                          <a:latin typeface="微软雅黑"/>
                          <a:ea typeface="微软雅黑"/>
                        </a:rPr>
                        <a:t>约为 </a:t>
                      </a:r>
                      <a:r>
                        <a:rPr lang="en-US" altLang="zh-CN" sz="1000" b="0" i="0">
                          <a:solidFill>
                            <a:srgbClr val="1D1D1A"/>
                          </a:solidFill>
                          <a:latin typeface="微软雅黑"/>
                          <a:ea typeface="微软雅黑"/>
                        </a:rPr>
                        <a:t>K2 </a:t>
                      </a:r>
                      <a:r>
                        <a:rPr lang="zh-CN" altLang="en-US" sz="1000" b="0" i="0">
                          <a:solidFill>
                            <a:srgbClr val="1D1D1A"/>
                          </a:solidFill>
                          <a:latin typeface="微软雅黑"/>
                          <a:ea typeface="微软雅黑"/>
                        </a:rPr>
                        <a:t>的 </a:t>
                      </a:r>
                      <a:r>
                        <a:rPr lang="en-US" altLang="zh-CN" sz="1000" b="0" i="0">
                          <a:solidFill>
                            <a:srgbClr val="1D1D1A"/>
                          </a:solidFill>
                          <a:latin typeface="微软雅黑"/>
                          <a:ea typeface="微软雅黑"/>
                        </a:rPr>
                        <a:t>2.5 </a:t>
                      </a:r>
                      <a:r>
                        <a:rPr lang="zh-CN" altLang="en-US" sz="1000" b="0" i="0">
                          <a:solidFill>
                            <a:srgbClr val="1D1D1A"/>
                          </a:solidFill>
                          <a:latin typeface="微软雅黑"/>
                          <a:ea typeface="微软雅黑"/>
                        </a:rPr>
                        <a:t>倍</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hMerge="1">
                  <a:txBody>
                    <a:bodyPr/>
                    <a:lstStyle/>
                    <a:p>
                      <a:endParaRPr lang="zh-CN"/>
                    </a:p>
                  </a:txBody>
                  <a:tcPr>
                    <a:lnT w="12700">
                      <a:solidFill>
                        <a:schemeClr val="bg1">
                          <a:lumMod val="20000"/>
                          <a:lumOff val="80000"/>
                        </a:schemeClr>
                      </a:solidFill>
                      <a:prstDash val="solid"/>
                    </a:lnT>
                    <a:lnB w="12700">
                      <a:solidFill>
                        <a:schemeClr val="bg1">
                          <a:lumMod val="20000"/>
                          <a:lumOff val="80000"/>
                        </a:schemeClr>
                      </a:solidFill>
                      <a:prstDash val="solid"/>
                    </a:lnB>
                  </a:tcPr>
                </a:tc>
                <a:tc hMerge="1">
                  <a:txBody>
                    <a:bodyPr/>
                    <a:lstStyle/>
                    <a:p>
                      <a:endParaRPr lang="zh-CN"/>
                    </a:p>
                  </a:txBody>
                  <a:tcPr>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tcPr>
                </a:tc>
                <a:extLst>
                  <a:ext uri="{0D108BD9-81ED-4DB2-BD59-A6C34878D82A}">
                    <a16:rowId xmlns:a16="http://schemas.microsoft.com/office/drawing/2014/main" val="10008"/>
                  </a:ext>
                </a:extLst>
              </a:tr>
              <a:tr h="219710">
                <a:tc>
                  <a:txBody>
                    <a:bodyPr/>
                    <a:lstStyle/>
                    <a:p>
                      <a:pPr algn="l" fontAlgn="t"/>
                      <a:r>
                        <a:rPr lang="zh-CN" altLang="en-US" sz="1000" b="0" i="0">
                          <a:solidFill>
                            <a:srgbClr val="1D1D1A"/>
                          </a:solidFill>
                          <a:latin typeface="微软雅黑"/>
                          <a:ea typeface="微软雅黑"/>
                        </a:rPr>
                        <a:t>百万</a:t>
                      </a:r>
                      <a:r>
                        <a:rPr lang="en-US" altLang="zh-CN" sz="1000" b="0" i="0">
                          <a:solidFill>
                            <a:srgbClr val="1D1D1A"/>
                          </a:solidFill>
                          <a:latin typeface="微软雅黑"/>
                          <a:ea typeface="微软雅黑"/>
                        </a:rPr>
                        <a:t>token</a:t>
                      </a:r>
                      <a:r>
                        <a:rPr lang="zh-CN" altLang="en-US" sz="1000" b="0" i="0">
                          <a:solidFill>
                            <a:srgbClr val="1D1D1A"/>
                          </a:solidFill>
                          <a:latin typeface="微软雅黑"/>
                          <a:ea typeface="微软雅黑"/>
                        </a:rPr>
                        <a:t>解码速度</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gridSpan="3">
                  <a:txBody>
                    <a:bodyPr/>
                    <a:lstStyle/>
                    <a:p>
                      <a:pPr algn="ctr" fontAlgn="t"/>
                      <a:r>
                        <a:rPr lang="zh-CN" altLang="en-US" sz="1000" b="0" i="0">
                          <a:solidFill>
                            <a:srgbClr val="1D1D1A"/>
                          </a:solidFill>
                          <a:latin typeface="微软雅黑"/>
                          <a:ea typeface="微软雅黑"/>
                        </a:rPr>
                        <a:t>最快 </a:t>
                      </a:r>
                      <a:r>
                        <a:rPr lang="en-US" altLang="zh-CN" sz="1000" b="0" i="0">
                          <a:solidFill>
                            <a:srgbClr val="1D1D1A"/>
                          </a:solidFill>
                          <a:latin typeface="微软雅黑"/>
                          <a:ea typeface="微软雅黑"/>
                        </a:rPr>
                        <a:t>6.3×</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hMerge="1">
                  <a:txBody>
                    <a:bodyPr/>
                    <a:lstStyle/>
                    <a:p>
                      <a:endParaRPr lang="zh-CN"/>
                    </a:p>
                  </a:txBody>
                  <a:tcPr>
                    <a:lnT w="12700">
                      <a:solidFill>
                        <a:schemeClr val="bg1">
                          <a:lumMod val="20000"/>
                          <a:lumOff val="80000"/>
                        </a:schemeClr>
                      </a:solidFill>
                      <a:prstDash val="solid"/>
                    </a:lnT>
                    <a:lnB w="12700">
                      <a:solidFill>
                        <a:schemeClr val="bg1">
                          <a:lumMod val="20000"/>
                          <a:lumOff val="80000"/>
                        </a:schemeClr>
                      </a:solidFill>
                      <a:prstDash val="solid"/>
                    </a:lnB>
                  </a:tcPr>
                </a:tc>
                <a:tc hMerge="1">
                  <a:txBody>
                    <a:bodyPr/>
                    <a:lstStyle/>
                    <a:p>
                      <a:endParaRPr lang="zh-CN"/>
                    </a:p>
                  </a:txBody>
                  <a:tcPr>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tcPr>
                </a:tc>
                <a:extLst>
                  <a:ext uri="{0D108BD9-81ED-4DB2-BD59-A6C34878D82A}">
                    <a16:rowId xmlns:a16="http://schemas.microsoft.com/office/drawing/2014/main" val="10009"/>
                  </a:ext>
                </a:extLst>
              </a:tr>
              <a:tr h="0">
                <a:tc>
                  <a:txBody>
                    <a:bodyPr/>
                    <a:lstStyle/>
                    <a:p>
                      <a:pPr algn="l" fontAlgn="t"/>
                      <a:r>
                        <a:rPr lang="en-US" altLang="zh-CN" sz="1000" b="0" i="0" dirty="0">
                          <a:solidFill>
                            <a:srgbClr val="1D1D1A"/>
                          </a:solidFill>
                          <a:latin typeface="微软雅黑"/>
                          <a:ea typeface="微软雅黑"/>
                        </a:rPr>
                        <a:t>H20 </a:t>
                      </a:r>
                      <a:r>
                        <a:rPr lang="zh-CN" altLang="en-US" sz="1000" b="0" i="0" dirty="0">
                          <a:solidFill>
                            <a:srgbClr val="1D1D1A"/>
                          </a:solidFill>
                          <a:latin typeface="微软雅黑"/>
                          <a:ea typeface="微软雅黑"/>
                        </a:rPr>
                        <a:t>上 </a:t>
                      </a:r>
                      <a:r>
                        <a:rPr lang="en-US" altLang="zh-CN" sz="1000" b="0" i="0" dirty="0">
                          <a:solidFill>
                            <a:srgbClr val="1D1D1A"/>
                          </a:solidFill>
                          <a:latin typeface="微软雅黑"/>
                          <a:ea typeface="微软雅黑"/>
                        </a:rPr>
                        <a:t>prefill </a:t>
                      </a:r>
                      <a:r>
                        <a:rPr lang="zh-CN" altLang="en-US" sz="1000" b="0" i="0" dirty="0">
                          <a:solidFill>
                            <a:srgbClr val="1D1D1A"/>
                          </a:solidFill>
                          <a:latin typeface="微软雅黑"/>
                          <a:ea typeface="微软雅黑"/>
                        </a:rPr>
                        <a:t>提速</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gridSpan="3">
                  <a:txBody>
                    <a:bodyPr/>
                    <a:lstStyle/>
                    <a:p>
                      <a:pPr algn="ctr" fontAlgn="t"/>
                      <a:r>
                        <a:rPr lang="en-US" altLang="zh-CN" sz="1000" b="0" i="0" dirty="0">
                          <a:solidFill>
                            <a:srgbClr val="1D1D1A"/>
                          </a:solidFill>
                          <a:latin typeface="微软雅黑"/>
                          <a:ea typeface="微软雅黑"/>
                        </a:rPr>
                        <a:t>1.72-2.22×</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hMerge="1">
                  <a:txBody>
                    <a:bodyPr/>
                    <a:lstStyle/>
                    <a:p>
                      <a:endParaRPr lang="zh-CN"/>
                    </a:p>
                  </a:txBody>
                  <a:tcPr>
                    <a:lnT w="12700">
                      <a:solidFill>
                        <a:schemeClr val="bg1">
                          <a:lumMod val="20000"/>
                          <a:lumOff val="80000"/>
                        </a:schemeClr>
                      </a:solidFill>
                      <a:prstDash val="solid"/>
                    </a:lnT>
                    <a:lnB w="12700">
                      <a:solidFill>
                        <a:schemeClr val="bg1">
                          <a:lumMod val="20000"/>
                          <a:lumOff val="80000"/>
                        </a:schemeClr>
                      </a:solidFill>
                      <a:prstDash val="solid"/>
                    </a:lnB>
                  </a:tcPr>
                </a:tc>
                <a:tc hMerge="1">
                  <a:txBody>
                    <a:bodyPr/>
                    <a:lstStyle/>
                    <a:p>
                      <a:endParaRPr lang="zh-CN"/>
                    </a:p>
                  </a:txBody>
                  <a:tcPr>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tcPr>
                </a:tc>
                <a:extLst>
                  <a:ext uri="{0D108BD9-81ED-4DB2-BD59-A6C34878D82A}">
                    <a16:rowId xmlns:a16="http://schemas.microsoft.com/office/drawing/2014/main" val="10010"/>
                  </a:ext>
                </a:extLst>
              </a:tr>
            </a:tbl>
          </a:graphicData>
        </a:graphic>
      </p:graphicFrame>
      <p:graphicFrame>
        <p:nvGraphicFramePr>
          <p:cNvPr id="19" name="表格 18"/>
          <p:cNvGraphicFramePr/>
          <p:nvPr>
            <p:custDataLst>
              <p:tags r:id="rId2"/>
            </p:custDataLst>
          </p:nvPr>
        </p:nvGraphicFramePr>
        <p:xfrm>
          <a:off x="5861685" y="4026535"/>
          <a:ext cx="5952490" cy="2453640"/>
        </p:xfrm>
        <a:graphic>
          <a:graphicData uri="http://schemas.openxmlformats.org/drawingml/2006/table">
            <a:tbl>
              <a:tblPr/>
              <a:tblGrid>
                <a:gridCol w="1158240">
                  <a:extLst>
                    <a:ext uri="{9D8B030D-6E8A-4147-A177-3AD203B41FA5}">
                      <a16:colId xmlns:a16="http://schemas.microsoft.com/office/drawing/2014/main" val="20000"/>
                    </a:ext>
                  </a:extLst>
                </a:gridCol>
                <a:gridCol w="2474595">
                  <a:extLst>
                    <a:ext uri="{9D8B030D-6E8A-4147-A177-3AD203B41FA5}">
                      <a16:colId xmlns:a16="http://schemas.microsoft.com/office/drawing/2014/main" val="20001"/>
                    </a:ext>
                  </a:extLst>
                </a:gridCol>
                <a:gridCol w="2319655">
                  <a:extLst>
                    <a:ext uri="{9D8B030D-6E8A-4147-A177-3AD203B41FA5}">
                      <a16:colId xmlns:a16="http://schemas.microsoft.com/office/drawing/2014/main" val="20002"/>
                    </a:ext>
                  </a:extLst>
                </a:gridCol>
              </a:tblGrid>
              <a:tr h="168910">
                <a:tc>
                  <a:txBody>
                    <a:bodyPr/>
                    <a:lstStyle/>
                    <a:p>
                      <a:pPr algn="ctr" fontAlgn="ctr"/>
                      <a:r>
                        <a:rPr lang="zh-CN" altLang="en-US" sz="1000" b="1" i="0">
                          <a:solidFill>
                            <a:srgbClr val="000000"/>
                          </a:solidFill>
                          <a:latin typeface="微软雅黑" charset="0"/>
                          <a:ea typeface="微软雅黑" charset="0"/>
                        </a:rPr>
                        <a:t>创新点</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solidFill>
                      <a:srgbClr val="C7C7C7"/>
                    </a:solidFill>
                  </a:tcPr>
                </a:tc>
                <a:tc>
                  <a:txBody>
                    <a:bodyPr/>
                    <a:lstStyle/>
                    <a:p>
                      <a:pPr algn="ctr" fontAlgn="ctr"/>
                      <a:r>
                        <a:rPr lang="zh-CN" altLang="en-US" sz="1000" b="1" i="0">
                          <a:solidFill>
                            <a:srgbClr val="000000"/>
                          </a:solidFill>
                          <a:latin typeface="微软雅黑" charset="0"/>
                          <a:ea typeface="微软雅黑" charset="0"/>
                        </a:rPr>
                        <a:t>功能</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solidFill>
                      <a:srgbClr val="C7C7C7"/>
                    </a:solidFill>
                  </a:tcPr>
                </a:tc>
                <a:tc>
                  <a:txBody>
                    <a:bodyPr/>
                    <a:lstStyle/>
                    <a:p>
                      <a:pPr algn="ctr" fontAlgn="ctr"/>
                      <a:r>
                        <a:rPr lang="zh-CN" altLang="en-US" sz="1000" b="1" i="0">
                          <a:solidFill>
                            <a:srgbClr val="000000"/>
                          </a:solidFill>
                          <a:latin typeface="微软雅黑" charset="0"/>
                          <a:ea typeface="微软雅黑" charset="0"/>
                        </a:rPr>
                        <a:t>效果</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solidFill>
                      <a:srgbClr val="C7C7C7"/>
                    </a:solidFill>
                  </a:tcPr>
                </a:tc>
                <a:extLst>
                  <a:ext uri="{0D108BD9-81ED-4DB2-BD59-A6C34878D82A}">
                    <a16:rowId xmlns:a16="http://schemas.microsoft.com/office/drawing/2014/main" val="10000"/>
                  </a:ext>
                </a:extLst>
              </a:tr>
              <a:tr h="480695">
                <a:tc>
                  <a:txBody>
                    <a:bodyPr/>
                    <a:lstStyle/>
                    <a:p>
                      <a:pPr algn="l" fontAlgn="t"/>
                      <a:r>
                        <a:rPr lang="en-US" altLang="zh-CN" sz="1000" b="0" i="0">
                          <a:solidFill>
                            <a:srgbClr val="000000"/>
                          </a:solidFill>
                          <a:latin typeface="微软雅黑" charset="0"/>
                          <a:ea typeface="微软雅黑" charset="0"/>
                          <a:cs typeface="微软雅黑" charset="0"/>
                        </a:rPr>
                        <a:t>KDA </a:t>
                      </a:r>
                      <a:r>
                        <a:rPr lang="zh-CN" altLang="en-US" sz="1000" b="0" i="0">
                          <a:solidFill>
                            <a:srgbClr val="000000"/>
                          </a:solidFill>
                          <a:latin typeface="微软雅黑" charset="0"/>
                          <a:ea typeface="微软雅黑" charset="0"/>
                          <a:cs typeface="微软雅黑" charset="0"/>
                        </a:rPr>
                        <a:t>混合线性注意力</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en-US" altLang="zh-CN" sz="1000" b="0" i="0">
                          <a:solidFill>
                            <a:srgbClr val="000000"/>
                          </a:solidFill>
                          <a:latin typeface="微软雅黑" charset="0"/>
                          <a:ea typeface="微软雅黑" charset="0"/>
                          <a:cs typeface="微软雅黑" charset="0"/>
                        </a:rPr>
                        <a:t>93 </a:t>
                      </a:r>
                      <a:r>
                        <a:rPr lang="zh-CN" altLang="en-US" sz="1000" b="0" i="0">
                          <a:solidFill>
                            <a:srgbClr val="000000"/>
                          </a:solidFill>
                          <a:latin typeface="微软雅黑" charset="0"/>
                          <a:ea typeface="微软雅黑" charset="0"/>
                          <a:cs typeface="微软雅黑" charset="0"/>
                        </a:rPr>
                        <a:t>层中 </a:t>
                      </a:r>
                      <a:r>
                        <a:rPr lang="en-US" altLang="zh-CN" sz="1000" b="0" i="0">
                          <a:solidFill>
                            <a:srgbClr val="000000"/>
                          </a:solidFill>
                          <a:latin typeface="微软雅黑" charset="0"/>
                          <a:ea typeface="微软雅黑" charset="0"/>
                          <a:cs typeface="微软雅黑" charset="0"/>
                        </a:rPr>
                        <a:t>69 </a:t>
                      </a:r>
                      <a:r>
                        <a:rPr lang="zh-CN" altLang="en-US" sz="1000" b="0" i="0">
                          <a:solidFill>
                            <a:srgbClr val="000000"/>
                          </a:solidFill>
                          <a:latin typeface="微软雅黑" charset="0"/>
                          <a:ea typeface="微软雅黑" charset="0"/>
                          <a:cs typeface="微软雅黑" charset="0"/>
                        </a:rPr>
                        <a:t>层用 </a:t>
                      </a:r>
                      <a:r>
                        <a:rPr lang="en-US" altLang="zh-CN" sz="1000" b="0" i="0">
                          <a:solidFill>
                            <a:srgbClr val="000000"/>
                          </a:solidFill>
                          <a:latin typeface="微软雅黑" charset="0"/>
                          <a:ea typeface="微软雅黑" charset="0"/>
                          <a:cs typeface="微软雅黑" charset="0"/>
                        </a:rPr>
                        <a:t>KDA:</a:t>
                      </a:r>
                      <a:r>
                        <a:rPr lang="zh-CN" altLang="en-US" sz="1000" b="0" i="0">
                          <a:solidFill>
                            <a:srgbClr val="000000"/>
                          </a:solidFill>
                          <a:latin typeface="微软雅黑" charset="0"/>
                          <a:ea typeface="微软雅黑" charset="0"/>
                          <a:cs typeface="微软雅黑" charset="0"/>
                        </a:rPr>
                        <a:t>固定大小状态取代逐 </a:t>
                      </a:r>
                      <a:r>
                        <a:rPr lang="en-US" altLang="zh-CN" sz="1000" b="0" i="0">
                          <a:solidFill>
                            <a:srgbClr val="000000"/>
                          </a:solidFill>
                          <a:latin typeface="微软雅黑" charset="0"/>
                          <a:ea typeface="微软雅黑" charset="0"/>
                          <a:cs typeface="微软雅黑" charset="0"/>
                        </a:rPr>
                        <a:t>token KV cache,1M </a:t>
                      </a:r>
                      <a:r>
                        <a:rPr lang="zh-CN" altLang="en-US" sz="1000" b="0" i="0">
                          <a:solidFill>
                            <a:srgbClr val="000000"/>
                          </a:solidFill>
                          <a:latin typeface="微软雅黑" charset="0"/>
                          <a:ea typeface="微软雅黑" charset="0"/>
                          <a:cs typeface="微软雅黑" charset="0"/>
                        </a:rPr>
                        <a:t>上下文显存不再随序列长度膨胀</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zh-CN" altLang="en-US" sz="1000" b="0" i="0">
                          <a:solidFill>
                            <a:srgbClr val="000000"/>
                          </a:solidFill>
                          <a:latin typeface="微软雅黑" charset="0"/>
                          <a:ea typeface="微软雅黑" charset="0"/>
                          <a:cs typeface="微软雅黑" charset="0"/>
                        </a:rPr>
                        <a:t>百万 </a:t>
                      </a:r>
                      <a:r>
                        <a:rPr lang="en-US" altLang="zh-CN" sz="1000" b="0" i="0">
                          <a:solidFill>
                            <a:srgbClr val="000000"/>
                          </a:solidFill>
                          <a:latin typeface="微软雅黑" charset="0"/>
                          <a:ea typeface="微软雅黑" charset="0"/>
                          <a:cs typeface="微软雅黑" charset="0"/>
                        </a:rPr>
                        <a:t>token </a:t>
                      </a:r>
                      <a:r>
                        <a:rPr lang="zh-CN" altLang="en-US" sz="1000" b="0" i="0">
                          <a:solidFill>
                            <a:srgbClr val="000000"/>
                          </a:solidFill>
                          <a:latin typeface="微软雅黑" charset="0"/>
                          <a:ea typeface="微软雅黑" charset="0"/>
                          <a:cs typeface="微软雅黑" charset="0"/>
                        </a:rPr>
                        <a:t>上下文解码最快 </a:t>
                      </a:r>
                      <a:r>
                        <a:rPr lang="en-US" altLang="zh-CN" sz="1000" b="0" i="0">
                          <a:solidFill>
                            <a:srgbClr val="000000"/>
                          </a:solidFill>
                          <a:latin typeface="微软雅黑" charset="0"/>
                          <a:ea typeface="微软雅黑" charset="0"/>
                          <a:cs typeface="微软雅黑" charset="0"/>
                        </a:rPr>
                        <a:t>6.3×(vs </a:t>
                      </a:r>
                      <a:r>
                        <a:rPr lang="zh-CN" altLang="en-US" sz="1000" b="0" i="0">
                          <a:solidFill>
                            <a:srgbClr val="000000"/>
                          </a:solidFill>
                          <a:latin typeface="微软雅黑" charset="0"/>
                          <a:ea typeface="微软雅黑" charset="0"/>
                          <a:cs typeface="微软雅黑" charset="0"/>
                        </a:rPr>
                        <a:t>等效全注意力模型</a:t>
                      </a:r>
                      <a:r>
                        <a:rPr lang="en-US" altLang="zh-CN" sz="1000" b="0" i="0">
                          <a:solidFill>
                            <a:srgbClr val="000000"/>
                          </a:solidFill>
                          <a:latin typeface="微软雅黑" charset="0"/>
                          <a:ea typeface="微软雅黑" charset="0"/>
                          <a:cs typeface="微软雅黑" charset="0"/>
                        </a:rPr>
                        <a:t>,</a:t>
                      </a:r>
                      <a:r>
                        <a:rPr lang="zh-CN" altLang="en-US" sz="1000" b="0" i="0">
                          <a:solidFill>
                            <a:srgbClr val="000000"/>
                          </a:solidFill>
                          <a:latin typeface="微软雅黑" charset="0"/>
                          <a:ea typeface="微软雅黑" charset="0"/>
                          <a:cs typeface="微软雅黑" charset="0"/>
                        </a:rPr>
                        <a:t>官方口径</a:t>
                      </a:r>
                      <a:r>
                        <a:rPr lang="en-US" altLang="zh-CN" sz="1000" b="0" i="0">
                          <a:solidFill>
                            <a:srgbClr val="000000"/>
                          </a:solidFill>
                          <a:latin typeface="微软雅黑" charset="0"/>
                          <a:ea typeface="微软雅黑" charset="0"/>
                          <a:cs typeface="微软雅黑" charset="0"/>
                        </a:rPr>
                        <a:t>)</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1"/>
                  </a:ext>
                </a:extLst>
              </a:tr>
              <a:tr h="503555">
                <a:tc>
                  <a:txBody>
                    <a:bodyPr/>
                    <a:lstStyle/>
                    <a:p>
                      <a:pPr algn="l" fontAlgn="t"/>
                      <a:r>
                        <a:rPr lang="en-US" altLang="zh-CN" sz="1000" b="0" i="0">
                          <a:solidFill>
                            <a:srgbClr val="000000"/>
                          </a:solidFill>
                          <a:latin typeface="微软雅黑" charset="0"/>
                          <a:ea typeface="微软雅黑" charset="0"/>
                        </a:rPr>
                        <a:t>Attention Residuals</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zh-CN" altLang="en-US" sz="1000" b="0" i="0" dirty="0">
                          <a:solidFill>
                            <a:srgbClr val="000000"/>
                          </a:solidFill>
                          <a:latin typeface="微软雅黑" charset="0"/>
                          <a:ea typeface="微软雅黑" charset="0"/>
                          <a:cs typeface="微软雅黑" charset="0"/>
                        </a:rPr>
                        <a:t>深度方向也用注意力</a:t>
                      </a:r>
                      <a:r>
                        <a:rPr lang="en-US" altLang="zh-CN" sz="1000" b="0" i="0" dirty="0">
                          <a:solidFill>
                            <a:srgbClr val="000000"/>
                          </a:solidFill>
                          <a:latin typeface="微软雅黑" charset="0"/>
                          <a:ea typeface="微软雅黑" charset="0"/>
                          <a:cs typeface="微软雅黑" charset="0"/>
                        </a:rPr>
                        <a:t>:</a:t>
                      </a:r>
                      <a:r>
                        <a:rPr lang="zh-CN" altLang="en-US" sz="1000" b="0" i="0" dirty="0">
                          <a:solidFill>
                            <a:srgbClr val="000000"/>
                          </a:solidFill>
                          <a:latin typeface="微软雅黑" charset="0"/>
                          <a:ea typeface="微软雅黑" charset="0"/>
                          <a:cs typeface="微软雅黑" charset="0"/>
                        </a:rPr>
                        <a:t>每层按需读取前层表示</a:t>
                      </a:r>
                      <a:r>
                        <a:rPr lang="en-US" altLang="zh-CN" sz="1000" b="0" i="0" dirty="0">
                          <a:solidFill>
                            <a:srgbClr val="000000"/>
                          </a:solidFill>
                          <a:latin typeface="微软雅黑" charset="0"/>
                          <a:ea typeface="微软雅黑" charset="0"/>
                          <a:cs typeface="微软雅黑" charset="0"/>
                        </a:rPr>
                        <a:t>,</a:t>
                      </a:r>
                      <a:r>
                        <a:rPr lang="zh-CN" altLang="en-US" sz="1000" b="0" i="0" dirty="0">
                          <a:solidFill>
                            <a:srgbClr val="000000"/>
                          </a:solidFill>
                          <a:latin typeface="微软雅黑" charset="0"/>
                          <a:ea typeface="微软雅黑" charset="0"/>
                          <a:cs typeface="微软雅黑" charset="0"/>
                        </a:rPr>
                        <a:t>替代均匀累加</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en-US" altLang="zh-CN" sz="1000" b="0" i="0">
                          <a:solidFill>
                            <a:srgbClr val="000000"/>
                          </a:solidFill>
                          <a:latin typeface="微软雅黑" charset="0"/>
                          <a:ea typeface="微软雅黑" charset="0"/>
                          <a:cs typeface="微软雅黑" charset="0"/>
                        </a:rPr>
                        <a:t>1× </a:t>
                      </a:r>
                      <a:r>
                        <a:rPr lang="zh-CN" altLang="en-US" sz="1000" b="0" i="0">
                          <a:solidFill>
                            <a:srgbClr val="000000"/>
                          </a:solidFill>
                          <a:latin typeface="微软雅黑" charset="0"/>
                          <a:ea typeface="微软雅黑" charset="0"/>
                          <a:cs typeface="微软雅黑" charset="0"/>
                        </a:rPr>
                        <a:t>算力匹配 </a:t>
                      </a:r>
                      <a:r>
                        <a:rPr lang="en-US" altLang="zh-CN" sz="1000" b="0" i="0">
                          <a:solidFill>
                            <a:srgbClr val="000000"/>
                          </a:solidFill>
                          <a:latin typeface="微软雅黑" charset="0"/>
                          <a:ea typeface="微软雅黑" charset="0"/>
                          <a:cs typeface="微软雅黑" charset="0"/>
                        </a:rPr>
                        <a:t>1.25× </a:t>
                      </a:r>
                      <a:r>
                        <a:rPr lang="zh-CN" altLang="en-US" sz="1000" b="0" i="0">
                          <a:solidFill>
                            <a:srgbClr val="000000"/>
                          </a:solidFill>
                          <a:latin typeface="微软雅黑" charset="0"/>
                          <a:ea typeface="微软雅黑" charset="0"/>
                          <a:cs typeface="微软雅黑" charset="0"/>
                        </a:rPr>
                        <a:t>算力基线</a:t>
                      </a:r>
                      <a:r>
                        <a:rPr lang="en-US" altLang="zh-CN" sz="1000" b="0" i="0">
                          <a:solidFill>
                            <a:srgbClr val="000000"/>
                          </a:solidFill>
                          <a:latin typeface="微软雅黑" charset="0"/>
                          <a:ea typeface="微软雅黑" charset="0"/>
                          <a:cs typeface="微软雅黑" charset="0"/>
                        </a:rPr>
                        <a:t>;GPQA-Diamond 36.9→44.4(+7.5);</a:t>
                      </a:r>
                      <a:r>
                        <a:rPr lang="zh-CN" altLang="en-US" sz="1000" b="0" i="0">
                          <a:solidFill>
                            <a:srgbClr val="000000"/>
                          </a:solidFill>
                          <a:latin typeface="微软雅黑" charset="0"/>
                          <a:ea typeface="微软雅黑" charset="0"/>
                          <a:cs typeface="微软雅黑" charset="0"/>
                        </a:rPr>
                        <a:t>额外开销 </a:t>
                      </a:r>
                      <a:r>
                        <a:rPr lang="en-US" altLang="zh-CN" sz="1000" b="0" i="0">
                          <a:solidFill>
                            <a:srgbClr val="000000"/>
                          </a:solidFill>
                          <a:latin typeface="微软雅黑" charset="0"/>
                          <a:ea typeface="微软雅黑" charset="0"/>
                          <a:cs typeface="微软雅黑" charset="0"/>
                        </a:rPr>
                        <a:t>&lt;2%</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2"/>
                  </a:ext>
                </a:extLst>
              </a:tr>
              <a:tr h="325755">
                <a:tc>
                  <a:txBody>
                    <a:bodyPr/>
                    <a:lstStyle/>
                    <a:p>
                      <a:pPr algn="l" fontAlgn="t"/>
                      <a:r>
                        <a:rPr lang="en-US" altLang="zh-CN" sz="1000" b="0" i="0">
                          <a:solidFill>
                            <a:srgbClr val="000000"/>
                          </a:solidFill>
                          <a:latin typeface="微软雅黑" charset="0"/>
                          <a:ea typeface="微软雅黑" charset="0"/>
                        </a:rPr>
                        <a:t>Stable LatentMoE</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en-US" altLang="zh-CN" sz="1000" b="0" i="0">
                          <a:solidFill>
                            <a:srgbClr val="000000"/>
                          </a:solidFill>
                          <a:latin typeface="微软雅黑" charset="0"/>
                          <a:ea typeface="微软雅黑" charset="0"/>
                          <a:cs typeface="微软雅黑" charset="0"/>
                        </a:rPr>
                        <a:t>896 </a:t>
                      </a:r>
                      <a:r>
                        <a:rPr lang="zh-CN" altLang="en-US" sz="1000" b="0" i="0">
                          <a:solidFill>
                            <a:srgbClr val="000000"/>
                          </a:solidFill>
                          <a:latin typeface="微软雅黑" charset="0"/>
                          <a:ea typeface="微软雅黑" charset="0"/>
                          <a:cs typeface="微软雅黑" charset="0"/>
                        </a:rPr>
                        <a:t>路由专家每 </a:t>
                      </a:r>
                      <a:r>
                        <a:rPr lang="en-US" altLang="zh-CN" sz="1000" b="0" i="0">
                          <a:solidFill>
                            <a:srgbClr val="000000"/>
                          </a:solidFill>
                          <a:latin typeface="微软雅黑" charset="0"/>
                          <a:ea typeface="微软雅黑" charset="0"/>
                          <a:cs typeface="微软雅黑" charset="0"/>
                        </a:rPr>
                        <a:t>token </a:t>
                      </a:r>
                      <a:r>
                        <a:rPr lang="zh-CN" altLang="en-US" sz="1000" b="0" i="0">
                          <a:solidFill>
                            <a:srgbClr val="000000"/>
                          </a:solidFill>
                          <a:latin typeface="微软雅黑" charset="0"/>
                          <a:ea typeface="微软雅黑" charset="0"/>
                          <a:cs typeface="微软雅黑" charset="0"/>
                        </a:rPr>
                        <a:t>选 </a:t>
                      </a:r>
                      <a:r>
                        <a:rPr lang="en-US" altLang="zh-CN" sz="1000" b="0" i="0">
                          <a:solidFill>
                            <a:srgbClr val="000000"/>
                          </a:solidFill>
                          <a:latin typeface="微软雅黑" charset="0"/>
                          <a:ea typeface="微软雅黑" charset="0"/>
                          <a:cs typeface="微软雅黑" charset="0"/>
                        </a:rPr>
                        <a:t>16,</a:t>
                      </a:r>
                      <a:r>
                        <a:rPr lang="zh-CN" altLang="en-US" sz="1000" b="0" i="0">
                          <a:solidFill>
                            <a:srgbClr val="000000"/>
                          </a:solidFill>
                          <a:latin typeface="微软雅黑" charset="0"/>
                          <a:ea typeface="微软雅黑" charset="0"/>
                          <a:cs typeface="微软雅黑" charset="0"/>
                        </a:rPr>
                        <a:t>再加 </a:t>
                      </a:r>
                      <a:r>
                        <a:rPr lang="en-US" altLang="zh-CN" sz="1000" b="0" i="0">
                          <a:solidFill>
                            <a:srgbClr val="000000"/>
                          </a:solidFill>
                          <a:latin typeface="微软雅黑" charset="0"/>
                          <a:ea typeface="微软雅黑" charset="0"/>
                          <a:cs typeface="微软雅黑" charset="0"/>
                        </a:rPr>
                        <a:t>2 </a:t>
                      </a:r>
                      <a:r>
                        <a:rPr lang="zh-CN" altLang="en-US" sz="1000" b="0" i="0">
                          <a:solidFill>
                            <a:srgbClr val="000000"/>
                          </a:solidFill>
                          <a:latin typeface="微软雅黑" charset="0"/>
                          <a:ea typeface="微软雅黑" charset="0"/>
                          <a:cs typeface="微软雅黑" charset="0"/>
                        </a:rPr>
                        <a:t>个全宽共享专家</a:t>
                      </a:r>
                      <a:r>
                        <a:rPr lang="en-US" altLang="zh-CN" sz="1000" b="0" i="0">
                          <a:solidFill>
                            <a:srgbClr val="000000"/>
                          </a:solidFill>
                          <a:latin typeface="微软雅黑" charset="0"/>
                          <a:ea typeface="微软雅黑" charset="0"/>
                          <a:cs typeface="微软雅黑" charset="0"/>
                        </a:rPr>
                        <a:t>;</a:t>
                      </a:r>
                      <a:r>
                        <a:rPr lang="zh-CN" altLang="en-US" sz="1000" b="0" i="0">
                          <a:solidFill>
                            <a:srgbClr val="000000"/>
                          </a:solidFill>
                          <a:latin typeface="微软雅黑" charset="0"/>
                          <a:ea typeface="微软雅黑" charset="0"/>
                          <a:cs typeface="微软雅黑" charset="0"/>
                        </a:rPr>
                        <a:t>专家走 </a:t>
                      </a:r>
                      <a:r>
                        <a:rPr lang="en-US" altLang="zh-CN" sz="1000" b="0" i="0">
                          <a:solidFill>
                            <a:srgbClr val="000000"/>
                          </a:solidFill>
                          <a:latin typeface="微软雅黑" charset="0"/>
                          <a:ea typeface="微软雅黑" charset="0"/>
                          <a:cs typeface="微软雅黑" charset="0"/>
                        </a:rPr>
                        <a:t>3584 </a:t>
                      </a:r>
                      <a:r>
                        <a:rPr lang="zh-CN" altLang="en-US" sz="1000" b="0" i="0">
                          <a:solidFill>
                            <a:srgbClr val="000000"/>
                          </a:solidFill>
                          <a:latin typeface="微软雅黑" charset="0"/>
                          <a:ea typeface="微软雅黑" charset="0"/>
                          <a:cs typeface="微软雅黑" charset="0"/>
                        </a:rPr>
                        <a:t>宽 </a:t>
                      </a:r>
                      <a:r>
                        <a:rPr lang="en-US" altLang="zh-CN" sz="1000" b="0" i="0">
                          <a:solidFill>
                            <a:srgbClr val="000000"/>
                          </a:solidFill>
                          <a:latin typeface="微软雅黑" charset="0"/>
                          <a:ea typeface="微软雅黑" charset="0"/>
                          <a:cs typeface="微软雅黑" charset="0"/>
                        </a:rPr>
                        <a:t>latent </a:t>
                      </a:r>
                      <a:r>
                        <a:rPr lang="zh-CN" altLang="en-US" sz="1000" b="0" i="0">
                          <a:solidFill>
                            <a:srgbClr val="000000"/>
                          </a:solidFill>
                          <a:latin typeface="微软雅黑" charset="0"/>
                          <a:ea typeface="微软雅黑" charset="0"/>
                          <a:cs typeface="微软雅黑" charset="0"/>
                        </a:rPr>
                        <a:t>通道</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zh-CN" altLang="en-US" sz="1000" b="0" i="0">
                          <a:solidFill>
                            <a:srgbClr val="000000"/>
                          </a:solidFill>
                          <a:latin typeface="微软雅黑" charset="0"/>
                          <a:ea typeface="微软雅黑" charset="0"/>
                          <a:cs typeface="微软雅黑" charset="0"/>
                        </a:rPr>
                        <a:t>稀疏 </a:t>
                      </a:r>
                      <a:r>
                        <a:rPr lang="en-US" altLang="zh-CN" sz="1000" b="0" i="0">
                          <a:solidFill>
                            <a:srgbClr val="000000"/>
                          </a:solidFill>
                          <a:latin typeface="微软雅黑" charset="0"/>
                          <a:ea typeface="微软雅黑" charset="0"/>
                          <a:cs typeface="微软雅黑" charset="0"/>
                        </a:rPr>
                        <a:t>56×,</a:t>
                      </a:r>
                      <a:r>
                        <a:rPr lang="zh-CN" altLang="en-US" sz="1000" b="0" i="0">
                          <a:solidFill>
                            <a:srgbClr val="000000"/>
                          </a:solidFill>
                          <a:latin typeface="微软雅黑" charset="0"/>
                          <a:ea typeface="微软雅黑" charset="0"/>
                          <a:cs typeface="微软雅黑" charset="0"/>
                        </a:rPr>
                        <a:t>激活率约 </a:t>
                      </a:r>
                      <a:r>
                        <a:rPr lang="en-US" altLang="zh-CN" sz="1000" b="0" i="0">
                          <a:solidFill>
                            <a:srgbClr val="000000"/>
                          </a:solidFill>
                          <a:latin typeface="微软雅黑" charset="0"/>
                          <a:ea typeface="微软雅黑" charset="0"/>
                          <a:cs typeface="微软雅黑" charset="0"/>
                        </a:rPr>
                        <a:t>1.8%,</a:t>
                      </a:r>
                      <a:r>
                        <a:rPr lang="zh-CN" altLang="en-US" sz="1000" b="0" i="0">
                          <a:solidFill>
                            <a:srgbClr val="000000"/>
                          </a:solidFill>
                          <a:latin typeface="微软雅黑" charset="0"/>
                          <a:ea typeface="微软雅黑" charset="0"/>
                          <a:cs typeface="微软雅黑" charset="0"/>
                        </a:rPr>
                        <a:t>激活参数仅 </a:t>
                      </a:r>
                      <a:r>
                        <a:rPr lang="en-US" altLang="zh-CN" sz="1000" b="0" i="0">
                          <a:solidFill>
                            <a:srgbClr val="000000"/>
                          </a:solidFill>
                          <a:latin typeface="微软雅黑" charset="0"/>
                          <a:ea typeface="微软雅黑" charset="0"/>
                          <a:cs typeface="微软雅黑" charset="0"/>
                        </a:rPr>
                        <a:t>104B</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3"/>
                  </a:ext>
                </a:extLst>
              </a:tr>
              <a:tr h="325120">
                <a:tc>
                  <a:txBody>
                    <a:bodyPr/>
                    <a:lstStyle/>
                    <a:p>
                      <a:pPr algn="l" fontAlgn="t"/>
                      <a:r>
                        <a:rPr lang="en-US" altLang="zh-CN" sz="1000" b="0" i="0">
                          <a:solidFill>
                            <a:srgbClr val="000000"/>
                          </a:solidFill>
                          <a:latin typeface="微软雅黑" charset="0"/>
                          <a:ea typeface="微软雅黑" charset="0"/>
                          <a:cs typeface="微软雅黑" charset="0"/>
                        </a:rPr>
                        <a:t>per-head Muon </a:t>
                      </a:r>
                      <a:r>
                        <a:rPr lang="zh-CN" altLang="en-US" sz="1000" b="0" i="0">
                          <a:solidFill>
                            <a:srgbClr val="000000"/>
                          </a:solidFill>
                          <a:latin typeface="微软雅黑" charset="0"/>
                          <a:ea typeface="微软雅黑" charset="0"/>
                          <a:cs typeface="微软雅黑" charset="0"/>
                        </a:rPr>
                        <a:t>优化器</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en-US" altLang="zh-CN" sz="1000" b="0" i="0">
                          <a:solidFill>
                            <a:srgbClr val="000000"/>
                          </a:solidFill>
                          <a:latin typeface="微软雅黑" charset="0"/>
                          <a:ea typeface="微软雅黑" charset="0"/>
                          <a:cs typeface="微软雅黑" charset="0"/>
                        </a:rPr>
                        <a:t>Muon </a:t>
                      </a:r>
                      <a:r>
                        <a:rPr lang="zh-CN" altLang="en-US" sz="1000" b="0" i="0">
                          <a:solidFill>
                            <a:srgbClr val="000000"/>
                          </a:solidFill>
                          <a:latin typeface="微软雅黑" charset="0"/>
                          <a:ea typeface="微软雅黑" charset="0"/>
                          <a:cs typeface="微软雅黑" charset="0"/>
                        </a:rPr>
                        <a:t>更新按注意力头分块</a:t>
                      </a:r>
                      <a:r>
                        <a:rPr lang="en-US" altLang="zh-CN" sz="1000" b="0" i="0">
                          <a:solidFill>
                            <a:srgbClr val="000000"/>
                          </a:solidFill>
                          <a:latin typeface="微软雅黑" charset="0"/>
                          <a:ea typeface="微软雅黑" charset="0"/>
                          <a:cs typeface="微软雅黑" charset="0"/>
                        </a:rPr>
                        <a:t>,2.8T </a:t>
                      </a:r>
                      <a:r>
                        <a:rPr lang="zh-CN" altLang="en-US" sz="1000" b="0" i="0">
                          <a:solidFill>
                            <a:srgbClr val="000000"/>
                          </a:solidFill>
                          <a:latin typeface="微软雅黑" charset="0"/>
                          <a:ea typeface="微软雅黑" charset="0"/>
                          <a:cs typeface="微软雅黑" charset="0"/>
                        </a:rPr>
                        <a:t>规模预训练全程稳定</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zh-CN" altLang="en-US" sz="1000" b="0" i="0">
                          <a:solidFill>
                            <a:srgbClr val="000000"/>
                          </a:solidFill>
                          <a:latin typeface="微软雅黑" charset="0"/>
                          <a:ea typeface="微软雅黑" charset="0"/>
                          <a:cs typeface="微软雅黑" charset="0"/>
                        </a:rPr>
                        <a:t>官方定性结论</a:t>
                      </a:r>
                      <a:r>
                        <a:rPr lang="en-US" altLang="zh-CN" sz="1000" b="0" i="0">
                          <a:solidFill>
                            <a:srgbClr val="000000"/>
                          </a:solidFill>
                          <a:latin typeface="微软雅黑" charset="0"/>
                          <a:ea typeface="微软雅黑" charset="0"/>
                          <a:cs typeface="微软雅黑" charset="0"/>
                        </a:rPr>
                        <a:t>:</a:t>
                      </a:r>
                      <a:r>
                        <a:rPr lang="zh-CN" altLang="en-US" sz="1000" b="0" i="0">
                          <a:solidFill>
                            <a:srgbClr val="000000"/>
                          </a:solidFill>
                          <a:latin typeface="微软雅黑" charset="0"/>
                          <a:ea typeface="微软雅黑" charset="0"/>
                          <a:cs typeface="微软雅黑" charset="0"/>
                        </a:rPr>
                        <a:t>大规模训练稳定</a:t>
                      </a:r>
                      <a:endParaRPr lang="en-US" altLang="zh-CN" sz="1000" b="0" i="0">
                        <a:solidFill>
                          <a:srgbClr val="000000"/>
                        </a:solidFill>
                        <a:latin typeface="微软雅黑" charset="0"/>
                        <a:ea typeface="微软雅黑" charset="0"/>
                        <a:cs typeface="微软雅黑" charset="0"/>
                      </a:endParaRP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4"/>
                  </a:ext>
                </a:extLst>
              </a:tr>
              <a:tr h="324485">
                <a:tc>
                  <a:txBody>
                    <a:bodyPr/>
                    <a:lstStyle/>
                    <a:p>
                      <a:pPr algn="l" fontAlgn="t"/>
                      <a:r>
                        <a:rPr lang="en-US" altLang="zh-CN" sz="1000" b="0" i="0">
                          <a:solidFill>
                            <a:srgbClr val="000000"/>
                          </a:solidFill>
                          <a:latin typeface="微软雅黑" charset="0"/>
                          <a:ea typeface="微软雅黑" charset="0"/>
                          <a:cs typeface="微软雅黑" charset="0"/>
                        </a:rPr>
                        <a:t>quantile </a:t>
                      </a:r>
                      <a:r>
                        <a:rPr lang="zh-CN" altLang="en-US" sz="1000" b="0" i="0">
                          <a:solidFill>
                            <a:srgbClr val="000000"/>
                          </a:solidFill>
                          <a:latin typeface="微软雅黑" charset="0"/>
                          <a:ea typeface="微软雅黑" charset="0"/>
                          <a:cs typeface="微软雅黑" charset="0"/>
                        </a:rPr>
                        <a:t>负载均衡</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zh-CN" altLang="en-US" sz="1000" b="0" i="0">
                          <a:solidFill>
                            <a:srgbClr val="000000"/>
                          </a:solidFill>
                          <a:latin typeface="微软雅黑" charset="0"/>
                          <a:ea typeface="微软雅黑" charset="0"/>
                          <a:cs typeface="微软雅黑" charset="0"/>
                        </a:rPr>
                        <a:t>用分位数估计替代逐 </a:t>
                      </a:r>
                      <a:r>
                        <a:rPr lang="en-US" altLang="zh-CN" sz="1000" b="0" i="0">
                          <a:solidFill>
                            <a:srgbClr val="000000"/>
                          </a:solidFill>
                          <a:latin typeface="微软雅黑" charset="0"/>
                          <a:ea typeface="微软雅黑" charset="0"/>
                          <a:cs typeface="微软雅黑" charset="0"/>
                        </a:rPr>
                        <a:t>micro-batch </a:t>
                      </a:r>
                      <a:r>
                        <a:rPr lang="zh-CN" altLang="en-US" sz="1000" b="0" i="0">
                          <a:solidFill>
                            <a:srgbClr val="000000"/>
                          </a:solidFill>
                          <a:latin typeface="微软雅黑" charset="0"/>
                          <a:ea typeface="微软雅黑" charset="0"/>
                          <a:cs typeface="微软雅黑" charset="0"/>
                        </a:rPr>
                        <a:t>的原始 </a:t>
                      </a:r>
                      <a:r>
                        <a:rPr lang="en-US" altLang="zh-CN" sz="1000" b="0" i="0">
                          <a:solidFill>
                            <a:srgbClr val="000000"/>
                          </a:solidFill>
                          <a:latin typeface="微软雅黑" charset="0"/>
                          <a:ea typeface="微软雅黑" charset="0"/>
                          <a:cs typeface="微软雅黑" charset="0"/>
                        </a:rPr>
                        <a:t>margin </a:t>
                      </a:r>
                      <a:r>
                        <a:rPr lang="zh-CN" altLang="en-US" sz="1000" b="0" i="0">
                          <a:solidFill>
                            <a:srgbClr val="000000"/>
                          </a:solidFill>
                          <a:latin typeface="微软雅黑" charset="0"/>
                          <a:ea typeface="微软雅黑" charset="0"/>
                          <a:cs typeface="微软雅黑" charset="0"/>
                        </a:rPr>
                        <a:t>交换</a:t>
                      </a:r>
                      <a:r>
                        <a:rPr lang="en-US" altLang="zh-CN" sz="1000" b="0" i="0">
                          <a:solidFill>
                            <a:srgbClr val="000000"/>
                          </a:solidFill>
                          <a:latin typeface="微软雅黑" charset="0"/>
                          <a:ea typeface="微软雅黑" charset="0"/>
                          <a:cs typeface="微软雅黑" charset="0"/>
                        </a:rPr>
                        <a:t>,</a:t>
                      </a:r>
                      <a:r>
                        <a:rPr lang="zh-CN" altLang="en-US" sz="1000" b="0" i="0">
                          <a:solidFill>
                            <a:srgbClr val="000000"/>
                          </a:solidFill>
                          <a:latin typeface="微软雅黑" charset="0"/>
                          <a:ea typeface="微软雅黑" charset="0"/>
                          <a:cs typeface="微软雅黑" charset="0"/>
                        </a:rPr>
                        <a:t>稳住 </a:t>
                      </a:r>
                      <a:r>
                        <a:rPr lang="en-US" altLang="zh-CN" sz="1000" b="0" i="0">
                          <a:solidFill>
                            <a:srgbClr val="000000"/>
                          </a:solidFill>
                          <a:latin typeface="微软雅黑" charset="0"/>
                          <a:ea typeface="微软雅黑" charset="0"/>
                          <a:cs typeface="微软雅黑" charset="0"/>
                        </a:rPr>
                        <a:t>896 </a:t>
                      </a:r>
                      <a:r>
                        <a:rPr lang="zh-CN" altLang="en-US" sz="1000" b="0" i="0">
                          <a:solidFill>
                            <a:srgbClr val="000000"/>
                          </a:solidFill>
                          <a:latin typeface="微软雅黑" charset="0"/>
                          <a:ea typeface="微软雅黑" charset="0"/>
                          <a:cs typeface="微软雅黑" charset="0"/>
                        </a:rPr>
                        <a:t>专家负载</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zh-CN" altLang="en-US" sz="1000" b="0" i="0">
                          <a:solidFill>
                            <a:srgbClr val="000000"/>
                          </a:solidFill>
                          <a:latin typeface="微软雅黑" charset="0"/>
                          <a:ea typeface="微软雅黑" charset="0"/>
                          <a:cs typeface="微软雅黑" charset="0"/>
                        </a:rPr>
                        <a:t>通信开销 </a:t>
                      </a:r>
                      <a:r>
                        <a:rPr lang="en-US" altLang="zh-CN" sz="1000" b="0" i="0">
                          <a:solidFill>
                            <a:srgbClr val="000000"/>
                          </a:solidFill>
                          <a:latin typeface="微软雅黑" charset="0"/>
                          <a:ea typeface="微软雅黑" charset="0"/>
                          <a:cs typeface="微软雅黑" charset="0"/>
                        </a:rPr>
                        <a:t>&lt;1%</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5"/>
                  </a:ext>
                </a:extLst>
              </a:tr>
              <a:tr h="325120">
                <a:tc>
                  <a:txBody>
                    <a:bodyPr/>
                    <a:lstStyle/>
                    <a:p>
                      <a:pPr algn="l" fontAlgn="t"/>
                      <a:r>
                        <a:rPr lang="en-US" altLang="zh-CN" sz="1000" b="0" i="0">
                          <a:solidFill>
                            <a:srgbClr val="000000"/>
                          </a:solidFill>
                          <a:latin typeface="微软雅黑" charset="0"/>
                          <a:ea typeface="微软雅黑" charset="0"/>
                          <a:cs typeface="微软雅黑" charset="0"/>
                        </a:rPr>
                        <a:t>MXFP4 </a:t>
                      </a:r>
                      <a:r>
                        <a:rPr lang="zh-CN" altLang="en-US" sz="1000" b="0" i="0">
                          <a:solidFill>
                            <a:srgbClr val="000000"/>
                          </a:solidFill>
                          <a:latin typeface="微软雅黑" charset="0"/>
                          <a:ea typeface="微软雅黑" charset="0"/>
                          <a:cs typeface="微软雅黑" charset="0"/>
                        </a:rPr>
                        <a:t>全量量化</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en-US" altLang="zh-CN" sz="1000" b="0" i="0">
                          <a:solidFill>
                            <a:srgbClr val="000000"/>
                          </a:solidFill>
                          <a:latin typeface="微软雅黑" charset="0"/>
                          <a:ea typeface="微软雅黑" charset="0"/>
                          <a:cs typeface="微软雅黑" charset="0"/>
                        </a:rPr>
                        <a:t>QAT </a:t>
                      </a:r>
                      <a:r>
                        <a:rPr lang="zh-CN" altLang="en-US" sz="1000" b="0" i="0">
                          <a:solidFill>
                            <a:srgbClr val="000000"/>
                          </a:solidFill>
                          <a:latin typeface="微软雅黑" charset="0"/>
                          <a:ea typeface="微软雅黑" charset="0"/>
                          <a:cs typeface="微软雅黑" charset="0"/>
                        </a:rPr>
                        <a:t>自 </a:t>
                      </a:r>
                      <a:r>
                        <a:rPr lang="en-US" altLang="zh-CN" sz="1000" b="0" i="0">
                          <a:solidFill>
                            <a:srgbClr val="000000"/>
                          </a:solidFill>
                          <a:latin typeface="微软雅黑" charset="0"/>
                          <a:ea typeface="微软雅黑" charset="0"/>
                          <a:cs typeface="微软雅黑" charset="0"/>
                        </a:rPr>
                        <a:t>SFT </a:t>
                      </a:r>
                      <a:r>
                        <a:rPr lang="zh-CN" altLang="en-US" sz="1000" b="0" i="0">
                          <a:solidFill>
                            <a:srgbClr val="000000"/>
                          </a:solidFill>
                          <a:latin typeface="微软雅黑" charset="0"/>
                          <a:ea typeface="微软雅黑" charset="0"/>
                          <a:cs typeface="微软雅黑" charset="0"/>
                        </a:rPr>
                        <a:t>阶段起步、</a:t>
                      </a:r>
                      <a:r>
                        <a:rPr lang="en-US" altLang="zh-CN" sz="1000" b="0" i="0">
                          <a:solidFill>
                            <a:srgbClr val="000000"/>
                          </a:solidFill>
                          <a:latin typeface="微软雅黑" charset="0"/>
                          <a:ea typeface="微软雅黑" charset="0"/>
                          <a:cs typeface="微软雅黑" charset="0"/>
                        </a:rPr>
                        <a:t>group 32;</a:t>
                      </a:r>
                      <a:r>
                        <a:rPr lang="zh-CN" altLang="en-US" sz="1000" b="0" i="0">
                          <a:solidFill>
                            <a:srgbClr val="000000"/>
                          </a:solidFill>
                          <a:latin typeface="微软雅黑" charset="0"/>
                          <a:ea typeface="微软雅黑" charset="0"/>
                          <a:cs typeface="微软雅黑" charset="0"/>
                        </a:rPr>
                        <a:t>量化权重即训练产物</a:t>
                      </a:r>
                      <a:r>
                        <a:rPr lang="en-US" altLang="zh-CN" sz="1000" b="0" i="0">
                          <a:solidFill>
                            <a:srgbClr val="000000"/>
                          </a:solidFill>
                          <a:latin typeface="微软雅黑" charset="0"/>
                          <a:ea typeface="微软雅黑" charset="0"/>
                          <a:cs typeface="微软雅黑" charset="0"/>
                        </a:rPr>
                        <a:t>,</a:t>
                      </a:r>
                      <a:r>
                        <a:rPr lang="zh-CN" altLang="en-US" sz="1000" b="0" i="0">
                          <a:solidFill>
                            <a:srgbClr val="000000"/>
                          </a:solidFill>
                          <a:latin typeface="微软雅黑" charset="0"/>
                          <a:ea typeface="微软雅黑" charset="0"/>
                          <a:cs typeface="微软雅黑" charset="0"/>
                        </a:rPr>
                        <a:t>不是事后压缩</a:t>
                      </a: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t"/>
                      <a:r>
                        <a:rPr lang="zh-CN" altLang="en-US" sz="1000" b="0" i="0" dirty="0">
                          <a:solidFill>
                            <a:srgbClr val="000000"/>
                          </a:solidFill>
                          <a:latin typeface="微软雅黑" charset="0"/>
                          <a:ea typeface="微软雅黑" charset="0"/>
                          <a:cs typeface="微软雅黑" charset="0"/>
                        </a:rPr>
                        <a:t>权重 </a:t>
                      </a:r>
                      <a:r>
                        <a:rPr lang="en-US" altLang="zh-CN" sz="1000" b="0" i="0" dirty="0">
                          <a:solidFill>
                            <a:srgbClr val="000000"/>
                          </a:solidFill>
                          <a:latin typeface="微软雅黑" charset="0"/>
                          <a:ea typeface="微软雅黑" charset="0"/>
                          <a:cs typeface="微软雅黑" charset="0"/>
                        </a:rPr>
                        <a:t>1.56TB</a:t>
                      </a:r>
                      <a:r>
                        <a:rPr lang="zh-CN" altLang="en-US" sz="1000" b="0" i="0" dirty="0">
                          <a:solidFill>
                            <a:srgbClr val="000000"/>
                          </a:solidFill>
                          <a:latin typeface="微软雅黑" charset="0"/>
                          <a:ea typeface="微软雅黑" charset="0"/>
                          <a:cs typeface="微软雅黑" charset="0"/>
                        </a:rPr>
                        <a:t>、单机 </a:t>
                      </a:r>
                      <a:r>
                        <a:rPr lang="en-US" altLang="zh-CN" sz="1000" b="0" i="0" dirty="0">
                          <a:solidFill>
                            <a:srgbClr val="000000"/>
                          </a:solidFill>
                          <a:latin typeface="微软雅黑" charset="0"/>
                          <a:ea typeface="微软雅黑" charset="0"/>
                          <a:cs typeface="微软雅黑" charset="0"/>
                        </a:rPr>
                        <a:t>8×B300 </a:t>
                      </a:r>
                      <a:r>
                        <a:rPr lang="zh-CN" altLang="en-US" sz="1000" b="0" i="0" dirty="0">
                          <a:solidFill>
                            <a:srgbClr val="000000"/>
                          </a:solidFill>
                          <a:latin typeface="微软雅黑" charset="0"/>
                          <a:ea typeface="微软雅黑" charset="0"/>
                          <a:cs typeface="微软雅黑" charset="0"/>
                        </a:rPr>
                        <a:t>可跑</a:t>
                      </a:r>
                      <a:endParaRPr lang="en-US" altLang="zh-CN" sz="1000" b="0" i="0" dirty="0">
                        <a:solidFill>
                          <a:srgbClr val="000000"/>
                        </a:solidFill>
                        <a:latin typeface="微软雅黑" charset="0"/>
                        <a:ea typeface="微软雅黑" charset="0"/>
                        <a:cs typeface="微软雅黑" charset="0"/>
                      </a:endParaRPr>
                    </a:p>
                  </a:txBody>
                  <a:tcPr marL="13017" marR="13017" marT="13017" marB="0">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0" name="文本框 19"/>
          <p:cNvSpPr txBox="1"/>
          <p:nvPr/>
        </p:nvSpPr>
        <p:spPr>
          <a:xfrm>
            <a:off x="5861685" y="3763645"/>
            <a:ext cx="4065270" cy="184150"/>
          </a:xfrm>
          <a:prstGeom prst="rect">
            <a:avLst/>
          </a:prstGeom>
          <a:noFill/>
        </p:spPr>
        <p:txBody>
          <a:bodyPr wrap="square" lIns="0" tIns="0" rIns="0" bIns="0" rtlCol="0">
            <a:spAutoFit/>
          </a:bodyPr>
          <a:lstStyle/>
          <a:p>
            <a:pPr marL="171450" indent="-171450" algn="l">
              <a:buFont typeface="Wingdings" panose="05000000000000000000" charset="0"/>
              <a:buChar char=""/>
            </a:pPr>
            <a:r>
              <a:rPr kumimoji="1" lang="zh-CN" altLang="en-US" sz="1200" b="1" dirty="0">
                <a:solidFill>
                  <a:srgbClr val="000000"/>
                </a:solidFill>
                <a:latin typeface="微软雅黑" panose="020B0503020204020204" pitchFamily="34" charset="-122"/>
                <a:ea typeface="微软雅黑" panose="020B0503020204020204" pitchFamily="34" charset="-122"/>
              </a:rPr>
              <a:t>核心改进：六项创新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2995930" y="1461770"/>
            <a:ext cx="2520315" cy="5200015"/>
            <a:chOff x="5013" y="2397"/>
            <a:chExt cx="3969" cy="8189"/>
          </a:xfrm>
        </p:grpSpPr>
        <p:sp>
          <p:nvSpPr>
            <p:cNvPr id="214" name="矩形: 圆角 176"/>
            <p:cNvSpPr/>
            <p:nvPr/>
          </p:nvSpPr>
          <p:spPr>
            <a:xfrm rot="21600000">
              <a:off x="6813" y="2779"/>
              <a:ext cx="1138" cy="225"/>
            </a:xfrm>
            <a:prstGeom prst="roundRect">
              <a:avLst/>
            </a:prstGeom>
            <a:noFill/>
            <a:ln>
              <a:solidFill>
                <a:schemeClr val="tx1"/>
              </a:solidFill>
            </a:ln>
            <a:extLst>
              <a:ext uri="{909E8E84-426E-40DD-AFC4-6F175D3DCCD1}">
                <a14:hiddenFill xmlns:a14="http://schemas.microsoft.com/office/drawing/2010/main">
                  <a:solidFill>
                    <a:schemeClr val="accent5">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err="1">
                  <a:solidFill>
                    <a:schemeClr val="tx1"/>
                  </a:solidFill>
                  <a:latin typeface="微软雅黑" panose="020B0503020204020204" pitchFamily="34" charset="-122"/>
                  <a:ea typeface="微软雅黑" panose="020B0503020204020204" pitchFamily="34" charset="-122"/>
                </a:rPr>
                <a:t>LM head</a:t>
              </a:r>
              <a:endParaRPr lang="zh-CN" altLang="en-US" sz="700" dirty="0">
                <a:solidFill>
                  <a:schemeClr val="tx1"/>
                </a:solidFill>
                <a:latin typeface="微软雅黑" panose="020B0503020204020204" pitchFamily="34" charset="-122"/>
                <a:ea typeface="微软雅黑" panose="020B0503020204020204" pitchFamily="34" charset="-122"/>
              </a:endParaRPr>
            </a:p>
          </p:txBody>
        </p:sp>
        <p:cxnSp>
          <p:nvCxnSpPr>
            <p:cNvPr id="222" name="直接箭头连接符 221"/>
            <p:cNvCxnSpPr>
              <a:stCxn id="209" idx="0"/>
              <a:endCxn id="214" idx="2"/>
            </p:cNvCxnSpPr>
            <p:nvPr/>
          </p:nvCxnSpPr>
          <p:spPr>
            <a:xfrm flipH="1" flipV="1">
              <a:off x="7382" y="3004"/>
              <a:ext cx="2" cy="1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3" name="矩形: 圆角 176"/>
            <p:cNvSpPr/>
            <p:nvPr/>
          </p:nvSpPr>
          <p:spPr>
            <a:xfrm rot="21600000">
              <a:off x="6813" y="2397"/>
              <a:ext cx="1138" cy="225"/>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err="1">
                  <a:solidFill>
                    <a:schemeClr val="tx1"/>
                  </a:solidFill>
                  <a:latin typeface="微软雅黑" panose="020B0503020204020204" pitchFamily="34" charset="-122"/>
                  <a:ea typeface="微软雅黑" panose="020B0503020204020204" pitchFamily="34" charset="-122"/>
                </a:rPr>
                <a:t>output</a:t>
              </a:r>
              <a:endParaRPr lang="zh-CN" altLang="en-US" sz="700" dirty="0">
                <a:solidFill>
                  <a:schemeClr val="tx1"/>
                </a:solidFill>
                <a:latin typeface="微软雅黑" panose="020B0503020204020204" pitchFamily="34" charset="-122"/>
                <a:ea typeface="微软雅黑" panose="020B0503020204020204" pitchFamily="34" charset="-122"/>
              </a:endParaRPr>
            </a:p>
          </p:txBody>
        </p:sp>
        <p:cxnSp>
          <p:nvCxnSpPr>
            <p:cNvPr id="224" name="直接箭头连接符 223"/>
            <p:cNvCxnSpPr>
              <a:stCxn id="214" idx="0"/>
              <a:endCxn id="223" idx="2"/>
            </p:cNvCxnSpPr>
            <p:nvPr/>
          </p:nvCxnSpPr>
          <p:spPr>
            <a:xfrm flipV="1">
              <a:off x="7382" y="2622"/>
              <a:ext cx="0" cy="1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矩形 87"/>
            <p:cNvSpPr/>
            <p:nvPr/>
          </p:nvSpPr>
          <p:spPr>
            <a:xfrm rot="16200000">
              <a:off x="4300" y="4530"/>
              <a:ext cx="5708" cy="3494"/>
            </a:xfrm>
            <a:prstGeom prst="rect">
              <a:avLst/>
            </a:prstGeom>
            <a:solidFill>
              <a:srgbClr val="000000">
                <a:alpha val="0"/>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600">
                <a:sym typeface="+mn-ea"/>
              </a:endParaRPr>
            </a:p>
          </p:txBody>
        </p:sp>
        <p:sp>
          <p:nvSpPr>
            <p:cNvPr id="5" name="矩形: 圆角 22"/>
            <p:cNvSpPr/>
            <p:nvPr/>
          </p:nvSpPr>
          <p:spPr>
            <a:xfrm>
              <a:off x="6059" y="9982"/>
              <a:ext cx="1118" cy="199"/>
            </a:xfrm>
            <a:prstGeom prst="roundRect">
              <a:avLst/>
            </a:prstGeom>
            <a:solidFill>
              <a:schemeClr val="bg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a:solidFill>
                    <a:schemeClr val="tx1"/>
                  </a:solidFill>
                  <a:latin typeface="微软雅黑" panose="020B0503020204020204" pitchFamily="34" charset="-122"/>
                  <a:ea typeface="微软雅黑" panose="020B0503020204020204" pitchFamily="34" charset="-122"/>
                </a:rPr>
                <a:t>embedding</a:t>
              </a:r>
            </a:p>
          </p:txBody>
        </p:sp>
        <p:cxnSp>
          <p:nvCxnSpPr>
            <p:cNvPr id="7" name="连接符: 肘形 183"/>
            <p:cNvCxnSpPr>
              <a:stCxn id="4" idx="0"/>
              <a:endCxn id="9" idx="2"/>
            </p:cNvCxnSpPr>
            <p:nvPr/>
          </p:nvCxnSpPr>
          <p:spPr>
            <a:xfrm rot="16200000">
              <a:off x="7672" y="9883"/>
              <a:ext cx="197" cy="808"/>
            </a:xfrm>
            <a:prstGeom prst="bentConnector3">
              <a:avLst>
                <a:gd name="adj1" fmla="val 340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圆角 22"/>
            <p:cNvSpPr/>
            <p:nvPr/>
          </p:nvSpPr>
          <p:spPr>
            <a:xfrm>
              <a:off x="7366" y="9989"/>
              <a:ext cx="1616" cy="199"/>
            </a:xfrm>
            <a:prstGeom prst="roundRect">
              <a:avLst/>
            </a:prstGeom>
            <a:solidFill>
              <a:schemeClr val="bg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a:solidFill>
                    <a:schemeClr val="tx1"/>
                  </a:solidFill>
                  <a:latin typeface="微软雅黑" panose="020B0503020204020204" pitchFamily="34" charset="-122"/>
                  <a:ea typeface="微软雅黑" panose="020B0503020204020204" pitchFamily="34" charset="-122"/>
                </a:rPr>
                <a:t>KimiK3VisionTower</a:t>
              </a:r>
            </a:p>
          </p:txBody>
        </p:sp>
        <p:sp>
          <p:nvSpPr>
            <p:cNvPr id="10" name="矩形: 圆角 22"/>
            <p:cNvSpPr/>
            <p:nvPr/>
          </p:nvSpPr>
          <p:spPr>
            <a:xfrm>
              <a:off x="6201" y="9514"/>
              <a:ext cx="2331" cy="199"/>
            </a:xfrm>
            <a:prstGeom prst="roundRect">
              <a:avLst/>
            </a:prstGeom>
            <a:solidFill>
              <a:schemeClr val="bg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a:solidFill>
                    <a:schemeClr val="tx1"/>
                  </a:solidFill>
                  <a:latin typeface="微软雅黑" panose="020B0503020204020204" pitchFamily="34" charset="-122"/>
                  <a:ea typeface="微软雅黑" panose="020B0503020204020204" pitchFamily="34" charset="-122"/>
                </a:rPr>
                <a:t>merge text + vision tokens</a:t>
              </a:r>
            </a:p>
          </p:txBody>
        </p:sp>
        <p:sp>
          <p:nvSpPr>
            <p:cNvPr id="4" name="矩形: 圆角 22"/>
            <p:cNvSpPr/>
            <p:nvPr/>
          </p:nvSpPr>
          <p:spPr>
            <a:xfrm>
              <a:off x="6860" y="10385"/>
              <a:ext cx="1011" cy="201"/>
            </a:xfrm>
            <a:prstGeom prst="roundRect">
              <a:avLst/>
            </a:prstGeom>
            <a:solidFill>
              <a:schemeClr val="bg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a:solidFill>
                    <a:schemeClr val="tx1"/>
                  </a:solidFill>
                  <a:latin typeface="微软雅黑" panose="020B0503020204020204" pitchFamily="34" charset="-122"/>
                  <a:ea typeface="微软雅黑" panose="020B0503020204020204" pitchFamily="34" charset="-122"/>
                </a:rPr>
                <a:t>Input</a:t>
              </a:r>
            </a:p>
          </p:txBody>
        </p:sp>
        <p:cxnSp>
          <p:nvCxnSpPr>
            <p:cNvPr id="3" name="连接符: 肘形 183"/>
            <p:cNvCxnSpPr>
              <a:stCxn id="4" idx="0"/>
              <a:endCxn id="5" idx="2"/>
            </p:cNvCxnSpPr>
            <p:nvPr/>
          </p:nvCxnSpPr>
          <p:spPr>
            <a:xfrm rot="16200000" flipV="1">
              <a:off x="6890" y="9909"/>
              <a:ext cx="204" cy="748"/>
            </a:xfrm>
            <a:prstGeom prst="bentConnector3">
              <a:avLst>
                <a:gd name="adj1" fmla="val 3431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9" name="矩形: 圆角 176"/>
            <p:cNvSpPr/>
            <p:nvPr/>
          </p:nvSpPr>
          <p:spPr>
            <a:xfrm>
              <a:off x="6878" y="3110"/>
              <a:ext cx="1011" cy="201"/>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RMSNorm</a:t>
              </a:r>
            </a:p>
          </p:txBody>
        </p:sp>
        <p:cxnSp>
          <p:nvCxnSpPr>
            <p:cNvPr id="211" name="直接箭头连接符 210"/>
            <p:cNvCxnSpPr>
              <a:stCxn id="191" idx="6"/>
              <a:endCxn id="209" idx="2"/>
            </p:cNvCxnSpPr>
            <p:nvPr/>
          </p:nvCxnSpPr>
          <p:spPr>
            <a:xfrm flipH="1" flipV="1">
              <a:off x="7384" y="3311"/>
              <a:ext cx="3" cy="2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2" name="矩形 261"/>
            <p:cNvSpPr/>
            <p:nvPr/>
          </p:nvSpPr>
          <p:spPr>
            <a:xfrm rot="16200000">
              <a:off x="6102" y="6394"/>
              <a:ext cx="2606" cy="2644"/>
            </a:xfrm>
            <a:prstGeom prst="rect">
              <a:avLst/>
            </a:prstGeom>
            <a:solidFill>
              <a:srgbClr val="000000">
                <a:alpha val="0"/>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sp>
          <p:nvSpPr>
            <p:cNvPr id="139" name="矩形: 圆角 176"/>
            <p:cNvSpPr/>
            <p:nvPr/>
          </p:nvSpPr>
          <p:spPr>
            <a:xfrm>
              <a:off x="6819" y="6857"/>
              <a:ext cx="1136" cy="293"/>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sym typeface="+mn-ea"/>
                </a:rPr>
                <a:t>Stable LatentMoE</a:t>
              </a:r>
            </a:p>
          </p:txBody>
        </p:sp>
        <p:sp>
          <p:nvSpPr>
            <p:cNvPr id="149" name="矩形: 圆角 30"/>
            <p:cNvSpPr/>
            <p:nvPr/>
          </p:nvSpPr>
          <p:spPr>
            <a:xfrm>
              <a:off x="6461" y="8757"/>
              <a:ext cx="1823" cy="201"/>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err="1">
                  <a:solidFill>
                    <a:schemeClr val="tx1"/>
                  </a:solidFill>
                  <a:latin typeface="微软雅黑" panose="020B0503020204020204" pitchFamily="34" charset="-122"/>
                  <a:ea typeface="微软雅黑" panose="020B0503020204020204" pitchFamily="34" charset="-122"/>
                </a:rPr>
                <a:t>ResAttention</a:t>
              </a:r>
            </a:p>
          </p:txBody>
        </p:sp>
        <p:sp>
          <p:nvSpPr>
            <p:cNvPr id="150" name="矩形: 圆角 176"/>
            <p:cNvSpPr/>
            <p:nvPr/>
          </p:nvSpPr>
          <p:spPr>
            <a:xfrm>
              <a:off x="6867" y="8380"/>
              <a:ext cx="1011" cy="178"/>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RMSNorm</a:t>
              </a:r>
            </a:p>
          </p:txBody>
        </p:sp>
        <p:cxnSp>
          <p:nvCxnSpPr>
            <p:cNvPr id="151" name="直接箭头连接符 150"/>
            <p:cNvCxnSpPr>
              <a:stCxn id="149" idx="0"/>
              <a:endCxn id="150" idx="2"/>
            </p:cNvCxnSpPr>
            <p:nvPr/>
          </p:nvCxnSpPr>
          <p:spPr>
            <a:xfrm flipV="1">
              <a:off x="7373" y="8558"/>
              <a:ext cx="0" cy="1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4" name="矩形: 圆角 30"/>
            <p:cNvSpPr/>
            <p:nvPr/>
          </p:nvSpPr>
          <p:spPr>
            <a:xfrm>
              <a:off x="6813" y="8015"/>
              <a:ext cx="1119" cy="191"/>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err="1">
                  <a:solidFill>
                    <a:schemeClr val="tx1"/>
                  </a:solidFill>
                  <a:latin typeface="微软雅黑" panose="020B0503020204020204" pitchFamily="34" charset="-122"/>
                  <a:ea typeface="微软雅黑" panose="020B0503020204020204" pitchFamily="34" charset="-122"/>
                </a:rPr>
                <a:t>KDA</a:t>
              </a:r>
            </a:p>
          </p:txBody>
        </p:sp>
        <p:cxnSp>
          <p:nvCxnSpPr>
            <p:cNvPr id="155" name="直接箭头连接符 154"/>
            <p:cNvCxnSpPr>
              <a:stCxn id="150" idx="0"/>
              <a:endCxn id="154" idx="2"/>
            </p:cNvCxnSpPr>
            <p:nvPr/>
          </p:nvCxnSpPr>
          <p:spPr>
            <a:xfrm flipV="1">
              <a:off x="7373" y="8206"/>
              <a:ext cx="0" cy="1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6" name="矩形: 圆角 176"/>
            <p:cNvSpPr/>
            <p:nvPr/>
          </p:nvSpPr>
          <p:spPr>
            <a:xfrm>
              <a:off x="6867" y="7264"/>
              <a:ext cx="1011" cy="178"/>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RMSNorm</a:t>
              </a:r>
            </a:p>
          </p:txBody>
        </p:sp>
        <p:cxnSp>
          <p:nvCxnSpPr>
            <p:cNvPr id="157" name="直接箭头连接符 156"/>
            <p:cNvCxnSpPr>
              <a:stCxn id="154" idx="0"/>
              <a:endCxn id="158" idx="2"/>
            </p:cNvCxnSpPr>
            <p:nvPr/>
          </p:nvCxnSpPr>
          <p:spPr>
            <a:xfrm flipH="1" flipV="1">
              <a:off x="7363" y="7806"/>
              <a:ext cx="10" cy="20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8" name="流程图: 或者 157"/>
            <p:cNvSpPr/>
            <p:nvPr/>
          </p:nvSpPr>
          <p:spPr>
            <a:xfrm rot="16200000">
              <a:off x="7262" y="7596"/>
              <a:ext cx="202" cy="218"/>
            </a:xfrm>
            <a:prstGeom prst="flowChar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cxnSp>
          <p:nvCxnSpPr>
            <p:cNvPr id="159" name="直接箭头连接符 158"/>
            <p:cNvCxnSpPr>
              <a:stCxn id="158" idx="6"/>
              <a:endCxn id="156" idx="2"/>
            </p:cNvCxnSpPr>
            <p:nvPr/>
          </p:nvCxnSpPr>
          <p:spPr>
            <a:xfrm flipV="1">
              <a:off x="7363" y="7442"/>
              <a:ext cx="10" cy="1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箭头连接符 160"/>
            <p:cNvCxnSpPr>
              <a:stCxn id="156" idx="0"/>
            </p:cNvCxnSpPr>
            <p:nvPr/>
          </p:nvCxnSpPr>
          <p:spPr>
            <a:xfrm flipV="1">
              <a:off x="7373" y="7065"/>
              <a:ext cx="0" cy="1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2" name="流程图: 或者 161"/>
            <p:cNvSpPr/>
            <p:nvPr/>
          </p:nvSpPr>
          <p:spPr>
            <a:xfrm rot="16200000">
              <a:off x="7271" y="6500"/>
              <a:ext cx="202" cy="218"/>
            </a:xfrm>
            <a:prstGeom prst="flowChar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cxnSp>
          <p:nvCxnSpPr>
            <p:cNvPr id="163" name="直接箭头连接符 162"/>
            <p:cNvCxnSpPr>
              <a:endCxn id="162" idx="2"/>
            </p:cNvCxnSpPr>
            <p:nvPr/>
          </p:nvCxnSpPr>
          <p:spPr>
            <a:xfrm flipV="1">
              <a:off x="7372" y="6710"/>
              <a:ext cx="0" cy="2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连接符: 肘形 270"/>
            <p:cNvCxnSpPr/>
            <p:nvPr/>
          </p:nvCxnSpPr>
          <p:spPr>
            <a:xfrm rot="10800000" flipH="1">
              <a:off x="7278" y="6621"/>
              <a:ext cx="9" cy="1096"/>
            </a:xfrm>
            <a:prstGeom prst="bentConnector3">
              <a:avLst>
                <a:gd name="adj1" fmla="val -839999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5" name="连接符: 肘形 270"/>
            <p:cNvCxnSpPr>
              <a:stCxn id="149" idx="3"/>
              <a:endCxn id="158" idx="4"/>
            </p:cNvCxnSpPr>
            <p:nvPr/>
          </p:nvCxnSpPr>
          <p:spPr>
            <a:xfrm flipH="1" flipV="1">
              <a:off x="7472" y="7705"/>
              <a:ext cx="812" cy="1153"/>
            </a:xfrm>
            <a:prstGeom prst="bentConnector3">
              <a:avLst>
                <a:gd name="adj1" fmla="val -4618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7" name="文本框 266"/>
            <p:cNvSpPr txBox="1"/>
            <p:nvPr/>
          </p:nvSpPr>
          <p:spPr>
            <a:xfrm>
              <a:off x="6147" y="6452"/>
              <a:ext cx="1491" cy="169"/>
            </a:xfrm>
            <a:prstGeom prst="rect">
              <a:avLst/>
            </a:prstGeom>
            <a:noFill/>
          </p:spPr>
          <p:txBody>
            <a:bodyPr wrap="square" lIns="0" tIns="0" rIns="0" bIns="0" rtlCol="0">
              <a:spAutoFit/>
            </a:bodyPr>
            <a:lstStyle/>
            <a:p>
              <a:pPr algn="l"/>
              <a:r>
                <a:rPr kumimoji="1" lang="en-US" altLang="zh-CN" sz="700" dirty="0">
                  <a:solidFill>
                    <a:srgbClr val="000000"/>
                  </a:solidFill>
                  <a:latin typeface="微软雅黑" panose="020B0503020204020204" pitchFamily="34" charset="-122"/>
                  <a:ea typeface="微软雅黑" panose="020B0503020204020204" pitchFamily="34" charset="-122"/>
                  <a:sym typeface="+mn-ea"/>
                </a:rPr>
                <a:t>Linear Attention</a:t>
              </a:r>
            </a:p>
          </p:txBody>
        </p:sp>
        <p:sp>
          <p:nvSpPr>
            <p:cNvPr id="253" name="矩形 252"/>
            <p:cNvSpPr/>
            <p:nvPr/>
          </p:nvSpPr>
          <p:spPr>
            <a:xfrm rot="16200000">
              <a:off x="6013" y="3570"/>
              <a:ext cx="2774" cy="2645"/>
            </a:xfrm>
            <a:prstGeom prst="rect">
              <a:avLst/>
            </a:prstGeom>
            <a:solidFill>
              <a:srgbClr val="000000">
                <a:alpha val="0"/>
              </a:srgb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600">
                <a:sym typeface="+mn-ea"/>
              </a:endParaRPr>
            </a:p>
          </p:txBody>
        </p:sp>
        <p:sp>
          <p:nvSpPr>
            <p:cNvPr id="169" name="矩形: 圆角 176"/>
            <p:cNvSpPr/>
            <p:nvPr/>
          </p:nvSpPr>
          <p:spPr>
            <a:xfrm>
              <a:off x="6824" y="3960"/>
              <a:ext cx="1136" cy="293"/>
            </a:xfrm>
            <a:prstGeom prst="round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Stable LatentMoE</a:t>
              </a:r>
            </a:p>
          </p:txBody>
        </p:sp>
        <p:sp>
          <p:nvSpPr>
            <p:cNvPr id="174" name="矩形: 圆角 30"/>
            <p:cNvSpPr/>
            <p:nvPr/>
          </p:nvSpPr>
          <p:spPr>
            <a:xfrm>
              <a:off x="6466" y="6011"/>
              <a:ext cx="1823" cy="201"/>
            </a:xfrm>
            <a:prstGeom prst="round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err="1">
                  <a:solidFill>
                    <a:schemeClr val="tx1"/>
                  </a:solidFill>
                  <a:latin typeface="微软雅黑" panose="020B0503020204020204" pitchFamily="34" charset="-122"/>
                  <a:ea typeface="微软雅黑" panose="020B0503020204020204" pitchFamily="34" charset="-122"/>
                </a:rPr>
                <a:t>ResAttention</a:t>
              </a:r>
            </a:p>
          </p:txBody>
        </p:sp>
        <p:sp>
          <p:nvSpPr>
            <p:cNvPr id="176" name="矩形: 圆角 176"/>
            <p:cNvSpPr/>
            <p:nvPr/>
          </p:nvSpPr>
          <p:spPr>
            <a:xfrm>
              <a:off x="6872" y="5650"/>
              <a:ext cx="1011" cy="178"/>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RMSNorm</a:t>
              </a:r>
            </a:p>
          </p:txBody>
        </p:sp>
        <p:cxnSp>
          <p:nvCxnSpPr>
            <p:cNvPr id="178" name="直接箭头连接符 177"/>
            <p:cNvCxnSpPr>
              <a:stCxn id="174" idx="0"/>
              <a:endCxn id="176" idx="2"/>
            </p:cNvCxnSpPr>
            <p:nvPr/>
          </p:nvCxnSpPr>
          <p:spPr>
            <a:xfrm flipV="1">
              <a:off x="7378" y="5828"/>
              <a:ext cx="0" cy="1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9" name="矩形: 圆角 30"/>
            <p:cNvSpPr/>
            <p:nvPr/>
          </p:nvSpPr>
          <p:spPr>
            <a:xfrm>
              <a:off x="6713" y="5143"/>
              <a:ext cx="1342" cy="357"/>
            </a:xfrm>
            <a:prstGeom prst="roundRect">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err="1">
                  <a:solidFill>
                    <a:schemeClr val="tx1"/>
                  </a:solidFill>
                  <a:latin typeface="微软雅黑" panose="020B0503020204020204" pitchFamily="34" charset="-122"/>
                  <a:ea typeface="微软雅黑" panose="020B0503020204020204" pitchFamily="34" charset="-122"/>
                </a:rPr>
                <a:t>GatedMLA Attention</a:t>
              </a:r>
            </a:p>
          </p:txBody>
        </p:sp>
        <p:sp>
          <p:nvSpPr>
            <p:cNvPr id="182" name="矩形: 圆角 176"/>
            <p:cNvSpPr/>
            <p:nvPr/>
          </p:nvSpPr>
          <p:spPr>
            <a:xfrm>
              <a:off x="6872" y="4408"/>
              <a:ext cx="1011" cy="178"/>
            </a:xfrm>
            <a:prstGeom prst="round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RMSNorm</a:t>
              </a:r>
            </a:p>
          </p:txBody>
        </p:sp>
        <p:cxnSp>
          <p:nvCxnSpPr>
            <p:cNvPr id="183" name="直接箭头连接符 182"/>
            <p:cNvCxnSpPr>
              <a:stCxn id="179" idx="0"/>
              <a:endCxn id="185" idx="2"/>
            </p:cNvCxnSpPr>
            <p:nvPr/>
          </p:nvCxnSpPr>
          <p:spPr>
            <a:xfrm flipH="1" flipV="1">
              <a:off x="7378" y="4935"/>
              <a:ext cx="6" cy="2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5" name="流程图: 或者 184"/>
            <p:cNvSpPr/>
            <p:nvPr/>
          </p:nvSpPr>
          <p:spPr>
            <a:xfrm rot="16200000">
              <a:off x="7276" y="4755"/>
              <a:ext cx="202" cy="218"/>
            </a:xfrm>
            <a:prstGeom prst="flowChar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cxnSp>
          <p:nvCxnSpPr>
            <p:cNvPr id="186" name="直接箭头连接符 185"/>
            <p:cNvCxnSpPr>
              <a:stCxn id="185" idx="6"/>
              <a:endCxn id="182" idx="2"/>
            </p:cNvCxnSpPr>
            <p:nvPr/>
          </p:nvCxnSpPr>
          <p:spPr>
            <a:xfrm flipV="1">
              <a:off x="7377" y="4586"/>
              <a:ext cx="1" cy="1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直接箭头连接符 188"/>
            <p:cNvCxnSpPr>
              <a:stCxn id="182" idx="0"/>
            </p:cNvCxnSpPr>
            <p:nvPr/>
          </p:nvCxnSpPr>
          <p:spPr>
            <a:xfrm flipV="1">
              <a:off x="7378" y="4209"/>
              <a:ext cx="0" cy="1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1" name="流程图: 或者 190"/>
            <p:cNvSpPr/>
            <p:nvPr/>
          </p:nvSpPr>
          <p:spPr>
            <a:xfrm rot="16200000">
              <a:off x="7286" y="3574"/>
              <a:ext cx="202" cy="218"/>
            </a:xfrm>
            <a:prstGeom prst="flowChar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cxnSp>
          <p:nvCxnSpPr>
            <p:cNvPr id="193" name="直接箭头连接符 192"/>
            <p:cNvCxnSpPr>
              <a:stCxn id="169" idx="0"/>
              <a:endCxn id="191" idx="2"/>
            </p:cNvCxnSpPr>
            <p:nvPr/>
          </p:nvCxnSpPr>
          <p:spPr>
            <a:xfrm flipH="1" flipV="1">
              <a:off x="7387" y="3784"/>
              <a:ext cx="5" cy="1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5" name="连接符: 肘形 270"/>
            <p:cNvCxnSpPr>
              <a:stCxn id="185" idx="0"/>
              <a:endCxn id="191" idx="0"/>
            </p:cNvCxnSpPr>
            <p:nvPr/>
          </p:nvCxnSpPr>
          <p:spPr>
            <a:xfrm rot="10800000" flipH="1">
              <a:off x="7268" y="3683"/>
              <a:ext cx="10" cy="1181"/>
            </a:xfrm>
            <a:prstGeom prst="bentConnector3">
              <a:avLst>
                <a:gd name="adj1" fmla="val -75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箭头连接符 207"/>
            <p:cNvCxnSpPr>
              <a:stCxn id="176" idx="0"/>
              <a:endCxn id="179" idx="2"/>
            </p:cNvCxnSpPr>
            <p:nvPr/>
          </p:nvCxnSpPr>
          <p:spPr>
            <a:xfrm flipV="1">
              <a:off x="7378" y="5500"/>
              <a:ext cx="6" cy="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6" name="连接符: 肘形 270"/>
            <p:cNvCxnSpPr>
              <a:stCxn id="174" idx="3"/>
              <a:endCxn id="185" idx="4"/>
            </p:cNvCxnSpPr>
            <p:nvPr/>
          </p:nvCxnSpPr>
          <p:spPr>
            <a:xfrm flipH="1" flipV="1">
              <a:off x="7486" y="4864"/>
              <a:ext cx="803" cy="1248"/>
            </a:xfrm>
            <a:prstGeom prst="bentConnector3">
              <a:avLst>
                <a:gd name="adj1" fmla="val -467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9" name="文本框 268"/>
            <p:cNvSpPr txBox="1"/>
            <p:nvPr/>
          </p:nvSpPr>
          <p:spPr>
            <a:xfrm>
              <a:off x="6124" y="3506"/>
              <a:ext cx="1930" cy="169"/>
            </a:xfrm>
            <a:prstGeom prst="rect">
              <a:avLst/>
            </a:prstGeom>
            <a:noFill/>
          </p:spPr>
          <p:txBody>
            <a:bodyPr wrap="square" lIns="0" tIns="0" rIns="0" bIns="0" rtlCol="0">
              <a:spAutoFit/>
            </a:bodyPr>
            <a:lstStyle/>
            <a:p>
              <a:pPr algn="l"/>
              <a:r>
                <a:rPr kumimoji="1" lang="en-US" altLang="zh-CN" sz="700" dirty="0">
                  <a:solidFill>
                    <a:srgbClr val="000000"/>
                  </a:solidFill>
                  <a:latin typeface="微软雅黑" panose="020B0503020204020204" pitchFamily="34" charset="-122"/>
                  <a:ea typeface="微软雅黑" panose="020B0503020204020204" pitchFamily="34" charset="-122"/>
                </a:rPr>
                <a:t>Full Attention</a:t>
              </a:r>
            </a:p>
          </p:txBody>
        </p:sp>
        <p:sp>
          <p:nvSpPr>
            <p:cNvPr id="47" name="矩形: 圆角 22"/>
            <p:cNvSpPr/>
            <p:nvPr/>
          </p:nvSpPr>
          <p:spPr>
            <a:xfrm>
              <a:off x="6201" y="9162"/>
              <a:ext cx="2331" cy="199"/>
            </a:xfrm>
            <a:prstGeom prst="round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r>
                <a:rPr lang="en-US" altLang="zh-CN" sz="700" dirty="0" err="1">
                  <a:solidFill>
                    <a:schemeClr val="tx1"/>
                  </a:solidFill>
                  <a:latin typeface="微软雅黑" panose="020B0503020204020204" pitchFamily="34" charset="-122"/>
                  <a:ea typeface="微软雅黑" panose="020B0503020204020204" pitchFamily="34" charset="-122"/>
                  <a:sym typeface="+mn-ea"/>
                </a:rPr>
                <a:t>KDA + Dense MLP</a:t>
              </a:r>
            </a:p>
          </p:txBody>
        </p:sp>
        <p:cxnSp>
          <p:nvCxnSpPr>
            <p:cNvPr id="49" name="肘形连接符 48"/>
            <p:cNvCxnSpPr>
              <a:stCxn id="5" idx="0"/>
              <a:endCxn id="10" idx="2"/>
            </p:cNvCxnSpPr>
            <p:nvPr/>
          </p:nvCxnSpPr>
          <p:spPr>
            <a:xfrm rot="16200000">
              <a:off x="6858" y="9474"/>
              <a:ext cx="269" cy="74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肘形连接符 52"/>
            <p:cNvCxnSpPr>
              <a:stCxn id="9" idx="0"/>
              <a:endCxn id="10" idx="2"/>
            </p:cNvCxnSpPr>
            <p:nvPr/>
          </p:nvCxnSpPr>
          <p:spPr>
            <a:xfrm rot="16200000" flipV="1">
              <a:off x="7632" y="9447"/>
              <a:ext cx="277" cy="807"/>
            </a:xfrm>
            <a:prstGeom prst="bentConnector3">
              <a:avLst>
                <a:gd name="adj1" fmla="val 4983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162" idx="6"/>
              <a:endCxn id="174" idx="2"/>
            </p:cNvCxnSpPr>
            <p:nvPr/>
          </p:nvCxnSpPr>
          <p:spPr>
            <a:xfrm flipV="1">
              <a:off x="7372" y="6212"/>
              <a:ext cx="6" cy="2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10" idx="0"/>
              <a:endCxn id="47" idx="2"/>
            </p:cNvCxnSpPr>
            <p:nvPr/>
          </p:nvCxnSpPr>
          <p:spPr>
            <a:xfrm flipV="1">
              <a:off x="7367" y="9361"/>
              <a:ext cx="0" cy="1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a:stCxn id="47" idx="0"/>
              <a:endCxn id="149" idx="2"/>
            </p:cNvCxnSpPr>
            <p:nvPr/>
          </p:nvCxnSpPr>
          <p:spPr>
            <a:xfrm flipV="1">
              <a:off x="7367" y="8958"/>
              <a:ext cx="6" cy="2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a:xfrm>
              <a:off x="5481" y="3573"/>
              <a:ext cx="469" cy="192"/>
            </a:xfrm>
            <a:prstGeom prst="rect">
              <a:avLst/>
            </a:prstGeom>
            <a:noFill/>
          </p:spPr>
          <p:txBody>
            <a:bodyPr wrap="square" lIns="0" tIns="0" rIns="0" bIns="0" rtlCol="0">
              <a:noAutofit/>
            </a:bodyPr>
            <a:lstStyle/>
            <a:p>
              <a:pPr algn="l"/>
              <a:r>
                <a:rPr kumimoji="1" lang="en-US" altLang="zh-CN" sz="700" dirty="0">
                  <a:solidFill>
                    <a:srgbClr val="000000"/>
                  </a:solidFill>
                  <a:latin typeface="微软雅黑" panose="020B0503020204020204" pitchFamily="34" charset="-122"/>
                  <a:ea typeface="微软雅黑" panose="020B0503020204020204" pitchFamily="34" charset="-122"/>
                </a:rPr>
                <a:t>Block</a:t>
              </a:r>
            </a:p>
          </p:txBody>
        </p:sp>
        <p:sp>
          <p:nvSpPr>
            <p:cNvPr id="91" name="文本框 90"/>
            <p:cNvSpPr txBox="1"/>
            <p:nvPr/>
          </p:nvSpPr>
          <p:spPr>
            <a:xfrm>
              <a:off x="5728" y="4778"/>
              <a:ext cx="331" cy="187"/>
            </a:xfrm>
            <a:prstGeom prst="rect">
              <a:avLst/>
            </a:prstGeom>
            <a:noFill/>
          </p:spPr>
          <p:txBody>
            <a:bodyPr wrap="square" lIns="0" tIns="0" rIns="0" bIns="0" rtlCol="0">
              <a:noAutofit/>
            </a:bodyPr>
            <a:lstStyle/>
            <a:p>
              <a:pPr algn="l"/>
              <a:r>
                <a:rPr kumimoji="1" lang="en-US" altLang="zh-CN" sz="700" dirty="0">
                  <a:solidFill>
                    <a:srgbClr val="000000"/>
                  </a:solidFill>
                  <a:latin typeface="微软雅黑" panose="020B0503020204020204" pitchFamily="34" charset="-122"/>
                  <a:ea typeface="微软雅黑" panose="020B0503020204020204" pitchFamily="34" charset="-122"/>
                </a:rPr>
                <a:t>1</a:t>
              </a:r>
              <a:r>
                <a:rPr kumimoji="1" lang="en-US" altLang="zh-CN" sz="700" dirty="0">
                  <a:solidFill>
                    <a:srgbClr val="000000"/>
                  </a:solidFill>
                  <a:latin typeface="Arial" panose="020B0604020202090204" pitchFamily="34" charset="0"/>
                  <a:ea typeface="微软雅黑" panose="020B0503020204020204" pitchFamily="34" charset="-122"/>
                </a:rPr>
                <a:t>×</a:t>
              </a:r>
            </a:p>
          </p:txBody>
        </p:sp>
        <p:sp>
          <p:nvSpPr>
            <p:cNvPr id="93" name="文本框 92"/>
            <p:cNvSpPr txBox="1"/>
            <p:nvPr/>
          </p:nvSpPr>
          <p:spPr>
            <a:xfrm>
              <a:off x="5728" y="7604"/>
              <a:ext cx="331" cy="187"/>
            </a:xfrm>
            <a:prstGeom prst="rect">
              <a:avLst/>
            </a:prstGeom>
            <a:noFill/>
          </p:spPr>
          <p:txBody>
            <a:bodyPr wrap="square" lIns="0" tIns="0" rIns="0" bIns="0" rtlCol="0">
              <a:noAutofit/>
            </a:bodyPr>
            <a:lstStyle/>
            <a:p>
              <a:pPr algn="l"/>
              <a:r>
                <a:rPr kumimoji="1" lang="en-US" altLang="zh-CN" sz="700" dirty="0">
                  <a:solidFill>
                    <a:srgbClr val="000000"/>
                  </a:solidFill>
                  <a:latin typeface="微软雅黑" panose="020B0503020204020204" pitchFamily="34" charset="-122"/>
                  <a:ea typeface="微软雅黑" panose="020B0503020204020204" pitchFamily="34" charset="-122"/>
                </a:rPr>
                <a:t>3</a:t>
              </a:r>
              <a:r>
                <a:rPr kumimoji="1" lang="en-US" altLang="zh-CN" sz="700" dirty="0">
                  <a:solidFill>
                    <a:srgbClr val="000000"/>
                  </a:solidFill>
                  <a:latin typeface="Arial" panose="020B0604020202090204" pitchFamily="34" charset="0"/>
                  <a:ea typeface="微软雅黑" panose="020B0503020204020204" pitchFamily="34" charset="-122"/>
                </a:rPr>
                <a:t>×</a:t>
              </a:r>
            </a:p>
          </p:txBody>
        </p:sp>
        <p:sp>
          <p:nvSpPr>
            <p:cNvPr id="94" name="文本框 93"/>
            <p:cNvSpPr txBox="1"/>
            <p:nvPr/>
          </p:nvSpPr>
          <p:spPr>
            <a:xfrm>
              <a:off x="5013" y="5336"/>
              <a:ext cx="331" cy="187"/>
            </a:xfrm>
            <a:prstGeom prst="rect">
              <a:avLst/>
            </a:prstGeom>
            <a:noFill/>
          </p:spPr>
          <p:txBody>
            <a:bodyPr wrap="square" lIns="0" tIns="0" rIns="0" bIns="0" rtlCol="0">
              <a:noAutofit/>
            </a:bodyPr>
            <a:lstStyle/>
            <a:p>
              <a:pPr algn="l"/>
              <a:r>
                <a:rPr kumimoji="1" lang="en-US" altLang="zh-CN" sz="700" dirty="0">
                  <a:solidFill>
                    <a:srgbClr val="000000"/>
                  </a:solidFill>
                  <a:latin typeface="微软雅黑" panose="020B0503020204020204" pitchFamily="34" charset="-122"/>
                  <a:ea typeface="微软雅黑" panose="020B0503020204020204" pitchFamily="34" charset="-122"/>
                </a:rPr>
                <a:t>23</a:t>
              </a:r>
              <a:r>
                <a:rPr kumimoji="1" lang="en-US" altLang="zh-CN" sz="700" dirty="0">
                  <a:solidFill>
                    <a:srgbClr val="000000"/>
                  </a:solidFill>
                  <a:latin typeface="Arial" panose="020B0604020202090204" pitchFamily="34" charset="0"/>
                  <a:ea typeface="微软雅黑" panose="020B0503020204020204" pitchFamily="34" charset="-122"/>
                </a:rPr>
                <a:t>×</a:t>
              </a:r>
            </a:p>
          </p:txBody>
        </p:sp>
      </p:grpSp>
      <p:grpSp>
        <p:nvGrpSpPr>
          <p:cNvPr id="18" name="组合 17"/>
          <p:cNvGrpSpPr/>
          <p:nvPr/>
        </p:nvGrpSpPr>
        <p:grpSpPr>
          <a:xfrm>
            <a:off x="304800" y="1456055"/>
            <a:ext cx="2429510" cy="2551430"/>
            <a:chOff x="666" y="2537"/>
            <a:chExt cx="3826" cy="4018"/>
          </a:xfrm>
        </p:grpSpPr>
        <p:sp>
          <p:nvSpPr>
            <p:cNvPr id="227" name="矩形 226"/>
            <p:cNvSpPr/>
            <p:nvPr/>
          </p:nvSpPr>
          <p:spPr>
            <a:xfrm rot="16200000">
              <a:off x="570" y="2633"/>
              <a:ext cx="4018" cy="3827"/>
            </a:xfrm>
            <a:prstGeom prst="rect">
              <a:avLst/>
            </a:prstGeom>
            <a:solidFill>
              <a:schemeClr val="accent2">
                <a:lumMod val="20000"/>
                <a:lumOff val="80000"/>
                <a:alpha val="10000"/>
              </a:schemeClr>
            </a:solidFill>
            <a:ln cap="rnd">
              <a:solidFill>
                <a:srgbClr val="221815">
                  <a:alpha val="2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600">
                <a:sym typeface="+mn-ea"/>
              </a:endParaRPr>
            </a:p>
          </p:txBody>
        </p:sp>
        <p:sp>
          <p:nvSpPr>
            <p:cNvPr id="97" name="矩形: 圆角 176"/>
            <p:cNvSpPr/>
            <p:nvPr/>
          </p:nvSpPr>
          <p:spPr>
            <a:xfrm>
              <a:off x="1706" y="3777"/>
              <a:ext cx="1136" cy="304"/>
            </a:xfrm>
            <a:prstGeom prst="roundRect">
              <a:avLst/>
            </a:prstGeom>
            <a:noFill/>
            <a:ln>
              <a:solidFill>
                <a:schemeClr val="tx1"/>
              </a:solidFill>
            </a:ln>
            <a:extLst>
              <a:ext uri="{909E8E84-426E-40DD-AFC4-6F175D3DCCD1}">
                <a14:hiddenFill xmlns:a14="http://schemas.microsoft.com/office/drawing/2010/main">
                  <a:solidFill>
                    <a:schemeClr val="accent6">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RMSNorm</a:t>
              </a:r>
            </a:p>
          </p:txBody>
        </p:sp>
        <p:sp>
          <p:nvSpPr>
            <p:cNvPr id="98" name="矩形: 圆角 30"/>
            <p:cNvSpPr/>
            <p:nvPr/>
          </p:nvSpPr>
          <p:spPr>
            <a:xfrm>
              <a:off x="1355" y="5759"/>
              <a:ext cx="1823" cy="304"/>
            </a:xfrm>
            <a:prstGeom prst="roundRect">
              <a:avLst/>
            </a:prstGeom>
            <a:noFill/>
            <a:ln>
              <a:solidFill>
                <a:schemeClr val="tx1"/>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a:solidFill>
                    <a:schemeClr val="tx1"/>
                  </a:solidFill>
                  <a:latin typeface="微软雅黑" panose="020B0503020204020204" pitchFamily="34" charset="-122"/>
                  <a:ea typeface="微软雅黑" panose="020B0503020204020204" pitchFamily="34" charset="-122"/>
                </a:rPr>
                <a:t>QKV proj</a:t>
              </a:r>
            </a:p>
          </p:txBody>
        </p:sp>
        <p:sp>
          <p:nvSpPr>
            <p:cNvPr id="109" name="矩形: 圆角 176"/>
            <p:cNvSpPr/>
            <p:nvPr/>
          </p:nvSpPr>
          <p:spPr>
            <a:xfrm>
              <a:off x="1586" y="5273"/>
              <a:ext cx="1363" cy="304"/>
            </a:xfrm>
            <a:prstGeom prst="roundRect">
              <a:avLst/>
            </a:prstGeom>
            <a:noFill/>
            <a:ln>
              <a:solidFill>
                <a:schemeClr val="tx1"/>
              </a:solidFill>
            </a:ln>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QKV ShortConv</a:t>
              </a:r>
            </a:p>
          </p:txBody>
        </p:sp>
        <p:cxnSp>
          <p:nvCxnSpPr>
            <p:cNvPr id="110" name="直接箭头连接符 109"/>
            <p:cNvCxnSpPr>
              <a:stCxn id="98" idx="0"/>
              <a:endCxn id="109" idx="2"/>
            </p:cNvCxnSpPr>
            <p:nvPr/>
          </p:nvCxnSpPr>
          <p:spPr>
            <a:xfrm flipV="1">
              <a:off x="2267" y="5577"/>
              <a:ext cx="1" cy="1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矩形: 圆角 30"/>
            <p:cNvSpPr/>
            <p:nvPr/>
          </p:nvSpPr>
          <p:spPr>
            <a:xfrm>
              <a:off x="1602" y="4753"/>
              <a:ext cx="1342" cy="304"/>
            </a:xfrm>
            <a:prstGeom prst="roundRect">
              <a:avLst/>
            </a:prstGeom>
            <a:noFill/>
            <a:ln>
              <a:solidFill>
                <a:schemeClr val="tx1"/>
              </a:solidFill>
            </a:ln>
            <a:extLst>
              <a:ext uri="{909E8E84-426E-40DD-AFC4-6F175D3DCCD1}">
                <a14:hiddenFill xmlns:a14="http://schemas.microsoft.com/office/drawing/2010/main">
                  <a:solidFill>
                    <a:schemeClr val="accent5">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err="1">
                  <a:solidFill>
                    <a:schemeClr val="tx1"/>
                  </a:solidFill>
                  <a:latin typeface="微软雅黑" panose="020B0503020204020204" pitchFamily="34" charset="-122"/>
                  <a:ea typeface="微软雅黑" panose="020B0503020204020204" pitchFamily="34" charset="-122"/>
                </a:rPr>
                <a:t>Q/K L2Norm</a:t>
              </a:r>
            </a:p>
          </p:txBody>
        </p:sp>
        <p:sp>
          <p:nvSpPr>
            <p:cNvPr id="114" name="矩形: 圆角 176"/>
            <p:cNvSpPr/>
            <p:nvPr/>
          </p:nvSpPr>
          <p:spPr>
            <a:xfrm>
              <a:off x="1769" y="4262"/>
              <a:ext cx="1011" cy="304"/>
            </a:xfrm>
            <a:prstGeom prst="roundRect">
              <a:avLst/>
            </a:prstGeom>
            <a:noFill/>
            <a:ln>
              <a:solidFill>
                <a:schemeClr val="tx1"/>
              </a:solidFill>
            </a:ln>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a:solidFill>
                    <a:schemeClr val="tx1"/>
                  </a:solidFill>
                  <a:latin typeface="微软雅黑" panose="020B0503020204020204" pitchFamily="34" charset="-122"/>
                  <a:ea typeface="微软雅黑" panose="020B0503020204020204" pitchFamily="34" charset="-122"/>
                </a:rPr>
                <a:t>KDA core</a:t>
              </a:r>
            </a:p>
          </p:txBody>
        </p:sp>
        <p:cxnSp>
          <p:nvCxnSpPr>
            <p:cNvPr id="115" name="直接箭头连接符 114"/>
            <p:cNvCxnSpPr>
              <a:stCxn id="111" idx="0"/>
              <a:endCxn id="114" idx="2"/>
            </p:cNvCxnSpPr>
            <p:nvPr/>
          </p:nvCxnSpPr>
          <p:spPr>
            <a:xfrm flipV="1">
              <a:off x="2273" y="4567"/>
              <a:ext cx="2" cy="1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箭头连接符 137"/>
            <p:cNvCxnSpPr>
              <a:stCxn id="114" idx="0"/>
              <a:endCxn id="97" idx="2"/>
            </p:cNvCxnSpPr>
            <p:nvPr/>
          </p:nvCxnSpPr>
          <p:spPr>
            <a:xfrm flipV="1">
              <a:off x="2275" y="4082"/>
              <a:ext cx="0" cy="1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a:endCxn id="166" idx="1"/>
            </p:cNvCxnSpPr>
            <p:nvPr/>
          </p:nvCxnSpPr>
          <p:spPr>
            <a:xfrm flipV="1">
              <a:off x="2276" y="3520"/>
              <a:ext cx="0" cy="2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a:stCxn id="109" idx="0"/>
              <a:endCxn id="111" idx="2"/>
            </p:cNvCxnSpPr>
            <p:nvPr/>
          </p:nvCxnSpPr>
          <p:spPr>
            <a:xfrm flipV="1">
              <a:off x="2268" y="5057"/>
              <a:ext cx="5" cy="21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5" name="矩形: 圆角 176"/>
            <p:cNvSpPr/>
            <p:nvPr/>
          </p:nvSpPr>
          <p:spPr>
            <a:xfrm>
              <a:off x="1706" y="2798"/>
              <a:ext cx="1136" cy="304"/>
            </a:xfrm>
            <a:prstGeom prst="roundRect">
              <a:avLst/>
            </a:prstGeom>
            <a:noFill/>
            <a:ln>
              <a:solidFill>
                <a:schemeClr val="tx1"/>
              </a:solidFill>
            </a:ln>
            <a:extLst>
              <a:ext uri="{909E8E84-426E-40DD-AFC4-6F175D3DCCD1}">
                <a14:hiddenFill xmlns:a14="http://schemas.microsoft.com/office/drawing/2010/main">
                  <a:solidFill>
                    <a:schemeClr val="accent6">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o_proj</a:t>
              </a:r>
            </a:p>
          </p:txBody>
        </p:sp>
        <p:sp>
          <p:nvSpPr>
            <p:cNvPr id="166" name="流程图: 或者 165"/>
            <p:cNvSpPr/>
            <p:nvPr/>
          </p:nvSpPr>
          <p:spPr>
            <a:xfrm rot="13328590">
              <a:off x="2169" y="3314"/>
              <a:ext cx="205" cy="207"/>
            </a:xfrm>
            <a:prstGeom prst="flowChar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cxnSp>
          <p:nvCxnSpPr>
            <p:cNvPr id="181" name="直接箭头连接符 180"/>
            <p:cNvCxnSpPr>
              <a:stCxn id="166" idx="5"/>
              <a:endCxn id="165" idx="2"/>
            </p:cNvCxnSpPr>
            <p:nvPr/>
          </p:nvCxnSpPr>
          <p:spPr>
            <a:xfrm flipV="1">
              <a:off x="2267" y="3103"/>
              <a:ext cx="8" cy="2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7" name="流程图: 或者 196"/>
            <p:cNvSpPr/>
            <p:nvPr/>
          </p:nvSpPr>
          <p:spPr>
            <a:xfrm rot="13328590">
              <a:off x="2169" y="6271"/>
              <a:ext cx="205" cy="207"/>
            </a:xfrm>
            <a:prstGeom prst="flowChar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cxnSp>
          <p:nvCxnSpPr>
            <p:cNvPr id="202" name="直接箭头连接符 201"/>
            <p:cNvCxnSpPr>
              <a:stCxn id="197" idx="5"/>
              <a:endCxn id="98" idx="2"/>
            </p:cNvCxnSpPr>
            <p:nvPr/>
          </p:nvCxnSpPr>
          <p:spPr>
            <a:xfrm flipV="1">
              <a:off x="2267" y="6063"/>
              <a:ext cx="0" cy="2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肘形连接符 212"/>
            <p:cNvCxnSpPr>
              <a:stCxn id="197" idx="3"/>
              <a:endCxn id="225" idx="2"/>
            </p:cNvCxnSpPr>
            <p:nvPr/>
          </p:nvCxnSpPr>
          <p:spPr>
            <a:xfrm rot="16200000">
              <a:off x="2305" y="4863"/>
              <a:ext cx="1577" cy="1436"/>
            </a:xfrm>
            <a:prstGeom prst="bentConnector3">
              <a:avLst>
                <a:gd name="adj1" fmla="val 25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5" name="矩形: 圆角 30"/>
            <p:cNvSpPr/>
            <p:nvPr/>
          </p:nvSpPr>
          <p:spPr>
            <a:xfrm>
              <a:off x="3351" y="4369"/>
              <a:ext cx="919" cy="423"/>
            </a:xfrm>
            <a:prstGeom prst="roundRect">
              <a:avLst/>
            </a:prstGeom>
            <a:noFill/>
            <a:ln>
              <a:solidFill>
                <a:schemeClr val="tx1"/>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a:solidFill>
                    <a:schemeClr val="tx1"/>
                  </a:solidFill>
                  <a:latin typeface="微软雅黑" panose="020B0503020204020204" pitchFamily="34" charset="-122"/>
                  <a:ea typeface="微软雅黑" panose="020B0503020204020204" pitchFamily="34" charset="-122"/>
                </a:rPr>
                <a:t>Output gate</a:t>
              </a:r>
            </a:p>
          </p:txBody>
        </p:sp>
        <p:cxnSp>
          <p:nvCxnSpPr>
            <p:cNvPr id="226" name="肘形连接符 225"/>
            <p:cNvCxnSpPr>
              <a:stCxn id="225" idx="0"/>
              <a:endCxn id="166" idx="3"/>
            </p:cNvCxnSpPr>
            <p:nvPr/>
          </p:nvCxnSpPr>
          <p:spPr>
            <a:xfrm rot="16200000" flipV="1">
              <a:off x="2615" y="3173"/>
              <a:ext cx="957" cy="1436"/>
            </a:xfrm>
            <a:prstGeom prst="bentConnector3">
              <a:avLst>
                <a:gd name="adj1" fmla="val 9979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7" name="文本框 326"/>
            <p:cNvSpPr txBox="1"/>
            <p:nvPr/>
          </p:nvSpPr>
          <p:spPr>
            <a:xfrm>
              <a:off x="790" y="2578"/>
              <a:ext cx="1929" cy="201"/>
            </a:xfrm>
            <a:prstGeom prst="rect">
              <a:avLst/>
            </a:prstGeom>
            <a:noFill/>
          </p:spPr>
          <p:txBody>
            <a:bodyPr wrap="square" lIns="0" tIns="0" rIns="0" bIns="0" rtlCol="0">
              <a:noAutofit/>
            </a:bodyPr>
            <a:lstStyle/>
            <a:p>
              <a:pPr algn="l"/>
              <a:r>
                <a:rPr kumimoji="1" lang="en-US" altLang="zh-CN" sz="700" dirty="0">
                  <a:solidFill>
                    <a:srgbClr val="000000"/>
                  </a:solidFill>
                  <a:latin typeface="微软雅黑" panose="020B0503020204020204" pitchFamily="34" charset="-122"/>
                  <a:ea typeface="微软雅黑" panose="020B0503020204020204" pitchFamily="34" charset="-122"/>
                </a:rPr>
                <a:t>KDA - Kimi Delta Attention</a:t>
              </a:r>
            </a:p>
          </p:txBody>
        </p:sp>
      </p:grpSp>
      <p:grpSp>
        <p:nvGrpSpPr>
          <p:cNvPr id="17" name="组合 16"/>
          <p:cNvGrpSpPr/>
          <p:nvPr/>
        </p:nvGrpSpPr>
        <p:grpSpPr>
          <a:xfrm>
            <a:off x="304800" y="4080510"/>
            <a:ext cx="2429510" cy="2284730"/>
            <a:chOff x="789" y="7066"/>
            <a:chExt cx="3826" cy="3598"/>
          </a:xfrm>
        </p:grpSpPr>
        <p:sp>
          <p:nvSpPr>
            <p:cNvPr id="326" name="矩形 325"/>
            <p:cNvSpPr/>
            <p:nvPr/>
          </p:nvSpPr>
          <p:spPr>
            <a:xfrm rot="16200000">
              <a:off x="903" y="6952"/>
              <a:ext cx="3599" cy="3826"/>
            </a:xfrm>
            <a:prstGeom prst="rect">
              <a:avLst/>
            </a:prstGeom>
            <a:solidFill>
              <a:schemeClr val="accent6">
                <a:lumMod val="20000"/>
                <a:lumOff val="80000"/>
                <a:alpha val="10000"/>
              </a:schemeClr>
            </a:solidFill>
            <a:ln cap="rnd">
              <a:solidFill>
                <a:schemeClr val="accent6">
                  <a:lumMod val="40000"/>
                  <a:lumOff val="6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600">
                <a:sym typeface="+mn-ea"/>
              </a:endParaRPr>
            </a:p>
          </p:txBody>
        </p:sp>
        <p:sp>
          <p:nvSpPr>
            <p:cNvPr id="302" name="矩形: 圆角 30"/>
            <p:cNvSpPr/>
            <p:nvPr/>
          </p:nvSpPr>
          <p:spPr>
            <a:xfrm>
              <a:off x="1764" y="9792"/>
              <a:ext cx="1823" cy="304"/>
            </a:xfrm>
            <a:prstGeom prst="roundRect">
              <a:avLst/>
            </a:prstGeom>
            <a:noFill/>
            <a:ln>
              <a:solidFill>
                <a:schemeClr val="tx1"/>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a:solidFill>
                    <a:schemeClr val="tx1"/>
                  </a:solidFill>
                  <a:latin typeface="微软雅黑" panose="020B0503020204020204" pitchFamily="34" charset="-122"/>
                  <a:ea typeface="微软雅黑" panose="020B0503020204020204" pitchFamily="34" charset="-122"/>
                </a:rPr>
                <a:t>Latent Down</a:t>
              </a:r>
            </a:p>
          </p:txBody>
        </p:sp>
        <p:sp>
          <p:nvSpPr>
            <p:cNvPr id="303" name="矩形: 圆角 176"/>
            <p:cNvSpPr/>
            <p:nvPr/>
          </p:nvSpPr>
          <p:spPr>
            <a:xfrm>
              <a:off x="1996" y="9316"/>
              <a:ext cx="1363" cy="304"/>
            </a:xfrm>
            <a:prstGeom prst="roundRect">
              <a:avLst/>
            </a:prstGeom>
            <a:noFill/>
            <a:ln>
              <a:solidFill>
                <a:schemeClr val="tx1"/>
              </a:solidFill>
            </a:ln>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Routed Experts</a:t>
              </a:r>
            </a:p>
            <a:p>
              <a:pPr algn="ctr"/>
              <a:r>
                <a:rPr lang="en-US" altLang="zh-CN" sz="600" dirty="0">
                  <a:solidFill>
                    <a:schemeClr val="tx1"/>
                  </a:solidFill>
                  <a:latin typeface="微软雅黑" panose="020B0503020204020204" pitchFamily="34" charset="-122"/>
                  <a:ea typeface="微软雅黑" panose="020B0503020204020204" pitchFamily="34" charset="-122"/>
                </a:rPr>
                <a:t>SiTU</a:t>
              </a:r>
            </a:p>
          </p:txBody>
        </p:sp>
        <p:cxnSp>
          <p:nvCxnSpPr>
            <p:cNvPr id="304" name="直接箭头连接符 303"/>
            <p:cNvCxnSpPr>
              <a:stCxn id="302" idx="0"/>
              <a:endCxn id="303" idx="2"/>
            </p:cNvCxnSpPr>
            <p:nvPr/>
          </p:nvCxnSpPr>
          <p:spPr>
            <a:xfrm flipV="1">
              <a:off x="2676" y="9620"/>
              <a:ext cx="2" cy="1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5" name="矩形: 圆角 30"/>
            <p:cNvSpPr/>
            <p:nvPr/>
          </p:nvSpPr>
          <p:spPr>
            <a:xfrm>
              <a:off x="2011" y="8770"/>
              <a:ext cx="1342" cy="304"/>
            </a:xfrm>
            <a:prstGeom prst="roundRect">
              <a:avLst/>
            </a:prstGeom>
            <a:noFill/>
            <a:ln>
              <a:solidFill>
                <a:schemeClr val="tx1"/>
              </a:solidFill>
            </a:ln>
            <a:extLst>
              <a:ext uri="{909E8E84-426E-40DD-AFC4-6F175D3DCCD1}">
                <a14:hiddenFill xmlns:a14="http://schemas.microsoft.com/office/drawing/2010/main">
                  <a:solidFill>
                    <a:schemeClr val="accent5">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err="1">
                  <a:solidFill>
                    <a:schemeClr val="tx1"/>
                  </a:solidFill>
                  <a:latin typeface="微软雅黑" panose="020B0503020204020204" pitchFamily="34" charset="-122"/>
                  <a:ea typeface="微软雅黑" panose="020B0503020204020204" pitchFamily="34" charset="-122"/>
                </a:rPr>
                <a:t>RMSNorm</a:t>
              </a:r>
            </a:p>
          </p:txBody>
        </p:sp>
        <p:sp>
          <p:nvSpPr>
            <p:cNvPr id="306" name="矩形: 圆角 176"/>
            <p:cNvSpPr/>
            <p:nvPr/>
          </p:nvSpPr>
          <p:spPr>
            <a:xfrm>
              <a:off x="2179" y="8285"/>
              <a:ext cx="1011" cy="304"/>
            </a:xfrm>
            <a:prstGeom prst="roundRect">
              <a:avLst/>
            </a:prstGeom>
            <a:noFill/>
            <a:ln>
              <a:solidFill>
                <a:schemeClr val="tx1"/>
              </a:solidFill>
            </a:ln>
            <a:extLst>
              <a:ext uri="{909E8E84-426E-40DD-AFC4-6F175D3DCCD1}">
                <a14:hiddenFill xmlns:a14="http://schemas.microsoft.com/office/drawing/2010/main">
                  <a:solidFill>
                    <a:schemeClr val="accent4">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a:solidFill>
                    <a:schemeClr val="tx1"/>
                  </a:solidFill>
                  <a:latin typeface="微软雅黑" panose="020B0503020204020204" pitchFamily="34" charset="-122"/>
                  <a:ea typeface="微软雅黑" panose="020B0503020204020204" pitchFamily="34" charset="-122"/>
                </a:rPr>
                <a:t>Latent Up</a:t>
              </a:r>
            </a:p>
          </p:txBody>
        </p:sp>
        <p:cxnSp>
          <p:nvCxnSpPr>
            <p:cNvPr id="307" name="直接箭头连接符 306"/>
            <p:cNvCxnSpPr>
              <a:stCxn id="305" idx="0"/>
              <a:endCxn id="306" idx="2"/>
            </p:cNvCxnSpPr>
            <p:nvPr/>
          </p:nvCxnSpPr>
          <p:spPr>
            <a:xfrm flipV="1">
              <a:off x="2682" y="8589"/>
              <a:ext cx="3" cy="1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8" name="直接箭头连接符 307"/>
            <p:cNvCxnSpPr>
              <a:stCxn id="306" idx="0"/>
              <a:endCxn id="320" idx="2"/>
            </p:cNvCxnSpPr>
            <p:nvPr/>
          </p:nvCxnSpPr>
          <p:spPr>
            <a:xfrm flipH="1" flipV="1">
              <a:off x="2674" y="8039"/>
              <a:ext cx="10" cy="2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 name="直接箭头连接符 309"/>
            <p:cNvCxnSpPr>
              <a:stCxn id="303" idx="0"/>
              <a:endCxn id="305" idx="2"/>
            </p:cNvCxnSpPr>
            <p:nvPr/>
          </p:nvCxnSpPr>
          <p:spPr>
            <a:xfrm flipV="1">
              <a:off x="2678" y="9074"/>
              <a:ext cx="4" cy="2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1" name="矩形: 圆角 176"/>
            <p:cNvSpPr/>
            <p:nvPr/>
          </p:nvSpPr>
          <p:spPr>
            <a:xfrm>
              <a:off x="2108" y="7360"/>
              <a:ext cx="1136" cy="304"/>
            </a:xfrm>
            <a:prstGeom prst="roundRect">
              <a:avLst/>
            </a:prstGeom>
            <a:noFill/>
            <a:ln>
              <a:solidFill>
                <a:schemeClr val="tx1"/>
              </a:solidFill>
            </a:ln>
            <a:extLst>
              <a:ext uri="{909E8E84-426E-40DD-AFC4-6F175D3DCCD1}">
                <a14:hiddenFill xmlns:a14="http://schemas.microsoft.com/office/drawing/2010/main">
                  <a:solidFill>
                    <a:schemeClr val="accent6">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 dirty="0" err="1">
                  <a:solidFill>
                    <a:schemeClr val="tx1"/>
                  </a:solidFill>
                  <a:latin typeface="微软雅黑" panose="020B0503020204020204" pitchFamily="34" charset="-122"/>
                  <a:ea typeface="微软雅黑" panose="020B0503020204020204" pitchFamily="34" charset="-122"/>
                </a:rPr>
                <a:t>FFN delta</a:t>
              </a:r>
            </a:p>
          </p:txBody>
        </p:sp>
        <p:cxnSp>
          <p:nvCxnSpPr>
            <p:cNvPr id="313" name="直接箭头连接符 312"/>
            <p:cNvCxnSpPr>
              <a:stCxn id="320" idx="6"/>
              <a:endCxn id="311" idx="2"/>
            </p:cNvCxnSpPr>
            <p:nvPr/>
          </p:nvCxnSpPr>
          <p:spPr>
            <a:xfrm flipV="1">
              <a:off x="2673" y="7664"/>
              <a:ext cx="3" cy="1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4" name="流程图: 或者 313"/>
            <p:cNvSpPr/>
            <p:nvPr/>
          </p:nvSpPr>
          <p:spPr>
            <a:xfrm rot="13328590">
              <a:off x="2579" y="10284"/>
              <a:ext cx="205" cy="207"/>
            </a:xfrm>
            <a:prstGeom prst="flowChar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cxnSp>
          <p:nvCxnSpPr>
            <p:cNvPr id="315" name="直接箭头连接符 314"/>
            <p:cNvCxnSpPr>
              <a:stCxn id="314" idx="5"/>
              <a:endCxn id="302" idx="2"/>
            </p:cNvCxnSpPr>
            <p:nvPr/>
          </p:nvCxnSpPr>
          <p:spPr>
            <a:xfrm flipH="1" flipV="1">
              <a:off x="2676" y="10096"/>
              <a:ext cx="1" cy="1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7" name="矩形: 圆角 30"/>
            <p:cNvSpPr/>
            <p:nvPr/>
          </p:nvSpPr>
          <p:spPr>
            <a:xfrm>
              <a:off x="3513" y="8392"/>
              <a:ext cx="1011" cy="423"/>
            </a:xfrm>
            <a:prstGeom prst="roundRect">
              <a:avLst/>
            </a:prstGeom>
            <a:noFill/>
            <a:ln>
              <a:solidFill>
                <a:schemeClr val="tx1"/>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a:solidFill>
                    <a:schemeClr val="tx1"/>
                  </a:solidFill>
                  <a:latin typeface="微软雅黑" panose="020B0503020204020204" pitchFamily="34" charset="-122"/>
                  <a:ea typeface="微软雅黑" panose="020B0503020204020204" pitchFamily="34" charset="-122"/>
                </a:rPr>
                <a:t>Shared x2</a:t>
              </a:r>
            </a:p>
            <a:p>
              <a:pPr algn="ctr"/>
              <a:r>
                <a:rPr lang="en-US" altLang="zh-CN" sz="700" dirty="0">
                  <a:solidFill>
                    <a:schemeClr val="tx1"/>
                  </a:solidFill>
                  <a:latin typeface="微软雅黑" panose="020B0503020204020204" pitchFamily="34" charset="-122"/>
                  <a:ea typeface="微软雅黑" panose="020B0503020204020204" pitchFamily="34" charset="-122"/>
                </a:rPr>
                <a:t>SiTU</a:t>
              </a:r>
            </a:p>
          </p:txBody>
        </p:sp>
        <p:sp>
          <p:nvSpPr>
            <p:cNvPr id="320" name="流程图: 或者 319"/>
            <p:cNvSpPr/>
            <p:nvPr/>
          </p:nvSpPr>
          <p:spPr>
            <a:xfrm rot="16200000">
              <a:off x="2572" y="7829"/>
              <a:ext cx="202" cy="218"/>
            </a:xfrm>
            <a:prstGeom prst="flowChartOr">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600"/>
            </a:p>
          </p:txBody>
        </p:sp>
        <p:cxnSp>
          <p:nvCxnSpPr>
            <p:cNvPr id="321" name="肘形连接符 320"/>
            <p:cNvCxnSpPr>
              <a:stCxn id="317" idx="0"/>
              <a:endCxn id="320" idx="4"/>
            </p:cNvCxnSpPr>
            <p:nvPr/>
          </p:nvCxnSpPr>
          <p:spPr>
            <a:xfrm rot="16200000" flipV="1">
              <a:off x="3173" y="7547"/>
              <a:ext cx="454" cy="123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2" name="肘形连接符 321"/>
            <p:cNvCxnSpPr>
              <a:stCxn id="314" idx="3"/>
              <a:endCxn id="317" idx="2"/>
            </p:cNvCxnSpPr>
            <p:nvPr/>
          </p:nvCxnSpPr>
          <p:spPr>
            <a:xfrm rot="16200000">
              <a:off x="2619" y="8982"/>
              <a:ext cx="1567" cy="1234"/>
            </a:xfrm>
            <a:prstGeom prst="bentConnector3">
              <a:avLst>
                <a:gd name="adj1" fmla="val -19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3" name="矩形: 圆角 30"/>
            <p:cNvSpPr/>
            <p:nvPr/>
          </p:nvSpPr>
          <p:spPr>
            <a:xfrm>
              <a:off x="789" y="9266"/>
              <a:ext cx="887" cy="410"/>
            </a:xfrm>
            <a:prstGeom prst="roundRect">
              <a:avLst/>
            </a:prstGeom>
            <a:noFill/>
            <a:ln>
              <a:solidFill>
                <a:schemeClr val="tx1"/>
              </a:solidFill>
            </a:ln>
            <a:extLst>
              <a:ext uri="{909E8E84-426E-40DD-AFC4-6F175D3DCCD1}">
                <a14:hiddenFill xmlns:a14="http://schemas.microsoft.com/office/drawing/2010/main">
                  <a:solidFill>
                    <a:schemeClr val="accent3">
                      <a:lumMod val="20000"/>
                      <a:lumOff val="8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700" dirty="0">
                  <a:solidFill>
                    <a:schemeClr val="tx1"/>
                  </a:solidFill>
                  <a:latin typeface="微软雅黑" panose="020B0503020204020204" pitchFamily="34" charset="-122"/>
                  <a:ea typeface="微软雅黑" panose="020B0503020204020204" pitchFamily="34" charset="-122"/>
                </a:rPr>
                <a:t>Router</a:t>
              </a:r>
            </a:p>
            <a:p>
              <a:pPr algn="ctr"/>
              <a:r>
                <a:rPr lang="en-US" altLang="zh-CN" sz="700" dirty="0">
                  <a:solidFill>
                    <a:schemeClr val="tx1"/>
                  </a:solidFill>
                  <a:latin typeface="微软雅黑" panose="020B0503020204020204" pitchFamily="34" charset="-122"/>
                  <a:ea typeface="微软雅黑" panose="020B0503020204020204" pitchFamily="34" charset="-122"/>
                </a:rPr>
                <a:t>Top-16</a:t>
              </a:r>
            </a:p>
          </p:txBody>
        </p:sp>
        <p:cxnSp>
          <p:nvCxnSpPr>
            <p:cNvPr id="324" name="肘形连接符 323"/>
            <p:cNvCxnSpPr/>
            <p:nvPr/>
          </p:nvCxnSpPr>
          <p:spPr>
            <a:xfrm rot="10800000">
              <a:off x="1233" y="9676"/>
              <a:ext cx="1345" cy="716"/>
            </a:xfrm>
            <a:prstGeom prst="bentConnector3">
              <a:avLst>
                <a:gd name="adj1" fmla="val 10022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5" name="直接箭头连接符 324"/>
            <p:cNvCxnSpPr>
              <a:stCxn id="323" idx="3"/>
              <a:endCxn id="303" idx="1"/>
            </p:cNvCxnSpPr>
            <p:nvPr/>
          </p:nvCxnSpPr>
          <p:spPr>
            <a:xfrm flipV="1">
              <a:off x="1676" y="9468"/>
              <a:ext cx="320" cy="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8" name="文本框 327"/>
            <p:cNvSpPr txBox="1"/>
            <p:nvPr/>
          </p:nvSpPr>
          <p:spPr>
            <a:xfrm>
              <a:off x="789" y="7156"/>
              <a:ext cx="1929" cy="201"/>
            </a:xfrm>
            <a:prstGeom prst="rect">
              <a:avLst/>
            </a:prstGeom>
            <a:noFill/>
          </p:spPr>
          <p:txBody>
            <a:bodyPr wrap="square" lIns="0" tIns="0" rIns="0" bIns="0" rtlCol="0">
              <a:noAutofit/>
            </a:bodyPr>
            <a:lstStyle/>
            <a:p>
              <a:pPr algn="l"/>
              <a:r>
                <a:rPr kumimoji="1" lang="en-US" altLang="zh-CN" sz="700" dirty="0">
                  <a:solidFill>
                    <a:srgbClr val="000000"/>
                  </a:solidFill>
                  <a:latin typeface="微软雅黑" panose="020B0503020204020204" pitchFamily="34" charset="-122"/>
                  <a:ea typeface="微软雅黑" panose="020B0503020204020204" pitchFamily="34" charset="-122"/>
                </a:rPr>
                <a:t>Stable LententMoE</a:t>
              </a:r>
            </a:p>
          </p:txBody>
        </p:sp>
      </p:grpSp>
      <p:graphicFrame>
        <p:nvGraphicFramePr>
          <p:cNvPr id="6" name="表格 5"/>
          <p:cNvGraphicFramePr/>
          <p:nvPr>
            <p:custDataLst>
              <p:tags r:id="rId1"/>
            </p:custDataLst>
            <p:extLst>
              <p:ext uri="{D42A27DB-BD31-4B8C-83A1-F6EECF244321}">
                <p14:modId xmlns:p14="http://schemas.microsoft.com/office/powerpoint/2010/main" val="3843174561"/>
              </p:ext>
            </p:extLst>
          </p:nvPr>
        </p:nvGraphicFramePr>
        <p:xfrm>
          <a:off x="6118860" y="1566545"/>
          <a:ext cx="5290185" cy="3072123"/>
        </p:xfrm>
        <a:graphic>
          <a:graphicData uri="http://schemas.openxmlformats.org/drawingml/2006/table">
            <a:tbl>
              <a:tblPr/>
              <a:tblGrid>
                <a:gridCol w="1270635">
                  <a:extLst>
                    <a:ext uri="{9D8B030D-6E8A-4147-A177-3AD203B41FA5}">
                      <a16:colId xmlns:a16="http://schemas.microsoft.com/office/drawing/2014/main" val="20000"/>
                    </a:ext>
                  </a:extLst>
                </a:gridCol>
                <a:gridCol w="4019550">
                  <a:extLst>
                    <a:ext uri="{9D8B030D-6E8A-4147-A177-3AD203B41FA5}">
                      <a16:colId xmlns:a16="http://schemas.microsoft.com/office/drawing/2014/main" val="20001"/>
                    </a:ext>
                  </a:extLst>
                </a:gridCol>
              </a:tblGrid>
              <a:tr h="179070">
                <a:tc>
                  <a:txBody>
                    <a:bodyPr/>
                    <a:lstStyle/>
                    <a:p>
                      <a:pPr algn="ctr" fontAlgn="ctr">
                        <a:buClrTx/>
                        <a:buSzTx/>
                        <a:buFontTx/>
                      </a:pPr>
                      <a:r>
                        <a:rPr lang="zh-CN" altLang="en-US" sz="1000" b="1" i="0">
                          <a:solidFill>
                            <a:schemeClr val="tx1"/>
                          </a:solidFill>
                          <a:latin typeface="微软雅黑"/>
                          <a:ea typeface="微软雅黑"/>
                        </a:rPr>
                        <a:t>维度</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solidFill>
                      <a:srgbClr val="C7C7C7"/>
                    </a:solidFill>
                  </a:tcPr>
                </a:tc>
                <a:tc>
                  <a:txBody>
                    <a:bodyPr/>
                    <a:lstStyle/>
                    <a:p>
                      <a:pPr algn="ctr" fontAlgn="ctr">
                        <a:buClrTx/>
                        <a:buSzTx/>
                        <a:buFontTx/>
                      </a:pPr>
                      <a:r>
                        <a:rPr lang="zh-CN" altLang="en-US" sz="1000" b="1" i="0">
                          <a:solidFill>
                            <a:schemeClr val="tx1"/>
                          </a:solidFill>
                          <a:latin typeface="微软雅黑"/>
                          <a:ea typeface="微软雅黑"/>
                        </a:rPr>
                        <a:t>参数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solidFill>
                      <a:srgbClr val="C7C7C7"/>
                    </a:solidFill>
                  </a:tcPr>
                </a:tc>
                <a:extLst>
                  <a:ext uri="{0D108BD9-81ED-4DB2-BD59-A6C34878D82A}">
                    <a16:rowId xmlns:a16="http://schemas.microsoft.com/office/drawing/2014/main" val="10000"/>
                  </a:ext>
                </a:extLst>
              </a:tr>
              <a:tr h="192405">
                <a:tc>
                  <a:txBody>
                    <a:bodyPr/>
                    <a:lstStyle/>
                    <a:p>
                      <a:pPr algn="l" fontAlgn="ctr"/>
                      <a:r>
                        <a:rPr lang="zh-CN" altLang="en-US" sz="1000" b="0" i="0">
                          <a:solidFill>
                            <a:schemeClr val="tx1"/>
                          </a:solidFill>
                          <a:latin typeface="微软雅黑" charset="0"/>
                          <a:ea typeface="微软雅黑" charset="0"/>
                        </a:rPr>
                        <a:t>模型身份</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cs typeface="微软雅黑" charset="0"/>
                        </a:rPr>
                        <a:t>KimiK3ForConditionalGeneration</a:t>
                      </a:r>
                      <a:r>
                        <a:rPr lang="zh-CN" altLang="en-US" sz="1000" b="0" i="0">
                          <a:solidFill>
                            <a:schemeClr val="tx1"/>
                          </a:solidFill>
                          <a:latin typeface="微软雅黑" charset="0"/>
                          <a:ea typeface="微软雅黑" charset="0"/>
                          <a:cs typeface="微软雅黑" charset="0"/>
                        </a:rPr>
                        <a:t>，原生多模态</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1"/>
                  </a:ext>
                </a:extLst>
              </a:tr>
              <a:tr h="165100">
                <a:tc>
                  <a:txBody>
                    <a:bodyPr/>
                    <a:lstStyle/>
                    <a:p>
                      <a:pPr algn="l" fontAlgn="ctr"/>
                      <a:r>
                        <a:rPr lang="zh-CN" altLang="en-US" sz="1000" b="0" i="0">
                          <a:solidFill>
                            <a:schemeClr val="tx1"/>
                          </a:solidFill>
                          <a:latin typeface="微软雅黑" charset="0"/>
                          <a:ea typeface="微软雅黑" charset="0"/>
                        </a:rPr>
                        <a:t>总参数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rPr>
                        <a:t>2.78T</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2"/>
                  </a:ext>
                </a:extLst>
              </a:tr>
              <a:tr h="165100">
                <a:tc>
                  <a:txBody>
                    <a:bodyPr/>
                    <a:lstStyle/>
                    <a:p>
                      <a:pPr algn="l" fontAlgn="ctr"/>
                      <a:r>
                        <a:rPr lang="zh-CN" altLang="en-US" sz="1000" b="0" i="0">
                          <a:solidFill>
                            <a:schemeClr val="tx1"/>
                          </a:solidFill>
                          <a:latin typeface="微软雅黑" charset="0"/>
                          <a:ea typeface="微软雅黑" charset="0"/>
                          <a:cs typeface="微软雅黑" charset="0"/>
                        </a:rPr>
                        <a:t>每 </a:t>
                      </a:r>
                      <a:r>
                        <a:rPr lang="en-US" altLang="zh-CN" sz="1000" b="0" i="0">
                          <a:solidFill>
                            <a:schemeClr val="tx1"/>
                          </a:solidFill>
                          <a:latin typeface="微软雅黑" charset="0"/>
                          <a:ea typeface="微软雅黑" charset="0"/>
                          <a:cs typeface="微软雅黑" charset="0"/>
                        </a:rPr>
                        <a:t>token </a:t>
                      </a:r>
                      <a:r>
                        <a:rPr lang="zh-CN" altLang="en-US" sz="1000" b="0" i="0">
                          <a:solidFill>
                            <a:schemeClr val="tx1"/>
                          </a:solidFill>
                          <a:latin typeface="微软雅黑" charset="0"/>
                          <a:ea typeface="微软雅黑" charset="0"/>
                          <a:cs typeface="微软雅黑" charset="0"/>
                        </a:rPr>
                        <a:t>激活参数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rPr>
                        <a:t>104.2B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3"/>
                  </a:ext>
                </a:extLst>
              </a:tr>
              <a:tr h="165100">
                <a:tc>
                  <a:txBody>
                    <a:bodyPr/>
                    <a:lstStyle/>
                    <a:p>
                      <a:pPr algn="l" fontAlgn="ctr"/>
                      <a:r>
                        <a:rPr lang="zh-CN" altLang="en-US" sz="1000" b="0" i="0">
                          <a:solidFill>
                            <a:schemeClr val="tx1"/>
                          </a:solidFill>
                          <a:latin typeface="微软雅黑" charset="0"/>
                          <a:ea typeface="微软雅黑" charset="0"/>
                        </a:rPr>
                        <a:t>层数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rPr>
                        <a:t>93</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4"/>
                  </a:ext>
                </a:extLst>
              </a:tr>
              <a:tr h="165100">
                <a:tc>
                  <a:txBody>
                    <a:bodyPr/>
                    <a:lstStyle/>
                    <a:p>
                      <a:pPr algn="l" fontAlgn="ctr"/>
                      <a:r>
                        <a:rPr lang="zh-CN" altLang="en-US" sz="1000" b="0" i="0">
                          <a:solidFill>
                            <a:schemeClr val="tx1"/>
                          </a:solidFill>
                          <a:latin typeface="微软雅黑" charset="0"/>
                          <a:ea typeface="微软雅黑" charset="0"/>
                        </a:rPr>
                        <a:t>注意力构成</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rPr>
                        <a:t>69 KDA + 24 Gated MLA</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5"/>
                  </a:ext>
                </a:extLst>
              </a:tr>
              <a:tr h="165100">
                <a:tc>
                  <a:txBody>
                    <a:bodyPr/>
                    <a:lstStyle/>
                    <a:p>
                      <a:pPr algn="l" fontAlgn="ctr"/>
                      <a:r>
                        <a:rPr lang="en-US" altLang="zh-CN" sz="1000" b="0" i="0">
                          <a:solidFill>
                            <a:schemeClr val="tx1"/>
                          </a:solidFill>
                          <a:latin typeface="微软雅黑" charset="0"/>
                          <a:ea typeface="微软雅黑" charset="0"/>
                          <a:cs typeface="微软雅黑" charset="0"/>
                        </a:rPr>
                        <a:t>hidden / </a:t>
                      </a:r>
                      <a:r>
                        <a:rPr lang="zh-CN" altLang="en-US" sz="1000" b="0" i="0">
                          <a:solidFill>
                            <a:schemeClr val="tx1"/>
                          </a:solidFill>
                          <a:latin typeface="微软雅黑" charset="0"/>
                          <a:ea typeface="微软雅黑" charset="0"/>
                          <a:cs typeface="微软雅黑" charset="0"/>
                        </a:rPr>
                        <a:t>头</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cs typeface="微软雅黑" charset="0"/>
                        </a:rPr>
                        <a:t>7168 / 96 </a:t>
                      </a:r>
                      <a:r>
                        <a:rPr lang="zh-CN" altLang="en-US" sz="1000" b="0" i="0">
                          <a:solidFill>
                            <a:schemeClr val="tx1"/>
                          </a:solidFill>
                          <a:latin typeface="微软雅黑" charset="0"/>
                          <a:ea typeface="微软雅黑" charset="0"/>
                          <a:cs typeface="微软雅黑" charset="0"/>
                        </a:rPr>
                        <a:t>头 </a:t>
                      </a:r>
                      <a:r>
                        <a:rPr lang="en-US" altLang="zh-CN" sz="1000" b="0" i="0">
                          <a:solidFill>
                            <a:schemeClr val="tx1"/>
                          </a:solidFill>
                          <a:latin typeface="微软雅黑" charset="0"/>
                          <a:ea typeface="微软雅黑" charset="0"/>
                          <a:cs typeface="微软雅黑" charset="0"/>
                        </a:rPr>
                        <a:t>× 128</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6"/>
                  </a:ext>
                </a:extLst>
              </a:tr>
              <a:tr h="193040">
                <a:tc>
                  <a:txBody>
                    <a:bodyPr/>
                    <a:lstStyle/>
                    <a:p>
                      <a:pPr algn="l" fontAlgn="ctr"/>
                      <a:r>
                        <a:rPr lang="en-US" altLang="zh-CN" sz="1000" b="0" i="0">
                          <a:solidFill>
                            <a:schemeClr val="tx1"/>
                          </a:solidFill>
                          <a:latin typeface="微软雅黑" charset="0"/>
                          <a:ea typeface="微软雅黑" charset="0"/>
                          <a:cs typeface="微软雅黑" charset="0"/>
                        </a:rPr>
                        <a:t>MoE </a:t>
                      </a:r>
                      <a:r>
                        <a:rPr lang="zh-CN" altLang="en-US" sz="1000" b="0" i="0">
                          <a:solidFill>
                            <a:schemeClr val="tx1"/>
                          </a:solidFill>
                          <a:latin typeface="微软雅黑" charset="0"/>
                          <a:ea typeface="微软雅黑" charset="0"/>
                          <a:cs typeface="微软雅黑" charset="0"/>
                        </a:rPr>
                        <a:t>配置</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zh-CN" altLang="en-US" sz="1000" b="0" i="0">
                          <a:solidFill>
                            <a:schemeClr val="tx1"/>
                          </a:solidFill>
                          <a:latin typeface="微软雅黑" charset="0"/>
                          <a:ea typeface="微软雅黑" charset="0"/>
                          <a:cs typeface="微软雅黑" charset="0"/>
                        </a:rPr>
                        <a:t>路由专家 </a:t>
                      </a:r>
                      <a:r>
                        <a:rPr lang="en-US" altLang="zh-CN" sz="1000" b="0" i="0">
                          <a:solidFill>
                            <a:schemeClr val="tx1"/>
                          </a:solidFill>
                          <a:latin typeface="微软雅黑" charset="0"/>
                          <a:ea typeface="微软雅黑" charset="0"/>
                          <a:cs typeface="微软雅黑" charset="0"/>
                        </a:rPr>
                        <a:t>896 </a:t>
                      </a:r>
                      <a:r>
                        <a:rPr lang="zh-CN" altLang="en-US" sz="1000" b="0" i="0">
                          <a:solidFill>
                            <a:schemeClr val="tx1"/>
                          </a:solidFill>
                          <a:latin typeface="微软雅黑" charset="0"/>
                          <a:ea typeface="微软雅黑" charset="0"/>
                          <a:cs typeface="微软雅黑" charset="0"/>
                        </a:rPr>
                        <a:t>激活 </a:t>
                      </a:r>
                      <a:r>
                        <a:rPr lang="en-US" altLang="zh-CN" sz="1000" b="0" i="0">
                          <a:solidFill>
                            <a:schemeClr val="tx1"/>
                          </a:solidFill>
                          <a:latin typeface="微软雅黑" charset="0"/>
                          <a:ea typeface="微软雅黑" charset="0"/>
                          <a:cs typeface="微软雅黑" charset="0"/>
                        </a:rPr>
                        <a:t>16</a:t>
                      </a:r>
                      <a:r>
                        <a:rPr lang="zh-CN" altLang="en-US" sz="1000" b="0" i="0">
                          <a:solidFill>
                            <a:schemeClr val="tx1"/>
                          </a:solidFill>
                          <a:latin typeface="微软雅黑" charset="0"/>
                          <a:ea typeface="微软雅黑" charset="0"/>
                          <a:cs typeface="微软雅黑" charset="0"/>
                        </a:rPr>
                        <a:t>，共享 </a:t>
                      </a:r>
                      <a:r>
                        <a:rPr lang="en-US" altLang="zh-CN" sz="1000" b="0" i="0">
                          <a:solidFill>
                            <a:schemeClr val="tx1"/>
                          </a:solidFill>
                          <a:latin typeface="微软雅黑" charset="0"/>
                          <a:ea typeface="微软雅黑" charset="0"/>
                          <a:cs typeface="微软雅黑" charset="0"/>
                        </a:rPr>
                        <a:t>2</a:t>
                      </a:r>
                      <a:r>
                        <a:rPr lang="zh-CN" altLang="en-US" sz="1000" b="0" i="0">
                          <a:solidFill>
                            <a:schemeClr val="tx1"/>
                          </a:solidFill>
                          <a:latin typeface="微软雅黑" charset="0"/>
                          <a:ea typeface="微软雅黑" charset="0"/>
                          <a:cs typeface="微软雅黑" charset="0"/>
                        </a:rPr>
                        <a:t>；</a:t>
                      </a:r>
                      <a:r>
                        <a:rPr lang="en-US" altLang="zh-CN" sz="1000" b="0" i="0">
                          <a:solidFill>
                            <a:schemeClr val="tx1"/>
                          </a:solidFill>
                          <a:latin typeface="微软雅黑" charset="0"/>
                          <a:ea typeface="微软雅黑" charset="0"/>
                          <a:cs typeface="微软雅黑" charset="0"/>
                        </a:rPr>
                        <a:t>latent 3584</a:t>
                      </a:r>
                      <a:r>
                        <a:rPr lang="zh-CN" altLang="en-US" sz="1000" b="0" i="0">
                          <a:solidFill>
                            <a:schemeClr val="tx1"/>
                          </a:solidFill>
                          <a:latin typeface="微软雅黑" charset="0"/>
                          <a:ea typeface="微软雅黑" charset="0"/>
                          <a:cs typeface="微软雅黑" charset="0"/>
                        </a:rPr>
                        <a:t>；专家 </a:t>
                      </a:r>
                      <a:r>
                        <a:rPr lang="en-US" altLang="zh-CN" sz="1000" b="0" i="0">
                          <a:solidFill>
                            <a:schemeClr val="tx1"/>
                          </a:solidFill>
                          <a:latin typeface="微软雅黑" charset="0"/>
                          <a:ea typeface="微软雅黑" charset="0"/>
                          <a:cs typeface="微软雅黑" charset="0"/>
                        </a:rPr>
                        <a:t>3072</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7"/>
                  </a:ext>
                </a:extLst>
              </a:tr>
              <a:tr h="165100">
                <a:tc>
                  <a:txBody>
                    <a:bodyPr/>
                    <a:lstStyle/>
                    <a:p>
                      <a:pPr algn="l" fontAlgn="ctr"/>
                      <a:r>
                        <a:rPr lang="zh-CN" altLang="en-US" sz="1000" b="0" i="0">
                          <a:solidFill>
                            <a:schemeClr val="tx1"/>
                          </a:solidFill>
                          <a:latin typeface="微软雅黑" charset="0"/>
                          <a:ea typeface="微软雅黑" charset="0"/>
                          <a:cs typeface="微软雅黑" charset="0"/>
                        </a:rPr>
                        <a:t>词表 </a:t>
                      </a:r>
                      <a:r>
                        <a:rPr lang="en-US" altLang="zh-CN" sz="1000" b="0" i="0">
                          <a:solidFill>
                            <a:schemeClr val="tx1"/>
                          </a:solidFill>
                          <a:latin typeface="微软雅黑" charset="0"/>
                          <a:ea typeface="微软雅黑" charset="0"/>
                          <a:cs typeface="微软雅黑" charset="0"/>
                        </a:rPr>
                        <a:t>/ </a:t>
                      </a:r>
                      <a:r>
                        <a:rPr lang="zh-CN" altLang="en-US" sz="1000" b="0" i="0">
                          <a:solidFill>
                            <a:schemeClr val="tx1"/>
                          </a:solidFill>
                          <a:latin typeface="微软雅黑" charset="0"/>
                          <a:ea typeface="微软雅黑" charset="0"/>
                          <a:cs typeface="微软雅黑" charset="0"/>
                        </a:rPr>
                        <a:t>上下文</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cs typeface="微软雅黑" charset="0"/>
                        </a:rPr>
                        <a:t>163840 / 1M</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8"/>
                  </a:ext>
                </a:extLst>
              </a:tr>
              <a:tr h="149225">
                <a:tc>
                  <a:txBody>
                    <a:bodyPr/>
                    <a:lstStyle/>
                    <a:p>
                      <a:pPr algn="l" fontAlgn="ctr"/>
                      <a:r>
                        <a:rPr lang="zh-CN" altLang="en-US" sz="1000" b="0" i="0">
                          <a:solidFill>
                            <a:schemeClr val="tx1"/>
                          </a:solidFill>
                          <a:latin typeface="微软雅黑" charset="0"/>
                          <a:ea typeface="微软雅黑" charset="0"/>
                        </a:rPr>
                        <a:t>三大机制</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cs typeface="微软雅黑" charset="0"/>
                        </a:rPr>
                        <a:t>KDA &amp; Gated MLA</a:t>
                      </a:r>
                      <a:r>
                        <a:rPr lang="zh-CN" altLang="en-US" sz="1000" b="0" i="0">
                          <a:solidFill>
                            <a:schemeClr val="tx1"/>
                          </a:solidFill>
                          <a:latin typeface="微软雅黑" charset="0"/>
                          <a:ea typeface="微软雅黑" charset="0"/>
                          <a:cs typeface="微软雅黑" charset="0"/>
                        </a:rPr>
                        <a:t>；</a:t>
                      </a:r>
                      <a:r>
                        <a:rPr lang="en-US" altLang="zh-CN" sz="1000" b="0" i="0">
                          <a:solidFill>
                            <a:schemeClr val="tx1"/>
                          </a:solidFill>
                          <a:latin typeface="微软雅黑" charset="0"/>
                          <a:ea typeface="微软雅黑" charset="0"/>
                          <a:cs typeface="微软雅黑" charset="0"/>
                        </a:rPr>
                        <a:t>AttnRes 8 </a:t>
                      </a:r>
                      <a:r>
                        <a:rPr lang="zh-CN" altLang="en-US" sz="1000" b="0" i="0">
                          <a:solidFill>
                            <a:schemeClr val="tx1"/>
                          </a:solidFill>
                          <a:latin typeface="微软雅黑" charset="0"/>
                          <a:ea typeface="微软雅黑" charset="0"/>
                          <a:cs typeface="微软雅黑" charset="0"/>
                        </a:rPr>
                        <a:t>块 </a:t>
                      </a:r>
                      <a:r>
                        <a:rPr lang="en-US" altLang="zh-CN" sz="1000" b="0" i="0">
                          <a:solidFill>
                            <a:schemeClr val="tx1"/>
                          </a:solidFill>
                          <a:latin typeface="微软雅黑" charset="0"/>
                          <a:ea typeface="微软雅黑" charset="0"/>
                          <a:cs typeface="微软雅黑" charset="0"/>
                        </a:rPr>
                        <a:t>× 12 </a:t>
                      </a:r>
                      <a:r>
                        <a:rPr lang="zh-CN" altLang="en-US" sz="1000" b="0" i="0">
                          <a:solidFill>
                            <a:schemeClr val="tx1"/>
                          </a:solidFill>
                          <a:latin typeface="微软雅黑" charset="0"/>
                          <a:ea typeface="微软雅黑" charset="0"/>
                          <a:cs typeface="微软雅黑" charset="0"/>
                        </a:rPr>
                        <a:t>层；</a:t>
                      </a:r>
                      <a:r>
                        <a:rPr lang="en-US" altLang="zh-CN" sz="1000" b="0" i="0">
                          <a:solidFill>
                            <a:schemeClr val="tx1"/>
                          </a:solidFill>
                          <a:latin typeface="微软雅黑" charset="0"/>
                          <a:ea typeface="微软雅黑" charset="0"/>
                          <a:cs typeface="微软雅黑" charset="0"/>
                        </a:rPr>
                        <a:t>Stable LatentMoE</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09"/>
                  </a:ext>
                </a:extLst>
              </a:tr>
              <a:tr h="165100">
                <a:tc>
                  <a:txBody>
                    <a:bodyPr/>
                    <a:lstStyle/>
                    <a:p>
                      <a:pPr algn="l" fontAlgn="ctr"/>
                      <a:r>
                        <a:rPr lang="zh-CN" altLang="en-US" sz="1000" b="0" i="0">
                          <a:solidFill>
                            <a:schemeClr val="tx1"/>
                          </a:solidFill>
                          <a:latin typeface="微软雅黑" charset="0"/>
                          <a:ea typeface="微软雅黑" charset="0"/>
                        </a:rPr>
                        <a:t>激活函数</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rPr>
                        <a:t>SiTU-GLU</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10"/>
                  </a:ext>
                </a:extLst>
              </a:tr>
              <a:tr h="165100">
                <a:tc>
                  <a:txBody>
                    <a:bodyPr/>
                    <a:lstStyle/>
                    <a:p>
                      <a:pPr algn="l" fontAlgn="ctr"/>
                      <a:r>
                        <a:rPr lang="zh-CN" altLang="en-US" sz="1000" b="0" i="0">
                          <a:solidFill>
                            <a:schemeClr val="tx1"/>
                          </a:solidFill>
                          <a:latin typeface="微软雅黑" charset="0"/>
                          <a:ea typeface="微软雅黑" charset="0"/>
                        </a:rPr>
                        <a:t>视觉塔</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cs typeface="微软雅黑" charset="0"/>
                        </a:rPr>
                        <a:t>MoonViT-V2</a:t>
                      </a:r>
                      <a:r>
                        <a:rPr lang="zh-CN" altLang="en-US" sz="1000" b="0" i="0">
                          <a:solidFill>
                            <a:schemeClr val="tx1"/>
                          </a:solidFill>
                          <a:latin typeface="微软雅黑" charset="0"/>
                          <a:ea typeface="微软雅黑" charset="0"/>
                          <a:cs typeface="微软雅黑" charset="0"/>
                        </a:rPr>
                        <a:t>，</a:t>
                      </a:r>
                      <a:r>
                        <a:rPr lang="en-US" altLang="zh-CN" sz="1000" b="0" i="0">
                          <a:solidFill>
                            <a:schemeClr val="tx1"/>
                          </a:solidFill>
                          <a:latin typeface="微软雅黑" charset="0"/>
                          <a:ea typeface="微软雅黑" charset="0"/>
                          <a:cs typeface="微软雅黑" charset="0"/>
                        </a:rPr>
                        <a:t>401M</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11"/>
                  </a:ext>
                </a:extLst>
              </a:tr>
              <a:tr h="191770">
                <a:tc>
                  <a:txBody>
                    <a:bodyPr/>
                    <a:lstStyle/>
                    <a:p>
                      <a:pPr algn="l" fontAlgn="ctr"/>
                      <a:r>
                        <a:rPr lang="zh-CN" altLang="en-US" sz="1000" b="0" i="0">
                          <a:solidFill>
                            <a:schemeClr val="tx1"/>
                          </a:solidFill>
                          <a:latin typeface="微软雅黑" charset="0"/>
                          <a:ea typeface="微软雅黑" charset="0"/>
                        </a:rPr>
                        <a:t>量化</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zh-CN" altLang="en-US" sz="1000" b="0" i="0" dirty="0">
                          <a:solidFill>
                            <a:schemeClr val="tx1"/>
                          </a:solidFill>
                          <a:latin typeface="微软雅黑" charset="0"/>
                          <a:ea typeface="微软雅黑" charset="0"/>
                          <a:cs typeface="微软雅黑" charset="0"/>
                        </a:rPr>
                        <a:t>专家 </a:t>
                      </a:r>
                      <a:r>
                        <a:rPr lang="en-US" altLang="zh-CN" sz="1000" b="0" i="0" dirty="0">
                          <a:solidFill>
                            <a:schemeClr val="tx1"/>
                          </a:solidFill>
                          <a:latin typeface="微软雅黑" charset="0"/>
                          <a:ea typeface="微软雅黑" charset="0"/>
                          <a:cs typeface="微软雅黑" charset="0"/>
                        </a:rPr>
                        <a:t>MXFP4 + </a:t>
                      </a:r>
                      <a:r>
                        <a:rPr lang="zh-CN" altLang="en-US" sz="1000" b="0" i="0" dirty="0">
                          <a:solidFill>
                            <a:schemeClr val="tx1"/>
                          </a:solidFill>
                          <a:latin typeface="微软雅黑" charset="0"/>
                          <a:ea typeface="微软雅黑" charset="0"/>
                          <a:cs typeface="微软雅黑" charset="0"/>
                        </a:rPr>
                        <a:t>激活 </a:t>
                      </a:r>
                      <a:r>
                        <a:rPr lang="en-US" altLang="zh-CN" sz="1000" b="0" i="0" dirty="0">
                          <a:solidFill>
                            <a:schemeClr val="tx1"/>
                          </a:solidFill>
                          <a:latin typeface="微软雅黑" charset="0"/>
                          <a:ea typeface="微软雅黑" charset="0"/>
                          <a:cs typeface="微软雅黑" charset="0"/>
                        </a:rPr>
                        <a:t>MXFP8</a:t>
                      </a:r>
                      <a:r>
                        <a:rPr lang="zh-CN" altLang="en-US" sz="1000" b="0" i="0" dirty="0">
                          <a:solidFill>
                            <a:schemeClr val="tx1"/>
                          </a:solidFill>
                          <a:latin typeface="微软雅黑" charset="0"/>
                          <a:ea typeface="微软雅黑" charset="0"/>
                          <a:cs typeface="微软雅黑" charset="0"/>
                        </a:rPr>
                        <a:t>，其余 </a:t>
                      </a:r>
                      <a:r>
                        <a:rPr lang="en-US" altLang="zh-CN" sz="1000" b="0" i="0" dirty="0">
                          <a:solidFill>
                            <a:schemeClr val="tx1"/>
                          </a:solidFill>
                          <a:latin typeface="微软雅黑" charset="0"/>
                          <a:ea typeface="微软雅黑" charset="0"/>
                          <a:cs typeface="微软雅黑" charset="0"/>
                        </a:rPr>
                        <a:t>BF16</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12"/>
                  </a:ext>
                </a:extLst>
              </a:tr>
              <a:tr h="165100">
                <a:tc>
                  <a:txBody>
                    <a:bodyPr/>
                    <a:lstStyle/>
                    <a:p>
                      <a:pPr algn="l" fontAlgn="ctr"/>
                      <a:r>
                        <a:rPr lang="zh-CN" altLang="en-US" sz="1000" b="0" i="0">
                          <a:solidFill>
                            <a:schemeClr val="tx1"/>
                          </a:solidFill>
                          <a:latin typeface="微软雅黑" charset="0"/>
                          <a:ea typeface="微软雅黑" charset="0"/>
                        </a:rPr>
                        <a:t>原生权重体积</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rPr>
                        <a:t>1.56TB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13"/>
                  </a:ext>
                </a:extLst>
              </a:tr>
              <a:tr h="165100">
                <a:tc>
                  <a:txBody>
                    <a:bodyPr/>
                    <a:lstStyle/>
                    <a:p>
                      <a:pPr algn="l" fontAlgn="ctr"/>
                      <a:r>
                        <a:rPr lang="en-US" altLang="zh-CN" sz="1000" b="0" i="0">
                          <a:solidFill>
                            <a:schemeClr val="tx1"/>
                          </a:solidFill>
                          <a:latin typeface="微软雅黑" charset="0"/>
                          <a:ea typeface="微软雅黑" charset="0"/>
                        </a:rPr>
                        <a:t>MLA KV cache</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rPr>
                        <a:t>27.6 KB/token</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14"/>
                  </a:ext>
                </a:extLst>
              </a:tr>
              <a:tr h="165100">
                <a:tc>
                  <a:txBody>
                    <a:bodyPr/>
                    <a:lstStyle/>
                    <a:p>
                      <a:pPr algn="l" fontAlgn="ctr"/>
                      <a:r>
                        <a:rPr lang="en-US" altLang="zh-CN" sz="1000" b="0" i="0">
                          <a:solidFill>
                            <a:schemeClr val="tx1"/>
                          </a:solidFill>
                          <a:latin typeface="微软雅黑" charset="0"/>
                          <a:ea typeface="微软雅黑" charset="0"/>
                          <a:cs typeface="微软雅黑" charset="0"/>
                        </a:rPr>
                        <a:t>KDA </a:t>
                      </a:r>
                      <a:r>
                        <a:rPr lang="zh-CN" altLang="en-US" sz="1000" b="0" i="0">
                          <a:solidFill>
                            <a:schemeClr val="tx1"/>
                          </a:solidFill>
                          <a:latin typeface="微软雅黑" charset="0"/>
                          <a:ea typeface="微软雅黑" charset="0"/>
                          <a:cs typeface="微软雅黑" charset="0"/>
                        </a:rPr>
                        <a:t>递归状态</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cs typeface="微软雅黑" charset="0"/>
                        </a:rPr>
                        <a:t>414 MiB/</a:t>
                      </a:r>
                      <a:r>
                        <a:rPr lang="zh-CN" altLang="en-US" sz="1000" b="0" i="0">
                          <a:solidFill>
                            <a:schemeClr val="tx1"/>
                          </a:solidFill>
                          <a:latin typeface="微软雅黑" charset="0"/>
                          <a:ea typeface="微软雅黑" charset="0"/>
                          <a:cs typeface="微软雅黑" charset="0"/>
                        </a:rPr>
                        <a:t>请求</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15"/>
                  </a:ext>
                </a:extLst>
              </a:tr>
              <a:tr h="165100">
                <a:tc>
                  <a:txBody>
                    <a:bodyPr/>
                    <a:lstStyle/>
                    <a:p>
                      <a:pPr algn="l" fontAlgn="ctr"/>
                      <a:r>
                        <a:rPr lang="zh-CN" altLang="en-US" sz="1000" b="0" i="0">
                          <a:solidFill>
                            <a:schemeClr val="tx1"/>
                          </a:solidFill>
                          <a:latin typeface="微软雅黑" charset="0"/>
                          <a:ea typeface="微软雅黑" charset="0"/>
                          <a:cs typeface="微软雅黑" charset="0"/>
                        </a:rPr>
                        <a:t>每 </a:t>
                      </a:r>
                      <a:r>
                        <a:rPr lang="en-US" altLang="zh-CN" sz="1000" b="0" i="0">
                          <a:solidFill>
                            <a:schemeClr val="tx1"/>
                          </a:solidFill>
                          <a:latin typeface="微软雅黑" charset="0"/>
                          <a:ea typeface="微软雅黑" charset="0"/>
                          <a:cs typeface="微软雅黑" charset="0"/>
                        </a:rPr>
                        <a:t>token </a:t>
                      </a:r>
                      <a:r>
                        <a:rPr lang="zh-CN" altLang="en-US" sz="1000" b="0" i="0">
                          <a:solidFill>
                            <a:schemeClr val="tx1"/>
                          </a:solidFill>
                          <a:latin typeface="微软雅黑" charset="0"/>
                          <a:ea typeface="微软雅黑" charset="0"/>
                          <a:cs typeface="微软雅黑" charset="0"/>
                        </a:rPr>
                        <a:t>计算量</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a:solidFill>
                            <a:schemeClr val="tx1"/>
                          </a:solidFill>
                          <a:latin typeface="微软雅黑" charset="0"/>
                          <a:ea typeface="微软雅黑" charset="0"/>
                        </a:rPr>
                        <a:t>208.4 GFLOPs</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16"/>
                  </a:ext>
                </a:extLst>
              </a:tr>
              <a:tr h="165100">
                <a:tc>
                  <a:txBody>
                    <a:bodyPr/>
                    <a:lstStyle/>
                    <a:p>
                      <a:pPr algn="l" fontAlgn="ctr"/>
                      <a:r>
                        <a:rPr lang="zh-CN" altLang="en-US" sz="1000" b="0" i="0" dirty="0">
                          <a:solidFill>
                            <a:schemeClr val="tx1"/>
                          </a:solidFill>
                          <a:latin typeface="微软雅黑" charset="0"/>
                          <a:ea typeface="微软雅黑" charset="0"/>
                        </a:rPr>
                        <a:t>推荐推理引擎</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tc>
                  <a:txBody>
                    <a:bodyPr/>
                    <a:lstStyle/>
                    <a:p>
                      <a:pPr algn="l" fontAlgn="ctr"/>
                      <a:r>
                        <a:rPr lang="en-US" altLang="zh-CN" sz="1000" b="0" i="0" dirty="0" err="1">
                          <a:solidFill>
                            <a:schemeClr val="tx1"/>
                          </a:solidFill>
                          <a:latin typeface="微软雅黑" charset="0"/>
                          <a:ea typeface="微软雅黑" charset="0"/>
                        </a:rPr>
                        <a:t>vLLM</a:t>
                      </a:r>
                      <a:r>
                        <a:rPr lang="en-US" altLang="zh-CN" sz="1000" b="0" i="0" dirty="0">
                          <a:solidFill>
                            <a:schemeClr val="tx1"/>
                          </a:solidFill>
                          <a:latin typeface="微软雅黑" charset="0"/>
                          <a:ea typeface="微软雅黑" charset="0"/>
                        </a:rPr>
                        <a:t> / </a:t>
                      </a:r>
                      <a:r>
                        <a:rPr lang="en-US" altLang="zh-CN" sz="1000" b="0" i="0" dirty="0" err="1">
                          <a:solidFill>
                            <a:schemeClr val="tx1"/>
                          </a:solidFill>
                          <a:latin typeface="微软雅黑" charset="0"/>
                          <a:ea typeface="微软雅黑" charset="0"/>
                        </a:rPr>
                        <a:t>SGLang</a:t>
                      </a:r>
                      <a:r>
                        <a:rPr lang="en-US" altLang="zh-CN" sz="1000" b="0" i="0" dirty="0">
                          <a:solidFill>
                            <a:schemeClr val="tx1"/>
                          </a:solidFill>
                          <a:latin typeface="微软雅黑" charset="0"/>
                          <a:ea typeface="微软雅黑" charset="0"/>
                        </a:rPr>
                        <a:t> / </a:t>
                      </a:r>
                      <a:r>
                        <a:rPr lang="en-US" altLang="zh-CN" sz="1000" b="0" i="0" dirty="0" err="1">
                          <a:solidFill>
                            <a:schemeClr val="tx1"/>
                          </a:solidFill>
                          <a:latin typeface="微软雅黑" charset="0"/>
                          <a:ea typeface="微软雅黑" charset="0"/>
                        </a:rPr>
                        <a:t>TokenSpeed</a:t>
                      </a:r>
                      <a:endParaRPr lang="en-US" altLang="zh-CN" sz="1000" b="0" i="0" dirty="0">
                        <a:solidFill>
                          <a:schemeClr val="tx1"/>
                        </a:solidFill>
                        <a:latin typeface="微软雅黑" charset="0"/>
                        <a:ea typeface="微软雅黑" charset="0"/>
                      </a:endParaRP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lnTlToBr>
                      <a:noFill/>
                    </a:lnTlToBr>
                    <a:lnBlToTr>
                      <a:noFill/>
                    </a:lnBlToTr>
                    <a:noFill/>
                  </a:tcPr>
                </a:tc>
                <a:extLst>
                  <a:ext uri="{0D108BD9-81ED-4DB2-BD59-A6C34878D82A}">
                    <a16:rowId xmlns:a16="http://schemas.microsoft.com/office/drawing/2014/main" val="10017"/>
                  </a:ext>
                </a:extLst>
              </a:tr>
            </a:tbl>
          </a:graphicData>
        </a:graphic>
      </p:graphicFrame>
      <p:graphicFrame>
        <p:nvGraphicFramePr>
          <p:cNvPr id="8" name="表格 7"/>
          <p:cNvGraphicFramePr/>
          <p:nvPr>
            <p:custDataLst>
              <p:tags r:id="rId2"/>
            </p:custDataLst>
            <p:extLst>
              <p:ext uri="{D42A27DB-BD31-4B8C-83A1-F6EECF244321}">
                <p14:modId xmlns:p14="http://schemas.microsoft.com/office/powerpoint/2010/main" val="3726412478"/>
              </p:ext>
            </p:extLst>
          </p:nvPr>
        </p:nvGraphicFramePr>
        <p:xfrm>
          <a:off x="6118225" y="5041265"/>
          <a:ext cx="5290820" cy="1555430"/>
        </p:xfrm>
        <a:graphic>
          <a:graphicData uri="http://schemas.openxmlformats.org/drawingml/2006/table">
            <a:tbl>
              <a:tblPr/>
              <a:tblGrid>
                <a:gridCol w="1703705">
                  <a:extLst>
                    <a:ext uri="{9D8B030D-6E8A-4147-A177-3AD203B41FA5}">
                      <a16:colId xmlns:a16="http://schemas.microsoft.com/office/drawing/2014/main" val="20000"/>
                    </a:ext>
                  </a:extLst>
                </a:gridCol>
                <a:gridCol w="716915">
                  <a:extLst>
                    <a:ext uri="{9D8B030D-6E8A-4147-A177-3AD203B41FA5}">
                      <a16:colId xmlns:a16="http://schemas.microsoft.com/office/drawing/2014/main" val="20001"/>
                    </a:ext>
                  </a:extLst>
                </a:gridCol>
                <a:gridCol w="1324610">
                  <a:extLst>
                    <a:ext uri="{9D8B030D-6E8A-4147-A177-3AD203B41FA5}">
                      <a16:colId xmlns:a16="http://schemas.microsoft.com/office/drawing/2014/main" val="20002"/>
                    </a:ext>
                  </a:extLst>
                </a:gridCol>
                <a:gridCol w="1545590">
                  <a:extLst>
                    <a:ext uri="{9D8B030D-6E8A-4147-A177-3AD203B41FA5}">
                      <a16:colId xmlns:a16="http://schemas.microsoft.com/office/drawing/2014/main" val="20003"/>
                    </a:ext>
                  </a:extLst>
                </a:gridCol>
              </a:tblGrid>
              <a:tr h="248920">
                <a:tc>
                  <a:txBody>
                    <a:bodyPr/>
                    <a:lstStyle/>
                    <a:p>
                      <a:pPr algn="ctr" fontAlgn="ctr"/>
                      <a:r>
                        <a:rPr lang="zh-CN" altLang="en-US" sz="1000" b="1" i="0">
                          <a:solidFill>
                            <a:schemeClr val="tx1"/>
                          </a:solidFill>
                          <a:latin typeface="微软雅黑" charset="0"/>
                          <a:ea typeface="微软雅黑" charset="0"/>
                          <a:cs typeface="微软雅黑" charset="0"/>
                        </a:rPr>
                        <a:t>层 </a:t>
                      </a:r>
                      <a:r>
                        <a:rPr lang="en-US" altLang="zh-CN" sz="1000" b="1" i="0">
                          <a:solidFill>
                            <a:schemeClr val="tx1"/>
                          </a:solidFill>
                          <a:latin typeface="微软雅黑" charset="0"/>
                          <a:ea typeface="微软雅黑" charset="0"/>
                          <a:cs typeface="微软雅黑" charset="0"/>
                        </a:rPr>
                        <a:t>/ </a:t>
                      </a:r>
                      <a:r>
                        <a:rPr lang="zh-CN" altLang="en-US" sz="1000" b="1" i="0">
                          <a:solidFill>
                            <a:schemeClr val="tx1"/>
                          </a:solidFill>
                          <a:latin typeface="微软雅黑" charset="0"/>
                          <a:ea typeface="微软雅黑" charset="0"/>
                          <a:cs typeface="微软雅黑" charset="0"/>
                        </a:rPr>
                        <a:t>模块类型</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solidFill>
                      <a:srgbClr val="C7C7C7"/>
                    </a:solidFill>
                  </a:tcPr>
                </a:tc>
                <a:tc>
                  <a:txBody>
                    <a:bodyPr/>
                    <a:lstStyle/>
                    <a:p>
                      <a:pPr algn="ctr" fontAlgn="ctr"/>
                      <a:r>
                        <a:rPr lang="zh-CN" altLang="en-US" sz="1000" b="1" i="0">
                          <a:solidFill>
                            <a:schemeClr val="tx1"/>
                          </a:solidFill>
                          <a:latin typeface="微软雅黑" charset="0"/>
                          <a:ea typeface="微软雅黑" charset="0"/>
                        </a:rPr>
                        <a:t>数量</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solidFill>
                      <a:srgbClr val="C7C7C7"/>
                    </a:solidFill>
                  </a:tcPr>
                </a:tc>
                <a:tc>
                  <a:txBody>
                    <a:bodyPr/>
                    <a:lstStyle/>
                    <a:p>
                      <a:pPr algn="ctr" fontAlgn="ctr"/>
                      <a:r>
                        <a:rPr lang="zh-CN" altLang="en-US" sz="1000" b="1" i="0">
                          <a:solidFill>
                            <a:schemeClr val="tx1"/>
                          </a:solidFill>
                          <a:latin typeface="微软雅黑" charset="0"/>
                          <a:ea typeface="微软雅黑" charset="0"/>
                          <a:cs typeface="微软雅黑" charset="0"/>
                        </a:rPr>
                        <a:t>参数量 总</a:t>
                      </a:r>
                      <a:r>
                        <a:rPr lang="en-US" altLang="zh-CN" sz="1000" b="1" i="0">
                          <a:solidFill>
                            <a:schemeClr val="tx1"/>
                          </a:solidFill>
                          <a:latin typeface="微软雅黑" charset="0"/>
                          <a:ea typeface="微软雅黑" charset="0"/>
                          <a:cs typeface="微软雅黑" charset="0"/>
                        </a:rPr>
                        <a:t>/</a:t>
                      </a:r>
                      <a:r>
                        <a:rPr lang="zh-CN" altLang="en-US" sz="1000" b="1" i="0">
                          <a:solidFill>
                            <a:schemeClr val="tx1"/>
                          </a:solidFill>
                          <a:latin typeface="微软雅黑" charset="0"/>
                          <a:ea typeface="微软雅黑" charset="0"/>
                          <a:cs typeface="微软雅黑" charset="0"/>
                        </a:rPr>
                        <a:t>激活</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solidFill>
                      <a:srgbClr val="C7C7C7"/>
                    </a:solidFill>
                  </a:tcPr>
                </a:tc>
                <a:tc>
                  <a:txBody>
                    <a:bodyPr/>
                    <a:lstStyle/>
                    <a:p>
                      <a:pPr algn="ctr" fontAlgn="ctr"/>
                      <a:r>
                        <a:rPr lang="zh-CN" altLang="en-US" sz="1000" b="1" i="0">
                          <a:solidFill>
                            <a:schemeClr val="tx1"/>
                          </a:solidFill>
                          <a:latin typeface="微软雅黑" charset="0"/>
                          <a:ea typeface="微软雅黑" charset="0"/>
                          <a:cs typeface="微软雅黑" charset="0"/>
                        </a:rPr>
                        <a:t>每 </a:t>
                      </a:r>
                      <a:r>
                        <a:rPr lang="en-US" altLang="zh-CN" sz="1000" b="1" i="0">
                          <a:solidFill>
                            <a:schemeClr val="tx1"/>
                          </a:solidFill>
                          <a:latin typeface="微软雅黑" charset="0"/>
                          <a:ea typeface="微软雅黑" charset="0"/>
                          <a:cs typeface="微软雅黑" charset="0"/>
                        </a:rPr>
                        <a:t>token FLOPs/</a:t>
                      </a:r>
                      <a:r>
                        <a:rPr lang="zh-CN" altLang="en-US" sz="1000" b="1" i="0">
                          <a:solidFill>
                            <a:schemeClr val="tx1"/>
                          </a:solidFill>
                          <a:latin typeface="微软雅黑" charset="0"/>
                          <a:ea typeface="微软雅黑" charset="0"/>
                          <a:cs typeface="微软雅黑" charset="0"/>
                        </a:rPr>
                        <a:t>层</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solidFill>
                      <a:srgbClr val="C7C7C7"/>
                    </a:solidFill>
                  </a:tcPr>
                </a:tc>
                <a:extLst>
                  <a:ext uri="{0D108BD9-81ED-4DB2-BD59-A6C34878D82A}">
                    <a16:rowId xmlns:a16="http://schemas.microsoft.com/office/drawing/2014/main" val="10000"/>
                  </a:ext>
                </a:extLst>
              </a:tr>
              <a:tr h="165100">
                <a:tc>
                  <a:txBody>
                    <a:bodyPr/>
                    <a:lstStyle/>
                    <a:p>
                      <a:pPr algn="l" fontAlgn="ctr"/>
                      <a:r>
                        <a:rPr lang="en-US" altLang="zh-CN" sz="1000" b="0" i="0">
                          <a:solidFill>
                            <a:schemeClr val="tx1"/>
                          </a:solidFill>
                          <a:latin typeface="微软雅黑" charset="0"/>
                          <a:ea typeface="微软雅黑" charset="0"/>
                          <a:cs typeface="微软雅黑" charset="0"/>
                        </a:rPr>
                        <a:t>L1</a:t>
                      </a:r>
                      <a:r>
                        <a:rPr lang="zh-CN" altLang="en-US" sz="1000" b="0" i="0">
                          <a:solidFill>
                            <a:schemeClr val="tx1"/>
                          </a:solidFill>
                          <a:latin typeface="微软雅黑" charset="0"/>
                          <a:ea typeface="微软雅黑" charset="0"/>
                          <a:cs typeface="微软雅黑" charset="0"/>
                        </a:rPr>
                        <a:t>：</a:t>
                      </a:r>
                      <a:r>
                        <a:rPr lang="en-US" altLang="zh-CN" sz="1000" b="0" i="0">
                          <a:solidFill>
                            <a:schemeClr val="tx1"/>
                          </a:solidFill>
                          <a:latin typeface="微软雅黑" charset="0"/>
                          <a:ea typeface="微软雅黑" charset="0"/>
                          <a:cs typeface="微软雅黑" charset="0"/>
                        </a:rPr>
                        <a:t>KDA + Dense FFN</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1</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1.17B/1.17B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2.35 GF</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1"/>
                  </a:ext>
                </a:extLst>
              </a:tr>
              <a:tr h="230505">
                <a:tc>
                  <a:txBody>
                    <a:bodyPr/>
                    <a:lstStyle/>
                    <a:p>
                      <a:pPr algn="l" fontAlgn="ctr"/>
                      <a:r>
                        <a:rPr lang="en-US" altLang="zh-CN" sz="1000" b="0" i="0">
                          <a:solidFill>
                            <a:schemeClr val="tx1"/>
                          </a:solidFill>
                          <a:latin typeface="微软雅黑" charset="0"/>
                          <a:ea typeface="微软雅黑" charset="0"/>
                        </a:rPr>
                        <a:t>KDA + LatentMoE</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68</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30.23B/1.16B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2.34 GF</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2"/>
                  </a:ext>
                </a:extLst>
              </a:tr>
              <a:tr h="160020">
                <a:tc>
                  <a:txBody>
                    <a:bodyPr/>
                    <a:lstStyle/>
                    <a:p>
                      <a:pPr algn="l" fontAlgn="ctr"/>
                      <a:r>
                        <a:rPr lang="en-US" altLang="zh-CN" sz="1000" b="0" i="0">
                          <a:solidFill>
                            <a:schemeClr val="tx1"/>
                          </a:solidFill>
                          <a:latin typeface="微软雅黑" charset="0"/>
                          <a:ea typeface="微软雅黑" charset="0"/>
                        </a:rPr>
                        <a:t>Gated MLA + LatentMoE</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24</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30.02B/0.95B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cs typeface="微软雅黑" charset="0"/>
                        </a:rPr>
                        <a:t>1.90 GF + 0.209 MF×n</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3"/>
                  </a:ext>
                </a:extLst>
              </a:tr>
              <a:tr h="165100">
                <a:tc>
                  <a:txBody>
                    <a:bodyPr/>
                    <a:lstStyle/>
                    <a:p>
                      <a:pPr algn="l" fontAlgn="ctr"/>
                      <a:r>
                        <a:rPr lang="en-US" altLang="zh-CN" sz="1000" b="0" i="0">
                          <a:solidFill>
                            <a:schemeClr val="tx1"/>
                          </a:solidFill>
                          <a:latin typeface="微软雅黑" charset="0"/>
                          <a:ea typeface="微软雅黑" charset="0"/>
                        </a:rPr>
                        <a:t>Embedding</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1</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cs typeface="微软雅黑" charset="0"/>
                        </a:rPr>
                        <a:t>1.17B/—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0</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4"/>
                  </a:ext>
                </a:extLst>
              </a:tr>
              <a:tr h="165100">
                <a:tc>
                  <a:txBody>
                    <a:bodyPr/>
                    <a:lstStyle/>
                    <a:p>
                      <a:pPr algn="l" fontAlgn="ctr"/>
                      <a:r>
                        <a:rPr lang="en-US" altLang="zh-CN" sz="1000" b="0" i="0" dirty="0" err="1">
                          <a:solidFill>
                            <a:schemeClr val="tx1"/>
                          </a:solidFill>
                          <a:latin typeface="微软雅黑" charset="0"/>
                          <a:ea typeface="微软雅黑" charset="0"/>
                        </a:rPr>
                        <a:t>lm_head</a:t>
                      </a:r>
                      <a:endParaRPr lang="en-US" altLang="zh-CN" sz="1000" b="0" i="0" dirty="0">
                        <a:solidFill>
                          <a:schemeClr val="tx1"/>
                        </a:solidFill>
                        <a:latin typeface="微软雅黑" charset="0"/>
                        <a:ea typeface="微软雅黑" charset="0"/>
                      </a:endParaRP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1</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1.17B/1.17B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2.35 GF</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5"/>
                  </a:ext>
                </a:extLst>
              </a:tr>
              <a:tr h="165100">
                <a:tc>
                  <a:txBody>
                    <a:bodyPr/>
                    <a:lstStyle/>
                    <a:p>
                      <a:pPr algn="l" fontAlgn="ctr"/>
                      <a:r>
                        <a:rPr lang="en-US" altLang="zh-CN" sz="1000" b="0" i="0">
                          <a:solidFill>
                            <a:schemeClr val="tx1"/>
                          </a:solidFill>
                          <a:latin typeface="微软雅黑" charset="0"/>
                          <a:ea typeface="微软雅黑" charset="0"/>
                        </a:rPr>
                        <a:t>MoonViT-V2 + projector</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rPr>
                        <a:t>1</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0" i="0">
                          <a:solidFill>
                            <a:schemeClr val="tx1"/>
                          </a:solidFill>
                          <a:latin typeface="微软雅黑" charset="0"/>
                          <a:ea typeface="微软雅黑" charset="0"/>
                          <a:cs typeface="微软雅黑" charset="0"/>
                        </a:rPr>
                        <a:t>0.45B/—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zh-CN" altLang="en-US" sz="1000" b="0" i="0" dirty="0">
                          <a:solidFill>
                            <a:schemeClr val="tx1"/>
                          </a:solidFill>
                          <a:latin typeface="微软雅黑" charset="0"/>
                          <a:ea typeface="微软雅黑" charset="0"/>
                        </a:rPr>
                        <a:t>按图像计</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6"/>
                  </a:ext>
                </a:extLst>
              </a:tr>
              <a:tr h="248920">
                <a:tc>
                  <a:txBody>
                    <a:bodyPr/>
                    <a:lstStyle/>
                    <a:p>
                      <a:pPr algn="l" fontAlgn="ctr"/>
                      <a:r>
                        <a:rPr lang="zh-CN" altLang="en-US" sz="1000" b="1" i="0">
                          <a:solidFill>
                            <a:schemeClr val="tx1"/>
                          </a:solidFill>
                          <a:latin typeface="微软雅黑" charset="0"/>
                          <a:ea typeface="微软雅黑" charset="0"/>
                        </a:rPr>
                        <a:t>全网合计</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1" i="0">
                          <a:solidFill>
                            <a:schemeClr val="tx1"/>
                          </a:solidFill>
                          <a:latin typeface="微软雅黑" charset="0"/>
                          <a:ea typeface="微软雅黑" charset="0"/>
                          <a:cs typeface="微软雅黑" charset="0"/>
                        </a:rPr>
                        <a:t>93 + 3 </a:t>
                      </a:r>
                      <a:endParaRPr lang="zh-CN" altLang="en-US" sz="1000" b="1" i="0">
                        <a:solidFill>
                          <a:schemeClr val="tx1"/>
                        </a:solidFill>
                        <a:latin typeface="微软雅黑" charset="0"/>
                        <a:ea typeface="微软雅黑" charset="0"/>
                        <a:cs typeface="微软雅黑" charset="0"/>
                      </a:endParaRP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1" i="0">
                          <a:solidFill>
                            <a:schemeClr val="tx1"/>
                          </a:solidFill>
                          <a:latin typeface="微软雅黑" charset="0"/>
                          <a:ea typeface="微软雅黑" charset="0"/>
                        </a:rPr>
                        <a:t>2.78T/104.2B</a:t>
                      </a: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tc>
                  <a:txBody>
                    <a:bodyPr/>
                    <a:lstStyle/>
                    <a:p>
                      <a:pPr algn="ctr" fontAlgn="ctr"/>
                      <a:r>
                        <a:rPr lang="en-US" altLang="zh-CN" sz="1000" b="1" i="0" dirty="0">
                          <a:solidFill>
                            <a:schemeClr val="tx1"/>
                          </a:solidFill>
                          <a:latin typeface="微软雅黑" charset="0"/>
                          <a:ea typeface="微软雅黑" charset="0"/>
                          <a:cs typeface="微软雅黑" charset="0"/>
                        </a:rPr>
                        <a:t>209.2 GF + 5.01 </a:t>
                      </a:r>
                      <a:r>
                        <a:rPr lang="en-US" altLang="zh-CN" sz="1000" b="1" i="0" dirty="0" err="1">
                          <a:solidFill>
                            <a:schemeClr val="tx1"/>
                          </a:solidFill>
                          <a:latin typeface="微软雅黑" charset="0"/>
                          <a:ea typeface="微软雅黑" charset="0"/>
                          <a:cs typeface="微软雅黑" charset="0"/>
                        </a:rPr>
                        <a:t>MF×n</a:t>
                      </a:r>
                      <a:endParaRPr lang="en-US" altLang="zh-CN" sz="1000" b="1" i="0" dirty="0">
                        <a:solidFill>
                          <a:schemeClr val="tx1"/>
                        </a:solidFill>
                        <a:latin typeface="微软雅黑" charset="0"/>
                        <a:ea typeface="微软雅黑" charset="0"/>
                        <a:cs typeface="微软雅黑" charset="0"/>
                      </a:endParaRPr>
                    </a:p>
                  </a:txBody>
                  <a:tcPr marL="13017" marR="13017" marT="13017" marB="0" anchor="ctr">
                    <a:lnL w="12700">
                      <a:solidFill>
                        <a:schemeClr val="bg1">
                          <a:lumMod val="20000"/>
                          <a:lumOff val="80000"/>
                        </a:schemeClr>
                      </a:solidFill>
                      <a:prstDash val="solid"/>
                    </a:lnL>
                    <a:lnR w="12700">
                      <a:solidFill>
                        <a:schemeClr val="bg1">
                          <a:lumMod val="20000"/>
                          <a:lumOff val="80000"/>
                        </a:schemeClr>
                      </a:solidFill>
                      <a:prstDash val="solid"/>
                    </a:lnR>
                    <a:lnT w="12700">
                      <a:solidFill>
                        <a:schemeClr val="bg1">
                          <a:lumMod val="20000"/>
                          <a:lumOff val="80000"/>
                        </a:schemeClr>
                      </a:solidFill>
                      <a:prstDash val="solid"/>
                    </a:lnT>
                    <a:lnB w="12700">
                      <a:solidFill>
                        <a:schemeClr val="bg1">
                          <a:lumMod val="20000"/>
                          <a:lumOff val="80000"/>
                        </a:schemeClr>
                      </a:solidFill>
                      <a:prstDash val="solid"/>
                    </a:lnB>
                    <a:noFill/>
                  </a:tcPr>
                </a:tc>
                <a:extLst>
                  <a:ext uri="{0D108BD9-81ED-4DB2-BD59-A6C34878D82A}">
                    <a16:rowId xmlns:a16="http://schemas.microsoft.com/office/drawing/2014/main" val="10007"/>
                  </a:ext>
                </a:extLst>
              </a:tr>
            </a:tbl>
          </a:graphicData>
        </a:graphic>
      </p:graphicFrame>
      <p:sp>
        <p:nvSpPr>
          <p:cNvPr id="11" name="标题 1"/>
          <p:cNvSpPr txBox="1"/>
          <p:nvPr/>
        </p:nvSpPr>
        <p:spPr bwMode="auto">
          <a:xfrm>
            <a:off x="171450" y="70578"/>
            <a:ext cx="12267344" cy="550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8038" tIns="39019" rIns="78038" bIns="39019" numCol="1" anchor="ctr" anchorCtr="0" compatLnSpc="1"/>
          <a:lstStyle>
            <a:lvl1pPr algn="l" defTabSz="775970" rtl="0" eaLnBrk="0" fontAlgn="base" hangingPunct="0">
              <a:spcBef>
                <a:spcPct val="0"/>
              </a:spcBef>
              <a:spcAft>
                <a:spcPct val="0"/>
              </a:spcAft>
              <a:defRPr sz="3000" b="1">
                <a:solidFill>
                  <a:srgbClr val="990000"/>
                </a:solidFill>
                <a:latin typeface="+mj-lt"/>
                <a:ea typeface="+mj-ea"/>
                <a:cs typeface="+mj-cs"/>
              </a:defRPr>
            </a:lvl1pPr>
            <a:lvl2pPr algn="l" defTabSz="775970" rtl="0" eaLnBrk="0" fontAlgn="base" hangingPunct="0">
              <a:spcBef>
                <a:spcPct val="0"/>
              </a:spcBef>
              <a:spcAft>
                <a:spcPct val="0"/>
              </a:spcAft>
              <a:defRPr sz="3000" b="1">
                <a:solidFill>
                  <a:srgbClr val="990000"/>
                </a:solidFill>
                <a:latin typeface="Arial" panose="020B0604020202090204" pitchFamily="34" charset="0"/>
                <a:ea typeface="宋体" pitchFamily="2" charset="-122"/>
              </a:defRPr>
            </a:lvl2pPr>
            <a:lvl3pPr algn="l" defTabSz="775970" rtl="0" eaLnBrk="0" fontAlgn="base" hangingPunct="0">
              <a:spcBef>
                <a:spcPct val="0"/>
              </a:spcBef>
              <a:spcAft>
                <a:spcPct val="0"/>
              </a:spcAft>
              <a:defRPr sz="3000" b="1">
                <a:solidFill>
                  <a:srgbClr val="990000"/>
                </a:solidFill>
                <a:latin typeface="Arial" panose="020B0604020202090204" pitchFamily="34" charset="0"/>
                <a:ea typeface="宋体" pitchFamily="2" charset="-122"/>
              </a:defRPr>
            </a:lvl3pPr>
            <a:lvl4pPr algn="l" defTabSz="775970" rtl="0" eaLnBrk="0" fontAlgn="base" hangingPunct="0">
              <a:spcBef>
                <a:spcPct val="0"/>
              </a:spcBef>
              <a:spcAft>
                <a:spcPct val="0"/>
              </a:spcAft>
              <a:defRPr sz="3000" b="1">
                <a:solidFill>
                  <a:srgbClr val="990000"/>
                </a:solidFill>
                <a:latin typeface="Arial" panose="020B0604020202090204" pitchFamily="34" charset="0"/>
                <a:ea typeface="宋体" pitchFamily="2" charset="-122"/>
              </a:defRPr>
            </a:lvl4pPr>
            <a:lvl5pPr algn="l" defTabSz="775970" rtl="0" eaLnBrk="0" fontAlgn="base" hangingPunct="0">
              <a:spcBef>
                <a:spcPct val="0"/>
              </a:spcBef>
              <a:spcAft>
                <a:spcPct val="0"/>
              </a:spcAft>
              <a:defRPr sz="3000" b="1">
                <a:solidFill>
                  <a:srgbClr val="990000"/>
                </a:solidFill>
                <a:latin typeface="Arial" panose="020B0604020202090204" pitchFamily="34" charset="0"/>
                <a:ea typeface="宋体" pitchFamily="2" charset="-122"/>
              </a:defRPr>
            </a:lvl5pPr>
            <a:lvl6pPr marL="455930" algn="l" defTabSz="782320" rtl="0" fontAlgn="base">
              <a:spcBef>
                <a:spcPct val="0"/>
              </a:spcBef>
              <a:spcAft>
                <a:spcPct val="0"/>
              </a:spcAft>
              <a:defRPr sz="3000" b="1">
                <a:solidFill>
                  <a:srgbClr val="990000"/>
                </a:solidFill>
                <a:latin typeface="Arial" panose="020B0604020202090204" pitchFamily="34" charset="0"/>
                <a:ea typeface="宋体" pitchFamily="2" charset="-122"/>
              </a:defRPr>
            </a:lvl6pPr>
            <a:lvl7pPr marL="911860" algn="l" defTabSz="782320" rtl="0" fontAlgn="base">
              <a:spcBef>
                <a:spcPct val="0"/>
              </a:spcBef>
              <a:spcAft>
                <a:spcPct val="0"/>
              </a:spcAft>
              <a:defRPr sz="3000" b="1">
                <a:solidFill>
                  <a:srgbClr val="990000"/>
                </a:solidFill>
                <a:latin typeface="Arial" panose="020B0604020202090204" pitchFamily="34" charset="0"/>
                <a:ea typeface="宋体" pitchFamily="2" charset="-122"/>
              </a:defRPr>
            </a:lvl7pPr>
            <a:lvl8pPr marL="1368425" algn="l" defTabSz="782320" rtl="0" fontAlgn="base">
              <a:spcBef>
                <a:spcPct val="0"/>
              </a:spcBef>
              <a:spcAft>
                <a:spcPct val="0"/>
              </a:spcAft>
              <a:defRPr sz="3000" b="1">
                <a:solidFill>
                  <a:srgbClr val="990000"/>
                </a:solidFill>
                <a:latin typeface="Arial" panose="020B0604020202090204" pitchFamily="34" charset="0"/>
                <a:ea typeface="宋体" pitchFamily="2" charset="-122"/>
              </a:defRPr>
            </a:lvl8pPr>
            <a:lvl9pPr marL="1824355" algn="l" defTabSz="782320" rtl="0" fontAlgn="base">
              <a:spcBef>
                <a:spcPct val="0"/>
              </a:spcBef>
              <a:spcAft>
                <a:spcPct val="0"/>
              </a:spcAft>
              <a:defRPr sz="3000" b="1">
                <a:solidFill>
                  <a:srgbClr val="990000"/>
                </a:solidFill>
                <a:latin typeface="Arial" panose="020B0604020202090204" pitchFamily="34" charset="0"/>
                <a:ea typeface="宋体" pitchFamily="2" charset="-122"/>
              </a:defRPr>
            </a:lvl9pPr>
          </a:lstStyle>
          <a:p>
            <a:pPr lvl="0" indent="0" algn="l" defTabSz="913130" rtl="0" latinLnBrk="0">
              <a:lnSpc>
                <a:spcPct val="100000"/>
              </a:lnSpc>
              <a:buFont typeface="Wingdings" panose="05000000000000000000" pitchFamily="2" charset="2"/>
              <a:buNone/>
              <a:defRPr/>
            </a:pPr>
            <a:r>
              <a:rPr lang="en-US" altLang="zh-CN" sz="1800" dirty="0">
                <a:solidFill>
                  <a:srgbClr val="C00000"/>
                </a:solidFill>
                <a:latin typeface="微软雅黑" panose="020B0503020204020204" pitchFamily="34" charset="-122"/>
                <a:ea typeface="微软雅黑" panose="020B0503020204020204" pitchFamily="34" charset="-122"/>
              </a:rPr>
              <a:t>KIMI K3</a:t>
            </a:r>
            <a:r>
              <a:rPr lang="zh-CN" altLang="en-US" sz="1800" dirty="0">
                <a:solidFill>
                  <a:srgbClr val="C00000"/>
                </a:solidFill>
                <a:latin typeface="微软雅黑" panose="020B0503020204020204" pitchFamily="34" charset="-122"/>
                <a:ea typeface="微软雅黑" panose="020B0503020204020204" pitchFamily="34" charset="-122"/>
              </a:rPr>
              <a:t>： 三比一混合注意力 × 超稀疏潜在专家：2.8</a:t>
            </a:r>
            <a:r>
              <a:rPr lang="en-US" altLang="zh-CN" sz="1800" dirty="0">
                <a:solidFill>
                  <a:srgbClr val="C00000"/>
                </a:solidFill>
                <a:latin typeface="微软雅黑" panose="020B0503020204020204" pitchFamily="34" charset="-122"/>
                <a:ea typeface="微软雅黑" panose="020B0503020204020204" pitchFamily="34" charset="-122"/>
              </a:rPr>
              <a:t>T </a:t>
            </a:r>
            <a:r>
              <a:rPr lang="zh-CN" altLang="en-US" sz="1800" dirty="0">
                <a:solidFill>
                  <a:srgbClr val="C00000"/>
                </a:solidFill>
                <a:latin typeface="微软雅黑" panose="020B0503020204020204" pitchFamily="34" charset="-122"/>
                <a:ea typeface="微软雅黑" panose="020B0503020204020204" pitchFamily="34" charset="-122"/>
              </a:rPr>
              <a:t>参数、104</a:t>
            </a:r>
            <a:r>
              <a:rPr lang="en-US" altLang="zh-CN" sz="1800" dirty="0">
                <a:solidFill>
                  <a:srgbClr val="C00000"/>
                </a:solidFill>
                <a:latin typeface="微软雅黑" panose="020B0503020204020204" pitchFamily="34" charset="-122"/>
                <a:ea typeface="微软雅黑" panose="020B0503020204020204" pitchFamily="34" charset="-122"/>
              </a:rPr>
              <a:t>B </a:t>
            </a:r>
            <a:r>
              <a:rPr lang="zh-CN" altLang="en-US" sz="1800" dirty="0">
                <a:solidFill>
                  <a:srgbClr val="C00000"/>
                </a:solidFill>
                <a:latin typeface="微软雅黑" panose="020B0503020204020204" pitchFamily="34" charset="-122"/>
                <a:ea typeface="微软雅黑" panose="020B0503020204020204" pitchFamily="34" charset="-122"/>
              </a:rPr>
              <a:t>激活、1</a:t>
            </a:r>
            <a:r>
              <a:rPr lang="en-US" altLang="zh-CN" sz="1800" dirty="0">
                <a:solidFill>
                  <a:srgbClr val="C00000"/>
                </a:solidFill>
                <a:latin typeface="微软雅黑" panose="020B0503020204020204" pitchFamily="34" charset="-122"/>
                <a:ea typeface="微软雅黑" panose="020B0503020204020204" pitchFamily="34" charset="-122"/>
              </a:rPr>
              <a:t>M </a:t>
            </a:r>
            <a:r>
              <a:rPr lang="zh-CN" altLang="en-US" sz="1800" dirty="0">
                <a:solidFill>
                  <a:srgbClr val="C00000"/>
                </a:solidFill>
                <a:latin typeface="微软雅黑" panose="020B0503020204020204" pitchFamily="34" charset="-122"/>
                <a:ea typeface="微软雅黑" panose="020B0503020204020204" pitchFamily="34" charset="-122"/>
              </a:rPr>
              <a:t>上下文</a:t>
            </a:r>
          </a:p>
        </p:txBody>
      </p:sp>
      <p:sp>
        <p:nvSpPr>
          <p:cNvPr id="12" name="矩形 11"/>
          <p:cNvSpPr/>
          <p:nvPr/>
        </p:nvSpPr>
        <p:spPr>
          <a:xfrm>
            <a:off x="164465" y="506095"/>
            <a:ext cx="707390" cy="791845"/>
          </a:xfrm>
          <a:prstGeom prst="rect">
            <a:avLst/>
          </a:prstGeom>
          <a:solidFill>
            <a:srgbClr val="C00000"/>
          </a:solidFill>
          <a:ln w="3175" cap="flat">
            <a:noFill/>
            <a:miter lim="400000"/>
          </a:ln>
          <a:effectLst/>
        </p:spPr>
        <p:txBody>
          <a:bodyPr wrap="square" lIns="35949" tIns="35949" rIns="35949" bIns="35949" numCol="1" anchor="ctr">
            <a:noAutofit/>
          </a:bodyPr>
          <a:lstStyle/>
          <a:p>
            <a:pPr algn="ctr" defTabSz="1718310">
              <a:defRPr/>
            </a:pPr>
            <a:r>
              <a:rPr lang="zh-CN" altLang="en-US" sz="1400" b="1" kern="0" dirty="0">
                <a:solidFill>
                  <a:srgbClr val="FFFFFF"/>
                </a:solidFill>
                <a:latin typeface="微软雅黑" panose="020B0503020204020204" pitchFamily="34" charset="-122"/>
                <a:ea typeface="微软雅黑" panose="020B0503020204020204" pitchFamily="34" charset="-122"/>
              </a:rPr>
              <a:t>分析</a:t>
            </a:r>
          </a:p>
          <a:p>
            <a:pPr algn="ctr" defTabSz="1718310">
              <a:defRPr/>
            </a:pPr>
            <a:r>
              <a:rPr lang="zh-CN" altLang="en-US" sz="1400" b="1" kern="0" dirty="0">
                <a:solidFill>
                  <a:srgbClr val="FFFFFF"/>
                </a:solidFill>
                <a:latin typeface="微软雅黑" panose="020B0503020204020204" pitchFamily="34" charset="-122"/>
                <a:ea typeface="微软雅黑" panose="020B0503020204020204" pitchFamily="34" charset="-122"/>
              </a:rPr>
              <a:t>结论</a:t>
            </a:r>
          </a:p>
        </p:txBody>
      </p:sp>
      <p:sp>
        <p:nvSpPr>
          <p:cNvPr id="13" name="矩形 12"/>
          <p:cNvSpPr/>
          <p:nvPr/>
        </p:nvSpPr>
        <p:spPr>
          <a:xfrm>
            <a:off x="902970" y="506095"/>
            <a:ext cx="11081385" cy="791845"/>
          </a:xfrm>
          <a:prstGeom prst="rect">
            <a:avLst/>
          </a:prstGeom>
          <a:solidFill>
            <a:srgbClr val="FFFFFF">
              <a:lumMod val="95000"/>
            </a:srgbClr>
          </a:solidFill>
          <a:ln w="12700" cap="flat" cmpd="sng" algn="ctr">
            <a:noFill/>
            <a:prstDash val="solid"/>
            <a:miter lim="800000"/>
          </a:ln>
          <a:effectLst/>
        </p:spPr>
        <p:txBody>
          <a:bodyPr rtlCol="0" anchor="ctr"/>
          <a:lstStyle/>
          <a:p>
            <a:pPr marL="171450" indent="-171450" defTabSz="913130" eaLnBrk="0" fontAlgn="base" hangingPunct="0">
              <a:spcBef>
                <a:spcPct val="0"/>
              </a:spcBef>
              <a:spcAft>
                <a:spcPct val="0"/>
              </a:spcAft>
              <a:buFont typeface="Wingdings" panose="05000000000000000000" pitchFamily="2" charset="2"/>
              <a:buChar char="Ø"/>
              <a:defRPr/>
            </a:pPr>
            <a:r>
              <a:rPr lang="zh-CN" altLang="en-US" sz="1200" kern="0" dirty="0">
                <a:latin typeface="微软雅黑" panose="020B0503020204020204" pitchFamily="34" charset="-122"/>
                <a:ea typeface="微软雅黑" panose="020B0503020204020204" pitchFamily="34" charset="-122"/>
              </a:rPr>
              <a:t>模型概览：93 层 3:1 混合注意力；2.8</a:t>
            </a:r>
            <a:r>
              <a:rPr lang="en-US" altLang="zh-CN" sz="1200" kern="0" dirty="0">
                <a:latin typeface="微软雅黑" panose="020B0503020204020204" pitchFamily="34" charset="-122"/>
                <a:ea typeface="微软雅黑" panose="020B0503020204020204" pitchFamily="34" charset="-122"/>
              </a:rPr>
              <a:t>T/104B </a:t>
            </a:r>
            <a:r>
              <a:rPr lang="zh-CN" altLang="en-US" sz="1200" kern="0" dirty="0">
                <a:latin typeface="微软雅黑" panose="020B0503020204020204" pitchFamily="34" charset="-122"/>
                <a:ea typeface="微软雅黑" panose="020B0503020204020204" pitchFamily="34" charset="-122"/>
              </a:rPr>
              <a:t>激活；896 专家选 16+2 共享；</a:t>
            </a:r>
            <a:r>
              <a:rPr lang="en-US" altLang="zh-CN" sz="1200" kern="0" dirty="0">
                <a:latin typeface="微软雅黑" panose="020B0503020204020204" pitchFamily="34" charset="-122"/>
                <a:ea typeface="微软雅黑" panose="020B0503020204020204" pitchFamily="34" charset="-122"/>
              </a:rPr>
              <a:t>AttnRes 8 </a:t>
            </a:r>
            <a:r>
              <a:rPr lang="zh-CN" altLang="en-US" sz="1200" kern="0" dirty="0">
                <a:latin typeface="微软雅黑" panose="020B0503020204020204" pitchFamily="34" charset="-122"/>
                <a:ea typeface="微软雅黑" panose="020B0503020204020204" pitchFamily="34" charset="-122"/>
              </a:rPr>
              <a:t>块残差；1</a:t>
            </a:r>
            <a:r>
              <a:rPr lang="en-US" altLang="zh-CN" sz="1200" kern="0" dirty="0">
                <a:latin typeface="微软雅黑" panose="020B0503020204020204" pitchFamily="34" charset="-122"/>
                <a:ea typeface="微软雅黑" panose="020B0503020204020204" pitchFamily="34" charset="-122"/>
              </a:rPr>
              <a:t>M </a:t>
            </a:r>
            <a:r>
              <a:rPr lang="zh-CN" altLang="en-US" sz="1200" kern="0" dirty="0">
                <a:latin typeface="微软雅黑" panose="020B0503020204020204" pitchFamily="34" charset="-122"/>
                <a:ea typeface="微软雅黑" panose="020B0503020204020204" pitchFamily="34" charset="-122"/>
              </a:rPr>
              <a:t>上下文多模态。</a:t>
            </a:r>
          </a:p>
          <a:p>
            <a:pPr marL="171450" indent="-171450" defTabSz="913130" eaLnBrk="0" fontAlgn="base" hangingPunct="0">
              <a:spcBef>
                <a:spcPct val="0"/>
              </a:spcBef>
              <a:spcAft>
                <a:spcPct val="0"/>
              </a:spcAft>
              <a:buFont typeface="Wingdings" panose="05000000000000000000" pitchFamily="2" charset="2"/>
              <a:buChar char="Ø"/>
              <a:defRPr/>
            </a:pPr>
            <a:r>
              <a:rPr lang="en-US" altLang="zh-CN" sz="1200" kern="0" dirty="0">
                <a:latin typeface="微软雅黑" panose="020B0503020204020204" pitchFamily="34" charset="-122"/>
                <a:ea typeface="微软雅黑" panose="020B0503020204020204" pitchFamily="34" charset="-122"/>
              </a:rPr>
              <a:t>Attention：KDA </a:t>
            </a:r>
            <a:r>
              <a:rPr lang="zh-CN" altLang="en-US" sz="1200" kern="0" dirty="0">
                <a:latin typeface="微软雅黑" panose="020B0503020204020204" pitchFamily="34" charset="-122"/>
                <a:ea typeface="微软雅黑" panose="020B0503020204020204" pitchFamily="34" charset="-122"/>
              </a:rPr>
              <a:t>线性注意力定长递归状态、解码 </a:t>
            </a:r>
            <a:r>
              <a:rPr lang="en-US" altLang="zh-CN" sz="1200" kern="0" dirty="0">
                <a:latin typeface="微软雅黑" panose="020B0503020204020204" pitchFamily="34" charset="-122"/>
                <a:ea typeface="微软雅黑" panose="020B0503020204020204" pitchFamily="34" charset="-122"/>
              </a:rPr>
              <a:t>O(1)；MLA NoPE、KV </a:t>
            </a:r>
            <a:r>
              <a:rPr lang="zh-CN" altLang="en-US" sz="1200" kern="0" dirty="0">
                <a:latin typeface="微软雅黑" panose="020B0503020204020204" pitchFamily="34" charset="-122"/>
                <a:ea typeface="微软雅黑" panose="020B0503020204020204" pitchFamily="34" charset="-122"/>
              </a:rPr>
              <a:t>压缩至 576 维。</a:t>
            </a:r>
          </a:p>
          <a:p>
            <a:pPr marL="171450" indent="-171450" defTabSz="913130" eaLnBrk="0" fontAlgn="base" hangingPunct="0">
              <a:spcBef>
                <a:spcPct val="0"/>
              </a:spcBef>
              <a:spcAft>
                <a:spcPct val="0"/>
              </a:spcAft>
              <a:buFont typeface="Wingdings" panose="05000000000000000000" pitchFamily="2" charset="2"/>
              <a:buChar char="Ø"/>
              <a:defRPr/>
            </a:pPr>
            <a:r>
              <a:rPr lang="en-US" altLang="zh-CN" sz="1200" kern="0" dirty="0">
                <a:latin typeface="微软雅黑" panose="020B0503020204020204" pitchFamily="34" charset="-122"/>
                <a:ea typeface="微软雅黑" panose="020B0503020204020204" pitchFamily="34" charset="-122"/>
              </a:rPr>
              <a:t>MoE：Stable LatentMoE </a:t>
            </a:r>
            <a:r>
              <a:rPr lang="zh-CN" altLang="en-US" sz="1200" kern="0" dirty="0">
                <a:latin typeface="微软雅黑" panose="020B0503020204020204" pitchFamily="34" charset="-122"/>
                <a:ea typeface="微软雅黑" panose="020B0503020204020204" pitchFamily="34" charset="-122"/>
              </a:rPr>
              <a:t>半宽路由专家+全宽共享专家；</a:t>
            </a:r>
            <a:r>
              <a:rPr lang="en-US" altLang="zh-CN" sz="1200" kern="0" dirty="0">
                <a:latin typeface="微软雅黑" panose="020B0503020204020204" pitchFamily="34" charset="-122"/>
                <a:ea typeface="微软雅黑" panose="020B0503020204020204" pitchFamily="34" charset="-122"/>
              </a:rPr>
              <a:t>SiTU-GLU </a:t>
            </a:r>
            <a:r>
              <a:rPr lang="zh-CN" altLang="en-US" sz="1200" kern="0" dirty="0">
                <a:latin typeface="微软雅黑" panose="020B0503020204020204" pitchFamily="34" charset="-122"/>
                <a:ea typeface="微软雅黑" panose="020B0503020204020204" pitchFamily="34" charset="-122"/>
              </a:rPr>
              <a:t>有界激活；分位数负载均衡。</a:t>
            </a:r>
          </a:p>
          <a:p>
            <a:pPr marL="171450" indent="-171450" defTabSz="913130" eaLnBrk="0" fontAlgn="base" hangingPunct="0">
              <a:spcBef>
                <a:spcPct val="0"/>
              </a:spcBef>
              <a:spcAft>
                <a:spcPct val="0"/>
              </a:spcAft>
              <a:buFont typeface="Wingdings" panose="05000000000000000000" pitchFamily="2" charset="2"/>
              <a:buChar char="Ø"/>
              <a:defRPr/>
            </a:pPr>
            <a:r>
              <a:rPr lang="zh-CN" altLang="en-US" sz="1200" kern="0" dirty="0">
                <a:latin typeface="微软雅黑" panose="020B0503020204020204" pitchFamily="34" charset="-122"/>
                <a:ea typeface="微软雅黑" panose="020B0503020204020204" pitchFamily="34" charset="-122"/>
              </a:rPr>
              <a:t>量化：路由专家 </a:t>
            </a:r>
            <a:r>
              <a:rPr lang="en-US" altLang="zh-CN" sz="1200" kern="0" dirty="0">
                <a:latin typeface="微软雅黑" panose="020B0503020204020204" pitchFamily="34" charset="-122"/>
                <a:ea typeface="微软雅黑" panose="020B0503020204020204" pitchFamily="34" charset="-122"/>
              </a:rPr>
              <a:t>MXFP4+</a:t>
            </a:r>
            <a:r>
              <a:rPr lang="zh-CN" altLang="en-US" sz="1200" kern="0" dirty="0">
                <a:latin typeface="微软雅黑" panose="020B0503020204020204" pitchFamily="34" charset="-122"/>
                <a:ea typeface="微软雅黑" panose="020B0503020204020204" pitchFamily="34" charset="-122"/>
              </a:rPr>
              <a:t>激活 </a:t>
            </a:r>
            <a:r>
              <a:rPr lang="en-US" altLang="zh-CN" sz="1200" kern="0" dirty="0">
                <a:latin typeface="微软雅黑" panose="020B0503020204020204" pitchFamily="34" charset="-122"/>
                <a:ea typeface="微软雅黑" panose="020B0503020204020204" pitchFamily="34" charset="-122"/>
              </a:rPr>
              <a:t>MXFP8 QAT，</a:t>
            </a:r>
            <a:r>
              <a:rPr lang="zh-CN" altLang="en-US" sz="1200" kern="0" dirty="0">
                <a:latin typeface="微软雅黑" panose="020B0503020204020204" pitchFamily="34" charset="-122"/>
                <a:ea typeface="微软雅黑" panose="020B0503020204020204" pitchFamily="34" charset="-122"/>
              </a:rPr>
              <a:t>其余 </a:t>
            </a:r>
            <a:r>
              <a:rPr lang="en-US" altLang="zh-CN" sz="1200" kern="0" dirty="0">
                <a:latin typeface="微软雅黑" panose="020B0503020204020204" pitchFamily="34" charset="-122"/>
                <a:ea typeface="微软雅黑" panose="020B0503020204020204" pitchFamily="34" charset="-122"/>
              </a:rPr>
              <a:t>BF16；DSpark </a:t>
            </a:r>
            <a:r>
              <a:rPr lang="zh-CN" altLang="en-US" sz="1200" kern="0" dirty="0">
                <a:latin typeface="微软雅黑" panose="020B0503020204020204" pitchFamily="34" charset="-122"/>
                <a:ea typeface="微软雅黑" panose="020B0503020204020204" pitchFamily="34" charset="-122"/>
              </a:rPr>
              <a:t>投机解码 3.14×。</a:t>
            </a:r>
          </a:p>
        </p:txBody>
      </p:sp>
      <p:sp>
        <p:nvSpPr>
          <p:cNvPr id="23" name="文本框 22"/>
          <p:cNvSpPr txBox="1"/>
          <p:nvPr/>
        </p:nvSpPr>
        <p:spPr>
          <a:xfrm>
            <a:off x="6115685" y="1351280"/>
            <a:ext cx="4065270" cy="184150"/>
          </a:xfrm>
          <a:prstGeom prst="rect">
            <a:avLst/>
          </a:prstGeom>
          <a:noFill/>
        </p:spPr>
        <p:txBody>
          <a:bodyPr wrap="square" lIns="0" tIns="0" rIns="0" bIns="0" rtlCol="0">
            <a:spAutoFit/>
          </a:bodyPr>
          <a:lstStyle/>
          <a:p>
            <a:pPr marL="171450" indent="-171450" algn="l">
              <a:buFont typeface="Wingdings" panose="05000000000000000000" charset="0"/>
              <a:buChar char=""/>
            </a:pPr>
            <a:r>
              <a:rPr kumimoji="1" lang="zh-CN" altLang="en-US" sz="1200" b="1" dirty="0">
                <a:solidFill>
                  <a:srgbClr val="000000"/>
                </a:solidFill>
                <a:latin typeface="微软雅黑" panose="020B0503020204020204" pitchFamily="34" charset="-122"/>
                <a:ea typeface="微软雅黑" panose="020B0503020204020204" pitchFamily="34" charset="-122"/>
              </a:rPr>
              <a:t>架构参数</a:t>
            </a:r>
          </a:p>
        </p:txBody>
      </p:sp>
      <p:sp>
        <p:nvSpPr>
          <p:cNvPr id="24" name="文本框 23"/>
          <p:cNvSpPr txBox="1"/>
          <p:nvPr/>
        </p:nvSpPr>
        <p:spPr>
          <a:xfrm>
            <a:off x="6118225" y="4819015"/>
            <a:ext cx="4065270" cy="184150"/>
          </a:xfrm>
          <a:prstGeom prst="rect">
            <a:avLst/>
          </a:prstGeom>
          <a:noFill/>
        </p:spPr>
        <p:txBody>
          <a:bodyPr wrap="square" lIns="0" tIns="0" rIns="0" bIns="0" rtlCol="0">
            <a:spAutoFit/>
          </a:bodyPr>
          <a:lstStyle/>
          <a:p>
            <a:pPr marL="171450" indent="-171450" algn="l">
              <a:buFont typeface="Wingdings" panose="05000000000000000000" charset="0"/>
              <a:buChar char=""/>
            </a:pPr>
            <a:r>
              <a:rPr kumimoji="1" lang="zh-CN" altLang="en-US" sz="1200" b="1" dirty="0">
                <a:solidFill>
                  <a:srgbClr val="000000"/>
                </a:solidFill>
                <a:latin typeface="微软雅黑" panose="020B0503020204020204" pitchFamily="34" charset="-122"/>
                <a:ea typeface="微软雅黑" panose="020B0503020204020204" pitchFamily="34" charset="-122"/>
              </a:rPr>
              <a:t>参数量</a:t>
            </a:r>
            <a:r>
              <a:rPr kumimoji="1" lang="en-US" altLang="zh-CN" sz="1200" b="1" dirty="0">
                <a:solidFill>
                  <a:srgbClr val="000000"/>
                </a:solidFill>
                <a:latin typeface="微软雅黑" panose="020B0503020204020204" pitchFamily="34" charset="-122"/>
                <a:ea typeface="微软雅黑" panose="020B0503020204020204" pitchFamily="34" charset="-122"/>
              </a:rPr>
              <a:t>/Flops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a:extLst>
              <a:ext uri="{FF2B5EF4-FFF2-40B4-BE49-F238E27FC236}">
                <a16:creationId xmlns:a16="http://schemas.microsoft.com/office/drawing/2014/main" id="{A96F219F-D88C-49C2-A517-08D3564C69B0}"/>
              </a:ext>
            </a:extLst>
          </p:cNvPr>
          <p:cNvSpPr>
            <a:spLocks noGrp="1"/>
          </p:cNvSpPr>
          <p:nvPr/>
        </p:nvSpPr>
        <p:spPr>
          <a:xfrm>
            <a:off x="5082381" y="177800"/>
            <a:ext cx="6654800" cy="177800"/>
          </a:xfrm>
          <a:prstGeom prst="rect">
            <a:avLst/>
          </a:prstGeom>
          <a:noFill/>
          <a:ln>
            <a:noFill/>
          </a:ln>
        </p:spPr>
        <p:txBody>
          <a:bodyPr wrap="none" lIns="0" tIns="0" rIns="0" bIns="0" anchor="ctr"/>
          <a:lstStyle/>
          <a:p>
            <a:pPr algn="r">
              <a:lnSpc>
                <a:spcPct val="120000"/>
              </a:lnSpc>
            </a:pPr>
            <a:r>
              <a:rPr sz="800">
                <a:solidFill>
                  <a:srgbClr val="737373"/>
                </a:solidFill>
                <a:latin typeface="微软雅黑"/>
                <a:ea typeface="微软雅黑"/>
                <a:cs typeface="微软雅黑"/>
              </a:rPr>
              <a:t>资料来源：Kimi K3 Technical Report §2.1.1 / §5.1；vllm / vllm-ascend 代码仓</a:t>
            </a:r>
            <a:endParaRPr sz="800">
              <a:solidFill>
                <a:srgbClr val="000000"/>
              </a:solidFill>
              <a:latin typeface="MiSans"/>
            </a:endParaRPr>
          </a:p>
        </p:txBody>
      </p:sp>
      <p:sp>
        <p:nvSpPr>
          <p:cNvPr id="3" name="title">
            <a:extLst>
              <a:ext uri="{FF2B5EF4-FFF2-40B4-BE49-F238E27FC236}">
                <a16:creationId xmlns:a16="http://schemas.microsoft.com/office/drawing/2014/main" id="{0048C2D1-5F78-4D12-A0F4-21C53FE8D969}"/>
              </a:ext>
            </a:extLst>
          </p:cNvPr>
          <p:cNvSpPr>
            <a:spLocks noGrp="1"/>
          </p:cNvSpPr>
          <p:nvPr/>
        </p:nvSpPr>
        <p:spPr>
          <a:xfrm>
            <a:off x="561181" y="228600"/>
            <a:ext cx="11176000" cy="381000"/>
          </a:xfrm>
          <a:prstGeom prst="rect">
            <a:avLst/>
          </a:prstGeom>
          <a:noFill/>
          <a:ln>
            <a:noFill/>
          </a:ln>
        </p:spPr>
        <p:txBody>
          <a:bodyPr wrap="none" lIns="0" tIns="0" rIns="0" bIns="0" anchor="ctr"/>
          <a:lstStyle/>
          <a:p>
            <a:pPr>
              <a:lnSpc>
                <a:spcPct val="120000"/>
              </a:lnSpc>
            </a:pPr>
            <a:r>
              <a:rPr b="1" dirty="0">
                <a:solidFill>
                  <a:srgbClr val="C00000"/>
                </a:solidFill>
                <a:latin typeface="微软雅黑"/>
                <a:ea typeface="微软雅黑"/>
                <a:cs typeface="微软雅黑"/>
              </a:rPr>
              <a:t>Kimi Delta </a:t>
            </a:r>
            <a:r>
              <a:rPr b="1" dirty="0" err="1">
                <a:solidFill>
                  <a:srgbClr val="C00000"/>
                </a:solidFill>
                <a:latin typeface="微软雅黑"/>
                <a:ea typeface="微软雅黑"/>
                <a:cs typeface="微软雅黑"/>
              </a:rPr>
              <a:t>Attention（KDA</a:t>
            </a:r>
            <a:r>
              <a:rPr b="1" dirty="0">
                <a:solidFill>
                  <a:srgbClr val="C00000"/>
                </a:solidFill>
                <a:latin typeface="微软雅黑"/>
                <a:ea typeface="微软雅黑"/>
                <a:cs typeface="微软雅黑"/>
              </a:rPr>
              <a:t>）：</a:t>
            </a:r>
            <a:r>
              <a:rPr b="1" dirty="0" err="1">
                <a:solidFill>
                  <a:srgbClr val="C00000"/>
                </a:solidFill>
                <a:latin typeface="微软雅黑"/>
                <a:ea typeface="微软雅黑"/>
                <a:cs typeface="微软雅黑"/>
              </a:rPr>
              <a:t>逐通道遗忘门</a:t>
            </a:r>
            <a:r>
              <a:rPr b="1" dirty="0">
                <a:solidFill>
                  <a:srgbClr val="C00000"/>
                </a:solidFill>
                <a:latin typeface="微软雅黑"/>
                <a:ea typeface="微软雅黑"/>
                <a:cs typeface="微软雅黑"/>
              </a:rPr>
              <a:t> × Delta </a:t>
            </a:r>
            <a:r>
              <a:rPr b="1" dirty="0" err="1">
                <a:solidFill>
                  <a:srgbClr val="C00000"/>
                </a:solidFill>
                <a:latin typeface="微软雅黑"/>
                <a:ea typeface="微软雅黑"/>
                <a:cs typeface="微软雅黑"/>
              </a:rPr>
              <a:t>规则的线性注意力</a:t>
            </a:r>
            <a:endParaRPr dirty="0">
              <a:solidFill>
                <a:srgbClr val="000000"/>
              </a:solidFill>
              <a:latin typeface="MiSans"/>
            </a:endParaRPr>
          </a:p>
        </p:txBody>
      </p:sp>
      <p:sp>
        <p:nvSpPr>
          <p:cNvPr id="4" name="concl-label-bg">
            <a:extLst>
              <a:ext uri="{FF2B5EF4-FFF2-40B4-BE49-F238E27FC236}">
                <a16:creationId xmlns:a16="http://schemas.microsoft.com/office/drawing/2014/main" id="{99085C38-FB8B-434F-AEB5-C6D272AC0FD9}"/>
              </a:ext>
            </a:extLst>
          </p:cNvPr>
          <p:cNvSpPr>
            <a:spLocks noGrp="1"/>
          </p:cNvSpPr>
          <p:nvPr/>
        </p:nvSpPr>
        <p:spPr>
          <a:xfrm>
            <a:off x="561181" y="736600"/>
            <a:ext cx="1117600" cy="1333500"/>
          </a:xfrm>
          <a:prstGeom prst="rect">
            <a:avLst/>
          </a:prstGeom>
          <a:solidFill>
            <a:srgbClr val="C00000"/>
          </a:solidFill>
          <a:ln>
            <a:noFill/>
          </a:ln>
        </p:spPr>
      </p:sp>
      <p:sp>
        <p:nvSpPr>
          <p:cNvPr id="5" name="concl-label">
            <a:extLst>
              <a:ext uri="{FF2B5EF4-FFF2-40B4-BE49-F238E27FC236}">
                <a16:creationId xmlns:a16="http://schemas.microsoft.com/office/drawing/2014/main" id="{0FC6E042-18E6-4BB0-9E02-94705CDB7F6B}"/>
              </a:ext>
            </a:extLst>
          </p:cNvPr>
          <p:cNvSpPr>
            <a:spLocks noGrp="1"/>
          </p:cNvSpPr>
          <p:nvPr/>
        </p:nvSpPr>
        <p:spPr>
          <a:xfrm>
            <a:off x="561181" y="736600"/>
            <a:ext cx="1117600" cy="1397000"/>
          </a:xfrm>
          <a:prstGeom prst="rect">
            <a:avLst/>
          </a:prstGeom>
          <a:noFill/>
          <a:ln>
            <a:noFill/>
          </a:ln>
        </p:spPr>
        <p:txBody>
          <a:bodyPr wrap="square" lIns="0" tIns="0" rIns="0" bIns="0" anchor="ctr"/>
          <a:lstStyle/>
          <a:p>
            <a:pPr algn="ctr">
              <a:lnSpc>
                <a:spcPct val="120000"/>
              </a:lnSpc>
            </a:pPr>
            <a:r>
              <a:rPr sz="1400" b="1">
                <a:solidFill>
                  <a:srgbClr val="FFFFFF"/>
                </a:solidFill>
                <a:latin typeface="微软雅黑"/>
                <a:ea typeface="微软雅黑"/>
                <a:cs typeface="微软雅黑"/>
              </a:rPr>
              <a:t>分析</a:t>
            </a:r>
            <a:endParaRPr sz="1400">
              <a:solidFill>
                <a:srgbClr val="000000"/>
              </a:solidFill>
              <a:latin typeface="MiSans"/>
            </a:endParaRPr>
          </a:p>
          <a:p>
            <a:pPr algn="ctr">
              <a:lnSpc>
                <a:spcPct val="120000"/>
              </a:lnSpc>
            </a:pPr>
            <a:r>
              <a:rPr sz="1400" b="1">
                <a:solidFill>
                  <a:srgbClr val="FFFFFF"/>
                </a:solidFill>
                <a:latin typeface="微软雅黑"/>
                <a:ea typeface="微软雅黑"/>
                <a:cs typeface="微软雅黑"/>
              </a:rPr>
              <a:t>结论</a:t>
            </a:r>
            <a:endParaRPr sz="1400">
              <a:solidFill>
                <a:srgbClr val="000000"/>
              </a:solidFill>
              <a:latin typeface="MiSans"/>
            </a:endParaRPr>
          </a:p>
        </p:txBody>
      </p:sp>
      <p:sp>
        <p:nvSpPr>
          <p:cNvPr id="6" name="concl-body-bg">
            <a:extLst>
              <a:ext uri="{FF2B5EF4-FFF2-40B4-BE49-F238E27FC236}">
                <a16:creationId xmlns:a16="http://schemas.microsoft.com/office/drawing/2014/main" id="{9DE85440-6D33-4834-AE1A-694247E6FC77}"/>
              </a:ext>
            </a:extLst>
          </p:cNvPr>
          <p:cNvSpPr>
            <a:spLocks noGrp="1"/>
          </p:cNvSpPr>
          <p:nvPr/>
        </p:nvSpPr>
        <p:spPr>
          <a:xfrm>
            <a:off x="1780381" y="736600"/>
            <a:ext cx="9956800" cy="1397000"/>
          </a:xfrm>
          <a:prstGeom prst="rect">
            <a:avLst/>
          </a:prstGeom>
          <a:solidFill>
            <a:srgbClr val="F2F2F2"/>
          </a:solidFill>
          <a:ln>
            <a:noFill/>
          </a:ln>
        </p:spPr>
      </p:sp>
      <p:sp>
        <p:nvSpPr>
          <p:cNvPr id="7" name="concl-bullets">
            <a:extLst>
              <a:ext uri="{FF2B5EF4-FFF2-40B4-BE49-F238E27FC236}">
                <a16:creationId xmlns:a16="http://schemas.microsoft.com/office/drawing/2014/main" id="{D1A5D935-B05B-48C2-BC11-348B3BA7DB4B}"/>
              </a:ext>
            </a:extLst>
          </p:cNvPr>
          <p:cNvSpPr>
            <a:spLocks noGrp="1"/>
          </p:cNvSpPr>
          <p:nvPr/>
        </p:nvSpPr>
        <p:spPr>
          <a:xfrm>
            <a:off x="1831181" y="800100"/>
            <a:ext cx="9779000" cy="1270000"/>
          </a:xfrm>
          <a:prstGeom prst="rect">
            <a:avLst/>
          </a:prstGeom>
          <a:noFill/>
          <a:ln>
            <a:noFill/>
          </a:ln>
        </p:spPr>
        <p:txBody>
          <a:bodyPr wrap="square" lIns="0" tIns="0" rIns="0" bIns="0" anchor="ctr"/>
          <a:lstStyle/>
          <a:p>
            <a:pPr marL="171450" indent="-171450" defTabSz="913130" eaLnBrk="0" fontAlgn="base" hangingPunct="0">
              <a:lnSpc>
                <a:spcPct val="135000"/>
              </a:lnSpc>
              <a:spcBef>
                <a:spcPct val="0"/>
              </a:spcBef>
              <a:spcAft>
                <a:spcPct val="0"/>
              </a:spcAft>
              <a:buFont typeface="Wingdings" panose="05000000000000000000" pitchFamily="2" charset="2"/>
              <a:buChar char="Ø"/>
              <a:defRPr/>
            </a:pPr>
            <a:r>
              <a:rPr sz="1200" kern="0" dirty="0" err="1">
                <a:latin typeface="微软雅黑" panose="020B0503020204020204" pitchFamily="34" charset="-122"/>
                <a:ea typeface="微软雅黑" panose="020B0503020204020204" pitchFamily="34" charset="-122"/>
              </a:rPr>
              <a:t>结构定位：开源</a:t>
            </a:r>
            <a:r>
              <a:rPr sz="1200" kern="0" dirty="0">
                <a:latin typeface="微软雅黑" panose="020B0503020204020204" pitchFamily="34" charset="-122"/>
                <a:ea typeface="微软雅黑" panose="020B0503020204020204" pitchFamily="34" charset="-122"/>
              </a:rPr>
              <a:t> config </a:t>
            </a:r>
            <a:r>
              <a:rPr sz="1200" kern="0" dirty="0" err="1">
                <a:latin typeface="微软雅黑" panose="020B0503020204020204" pitchFamily="34" charset="-122"/>
                <a:ea typeface="微软雅黑" panose="020B0503020204020204" pitchFamily="34" charset="-122"/>
              </a:rPr>
              <a:t>校准为</a:t>
            </a:r>
            <a:r>
              <a:rPr sz="1200" kern="0" dirty="0">
                <a:latin typeface="微软雅黑" panose="020B0503020204020204" pitchFamily="34" charset="-122"/>
                <a:ea typeface="微软雅黑" panose="020B0503020204020204" pitchFamily="34" charset="-122"/>
              </a:rPr>
              <a:t> 93 层注意力（69 KDA + 24 MLA）：23 </a:t>
            </a:r>
            <a:r>
              <a:rPr sz="1200" kern="0" dirty="0" err="1">
                <a:latin typeface="微软雅黑" panose="020B0503020204020204" pitchFamily="34" charset="-122"/>
                <a:ea typeface="微软雅黑" panose="020B0503020204020204" pitchFamily="34" charset="-122"/>
              </a:rPr>
              <a:t>个模式块</a:t>
            </a:r>
            <a:r>
              <a:rPr sz="1200" kern="0" dirty="0">
                <a:latin typeface="微软雅黑" panose="020B0503020204020204" pitchFamily="34" charset="-122"/>
                <a:ea typeface="微软雅黑" panose="020B0503020204020204" pitchFamily="34" charset="-122"/>
              </a:rPr>
              <a:t>×(3 KDA+1 MLA)</a:t>
            </a:r>
            <a:r>
              <a:rPr sz="1200" kern="0" dirty="0" err="1">
                <a:latin typeface="微软雅黑" panose="020B0503020204020204" pitchFamily="34" charset="-122"/>
                <a:ea typeface="微软雅黑" panose="020B0503020204020204" pitchFamily="34" charset="-122"/>
              </a:rPr>
              <a:t>再加末端</a:t>
            </a:r>
            <a:r>
              <a:rPr sz="1200" kern="0" dirty="0">
                <a:latin typeface="微软雅黑" panose="020B0503020204020204" pitchFamily="34" charset="-122"/>
                <a:ea typeface="微软雅黑" panose="020B0503020204020204" pitchFamily="34" charset="-122"/>
              </a:rPr>
              <a:t> Gated </a:t>
            </a:r>
            <a:r>
              <a:rPr sz="1200" kern="0" dirty="0" err="1">
                <a:latin typeface="微软雅黑" panose="020B0503020204020204" pitchFamily="34" charset="-122"/>
                <a:ea typeface="微软雅黑" panose="020B0503020204020204" pitchFamily="34" charset="-122"/>
              </a:rPr>
              <a:t>MLA；每层后接</a:t>
            </a:r>
            <a:r>
              <a:rPr sz="1200" kern="0" dirty="0">
                <a:latin typeface="微软雅黑" panose="020B0503020204020204" pitchFamily="34" charset="-122"/>
                <a:ea typeface="微软雅黑" panose="020B0503020204020204" pitchFamily="34" charset="-122"/>
              </a:rPr>
              <a:t> Stable </a:t>
            </a:r>
            <a:r>
              <a:rPr sz="1200" kern="0" dirty="0" err="1">
                <a:latin typeface="微软雅黑" panose="020B0503020204020204" pitchFamily="34" charset="-122"/>
                <a:ea typeface="微软雅黑" panose="020B0503020204020204" pitchFamily="34" charset="-122"/>
              </a:rPr>
              <a:t>LatentMoE</a:t>
            </a:r>
            <a:r>
              <a:rPr sz="1200" kern="0" dirty="0">
                <a:latin typeface="微软雅黑" panose="020B0503020204020204" pitchFamily="34" charset="-122"/>
                <a:ea typeface="微软雅黑" panose="020B0503020204020204" pitchFamily="34" charset="-122"/>
              </a:rPr>
              <a:t>。</a:t>
            </a:r>
          </a:p>
          <a:p>
            <a:pPr marL="171450" indent="-171450" defTabSz="913130" eaLnBrk="0" fontAlgn="base" hangingPunct="0">
              <a:lnSpc>
                <a:spcPct val="135000"/>
              </a:lnSpc>
              <a:spcBef>
                <a:spcPct val="0"/>
              </a:spcBef>
              <a:spcAft>
                <a:spcPct val="0"/>
              </a:spcAft>
              <a:buFont typeface="Wingdings" panose="05000000000000000000" pitchFamily="2" charset="2"/>
              <a:buChar char="Ø"/>
              <a:defRPr/>
            </a:pPr>
            <a:r>
              <a:rPr sz="1200" kern="0" dirty="0" err="1">
                <a:latin typeface="微软雅黑" panose="020B0503020204020204" pitchFamily="34" charset="-122"/>
                <a:ea typeface="微软雅黑" panose="020B0503020204020204" pitchFamily="34" charset="-122"/>
              </a:rPr>
              <a:t>数值稳定：g</a:t>
            </a:r>
            <a:r>
              <a:rPr sz="1200" kern="0" dirty="0">
                <a:latin typeface="微软雅黑" panose="020B0503020204020204" pitchFamily="34" charset="-122"/>
                <a:ea typeface="微软雅黑" panose="020B0503020204020204" pitchFamily="34" charset="-122"/>
              </a:rPr>
              <a:t>=</a:t>
            </a:r>
            <a:r>
              <a:rPr sz="1200" kern="0" dirty="0" err="1">
                <a:latin typeface="微软雅黑" panose="020B0503020204020204" pitchFamily="34" charset="-122"/>
                <a:ea typeface="微软雅黑" panose="020B0503020204020204" pitchFamily="34" charset="-122"/>
              </a:rPr>
              <a:t>gmin·σ</a:t>
            </a:r>
            <a:r>
              <a:rPr sz="1200" kern="0" dirty="0">
                <a:latin typeface="微软雅黑" panose="020B0503020204020204" pitchFamily="34" charset="-122"/>
                <a:ea typeface="微软雅黑" panose="020B0503020204020204" pitchFamily="34" charset="-122"/>
              </a:rPr>
              <a:t>(</a:t>
            </a:r>
            <a:r>
              <a:rPr sz="1200" kern="0" dirty="0" err="1">
                <a:latin typeface="微软雅黑" panose="020B0503020204020204" pitchFamily="34" charset="-122"/>
                <a:ea typeface="微软雅黑" panose="020B0503020204020204" pitchFamily="34" charset="-122"/>
              </a:rPr>
              <a:t>e^A·z</a:t>
            </a:r>
            <a:r>
              <a:rPr sz="1200" kern="0" dirty="0">
                <a:latin typeface="微软雅黑" panose="020B0503020204020204" pitchFamily="34" charset="-122"/>
                <a:ea typeface="微软雅黑" panose="020B0503020204020204" pitchFamily="34" charset="-122"/>
              </a:rPr>
              <a:t>)，</a:t>
            </a:r>
            <a:r>
              <a:rPr sz="1200" kern="0" dirty="0" err="1">
                <a:latin typeface="微软雅黑" panose="020B0503020204020204" pitchFamily="34" charset="-122"/>
                <a:ea typeface="微软雅黑" panose="020B0503020204020204" pitchFamily="34" charset="-122"/>
              </a:rPr>
              <a:t>gmin</a:t>
            </a:r>
            <a:r>
              <a:rPr sz="1200" kern="0" dirty="0">
                <a:latin typeface="微软雅黑" panose="020B0503020204020204" pitchFamily="34" charset="-122"/>
                <a:ea typeface="微软雅黑" panose="020B0503020204020204" pitchFamily="34" charset="-122"/>
              </a:rPr>
              <a:t>=−5；16-token tile </a:t>
            </a:r>
            <a:r>
              <a:rPr sz="1200" kern="0" dirty="0" err="1">
                <a:latin typeface="微软雅黑" panose="020B0503020204020204" pitchFamily="34" charset="-122"/>
                <a:ea typeface="微软雅黑" panose="020B0503020204020204" pitchFamily="34" charset="-122"/>
              </a:rPr>
              <a:t>的累计</a:t>
            </a:r>
            <a:r>
              <a:rPr sz="1200" kern="0" dirty="0">
                <a:latin typeface="微软雅黑" panose="020B0503020204020204" pitchFamily="34" charset="-122"/>
                <a:ea typeface="微软雅黑" panose="020B0503020204020204" pitchFamily="34" charset="-122"/>
              </a:rPr>
              <a:t> log-decay∈(−80,0)，BF16 </a:t>
            </a:r>
            <a:r>
              <a:rPr sz="1200" kern="0" dirty="0" err="1">
                <a:latin typeface="微软雅黑" panose="020B0503020204020204" pitchFamily="34" charset="-122"/>
                <a:ea typeface="微软雅黑" panose="020B0503020204020204" pitchFamily="34" charset="-122"/>
              </a:rPr>
              <a:t>可保持稳定</a:t>
            </a:r>
            <a:r>
              <a:rPr sz="1200" kern="0" dirty="0">
                <a:latin typeface="微软雅黑" panose="020B0503020204020204" pitchFamily="34" charset="-122"/>
                <a:ea typeface="微软雅黑" panose="020B0503020204020204" pitchFamily="34" charset="-122"/>
              </a:rPr>
              <a:t>。</a:t>
            </a:r>
          </a:p>
          <a:p>
            <a:pPr marL="171450" indent="-171450" defTabSz="913130" eaLnBrk="0" fontAlgn="base" hangingPunct="0">
              <a:lnSpc>
                <a:spcPct val="135000"/>
              </a:lnSpc>
              <a:spcBef>
                <a:spcPct val="0"/>
              </a:spcBef>
              <a:spcAft>
                <a:spcPct val="0"/>
              </a:spcAft>
              <a:buFont typeface="Wingdings" panose="05000000000000000000" pitchFamily="2" charset="2"/>
              <a:buChar char="Ø"/>
              <a:defRPr/>
            </a:pPr>
            <a:r>
              <a:rPr sz="1200" kern="0" dirty="0" err="1">
                <a:latin typeface="微软雅黑" panose="020B0503020204020204" pitchFamily="34" charset="-122"/>
                <a:ea typeface="微软雅黑" panose="020B0503020204020204" pitchFamily="34" charset="-122"/>
              </a:rPr>
              <a:t>推理负载：prefill</a:t>
            </a:r>
            <a:r>
              <a:rPr sz="1200" kern="0" dirty="0">
                <a:latin typeface="微软雅黑" panose="020B0503020204020204" pitchFamily="34" charset="-122"/>
                <a:ea typeface="微软雅黑" panose="020B0503020204020204" pitchFamily="34" charset="-122"/>
              </a:rPr>
              <a:t> 在 C=64 chunk </a:t>
            </a:r>
            <a:r>
              <a:rPr sz="1200" kern="0" dirty="0" err="1">
                <a:latin typeface="微软雅黑" panose="020B0503020204020204" pitchFamily="34" charset="-122"/>
                <a:ea typeface="微软雅黑" panose="020B0503020204020204" pitchFamily="34" charset="-122"/>
              </a:rPr>
              <a:t>内并行，decode</a:t>
            </a:r>
            <a:r>
              <a:rPr sz="1200" kern="0" dirty="0">
                <a:latin typeface="微软雅黑" panose="020B0503020204020204" pitchFamily="34" charset="-122"/>
                <a:ea typeface="微软雅黑" panose="020B0503020204020204" pitchFamily="34" charset="-122"/>
              </a:rPr>
              <a:t> 以 S </a:t>
            </a:r>
            <a:r>
              <a:rPr sz="1200" kern="0" dirty="0" err="1">
                <a:latin typeface="微软雅黑" panose="020B0503020204020204" pitchFamily="34" charset="-122"/>
                <a:ea typeface="微软雅黑" panose="020B0503020204020204" pitchFamily="34" charset="-122"/>
              </a:rPr>
              <a:t>原地更新；若</a:t>
            </a:r>
            <a:r>
              <a:rPr sz="1200" kern="0" dirty="0">
                <a:latin typeface="微软雅黑" panose="020B0503020204020204" pitchFamily="34" charset="-122"/>
                <a:ea typeface="微软雅黑" panose="020B0503020204020204" pitchFamily="34" charset="-122"/>
              </a:rPr>
              <a:t> dk=dv=128，单层状态约3.0MB、69层约217MB，状态不随 L </a:t>
            </a:r>
            <a:r>
              <a:rPr sz="1200" kern="0" dirty="0" err="1">
                <a:latin typeface="微软雅黑" panose="020B0503020204020204" pitchFamily="34" charset="-122"/>
                <a:ea typeface="微软雅黑" panose="020B0503020204020204" pitchFamily="34" charset="-122"/>
              </a:rPr>
              <a:t>增长</a:t>
            </a:r>
            <a:r>
              <a:rPr sz="1200" kern="0" dirty="0">
                <a:latin typeface="微软雅黑" panose="020B0503020204020204" pitchFamily="34" charset="-122"/>
                <a:ea typeface="微软雅黑" panose="020B0503020204020204" pitchFamily="34" charset="-122"/>
              </a:rPr>
              <a:t>。</a:t>
            </a:r>
          </a:p>
          <a:p>
            <a:pPr marL="171450" indent="-171450" defTabSz="913130" eaLnBrk="0" fontAlgn="base" hangingPunct="0">
              <a:lnSpc>
                <a:spcPct val="135000"/>
              </a:lnSpc>
              <a:spcBef>
                <a:spcPct val="0"/>
              </a:spcBef>
              <a:spcAft>
                <a:spcPct val="0"/>
              </a:spcAft>
              <a:buFont typeface="Wingdings" panose="05000000000000000000" pitchFamily="2" charset="2"/>
              <a:buChar char="Ø"/>
              <a:defRPr/>
            </a:pPr>
            <a:r>
              <a:rPr sz="1200" kern="0" dirty="0" err="1">
                <a:latin typeface="微软雅黑" panose="020B0503020204020204" pitchFamily="34" charset="-122"/>
                <a:ea typeface="微软雅黑" panose="020B0503020204020204" pitchFamily="34" charset="-122"/>
              </a:rPr>
              <a:t>硬件含义：全秩门控引入</a:t>
            </a:r>
            <a:r>
              <a:rPr sz="1200" kern="0" dirty="0">
                <a:latin typeface="微软雅黑" panose="020B0503020204020204" pitchFamily="34" charset="-122"/>
                <a:ea typeface="微软雅黑" panose="020B0503020204020204" pitchFamily="34" charset="-122"/>
              </a:rPr>
              <a:t> </a:t>
            </a:r>
            <a:r>
              <a:rPr sz="1200" kern="0" dirty="0" err="1">
                <a:latin typeface="微软雅黑" panose="020B0503020204020204" pitchFamily="34" charset="-122"/>
                <a:ea typeface="微软雅黑" panose="020B0503020204020204" pitchFamily="34" charset="-122"/>
              </a:rPr>
              <a:t>d→d</a:t>
            </a:r>
            <a:r>
              <a:rPr sz="1200" kern="0" dirty="0">
                <a:latin typeface="微软雅黑" panose="020B0503020204020204" pitchFamily="34" charset="-122"/>
                <a:ea typeface="微软雅黑" panose="020B0503020204020204" pitchFamily="34" charset="-122"/>
              </a:rPr>
              <a:t> GEMM，CUBE </a:t>
            </a:r>
            <a:r>
              <a:rPr sz="1200" kern="0" dirty="0" err="1">
                <a:latin typeface="微软雅黑" panose="020B0503020204020204" pitchFamily="34" charset="-122"/>
                <a:ea typeface="微软雅黑" panose="020B0503020204020204" pitchFamily="34" charset="-122"/>
              </a:rPr>
              <a:t>占比上升；Vector</a:t>
            </a:r>
            <a:r>
              <a:rPr sz="1200" kern="0" dirty="0">
                <a:latin typeface="微软雅黑" panose="020B0503020204020204" pitchFamily="34" charset="-122"/>
                <a:ea typeface="微软雅黑" panose="020B0503020204020204" pitchFamily="34" charset="-122"/>
              </a:rPr>
              <a:t> 的 gate/</a:t>
            </a:r>
            <a:r>
              <a:rPr sz="1200" kern="0" dirty="0" err="1">
                <a:latin typeface="微软雅黑" panose="020B0503020204020204" pitchFamily="34" charset="-122"/>
                <a:ea typeface="微软雅黑" panose="020B0503020204020204" pitchFamily="34" charset="-122"/>
              </a:rPr>
              <a:t>cumsum</a:t>
            </a:r>
            <a:r>
              <a:rPr sz="1200" kern="0" dirty="0">
                <a:latin typeface="微软雅黑" panose="020B0503020204020204" pitchFamily="34" charset="-122"/>
                <a:ea typeface="微软雅黑" panose="020B0503020204020204" pitchFamily="34" charset="-122"/>
              </a:rPr>
              <a:t>/</a:t>
            </a:r>
            <a:r>
              <a:rPr sz="1200" kern="0" dirty="0" err="1">
                <a:latin typeface="微软雅黑" panose="020B0503020204020204" pitchFamily="34" charset="-122"/>
                <a:ea typeface="微软雅黑" panose="020B0503020204020204" pitchFamily="34" charset="-122"/>
              </a:rPr>
              <a:t>归一化需与</a:t>
            </a:r>
            <a:r>
              <a:rPr sz="1200" kern="0" dirty="0">
                <a:latin typeface="微软雅黑" panose="020B0503020204020204" pitchFamily="34" charset="-122"/>
                <a:ea typeface="微软雅黑" panose="020B0503020204020204" pitchFamily="34" charset="-122"/>
              </a:rPr>
              <a:t> CUBE </a:t>
            </a:r>
            <a:r>
              <a:rPr sz="1200" kern="0" dirty="0" err="1">
                <a:latin typeface="微软雅黑" panose="020B0503020204020204" pitchFamily="34" charset="-122"/>
                <a:ea typeface="微软雅黑" panose="020B0503020204020204" pitchFamily="34" charset="-122"/>
              </a:rPr>
              <a:t>片上流水</a:t>
            </a:r>
            <a:r>
              <a:rPr sz="1200" kern="0" dirty="0">
                <a:latin typeface="微软雅黑" panose="020B0503020204020204" pitchFamily="34" charset="-122"/>
                <a:ea typeface="微软雅黑" panose="020B0503020204020204" pitchFamily="34" charset="-122"/>
              </a:rPr>
              <a:t>。</a:t>
            </a:r>
          </a:p>
        </p:txBody>
      </p:sp>
      <p:sp>
        <p:nvSpPr>
          <p:cNvPr id="8" name="arch-label">
            <a:extLst>
              <a:ext uri="{FF2B5EF4-FFF2-40B4-BE49-F238E27FC236}">
                <a16:creationId xmlns:a16="http://schemas.microsoft.com/office/drawing/2014/main" id="{879ACEB0-12B5-4DC1-932C-23A85215CFEC}"/>
              </a:ext>
            </a:extLst>
          </p:cNvPr>
          <p:cNvSpPr>
            <a:spLocks noGrp="1"/>
          </p:cNvSpPr>
          <p:nvPr/>
        </p:nvSpPr>
        <p:spPr>
          <a:xfrm>
            <a:off x="561181" y="2286000"/>
            <a:ext cx="254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模块结构与数据流</a:t>
            </a:r>
            <a:endParaRPr sz="1200">
              <a:solidFill>
                <a:srgbClr val="000000"/>
              </a:solidFill>
              <a:latin typeface="MiSans"/>
            </a:endParaRPr>
          </a:p>
        </p:txBody>
      </p:sp>
      <p:sp>
        <p:nvSpPr>
          <p:cNvPr id="9" name="legend-box">
            <a:extLst>
              <a:ext uri="{FF2B5EF4-FFF2-40B4-BE49-F238E27FC236}">
                <a16:creationId xmlns:a16="http://schemas.microsoft.com/office/drawing/2014/main" id="{115F7F4E-22E9-494E-A86F-B0DC29702D1B}"/>
              </a:ext>
            </a:extLst>
          </p:cNvPr>
          <p:cNvSpPr>
            <a:spLocks noGrp="1"/>
          </p:cNvSpPr>
          <p:nvPr/>
        </p:nvSpPr>
        <p:spPr>
          <a:xfrm>
            <a:off x="2923381" y="2324100"/>
            <a:ext cx="127000" cy="127000"/>
          </a:xfrm>
          <a:prstGeom prst="rect">
            <a:avLst/>
          </a:prstGeom>
          <a:solidFill>
            <a:srgbClr val="FFFFFF"/>
          </a:solidFill>
          <a:ln w="12700">
            <a:solidFill>
              <a:srgbClr val="C00000"/>
            </a:solidFill>
          </a:ln>
        </p:spPr>
      </p:sp>
      <p:sp>
        <p:nvSpPr>
          <p:cNvPr id="10" name="legend-text">
            <a:extLst>
              <a:ext uri="{FF2B5EF4-FFF2-40B4-BE49-F238E27FC236}">
                <a16:creationId xmlns:a16="http://schemas.microsoft.com/office/drawing/2014/main" id="{C63E1D15-0143-4EB6-BC09-E04A6E63ED3C}"/>
              </a:ext>
            </a:extLst>
          </p:cNvPr>
          <p:cNvSpPr>
            <a:spLocks noGrp="1"/>
          </p:cNvSpPr>
          <p:nvPr/>
        </p:nvSpPr>
        <p:spPr>
          <a:xfrm>
            <a:off x="3101181" y="2286000"/>
            <a:ext cx="2794000" cy="177800"/>
          </a:xfrm>
          <a:prstGeom prst="rect">
            <a:avLst/>
          </a:prstGeom>
          <a:noFill/>
          <a:ln>
            <a:noFill/>
          </a:ln>
        </p:spPr>
        <p:txBody>
          <a:bodyPr wrap="none" lIns="0" tIns="0" rIns="0" bIns="0" anchor="ctr"/>
          <a:lstStyle/>
          <a:p>
            <a:pPr>
              <a:lnSpc>
                <a:spcPct val="120000"/>
              </a:lnSpc>
            </a:pPr>
            <a:r>
              <a:rPr sz="800">
                <a:solidFill>
                  <a:srgbClr val="737373"/>
                </a:solidFill>
                <a:latin typeface="微软雅黑"/>
                <a:ea typeface="微软雅黑"/>
                <a:cs typeface="微软雅黑"/>
              </a:rPr>
              <a:t>红框 = K3 相对 Kimi Linear 的改动</a:t>
            </a:r>
            <a:endParaRPr sz="800">
              <a:solidFill>
                <a:srgbClr val="000000"/>
              </a:solidFill>
              <a:latin typeface="MiSans"/>
            </a:endParaRPr>
          </a:p>
        </p:txBody>
      </p:sp>
      <p:pic>
        <p:nvPicPr>
          <p:cNvPr id="28" name="arch-figure"/>
          <p:cNvPicPr>
            <a:picLocks noChangeAspect="1"/>
          </p:cNvPicPr>
          <p:nvPr/>
        </p:nvPicPr>
        <p:blipFill>
          <a:blip r:embed="rId3"/>
          <a:stretch/>
        </p:blipFill>
        <p:spPr>
          <a:xfrm>
            <a:off x="463352" y="2507088"/>
            <a:ext cx="5380313" cy="2768600"/>
          </a:xfrm>
          <a:prstGeom prst="rect">
            <a:avLst/>
          </a:prstGeom>
          <a:ln>
            <a:noFill/>
          </a:ln>
        </p:spPr>
      </p:pic>
      <p:sp>
        <p:nvSpPr>
          <p:cNvPr id="12" name="param-label">
            <a:extLst>
              <a:ext uri="{FF2B5EF4-FFF2-40B4-BE49-F238E27FC236}">
                <a16:creationId xmlns:a16="http://schemas.microsoft.com/office/drawing/2014/main" id="{FA5536D1-6729-4CB2-B9C1-1EFF1A20A9B6}"/>
              </a:ext>
            </a:extLst>
          </p:cNvPr>
          <p:cNvSpPr>
            <a:spLocks noGrp="1"/>
          </p:cNvSpPr>
          <p:nvPr/>
        </p:nvSpPr>
        <p:spPr>
          <a:xfrm>
            <a:off x="6199981" y="2286000"/>
            <a:ext cx="381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各阶段负载与昇腾诉求</a:t>
            </a:r>
            <a:endParaRPr sz="1200">
              <a:solidFill>
                <a:srgbClr val="000000"/>
              </a:solidFill>
              <a:latin typeface="MiSans"/>
            </a:endParaRPr>
          </a:p>
        </p:txBody>
      </p:sp>
      <p:graphicFrame>
        <p:nvGraphicFramePr>
          <p:cNvPr id="30" name="param-table"/>
          <p:cNvGraphicFramePr/>
          <p:nvPr>
            <p:extLst>
              <p:ext uri="{D42A27DB-BD31-4B8C-83A1-F6EECF244321}">
                <p14:modId xmlns:p14="http://schemas.microsoft.com/office/powerpoint/2010/main" val="771583504"/>
              </p:ext>
            </p:extLst>
          </p:nvPr>
        </p:nvGraphicFramePr>
        <p:xfrm>
          <a:off x="6176865" y="2641600"/>
          <a:ext cx="5560316" cy="2694940"/>
        </p:xfrm>
        <a:graphic>
          <a:graphicData uri="http://schemas.openxmlformats.org/drawingml/2006/table">
            <a:tbl>
              <a:tblPr/>
              <a:tblGrid>
                <a:gridCol w="1352044">
                  <a:extLst>
                    <a:ext uri="{9D8B030D-6E8A-4147-A177-3AD203B41FA5}">
                      <a16:colId xmlns:a16="http://schemas.microsoft.com/office/drawing/2014/main" val="20000"/>
                    </a:ext>
                  </a:extLst>
                </a:gridCol>
                <a:gridCol w="1439672">
                  <a:extLst>
                    <a:ext uri="{9D8B030D-6E8A-4147-A177-3AD203B41FA5}">
                      <a16:colId xmlns:a16="http://schemas.microsoft.com/office/drawing/2014/main" val="20001"/>
                    </a:ext>
                  </a:extLst>
                </a:gridCol>
                <a:gridCol w="941324">
                  <a:extLst>
                    <a:ext uri="{9D8B030D-6E8A-4147-A177-3AD203B41FA5}">
                      <a16:colId xmlns:a16="http://schemas.microsoft.com/office/drawing/2014/main" val="20002"/>
                    </a:ext>
                  </a:extLst>
                </a:gridCol>
                <a:gridCol w="1827276">
                  <a:extLst>
                    <a:ext uri="{9D8B030D-6E8A-4147-A177-3AD203B41FA5}">
                      <a16:colId xmlns:a16="http://schemas.microsoft.com/office/drawing/2014/main" val="20003"/>
                    </a:ext>
                  </a:extLst>
                </a:gridCol>
              </a:tblGrid>
              <a:tr h="248920">
                <a:tc>
                  <a:txBody>
                    <a:bodyPr/>
                    <a:lstStyle/>
                    <a:p>
                      <a:pPr algn="l">
                        <a:buNone/>
                      </a:pPr>
                      <a:r>
                        <a:rPr sz="800" b="1">
                          <a:solidFill>
                            <a:srgbClr val="262626"/>
                          </a:solidFill>
                          <a:latin typeface="微软雅黑"/>
                          <a:ea typeface="微软雅黑"/>
                          <a:cs typeface="微软雅黑"/>
                        </a:rPr>
                        <a:t>组件</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buNone/>
                      </a:pPr>
                      <a:r>
                        <a:rPr sz="800" b="1" dirty="0" err="1">
                          <a:solidFill>
                            <a:srgbClr val="262626"/>
                          </a:solidFill>
                          <a:latin typeface="微软雅黑"/>
                          <a:ea typeface="微软雅黑"/>
                          <a:cs typeface="微软雅黑"/>
                        </a:rPr>
                        <a:t>负载特征</a:t>
                      </a:r>
                      <a:r>
                        <a:rPr sz="800" b="1" dirty="0">
                          <a:solidFill>
                            <a:srgbClr val="262626"/>
                          </a:solidFill>
                          <a:latin typeface="微软雅黑"/>
                          <a:ea typeface="微软雅黑"/>
                          <a:cs typeface="微软雅黑"/>
                        </a:rPr>
                        <a:t> → </a:t>
                      </a:r>
                      <a:r>
                        <a:rPr sz="800" b="1" dirty="0" err="1">
                          <a:solidFill>
                            <a:srgbClr val="262626"/>
                          </a:solidFill>
                          <a:latin typeface="微软雅黑"/>
                          <a:ea typeface="微软雅黑"/>
                          <a:cs typeface="微软雅黑"/>
                        </a:rPr>
                        <a:t>昇腾诉求</a:t>
                      </a:r>
                      <a:endParaRPr sz="800" b="1" dirty="0">
                        <a:solidFill>
                          <a:srgbClr val="262626"/>
                        </a:solidFill>
                        <a:latin typeface="微软雅黑"/>
                        <a:ea typeface="微软雅黑"/>
                        <a:cs typeface="微软雅黑"/>
                      </a:endParaRP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373380">
                <a:tc>
                  <a:txBody>
                    <a:bodyPr/>
                    <a:lstStyle/>
                    <a:p>
                      <a:pPr algn="l">
                        <a:buNone/>
                      </a:pPr>
                      <a:r>
                        <a:rPr sz="800" dirty="0">
                          <a:solidFill>
                            <a:srgbClr val="262626"/>
                          </a:solidFill>
                          <a:latin typeface="微软雅黑"/>
                          <a:ea typeface="微软雅黑"/>
                          <a:cs typeface="微软雅黑"/>
                        </a:rPr>
                        <a:t>q/k/v </a:t>
                      </a:r>
                      <a:r>
                        <a:rPr sz="800" dirty="0" err="1">
                          <a:solidFill>
                            <a:srgbClr val="262626"/>
                          </a:solidFill>
                          <a:latin typeface="微软雅黑"/>
                          <a:ea typeface="微软雅黑"/>
                          <a:cs typeface="微软雅黑"/>
                        </a:rPr>
                        <a:t>投影</a:t>
                      </a:r>
                      <a:r>
                        <a:rPr sz="800" dirty="0">
                          <a:solidFill>
                            <a:srgbClr val="262626"/>
                          </a:solidFill>
                          <a:latin typeface="微软雅黑"/>
                          <a:ea typeface="微软雅黑"/>
                          <a:cs typeface="微软雅黑"/>
                        </a:rPr>
                        <a:t> + </a:t>
                      </a:r>
                      <a:r>
                        <a:rPr sz="800" dirty="0" err="1">
                          <a:solidFill>
                            <a:srgbClr val="262626"/>
                          </a:solidFill>
                          <a:latin typeface="微软雅黑"/>
                          <a:ea typeface="微软雅黑"/>
                          <a:cs typeface="微软雅黑"/>
                        </a:rPr>
                        <a:t>ShortConv（k</a:t>
                      </a:r>
                      <a:r>
                        <a:rPr sz="800" dirty="0">
                          <a:solidFill>
                            <a:srgbClr val="262626"/>
                          </a:solidFill>
                          <a:latin typeface="微软雅黑"/>
                          <a:ea typeface="微软雅黑"/>
                          <a:cs typeface="微软雅黑"/>
                        </a:rPr>
                        <a:t>=4）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x∈R7168 → </a:t>
                      </a:r>
                      <a:r>
                        <a:rPr sz="800" dirty="0" err="1">
                          <a:solidFill>
                            <a:srgbClr val="262626"/>
                          </a:solidFill>
                          <a:latin typeface="微软雅黑"/>
                          <a:ea typeface="微软雅黑"/>
                          <a:cs typeface="微软雅黑"/>
                        </a:rPr>
                        <a:t>q,k∈RH·dk，v∈RH·dv</a:t>
                      </a:r>
                      <a:endParaRPr sz="800" dirty="0">
                        <a:solidFill>
                          <a:srgbClr val="262626"/>
                        </a:solidFill>
                        <a:latin typeface="微软雅黑"/>
                        <a:ea typeface="微软雅黑"/>
                        <a:cs typeface="微软雅黑"/>
                      </a:endParaRP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2d·H(2dk+dv)</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marL="171450" indent="-171450" algn="l">
                        <a:buFont typeface="Arial" panose="020B0604020202020204" pitchFamily="34" charset="0"/>
                        <a:buChar char="•"/>
                      </a:pPr>
                      <a:r>
                        <a:rPr sz="800" dirty="0" err="1">
                          <a:solidFill>
                            <a:srgbClr val="262626"/>
                          </a:solidFill>
                          <a:latin typeface="微软雅黑"/>
                          <a:ea typeface="微软雅黑"/>
                          <a:cs typeface="微软雅黑"/>
                        </a:rPr>
                        <a:t>稠密</a:t>
                      </a:r>
                      <a:r>
                        <a:rPr sz="800" dirty="0">
                          <a:solidFill>
                            <a:srgbClr val="262626"/>
                          </a:solidFill>
                          <a:latin typeface="微软雅黑"/>
                          <a:ea typeface="微软雅黑"/>
                          <a:cs typeface="微软雅黑"/>
                        </a:rPr>
                        <a:t> GEMM → CUBE；</a:t>
                      </a:r>
                      <a:endParaRPr lang="en-US" sz="800" dirty="0">
                        <a:solidFill>
                          <a:srgbClr val="262626"/>
                        </a:solidFill>
                        <a:latin typeface="微软雅黑"/>
                        <a:ea typeface="微软雅黑"/>
                        <a:cs typeface="微软雅黑"/>
                      </a:endParaRPr>
                    </a:p>
                    <a:p>
                      <a:pPr algn="l">
                        <a:buNone/>
                      </a:pPr>
                      <a:r>
                        <a:rPr sz="800" dirty="0">
                          <a:solidFill>
                            <a:srgbClr val="262626"/>
                          </a:solidFill>
                          <a:latin typeface="微软雅黑"/>
                          <a:ea typeface="微软雅黑"/>
                          <a:cs typeface="微软雅黑"/>
                        </a:rPr>
                        <a:t>decode </a:t>
                      </a:r>
                      <a:r>
                        <a:rPr sz="800" dirty="0" err="1">
                          <a:solidFill>
                            <a:srgbClr val="262626"/>
                          </a:solidFill>
                          <a:latin typeface="微软雅黑"/>
                          <a:ea typeface="微软雅黑"/>
                          <a:cs typeface="微软雅黑"/>
                        </a:rPr>
                        <a:t>退化为</a:t>
                      </a:r>
                      <a:r>
                        <a:rPr sz="800" dirty="0">
                          <a:solidFill>
                            <a:srgbClr val="262626"/>
                          </a:solidFill>
                          <a:latin typeface="微软雅黑"/>
                          <a:ea typeface="微软雅黑"/>
                          <a:cs typeface="微软雅黑"/>
                        </a:rPr>
                        <a:t> </a:t>
                      </a:r>
                      <a:r>
                        <a:rPr sz="800" dirty="0" err="1">
                          <a:solidFill>
                            <a:srgbClr val="262626"/>
                          </a:solidFill>
                          <a:latin typeface="微软雅黑"/>
                          <a:ea typeface="微软雅黑"/>
                          <a:cs typeface="微软雅黑"/>
                        </a:rPr>
                        <a:t>GEMV，访存受限</a:t>
                      </a:r>
                      <a:endParaRPr sz="800" dirty="0">
                        <a:solidFill>
                          <a:srgbClr val="262626"/>
                        </a:solidFill>
                        <a:latin typeface="微软雅黑"/>
                        <a:ea typeface="微软雅黑"/>
                        <a:cs typeface="微软雅黑"/>
                      </a:endParaRP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373380">
                <a:tc>
                  <a:txBody>
                    <a:bodyPr/>
                    <a:lstStyle/>
                    <a:p>
                      <a:pPr algn="l">
                        <a:buNone/>
                      </a:pPr>
                      <a:r>
                        <a:rPr sz="800">
                          <a:solidFill>
                            <a:srgbClr val="262626"/>
                          </a:solidFill>
                          <a:latin typeface="微软雅黑"/>
                          <a:ea typeface="微软雅黑"/>
                          <a:cs typeface="微软雅黑"/>
                        </a:rPr>
                        <a:t>遗忘门 z + 写入强度 β</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err="1">
                          <a:solidFill>
                            <a:srgbClr val="262626"/>
                          </a:solidFill>
                          <a:latin typeface="微软雅黑"/>
                          <a:ea typeface="微软雅黑"/>
                          <a:cs typeface="微软雅黑"/>
                        </a:rPr>
                        <a:t>低秩</a:t>
                      </a:r>
                      <a:r>
                        <a:rPr sz="800" dirty="0">
                          <a:solidFill>
                            <a:srgbClr val="262626"/>
                          </a:solidFill>
                          <a:latin typeface="微软雅黑"/>
                          <a:ea typeface="微软雅黑"/>
                          <a:cs typeface="微软雅黑"/>
                        </a:rPr>
                        <a:t> </a:t>
                      </a:r>
                      <a:r>
                        <a:rPr sz="800" dirty="0" err="1">
                          <a:solidFill>
                            <a:srgbClr val="262626"/>
                          </a:solidFill>
                          <a:latin typeface="微软雅黑"/>
                          <a:ea typeface="微软雅黑"/>
                          <a:cs typeface="微软雅黑"/>
                        </a:rPr>
                        <a:t>d→r→H·dk；d→H</a:t>
                      </a:r>
                      <a:endParaRPr sz="800" dirty="0">
                        <a:solidFill>
                          <a:srgbClr val="262626"/>
                        </a:solidFill>
                        <a:latin typeface="微软雅黑"/>
                        <a:ea typeface="微软雅黑"/>
                        <a:cs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≈2d·r（占比小）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小 GEMM + σ/exp </a:t>
                      </a:r>
                      <a:r>
                        <a:rPr sz="800" dirty="0" err="1">
                          <a:solidFill>
                            <a:srgbClr val="262626"/>
                          </a:solidFill>
                          <a:latin typeface="微软雅黑"/>
                          <a:ea typeface="微软雅黑"/>
                          <a:cs typeface="微软雅黑"/>
                        </a:rPr>
                        <a:t>逐元素</a:t>
                      </a:r>
                      <a:r>
                        <a:rPr sz="800" dirty="0">
                          <a:solidFill>
                            <a:srgbClr val="262626"/>
                          </a:solidFill>
                          <a:latin typeface="微软雅黑"/>
                          <a:ea typeface="微软雅黑"/>
                          <a:cs typeface="微软雅黑"/>
                        </a:rPr>
                        <a:t> → Vector 核</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373380">
                <a:tc>
                  <a:txBody>
                    <a:bodyPr/>
                    <a:lstStyle/>
                    <a:p>
                      <a:pPr algn="l">
                        <a:buNone/>
                      </a:pPr>
                      <a:r>
                        <a:rPr sz="800" dirty="0" err="1">
                          <a:solidFill>
                            <a:srgbClr val="262626"/>
                          </a:solidFill>
                          <a:latin typeface="微软雅黑"/>
                          <a:ea typeface="微软雅黑"/>
                          <a:cs typeface="微软雅黑"/>
                        </a:rPr>
                        <a:t>有界衰减</a:t>
                      </a:r>
                      <a:r>
                        <a:rPr sz="800" dirty="0">
                          <a:solidFill>
                            <a:srgbClr val="262626"/>
                          </a:solidFill>
                          <a:latin typeface="微软雅黑"/>
                          <a:ea typeface="微软雅黑"/>
                          <a:cs typeface="微软雅黑"/>
                        </a:rPr>
                        <a:t> </a:t>
                      </a:r>
                      <a:r>
                        <a:rPr sz="800" dirty="0">
                          <a:solidFill>
                            <a:srgbClr val="C00000"/>
                          </a:solidFill>
                          <a:latin typeface="微软雅黑"/>
                          <a:ea typeface="微软雅黑"/>
                          <a:cs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g = −5·σ(</a:t>
                      </a:r>
                      <a:r>
                        <a:rPr sz="800" dirty="0" err="1">
                          <a:solidFill>
                            <a:srgbClr val="262626"/>
                          </a:solidFill>
                          <a:latin typeface="微软雅黑"/>
                          <a:ea typeface="微软雅黑"/>
                          <a:cs typeface="微软雅黑"/>
                        </a:rPr>
                        <a:t>eA·z</a:t>
                      </a:r>
                      <a:r>
                        <a:rPr sz="800" dirty="0">
                          <a:solidFill>
                            <a:srgbClr val="262626"/>
                          </a:solidFill>
                          <a:latin typeface="微软雅黑"/>
                          <a:ea typeface="微软雅黑"/>
                          <a:cs typeface="微软雅黑"/>
                        </a:rPr>
                        <a:t>) ∈(−5, 0)</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O(H·dk)，逐元素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纯 </a:t>
                      </a:r>
                      <a:r>
                        <a:rPr sz="800" dirty="0" err="1">
                          <a:solidFill>
                            <a:srgbClr val="262626"/>
                          </a:solidFill>
                          <a:latin typeface="微软雅黑"/>
                          <a:ea typeface="微软雅黑"/>
                          <a:cs typeface="微软雅黑"/>
                        </a:rPr>
                        <a:t>Vector；使对角块可上</a:t>
                      </a:r>
                      <a:r>
                        <a:rPr sz="800" dirty="0">
                          <a:solidFill>
                            <a:srgbClr val="262626"/>
                          </a:solidFill>
                          <a:latin typeface="微软雅黑"/>
                          <a:ea typeface="微软雅黑"/>
                          <a:cs typeface="微软雅黑"/>
                        </a:rPr>
                        <a:t> </a:t>
                      </a:r>
                      <a:r>
                        <a:rPr sz="800" dirty="0" err="1">
                          <a:solidFill>
                            <a:srgbClr val="262626"/>
                          </a:solidFill>
                          <a:latin typeface="微软雅黑"/>
                          <a:ea typeface="微软雅黑"/>
                          <a:cs typeface="微软雅黑"/>
                        </a:rPr>
                        <a:t>CUBE，消除</a:t>
                      </a:r>
                      <a:r>
                        <a:rPr sz="800" dirty="0">
                          <a:solidFill>
                            <a:srgbClr val="262626"/>
                          </a:solidFill>
                          <a:latin typeface="微软雅黑"/>
                          <a:ea typeface="微软雅黑"/>
                          <a:cs typeface="微软雅黑"/>
                        </a:rPr>
                        <a:t> position-pair </a:t>
                      </a:r>
                      <a:r>
                        <a:rPr sz="800" dirty="0" err="1">
                          <a:solidFill>
                            <a:srgbClr val="262626"/>
                          </a:solidFill>
                          <a:latin typeface="微软雅黑"/>
                          <a:ea typeface="微软雅黑"/>
                          <a:cs typeface="微软雅黑"/>
                        </a:rPr>
                        <a:t>标量路径</a:t>
                      </a:r>
                      <a:endParaRPr sz="800" dirty="0">
                        <a:solidFill>
                          <a:srgbClr val="262626"/>
                        </a:solidFill>
                        <a:latin typeface="微软雅黑"/>
                        <a:ea typeface="微软雅黑"/>
                        <a:cs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373380">
                <a:tc>
                  <a:txBody>
                    <a:bodyPr/>
                    <a:lstStyle/>
                    <a:p>
                      <a:pPr algn="l">
                        <a:buNone/>
                      </a:pPr>
                      <a:r>
                        <a:rPr sz="800">
                          <a:solidFill>
                            <a:srgbClr val="262626"/>
                          </a:solidFill>
                          <a:latin typeface="微软雅黑"/>
                          <a:ea typeface="微软雅黑"/>
                          <a:cs typeface="微软雅黑"/>
                        </a:rPr>
                        <a:t>Chunk 内注意力</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A = </a:t>
                      </a:r>
                      <a:r>
                        <a:rPr sz="800" dirty="0" err="1">
                          <a:solidFill>
                            <a:srgbClr val="262626"/>
                          </a:solidFill>
                          <a:latin typeface="微软雅黑"/>
                          <a:ea typeface="微软雅黑"/>
                          <a:cs typeface="微软雅黑"/>
                        </a:rPr>
                        <a:t>Tril</a:t>
                      </a:r>
                      <a:r>
                        <a:rPr sz="800" dirty="0">
                          <a:solidFill>
                            <a:srgbClr val="262626"/>
                          </a:solidFill>
                          <a:latin typeface="微软雅黑"/>
                          <a:ea typeface="微软雅黑"/>
                          <a:cs typeface="微软雅黑"/>
                        </a:rPr>
                        <a:t>((Q⊙Γ)(K/Γ)⊤)；C = 64</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2C(</a:t>
                      </a:r>
                      <a:r>
                        <a:rPr sz="800" dirty="0" err="1">
                          <a:solidFill>
                            <a:srgbClr val="262626"/>
                          </a:solidFill>
                          <a:latin typeface="微软雅黑"/>
                          <a:ea typeface="微软雅黑"/>
                          <a:cs typeface="微软雅黑"/>
                        </a:rPr>
                        <a:t>dk+dv</a:t>
                      </a:r>
                      <a:r>
                        <a:rPr sz="800" dirty="0">
                          <a:solidFill>
                            <a:srgbClr val="262626"/>
                          </a:solidFill>
                          <a:latin typeface="微软雅黑"/>
                          <a:ea typeface="微软雅黑"/>
                          <a:cs typeface="微软雅黑"/>
                        </a:rPr>
                        <a:t>)，与 L </a:t>
                      </a:r>
                      <a:r>
                        <a:rPr sz="800" dirty="0" err="1">
                          <a:solidFill>
                            <a:srgbClr val="262626"/>
                          </a:solidFill>
                          <a:latin typeface="微软雅黑"/>
                          <a:ea typeface="微软雅黑"/>
                          <a:cs typeface="微软雅黑"/>
                        </a:rPr>
                        <a:t>无关</a:t>
                      </a:r>
                      <a:endParaRPr sz="800" dirty="0">
                        <a:solidFill>
                          <a:srgbClr val="262626"/>
                        </a:solidFill>
                        <a:latin typeface="微软雅黑"/>
                        <a:ea typeface="微软雅黑"/>
                        <a:cs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err="1">
                          <a:solidFill>
                            <a:srgbClr val="262626"/>
                          </a:solidFill>
                          <a:latin typeface="微软雅黑"/>
                          <a:ea typeface="微软雅黑"/>
                          <a:cs typeface="微软雅黑"/>
                        </a:rPr>
                        <a:t>全稠密</a:t>
                      </a:r>
                      <a:r>
                        <a:rPr sz="800" dirty="0">
                          <a:solidFill>
                            <a:srgbClr val="262626"/>
                          </a:solidFill>
                          <a:latin typeface="微软雅黑"/>
                          <a:ea typeface="微软雅黑"/>
                          <a:cs typeface="微软雅黑"/>
                        </a:rPr>
                        <a:t> </a:t>
                      </a:r>
                      <a:r>
                        <a:rPr sz="800" dirty="0" err="1">
                          <a:solidFill>
                            <a:srgbClr val="262626"/>
                          </a:solidFill>
                          <a:latin typeface="微软雅黑"/>
                          <a:ea typeface="微软雅黑"/>
                          <a:cs typeface="微软雅黑"/>
                        </a:rPr>
                        <a:t>matmul</a:t>
                      </a:r>
                      <a:r>
                        <a:rPr sz="800" dirty="0">
                          <a:solidFill>
                            <a:srgbClr val="262626"/>
                          </a:solidFill>
                          <a:latin typeface="微软雅黑"/>
                          <a:ea typeface="微软雅黑"/>
                          <a:cs typeface="微软雅黑"/>
                        </a:rPr>
                        <a:t> → CUBE </a:t>
                      </a:r>
                      <a:r>
                        <a:rPr sz="800" dirty="0" err="1">
                          <a:solidFill>
                            <a:srgbClr val="262626"/>
                          </a:solidFill>
                          <a:latin typeface="微软雅黑"/>
                          <a:ea typeface="微软雅黑"/>
                          <a:cs typeface="微软雅黑"/>
                        </a:rPr>
                        <a:t>占比</a:t>
                      </a:r>
                      <a:r>
                        <a:rPr sz="800" dirty="0">
                          <a:solidFill>
                            <a:srgbClr val="262626"/>
                          </a:solidFill>
                          <a:latin typeface="微软雅黑"/>
                          <a:ea typeface="微软雅黑"/>
                          <a:cs typeface="微软雅黑"/>
                        </a:rPr>
                        <a:t>↑（</a:t>
                      </a:r>
                      <a:r>
                        <a:rPr sz="800" dirty="0" err="1">
                          <a:solidFill>
                            <a:srgbClr val="262626"/>
                          </a:solidFill>
                          <a:latin typeface="微软雅黑"/>
                          <a:ea typeface="微软雅黑"/>
                          <a:cs typeface="微软雅黑"/>
                        </a:rPr>
                        <a:t>原对角块为</a:t>
                      </a:r>
                      <a:r>
                        <a:rPr sz="800" dirty="0">
                          <a:solidFill>
                            <a:srgbClr val="262626"/>
                          </a:solidFill>
                          <a:latin typeface="微软雅黑"/>
                          <a:ea typeface="微软雅黑"/>
                          <a:cs typeface="微软雅黑"/>
                        </a:rPr>
                        <a:t> chunk </a:t>
                      </a:r>
                      <a:r>
                        <a:rPr sz="800" dirty="0" err="1">
                          <a:solidFill>
                            <a:srgbClr val="262626"/>
                          </a:solidFill>
                          <a:latin typeface="微软雅黑"/>
                          <a:ea typeface="微软雅黑"/>
                          <a:cs typeface="微软雅黑"/>
                        </a:rPr>
                        <a:t>内主要瓶颈</a:t>
                      </a:r>
                      <a:r>
                        <a:rPr sz="800" dirty="0">
                          <a:solidFill>
                            <a:srgbClr val="262626"/>
                          </a:solidFill>
                          <a:latin typeface="微软雅黑"/>
                          <a:ea typeface="微软雅黑"/>
                          <a:cs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373380">
                <a:tc>
                  <a:txBody>
                    <a:bodyPr/>
                    <a:lstStyle/>
                    <a:p>
                      <a:pPr algn="l">
                        <a:buNone/>
                      </a:pPr>
                      <a:r>
                        <a:rPr sz="800">
                          <a:solidFill>
                            <a:srgbClr val="262626"/>
                          </a:solidFill>
                          <a:latin typeface="微软雅黑"/>
                          <a:ea typeface="微软雅黑"/>
                          <a:cs typeface="微软雅黑"/>
                        </a:rPr>
                        <a:t>跨 chunk 状态传播</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S ∈ Rdk×dv，chunk 间串行</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2·dk·dv</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err="1">
                          <a:solidFill>
                            <a:srgbClr val="262626"/>
                          </a:solidFill>
                          <a:latin typeface="微软雅黑"/>
                          <a:ea typeface="微软雅黑"/>
                          <a:cs typeface="微软雅黑"/>
                        </a:rPr>
                        <a:t>小矩阵</a:t>
                      </a:r>
                      <a:r>
                        <a:rPr sz="800" dirty="0">
                          <a:solidFill>
                            <a:srgbClr val="262626"/>
                          </a:solidFill>
                          <a:latin typeface="微软雅黑"/>
                          <a:ea typeface="微软雅黑"/>
                          <a:cs typeface="微软雅黑"/>
                        </a:rPr>
                        <a:t> + </a:t>
                      </a:r>
                      <a:r>
                        <a:rPr sz="800" dirty="0" err="1">
                          <a:solidFill>
                            <a:srgbClr val="262626"/>
                          </a:solidFill>
                          <a:latin typeface="微软雅黑"/>
                          <a:ea typeface="微软雅黑"/>
                          <a:cs typeface="微软雅黑"/>
                        </a:rPr>
                        <a:t>串行依赖</a:t>
                      </a:r>
                      <a:r>
                        <a:rPr sz="800" dirty="0">
                          <a:solidFill>
                            <a:srgbClr val="262626"/>
                          </a:solidFill>
                          <a:latin typeface="微软雅黑"/>
                          <a:ea typeface="微软雅黑"/>
                          <a:cs typeface="微软雅黑"/>
                        </a:rPr>
                        <a:t> → </a:t>
                      </a:r>
                      <a:r>
                        <a:rPr sz="800" dirty="0" err="1">
                          <a:solidFill>
                            <a:srgbClr val="262626"/>
                          </a:solidFill>
                          <a:latin typeface="微软雅黑"/>
                          <a:ea typeface="微软雅黑"/>
                          <a:cs typeface="微软雅黑"/>
                        </a:rPr>
                        <a:t>并行度低，需</a:t>
                      </a:r>
                      <a:r>
                        <a:rPr sz="800" dirty="0">
                          <a:solidFill>
                            <a:srgbClr val="262626"/>
                          </a:solidFill>
                          <a:latin typeface="微软雅黑"/>
                          <a:ea typeface="微软雅黑"/>
                          <a:cs typeface="微软雅黑"/>
                        </a:rPr>
                        <a:t> kernel </a:t>
                      </a:r>
                      <a:r>
                        <a:rPr sz="800" dirty="0" err="1">
                          <a:solidFill>
                            <a:srgbClr val="262626"/>
                          </a:solidFill>
                          <a:latin typeface="微软雅黑"/>
                          <a:ea typeface="微软雅黑"/>
                          <a:cs typeface="微软雅黑"/>
                        </a:rPr>
                        <a:t>内流水掩盖</a:t>
                      </a:r>
                      <a:endParaRPr sz="800" dirty="0">
                        <a:solidFill>
                          <a:srgbClr val="262626"/>
                        </a:solidFill>
                        <a:latin typeface="微软雅黑"/>
                        <a:ea typeface="微软雅黑"/>
                        <a:cs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373380">
                <a:tc>
                  <a:txBody>
                    <a:bodyPr/>
                    <a:lstStyle/>
                    <a:p>
                      <a:pPr algn="l">
                        <a:buNone/>
                      </a:pPr>
                      <a:r>
                        <a:rPr sz="800">
                          <a:solidFill>
                            <a:srgbClr val="262626"/>
                          </a:solidFill>
                          <a:latin typeface="微软雅黑"/>
                          <a:ea typeface="微软雅黑"/>
                          <a:cs typeface="微软雅黑"/>
                        </a:rPr>
                        <a:t>综合账本</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S：69层≈217MB/</a:t>
                      </a:r>
                      <a:r>
                        <a:rPr sz="800" dirty="0" err="1">
                          <a:solidFill>
                            <a:srgbClr val="262626"/>
                          </a:solidFill>
                          <a:latin typeface="微软雅黑"/>
                          <a:ea typeface="微软雅黑"/>
                          <a:cs typeface="微软雅黑"/>
                        </a:rPr>
                        <a:t>序列</a:t>
                      </a:r>
                      <a:r>
                        <a:rPr sz="800" dirty="0">
                          <a:solidFill>
                            <a:srgbClr val="262626"/>
                          </a:solidFill>
                          <a:latin typeface="微软雅黑"/>
                          <a:ea typeface="微软雅黑"/>
                          <a:cs typeface="微软雅黑"/>
                        </a:rPr>
                        <a:t>*；MLA 24.6KB/token，1M≈24.6GB</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KDA主项≈2.1M FLOPs/head/chunk（C=64，dk=dv=128*）</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err="1">
                          <a:solidFill>
                            <a:srgbClr val="262626"/>
                          </a:solidFill>
                          <a:latin typeface="微软雅黑"/>
                          <a:ea typeface="微软雅黑"/>
                          <a:cs typeface="微软雅黑"/>
                        </a:rPr>
                        <a:t>CUBE：chunk</a:t>
                      </a:r>
                      <a:r>
                        <a:rPr sz="800" dirty="0">
                          <a:solidFill>
                            <a:srgbClr val="262626"/>
                          </a:solidFill>
                          <a:latin typeface="微软雅黑"/>
                          <a:ea typeface="微软雅黑"/>
                          <a:cs typeface="微软雅黑"/>
                        </a:rPr>
                        <a:t> </a:t>
                      </a:r>
                      <a:r>
                        <a:rPr sz="800" dirty="0" err="1">
                          <a:solidFill>
                            <a:srgbClr val="262626"/>
                          </a:solidFill>
                          <a:latin typeface="微软雅黑"/>
                          <a:ea typeface="微软雅黑"/>
                          <a:cs typeface="微软雅黑"/>
                        </a:rPr>
                        <a:t>matmul；Vector：gate</a:t>
                      </a:r>
                      <a:r>
                        <a:rPr sz="800" dirty="0">
                          <a:solidFill>
                            <a:srgbClr val="262626"/>
                          </a:solidFill>
                          <a:latin typeface="微软雅黑"/>
                          <a:ea typeface="微软雅黑"/>
                          <a:cs typeface="微软雅黑"/>
                        </a:rPr>
                        <a:t>/</a:t>
                      </a:r>
                      <a:r>
                        <a:rPr sz="800" dirty="0" err="1">
                          <a:solidFill>
                            <a:srgbClr val="262626"/>
                          </a:solidFill>
                          <a:latin typeface="微软雅黑"/>
                          <a:ea typeface="微软雅黑"/>
                          <a:cs typeface="微软雅黑"/>
                        </a:rPr>
                        <a:t>cumsum</a:t>
                      </a:r>
                      <a:r>
                        <a:rPr sz="800" dirty="0">
                          <a:solidFill>
                            <a:srgbClr val="262626"/>
                          </a:solidFill>
                          <a:latin typeface="微软雅黑"/>
                          <a:ea typeface="微软雅黑"/>
                          <a:cs typeface="微软雅黑"/>
                        </a:rPr>
                        <a:t>/RMSNorm；L1/</a:t>
                      </a:r>
                      <a:r>
                        <a:rPr sz="800" dirty="0" err="1">
                          <a:solidFill>
                            <a:srgbClr val="262626"/>
                          </a:solidFill>
                          <a:latin typeface="微软雅黑"/>
                          <a:ea typeface="微软雅黑"/>
                          <a:cs typeface="微软雅黑"/>
                        </a:rPr>
                        <a:t>UB驻留</a:t>
                      </a:r>
                      <a:r>
                        <a:rPr sz="800" dirty="0">
                          <a:solidFill>
                            <a:srgbClr val="262626"/>
                          </a:solidFill>
                          <a:latin typeface="微软雅黑"/>
                          <a:ea typeface="微软雅黑"/>
                          <a:cs typeface="微软雅黑"/>
                        </a:rPr>
                        <a:t> S</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p:sp>
        <p:nvSpPr>
          <p:cNvPr id="14" name="param-note">
            <a:extLst>
              <a:ext uri="{FF2B5EF4-FFF2-40B4-BE49-F238E27FC236}">
                <a16:creationId xmlns:a16="http://schemas.microsoft.com/office/drawing/2014/main" id="{01BB286C-CCE9-498E-B589-A223DAE64274}"/>
              </a:ext>
            </a:extLst>
          </p:cNvPr>
          <p:cNvSpPr>
            <a:spLocks noGrp="1"/>
          </p:cNvSpPr>
          <p:nvPr/>
        </p:nvSpPr>
        <p:spPr>
          <a:xfrm>
            <a:off x="6200013" y="5219700"/>
            <a:ext cx="5537168" cy="38100"/>
          </a:xfrm>
          <a:prstGeom prst="rect">
            <a:avLst/>
          </a:prstGeom>
          <a:noFill/>
          <a:ln>
            <a:noFill/>
          </a:ln>
        </p:spPr>
        <p:txBody>
          <a:bodyPr wrap="square" lIns="0" tIns="0" rIns="0" bIns="0" anchor="t"/>
          <a:lstStyle/>
          <a:p>
            <a:pPr>
              <a:lnSpc>
                <a:spcPct val="135000"/>
              </a:lnSpc>
            </a:pPr>
            <a:endParaRPr sz="750">
              <a:solidFill>
                <a:srgbClr val="000000"/>
              </a:solidFill>
              <a:latin typeface="MiSans"/>
            </a:endParaRPr>
          </a:p>
        </p:txBody>
      </p:sp>
      <p:sp>
        <p:nvSpPr>
          <p:cNvPr id="15" name="dev-label">
            <a:extLst>
              <a:ext uri="{FF2B5EF4-FFF2-40B4-BE49-F238E27FC236}">
                <a16:creationId xmlns:a16="http://schemas.microsoft.com/office/drawing/2014/main" id="{AF3326A2-3196-4A33-9242-EFE583AE0EC1}"/>
              </a:ext>
            </a:extLst>
          </p:cNvPr>
          <p:cNvSpPr>
            <a:spLocks noGrp="1"/>
          </p:cNvSpPr>
          <p:nvPr/>
        </p:nvSpPr>
        <p:spPr>
          <a:xfrm>
            <a:off x="561213" y="5695950"/>
            <a:ext cx="11125200" cy="190500"/>
          </a:xfrm>
          <a:prstGeom prst="rect">
            <a:avLst/>
          </a:prstGeom>
          <a:noFill/>
          <a:ln>
            <a:noFill/>
          </a:ln>
        </p:spPr>
        <p:txBody>
          <a:bodyPr wrap="none" lIns="0" tIns="0" rIns="0" bIns="0" anchor="ctr"/>
          <a:lstStyle/>
          <a:p>
            <a:pPr>
              <a:lnSpc>
                <a:spcPct val="120000"/>
              </a:lnSpc>
            </a:pPr>
            <a:r>
              <a:rPr sz="1200" b="1" dirty="0" err="1">
                <a:solidFill>
                  <a:srgbClr val="C00000"/>
                </a:solidFill>
                <a:latin typeface="微软雅黑"/>
                <a:ea typeface="微软雅黑"/>
                <a:cs typeface="微软雅黑"/>
              </a:rPr>
              <a:t>开发需求与趋势思考</a:t>
            </a:r>
            <a:endParaRPr sz="1200" dirty="0">
              <a:solidFill>
                <a:srgbClr val="000000"/>
              </a:solidFill>
              <a:latin typeface="MiSans"/>
            </a:endParaRPr>
          </a:p>
        </p:txBody>
      </p:sp>
      <p:sp>
        <p:nvSpPr>
          <p:cNvPr id="16" name="dev-bullets">
            <a:extLst>
              <a:ext uri="{FF2B5EF4-FFF2-40B4-BE49-F238E27FC236}">
                <a16:creationId xmlns:a16="http://schemas.microsoft.com/office/drawing/2014/main" id="{660186F6-771A-4190-A040-1BA113B328F3}"/>
              </a:ext>
            </a:extLst>
          </p:cNvPr>
          <p:cNvSpPr>
            <a:spLocks noGrp="1"/>
          </p:cNvSpPr>
          <p:nvPr/>
        </p:nvSpPr>
        <p:spPr>
          <a:xfrm>
            <a:off x="586581" y="5930187"/>
            <a:ext cx="11125200" cy="762000"/>
          </a:xfrm>
          <a:prstGeom prst="rect">
            <a:avLst/>
          </a:prstGeom>
          <a:noFill/>
          <a:ln>
            <a:noFill/>
          </a:ln>
        </p:spPr>
        <p:txBody>
          <a:bodyPr wrap="square" lIns="0" tIns="0" rIns="0" bIns="0" anchor="t"/>
          <a:lstStyle/>
          <a:p>
            <a:pPr>
              <a:lnSpc>
                <a:spcPct val="108000"/>
              </a:lnSpc>
              <a:spcBef>
                <a:spcPts val="10"/>
              </a:spcBef>
              <a:buFontTx/>
              <a:buChar char="•"/>
            </a:pPr>
            <a:r>
              <a:rPr sz="1050" b="1" dirty="0">
                <a:solidFill>
                  <a:srgbClr val="262626"/>
                </a:solidFill>
                <a:latin typeface="微软雅黑"/>
                <a:ea typeface="微软雅黑"/>
                <a:cs typeface="微软雅黑"/>
              </a:rPr>
              <a:t>算子：kda_gate_cumsum、recurrent_gated_delta_rule_v310；gate </a:t>
            </a:r>
            <a:r>
              <a:rPr sz="1050" b="1" dirty="0" err="1">
                <a:solidFill>
                  <a:srgbClr val="262626"/>
                </a:solidFill>
                <a:latin typeface="微软雅黑"/>
                <a:ea typeface="微软雅黑"/>
                <a:cs typeface="微软雅黑"/>
              </a:rPr>
              <a:t>支持</a:t>
            </a:r>
            <a:r>
              <a:rPr sz="1050" b="1" dirty="0">
                <a:solidFill>
                  <a:srgbClr val="262626"/>
                </a:solidFill>
                <a:latin typeface="微软雅黑"/>
                <a:ea typeface="微软雅黑"/>
                <a:cs typeface="微软雅黑"/>
              </a:rPr>
              <a:t> </a:t>
            </a:r>
            <a:r>
              <a:rPr sz="1050" b="1" dirty="0" err="1">
                <a:solidFill>
                  <a:srgbClr val="262626"/>
                </a:solidFill>
                <a:latin typeface="微软雅黑"/>
                <a:ea typeface="微软雅黑"/>
                <a:cs typeface="微软雅黑"/>
              </a:rPr>
              <a:t>safe_gate</a:t>
            </a:r>
            <a:r>
              <a:rPr sz="1050" b="1" dirty="0">
                <a:solidFill>
                  <a:srgbClr val="262626"/>
                </a:solidFill>
                <a:latin typeface="微软雅黑"/>
                <a:ea typeface="微软雅黑"/>
                <a:cs typeface="微软雅黑"/>
              </a:rPr>
              <a:t>/</a:t>
            </a:r>
            <a:r>
              <a:rPr sz="1050" b="1" dirty="0" err="1">
                <a:solidFill>
                  <a:srgbClr val="262626"/>
                </a:solidFill>
                <a:latin typeface="微软雅黑"/>
                <a:ea typeface="微软雅黑"/>
                <a:cs typeface="微软雅黑"/>
              </a:rPr>
              <a:t>gmin、BSND</a:t>
            </a:r>
            <a:r>
              <a:rPr sz="1050" b="1" dirty="0">
                <a:solidFill>
                  <a:srgbClr val="262626"/>
                </a:solidFill>
                <a:latin typeface="微软雅黑"/>
                <a:ea typeface="微软雅黑"/>
                <a:cs typeface="微软雅黑"/>
              </a:rPr>
              <a:t> 与 FP32 </a:t>
            </a:r>
            <a:r>
              <a:rPr sz="1050" b="1" dirty="0" err="1">
                <a:solidFill>
                  <a:srgbClr val="262626"/>
                </a:solidFill>
                <a:latin typeface="微软雅黑"/>
                <a:ea typeface="微软雅黑"/>
                <a:cs typeface="微软雅黑"/>
              </a:rPr>
              <a:t>中间值</a:t>
            </a:r>
            <a:r>
              <a:rPr sz="1050" b="1" dirty="0">
                <a:solidFill>
                  <a:srgbClr val="262626"/>
                </a:solidFill>
                <a:latin typeface="微软雅黑"/>
                <a:ea typeface="微软雅黑"/>
                <a:cs typeface="微软雅黑"/>
              </a:rPr>
              <a:t>。</a:t>
            </a:r>
            <a:endParaRPr sz="800" dirty="0">
              <a:solidFill>
                <a:srgbClr val="000000"/>
              </a:solidFill>
              <a:latin typeface="MiSans"/>
            </a:endParaRPr>
          </a:p>
          <a:p>
            <a:pPr>
              <a:lnSpc>
                <a:spcPct val="108000"/>
              </a:lnSpc>
              <a:spcBef>
                <a:spcPts val="300"/>
              </a:spcBef>
              <a:buFontTx/>
              <a:buChar char="•"/>
            </a:pPr>
            <a:r>
              <a:rPr sz="1050" b="1" dirty="0" err="1">
                <a:solidFill>
                  <a:srgbClr val="262626"/>
                </a:solidFill>
                <a:latin typeface="微软雅黑"/>
                <a:ea typeface="微软雅黑"/>
                <a:cs typeface="微软雅黑"/>
              </a:rPr>
              <a:t>调度：prefill</a:t>
            </a:r>
            <a:r>
              <a:rPr sz="1050" b="1" dirty="0">
                <a:solidFill>
                  <a:srgbClr val="262626"/>
                </a:solidFill>
                <a:latin typeface="微软雅黑"/>
                <a:ea typeface="微软雅黑"/>
                <a:cs typeface="微软雅黑"/>
              </a:rPr>
              <a:t> 走 chunk 64/128 + L1/UB </a:t>
            </a:r>
            <a:r>
              <a:rPr sz="1050" b="1" dirty="0" err="1">
                <a:solidFill>
                  <a:srgbClr val="262626"/>
                </a:solidFill>
                <a:latin typeface="微软雅黑"/>
                <a:ea typeface="微软雅黑"/>
                <a:cs typeface="微软雅黑"/>
              </a:rPr>
              <a:t>双缓冲，decode</a:t>
            </a:r>
            <a:r>
              <a:rPr sz="1050" b="1" dirty="0">
                <a:solidFill>
                  <a:srgbClr val="262626"/>
                </a:solidFill>
                <a:latin typeface="微软雅黑"/>
                <a:ea typeface="微软雅黑"/>
                <a:cs typeface="微软雅黑"/>
              </a:rPr>
              <a:t> </a:t>
            </a:r>
            <a:r>
              <a:rPr sz="1050" b="1" dirty="0" err="1">
                <a:solidFill>
                  <a:srgbClr val="262626"/>
                </a:solidFill>
                <a:latin typeface="微软雅黑"/>
                <a:ea typeface="微软雅黑"/>
                <a:cs typeface="微软雅黑"/>
              </a:rPr>
              <a:t>走状态驻留</a:t>
            </a:r>
            <a:r>
              <a:rPr sz="1050" b="1" dirty="0">
                <a:solidFill>
                  <a:srgbClr val="262626"/>
                </a:solidFill>
                <a:latin typeface="微软雅黑"/>
                <a:ea typeface="微软雅黑"/>
                <a:cs typeface="微软雅黑"/>
              </a:rPr>
              <a:t> + </a:t>
            </a:r>
            <a:r>
              <a:rPr sz="1050" b="1" dirty="0" err="1">
                <a:solidFill>
                  <a:srgbClr val="262626"/>
                </a:solidFill>
                <a:latin typeface="微软雅黑"/>
                <a:ea typeface="微软雅黑"/>
                <a:cs typeface="微软雅黑"/>
              </a:rPr>
              <a:t>小窗口</a:t>
            </a:r>
            <a:r>
              <a:rPr sz="1050" b="1" dirty="0">
                <a:solidFill>
                  <a:srgbClr val="262626"/>
                </a:solidFill>
                <a:latin typeface="微软雅黑"/>
                <a:ea typeface="微软雅黑"/>
                <a:cs typeface="微软雅黑"/>
              </a:rPr>
              <a:t> </a:t>
            </a:r>
            <a:r>
              <a:rPr sz="1050" b="1" dirty="0" err="1">
                <a:solidFill>
                  <a:srgbClr val="262626"/>
                </a:solidFill>
                <a:latin typeface="微软雅黑"/>
                <a:ea typeface="微软雅黑"/>
                <a:cs typeface="微软雅黑"/>
              </a:rPr>
              <a:t>replay；状态池纳入</a:t>
            </a:r>
            <a:r>
              <a:rPr sz="1050" b="1" dirty="0">
                <a:solidFill>
                  <a:srgbClr val="262626"/>
                </a:solidFill>
                <a:latin typeface="微软雅黑"/>
                <a:ea typeface="微软雅黑"/>
                <a:cs typeface="微软雅黑"/>
              </a:rPr>
              <a:t> KV cache </a:t>
            </a:r>
            <a:r>
              <a:rPr sz="1050" b="1" dirty="0" err="1">
                <a:solidFill>
                  <a:srgbClr val="262626"/>
                </a:solidFill>
                <a:latin typeface="微软雅黑"/>
                <a:ea typeface="微软雅黑"/>
                <a:cs typeface="微软雅黑"/>
              </a:rPr>
              <a:t>预算</a:t>
            </a:r>
            <a:r>
              <a:rPr sz="1050" b="1" dirty="0">
                <a:solidFill>
                  <a:srgbClr val="262626"/>
                </a:solidFill>
                <a:latin typeface="微软雅黑"/>
                <a:ea typeface="微软雅黑"/>
                <a:cs typeface="微软雅黑"/>
              </a:rPr>
              <a:t>。</a:t>
            </a:r>
            <a:endParaRPr sz="800" dirty="0">
              <a:solidFill>
                <a:srgbClr val="000000"/>
              </a:solidFill>
              <a:latin typeface="MiSans"/>
            </a:endParaRPr>
          </a:p>
          <a:p>
            <a:pPr>
              <a:lnSpc>
                <a:spcPct val="108000"/>
              </a:lnSpc>
              <a:spcBef>
                <a:spcPts val="300"/>
              </a:spcBef>
              <a:buFontTx/>
              <a:buChar char="•"/>
            </a:pPr>
            <a:r>
              <a:rPr sz="1050" b="1" dirty="0" err="1">
                <a:solidFill>
                  <a:srgbClr val="262626"/>
                </a:solidFill>
                <a:latin typeface="微软雅黑"/>
                <a:ea typeface="微软雅黑"/>
                <a:cs typeface="微软雅黑"/>
              </a:rPr>
              <a:t>趋势：KDA</a:t>
            </a:r>
            <a:r>
              <a:rPr sz="1050" b="1" dirty="0">
                <a:solidFill>
                  <a:srgbClr val="262626"/>
                </a:solidFill>
                <a:latin typeface="微软雅黑"/>
                <a:ea typeface="微软雅黑"/>
                <a:cs typeface="微软雅黑"/>
              </a:rPr>
              <a:t> </a:t>
            </a:r>
            <a:r>
              <a:rPr sz="1050" b="1" dirty="0" err="1">
                <a:solidFill>
                  <a:srgbClr val="262626"/>
                </a:solidFill>
                <a:latin typeface="微软雅黑"/>
                <a:ea typeface="微软雅黑"/>
                <a:cs typeface="微软雅黑"/>
              </a:rPr>
              <a:t>长上下文瓶颈转为状态带宽</a:t>
            </a:r>
            <a:r>
              <a:rPr sz="1050" b="1" dirty="0">
                <a:solidFill>
                  <a:srgbClr val="262626"/>
                </a:solidFill>
                <a:latin typeface="微软雅黑"/>
                <a:ea typeface="微软雅黑"/>
                <a:cs typeface="微软雅黑"/>
              </a:rPr>
              <a:t>/</a:t>
            </a:r>
            <a:r>
              <a:rPr sz="1050" b="1" dirty="0" err="1">
                <a:solidFill>
                  <a:srgbClr val="262626"/>
                </a:solidFill>
                <a:latin typeface="微软雅黑"/>
                <a:ea typeface="微软雅黑"/>
                <a:cs typeface="微软雅黑"/>
              </a:rPr>
              <a:t>同步；验收同时看</a:t>
            </a:r>
            <a:r>
              <a:rPr sz="1050" b="1" dirty="0">
                <a:solidFill>
                  <a:srgbClr val="262626"/>
                </a:solidFill>
                <a:latin typeface="微软雅黑"/>
                <a:ea typeface="微软雅黑"/>
                <a:cs typeface="微软雅黑"/>
              </a:rPr>
              <a:t> CUBE </a:t>
            </a:r>
            <a:r>
              <a:rPr sz="1050" b="1" dirty="0" err="1">
                <a:solidFill>
                  <a:srgbClr val="262626"/>
                </a:solidFill>
                <a:latin typeface="微软雅黑"/>
                <a:ea typeface="微软雅黑"/>
                <a:cs typeface="微软雅黑"/>
              </a:rPr>
              <a:t>利用率、Vector</a:t>
            </a:r>
            <a:r>
              <a:rPr sz="1050" b="1" dirty="0">
                <a:solidFill>
                  <a:srgbClr val="262626"/>
                </a:solidFill>
                <a:latin typeface="微软雅黑"/>
                <a:ea typeface="微软雅黑"/>
                <a:cs typeface="微软雅黑"/>
              </a:rPr>
              <a:t> overlap、L1 </a:t>
            </a:r>
            <a:r>
              <a:rPr sz="1050" b="1" dirty="0" err="1">
                <a:solidFill>
                  <a:srgbClr val="262626"/>
                </a:solidFill>
                <a:latin typeface="微软雅黑"/>
                <a:ea typeface="微软雅黑"/>
                <a:cs typeface="微软雅黑"/>
              </a:rPr>
              <a:t>命中率和每</a:t>
            </a:r>
            <a:r>
              <a:rPr sz="1050" b="1" dirty="0">
                <a:solidFill>
                  <a:srgbClr val="262626"/>
                </a:solidFill>
                <a:latin typeface="微软雅黑"/>
                <a:ea typeface="微软雅黑"/>
                <a:cs typeface="微软雅黑"/>
              </a:rPr>
              <a:t> token launch 数。</a:t>
            </a:r>
            <a:endParaRPr sz="800" dirty="0">
              <a:solidFill>
                <a:srgbClr val="000000"/>
              </a:solidFill>
              <a:latin typeface="MiSans"/>
            </a:endParaRPr>
          </a:p>
        </p:txBody>
      </p:sp>
      <p:sp>
        <p:nvSpPr>
          <p:cNvPr id="17" name="文本框 16">
            <a:extLst>
              <a:ext uri="{FF2B5EF4-FFF2-40B4-BE49-F238E27FC236}">
                <a16:creationId xmlns:a16="http://schemas.microsoft.com/office/drawing/2014/main" id="{A364C55A-8CCF-46DF-89B9-4563DB358BE1}"/>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童雨周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00886357</a:t>
            </a:r>
          </a:p>
        </p:txBody>
      </p:sp>
      <p:sp>
        <p:nvSpPr>
          <p:cNvPr id="11" name="文本框 10">
            <a:extLst>
              <a:ext uri="{FF2B5EF4-FFF2-40B4-BE49-F238E27FC236}">
                <a16:creationId xmlns:a16="http://schemas.microsoft.com/office/drawing/2014/main" id="{B5E5F983-B635-43A9-B0D2-4550855F2EC6}"/>
              </a:ext>
            </a:extLst>
          </p:cNvPr>
          <p:cNvSpPr txBox="1"/>
          <p:nvPr/>
        </p:nvSpPr>
        <p:spPr>
          <a:xfrm>
            <a:off x="1790020" y="2413337"/>
            <a:ext cx="5201000" cy="2585323"/>
          </a:xfrm>
          <a:prstGeom prst="rect">
            <a:avLst/>
          </a:prstGeom>
          <a:noFill/>
        </p:spPr>
        <p:txBody>
          <a:bodyPr wrap="square" rtlCol="0">
            <a:spAutoFit/>
          </a:bodyPr>
          <a:lstStyle/>
          <a:p>
            <a:r>
              <a:rPr lang="zh-CN" altLang="en-US" dirty="0"/>
              <a:t>分析结论：</a:t>
            </a:r>
            <a:r>
              <a:rPr lang="en-US" altLang="zh-CN" dirty="0" err="1"/>
              <a:t>highlevel</a:t>
            </a:r>
            <a:r>
              <a:rPr lang="zh-CN" altLang="en-US" dirty="0"/>
              <a:t>（方法论，到达成的效果），不要太多细节。</a:t>
            </a:r>
            <a:endParaRPr lang="en-US" altLang="zh-CN" dirty="0"/>
          </a:p>
          <a:p>
            <a:endParaRPr lang="en-US" altLang="zh-CN" dirty="0"/>
          </a:p>
          <a:p>
            <a:r>
              <a:rPr lang="zh-CN" altLang="en-US" dirty="0"/>
              <a:t>表格形式很好，公式，格式，改一下</a:t>
            </a:r>
            <a:r>
              <a:rPr lang="en-US" altLang="zh-CN" dirty="0"/>
              <a:t>latex</a:t>
            </a:r>
            <a:r>
              <a:rPr lang="zh-CN" altLang="en-US" dirty="0"/>
              <a:t>格式</a:t>
            </a:r>
            <a:endParaRPr lang="en-US" altLang="zh-CN" dirty="0"/>
          </a:p>
          <a:p>
            <a:endParaRPr lang="en-US" altLang="zh-CN" dirty="0"/>
          </a:p>
          <a:p>
            <a:r>
              <a:rPr lang="zh-CN" altLang="en-US" dirty="0"/>
              <a:t>开发需求和趋势思考在深入一些</a:t>
            </a:r>
            <a:endParaRPr lang="en-US" altLang="zh-CN" dirty="0"/>
          </a:p>
          <a:p>
            <a:endParaRPr lang="en-US" altLang="zh-CN" dirty="0"/>
          </a:p>
          <a:p>
            <a:r>
              <a:rPr lang="zh-CN" altLang="en-US" dirty="0"/>
              <a:t>表格中，结构性表达（按条，下结论式的短语）</a:t>
            </a:r>
            <a:endParaRPr lang="en-US" altLang="zh-CN" dirty="0"/>
          </a:p>
          <a:p>
            <a:endParaRPr lang="zh-CN" altLang="en-US" dirty="0"/>
          </a:p>
        </p:txBody>
      </p:sp>
    </p:spTree>
    <p:extLst>
      <p:ext uri="{BB962C8B-B14F-4D97-AF65-F5344CB8AC3E}">
        <p14:creationId xmlns:p14="http://schemas.microsoft.com/office/powerpoint/2010/main" val="1401231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a:extLst>
              <a:ext uri="{FF2B5EF4-FFF2-40B4-BE49-F238E27FC236}">
                <a16:creationId xmlns:a16="http://schemas.microsoft.com/office/drawing/2014/main" id="{85661469-D520-4BDF-A02C-6D55E448EEF4}"/>
              </a:ext>
            </a:extLst>
          </p:cNvPr>
          <p:cNvSpPr>
            <a:spLocks noGrp="1"/>
          </p:cNvSpPr>
          <p:nvPr/>
        </p:nvSpPr>
        <p:spPr>
          <a:xfrm>
            <a:off x="5082381" y="177800"/>
            <a:ext cx="6654800" cy="177800"/>
          </a:xfrm>
          <a:prstGeom prst="rect">
            <a:avLst/>
          </a:prstGeom>
          <a:noFill/>
          <a:ln>
            <a:noFill/>
          </a:ln>
        </p:spPr>
        <p:txBody>
          <a:bodyPr wrap="none" lIns="0" tIns="0" rIns="0" bIns="0" anchor="ctr"/>
          <a:lstStyle/>
          <a:p>
            <a:pPr algn="r">
              <a:lnSpc>
                <a:spcPct val="120000"/>
              </a:lnSpc>
            </a:pPr>
            <a:r>
              <a:rPr sz="800">
                <a:solidFill>
                  <a:srgbClr val="737373"/>
                </a:solidFill>
                <a:latin typeface="微软雅黑"/>
                <a:ea typeface="微软雅黑"/>
                <a:cs typeface="微软雅黑"/>
              </a:rPr>
              <a:t>资料来源：Kimi K3 Technical Report §2.1.2；vllm / vllm-ascend 代码仓</a:t>
            </a:r>
            <a:endParaRPr sz="800">
              <a:solidFill>
                <a:srgbClr val="000000"/>
              </a:solidFill>
              <a:latin typeface="MiSans"/>
            </a:endParaRPr>
          </a:p>
        </p:txBody>
      </p:sp>
      <p:sp>
        <p:nvSpPr>
          <p:cNvPr id="3" name="title">
            <a:extLst>
              <a:ext uri="{FF2B5EF4-FFF2-40B4-BE49-F238E27FC236}">
                <a16:creationId xmlns:a16="http://schemas.microsoft.com/office/drawing/2014/main" id="{F5D3AF98-57F3-4F6C-9EE2-F43AAC1F68EC}"/>
              </a:ext>
            </a:extLst>
          </p:cNvPr>
          <p:cNvSpPr>
            <a:spLocks noGrp="1"/>
          </p:cNvSpPr>
          <p:nvPr/>
        </p:nvSpPr>
        <p:spPr>
          <a:xfrm>
            <a:off x="561181" y="228600"/>
            <a:ext cx="11176000" cy="381000"/>
          </a:xfrm>
          <a:prstGeom prst="rect">
            <a:avLst/>
          </a:prstGeom>
          <a:noFill/>
          <a:ln>
            <a:noFill/>
          </a:ln>
        </p:spPr>
        <p:txBody>
          <a:bodyPr wrap="none" lIns="0" tIns="0" rIns="0" bIns="0" anchor="ctr"/>
          <a:lstStyle/>
          <a:p>
            <a:pPr>
              <a:lnSpc>
                <a:spcPct val="120000"/>
              </a:lnSpc>
            </a:pPr>
            <a:r>
              <a:rPr b="1">
                <a:solidFill>
                  <a:srgbClr val="C00000"/>
                </a:solidFill>
                <a:latin typeface="微软雅黑"/>
                <a:ea typeface="微软雅黑"/>
                <a:cs typeface="微软雅黑"/>
              </a:rPr>
              <a:t>Gated MLA：NoPE 全局注意力 + 全秩输出门</a:t>
            </a:r>
            <a:endParaRPr>
              <a:solidFill>
                <a:srgbClr val="000000"/>
              </a:solidFill>
              <a:latin typeface="MiSans"/>
            </a:endParaRPr>
          </a:p>
        </p:txBody>
      </p:sp>
      <p:sp>
        <p:nvSpPr>
          <p:cNvPr id="4" name="concl-label-bg">
            <a:extLst>
              <a:ext uri="{FF2B5EF4-FFF2-40B4-BE49-F238E27FC236}">
                <a16:creationId xmlns:a16="http://schemas.microsoft.com/office/drawing/2014/main" id="{4847A53F-02CA-415F-B48F-2B46E8A6A7CB}"/>
              </a:ext>
            </a:extLst>
          </p:cNvPr>
          <p:cNvSpPr>
            <a:spLocks noGrp="1"/>
          </p:cNvSpPr>
          <p:nvPr/>
        </p:nvSpPr>
        <p:spPr>
          <a:xfrm>
            <a:off x="561181" y="736600"/>
            <a:ext cx="1117600" cy="1397000"/>
          </a:xfrm>
          <a:prstGeom prst="rect">
            <a:avLst/>
          </a:prstGeom>
          <a:solidFill>
            <a:srgbClr val="C00000"/>
          </a:solidFill>
          <a:ln>
            <a:noFill/>
          </a:ln>
        </p:spPr>
      </p:sp>
      <p:sp>
        <p:nvSpPr>
          <p:cNvPr id="5" name="concl-label">
            <a:extLst>
              <a:ext uri="{FF2B5EF4-FFF2-40B4-BE49-F238E27FC236}">
                <a16:creationId xmlns:a16="http://schemas.microsoft.com/office/drawing/2014/main" id="{AC810317-54E7-4667-9DC0-E6050162A5EC}"/>
              </a:ext>
            </a:extLst>
          </p:cNvPr>
          <p:cNvSpPr>
            <a:spLocks noGrp="1"/>
          </p:cNvSpPr>
          <p:nvPr/>
        </p:nvSpPr>
        <p:spPr>
          <a:xfrm>
            <a:off x="561181" y="736600"/>
            <a:ext cx="1117600" cy="1397000"/>
          </a:xfrm>
          <a:prstGeom prst="rect">
            <a:avLst/>
          </a:prstGeom>
          <a:noFill/>
          <a:ln>
            <a:noFill/>
          </a:ln>
        </p:spPr>
        <p:txBody>
          <a:bodyPr wrap="square" lIns="0" tIns="0" rIns="0" bIns="0" anchor="ctr"/>
          <a:lstStyle/>
          <a:p>
            <a:pPr algn="ctr">
              <a:lnSpc>
                <a:spcPct val="120000"/>
              </a:lnSpc>
            </a:pPr>
            <a:r>
              <a:rPr sz="1400" b="1">
                <a:solidFill>
                  <a:srgbClr val="FFFFFF"/>
                </a:solidFill>
                <a:latin typeface="微软雅黑"/>
                <a:ea typeface="微软雅黑"/>
                <a:cs typeface="微软雅黑"/>
              </a:rPr>
              <a:t>分析</a:t>
            </a:r>
            <a:endParaRPr sz="1400">
              <a:solidFill>
                <a:srgbClr val="000000"/>
              </a:solidFill>
              <a:latin typeface="MiSans"/>
            </a:endParaRPr>
          </a:p>
          <a:p>
            <a:pPr algn="ctr">
              <a:lnSpc>
                <a:spcPct val="120000"/>
              </a:lnSpc>
            </a:pPr>
            <a:r>
              <a:rPr sz="1400" b="1">
                <a:solidFill>
                  <a:srgbClr val="FFFFFF"/>
                </a:solidFill>
                <a:latin typeface="微软雅黑"/>
                <a:ea typeface="微软雅黑"/>
                <a:cs typeface="微软雅黑"/>
              </a:rPr>
              <a:t>结论</a:t>
            </a:r>
            <a:endParaRPr sz="1400">
              <a:solidFill>
                <a:srgbClr val="000000"/>
              </a:solidFill>
              <a:latin typeface="MiSans"/>
            </a:endParaRPr>
          </a:p>
        </p:txBody>
      </p:sp>
      <p:sp>
        <p:nvSpPr>
          <p:cNvPr id="6" name="concl-body-bg">
            <a:extLst>
              <a:ext uri="{FF2B5EF4-FFF2-40B4-BE49-F238E27FC236}">
                <a16:creationId xmlns:a16="http://schemas.microsoft.com/office/drawing/2014/main" id="{3B3BF091-11A2-42FE-86D6-799EDB76F4B7}"/>
              </a:ext>
            </a:extLst>
          </p:cNvPr>
          <p:cNvSpPr>
            <a:spLocks noGrp="1"/>
          </p:cNvSpPr>
          <p:nvPr/>
        </p:nvSpPr>
        <p:spPr>
          <a:xfrm>
            <a:off x="1780381" y="736600"/>
            <a:ext cx="9956800" cy="1397000"/>
          </a:xfrm>
          <a:prstGeom prst="rect">
            <a:avLst/>
          </a:prstGeom>
          <a:solidFill>
            <a:srgbClr val="F2F2F2"/>
          </a:solidFill>
          <a:ln>
            <a:noFill/>
          </a:ln>
        </p:spPr>
      </p:sp>
      <p:sp>
        <p:nvSpPr>
          <p:cNvPr id="7" name="concl-bullets">
            <a:extLst>
              <a:ext uri="{FF2B5EF4-FFF2-40B4-BE49-F238E27FC236}">
                <a16:creationId xmlns:a16="http://schemas.microsoft.com/office/drawing/2014/main" id="{9854C8D6-29CB-40C7-A849-52F22C1A8DA3}"/>
              </a:ext>
            </a:extLst>
          </p:cNvPr>
          <p:cNvSpPr>
            <a:spLocks noGrp="1"/>
          </p:cNvSpPr>
          <p:nvPr/>
        </p:nvSpPr>
        <p:spPr>
          <a:xfrm>
            <a:off x="1958181" y="800100"/>
            <a:ext cx="9601200" cy="1270000"/>
          </a:xfrm>
          <a:prstGeom prst="rect">
            <a:avLst/>
          </a:prstGeom>
          <a:noFill/>
          <a:ln>
            <a:noFill/>
          </a:ln>
        </p:spPr>
        <p:txBody>
          <a:bodyPr wrap="square" lIns="0" tIns="0" rIns="0" bIns="0" anchor="ctr"/>
          <a:lstStyle/>
          <a:p>
            <a:pPr>
              <a:lnSpc>
                <a:spcPct val="135000"/>
              </a:lnSpc>
              <a:spcBef>
                <a:spcPts val="10"/>
              </a:spcBef>
              <a:buFontTx/>
              <a:buChar char="•"/>
            </a:pPr>
            <a:r>
              <a:rPr sz="900" b="1">
                <a:solidFill>
                  <a:srgbClr val="262626"/>
                </a:solidFill>
                <a:latin typeface="微软雅黑"/>
                <a:ea typeface="微软雅黑"/>
                <a:cs typeface="微软雅黑"/>
              </a:rPr>
              <a:t>结构定位：93 层中 24 层为 Gated MLA；K3 MLA 采用 NoPE，由 KDA 提供位置与 recency，保留全局内容检索。</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缓存账本：kv_lora_rank=512、q_lora_rank=1536；仅 cₖᵥ 入 KV cache，24×512×2B=24.6KB/token，1M token≈24.6GB。</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推理负载：prefill 受 QKᵀ/AV 的序列长度影响；decode 受 latent page、K/V 重建和 Wo/gate GEMM 影响，NoPE 不含 RoPE 分量。</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上线判断：A3 MLA/Prefix Cache/FULL_DECODE_ONLY 已有路径；混合 KDA+MLA 的统一 state-aware cache 仍需框架补齐。</a:t>
            </a:r>
            <a:endParaRPr sz="900">
              <a:solidFill>
                <a:srgbClr val="000000"/>
              </a:solidFill>
              <a:latin typeface="MiSans"/>
            </a:endParaRPr>
          </a:p>
        </p:txBody>
      </p:sp>
      <p:sp>
        <p:nvSpPr>
          <p:cNvPr id="8" name="arch-label">
            <a:extLst>
              <a:ext uri="{FF2B5EF4-FFF2-40B4-BE49-F238E27FC236}">
                <a16:creationId xmlns:a16="http://schemas.microsoft.com/office/drawing/2014/main" id="{D1E85C84-F26F-42A4-999C-223D5ADB7068}"/>
              </a:ext>
            </a:extLst>
          </p:cNvPr>
          <p:cNvSpPr>
            <a:spLocks noGrp="1"/>
          </p:cNvSpPr>
          <p:nvPr/>
        </p:nvSpPr>
        <p:spPr>
          <a:xfrm>
            <a:off x="561181" y="2286000"/>
            <a:ext cx="254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模块结构与数据流</a:t>
            </a:r>
            <a:endParaRPr sz="1200">
              <a:solidFill>
                <a:srgbClr val="000000"/>
              </a:solidFill>
              <a:latin typeface="MiSans"/>
            </a:endParaRPr>
          </a:p>
        </p:txBody>
      </p:sp>
      <p:sp>
        <p:nvSpPr>
          <p:cNvPr id="9" name="legend-box">
            <a:extLst>
              <a:ext uri="{FF2B5EF4-FFF2-40B4-BE49-F238E27FC236}">
                <a16:creationId xmlns:a16="http://schemas.microsoft.com/office/drawing/2014/main" id="{59C0C907-FC5C-44D8-90E2-DAA585A94A2B}"/>
              </a:ext>
            </a:extLst>
          </p:cNvPr>
          <p:cNvSpPr>
            <a:spLocks noGrp="1"/>
          </p:cNvSpPr>
          <p:nvPr/>
        </p:nvSpPr>
        <p:spPr>
          <a:xfrm>
            <a:off x="2923381" y="2324100"/>
            <a:ext cx="127000" cy="127000"/>
          </a:xfrm>
          <a:prstGeom prst="rect">
            <a:avLst/>
          </a:prstGeom>
          <a:solidFill>
            <a:srgbClr val="FFFFFF"/>
          </a:solidFill>
          <a:ln w="12700">
            <a:solidFill>
              <a:srgbClr val="C00000"/>
            </a:solidFill>
          </a:ln>
        </p:spPr>
      </p:sp>
      <p:sp>
        <p:nvSpPr>
          <p:cNvPr id="10" name="legend-text">
            <a:extLst>
              <a:ext uri="{FF2B5EF4-FFF2-40B4-BE49-F238E27FC236}">
                <a16:creationId xmlns:a16="http://schemas.microsoft.com/office/drawing/2014/main" id="{DB3E9720-77BF-4D7B-9F8B-12456432E0CE}"/>
              </a:ext>
            </a:extLst>
          </p:cNvPr>
          <p:cNvSpPr>
            <a:spLocks noGrp="1"/>
          </p:cNvSpPr>
          <p:nvPr/>
        </p:nvSpPr>
        <p:spPr>
          <a:xfrm>
            <a:off x="3101181" y="2286000"/>
            <a:ext cx="3048000" cy="177800"/>
          </a:xfrm>
          <a:prstGeom prst="rect">
            <a:avLst/>
          </a:prstGeom>
          <a:noFill/>
          <a:ln>
            <a:noFill/>
          </a:ln>
        </p:spPr>
        <p:txBody>
          <a:bodyPr wrap="none" lIns="0" tIns="0" rIns="0" bIns="0" anchor="ctr"/>
          <a:lstStyle/>
          <a:p>
            <a:pPr>
              <a:lnSpc>
                <a:spcPct val="120000"/>
              </a:lnSpc>
            </a:pPr>
            <a:r>
              <a:rPr sz="800">
                <a:solidFill>
                  <a:srgbClr val="737373"/>
                </a:solidFill>
                <a:latin typeface="微软雅黑"/>
                <a:ea typeface="微软雅黑"/>
                <a:cs typeface="微软雅黑"/>
              </a:rPr>
              <a:t>红框 = K3 相对标准 MLA（K2）的改动</a:t>
            </a:r>
            <a:endParaRPr sz="800">
              <a:solidFill>
                <a:srgbClr val="000000"/>
              </a:solidFill>
              <a:latin typeface="MiSans"/>
            </a:endParaRPr>
          </a:p>
        </p:txBody>
      </p:sp>
      <p:pic>
        <p:nvPicPr>
          <p:cNvPr id="28" name="arch-figure"/>
          <p:cNvPicPr>
            <a:picLocks noChangeAspect="1"/>
          </p:cNvPicPr>
          <p:nvPr/>
        </p:nvPicPr>
        <p:blipFill rotWithShape="1">
          <a:blip r:embed="rId3"/>
          <a:srcRect r="42329"/>
          <a:stretch/>
        </p:blipFill>
        <p:spPr>
          <a:xfrm>
            <a:off x="510350" y="2476500"/>
            <a:ext cx="3725009" cy="3323665"/>
          </a:xfrm>
          <a:prstGeom prst="rect">
            <a:avLst/>
          </a:prstGeom>
          <a:ln>
            <a:noFill/>
          </a:ln>
        </p:spPr>
      </p:pic>
      <p:sp>
        <p:nvSpPr>
          <p:cNvPr id="12" name="param-label">
            <a:extLst>
              <a:ext uri="{FF2B5EF4-FFF2-40B4-BE49-F238E27FC236}">
                <a16:creationId xmlns:a16="http://schemas.microsoft.com/office/drawing/2014/main" id="{055F6BF9-D868-4DEF-99AB-A3CFC35B70EE}"/>
              </a:ext>
            </a:extLst>
          </p:cNvPr>
          <p:cNvSpPr>
            <a:spLocks noGrp="1"/>
          </p:cNvSpPr>
          <p:nvPr/>
        </p:nvSpPr>
        <p:spPr>
          <a:xfrm>
            <a:off x="6199981" y="2286000"/>
            <a:ext cx="381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各阶段负载与昇腾诉求</a:t>
            </a:r>
            <a:endParaRPr sz="1200">
              <a:solidFill>
                <a:srgbClr val="000000"/>
              </a:solidFill>
              <a:latin typeface="MiSans"/>
            </a:endParaRPr>
          </a:p>
        </p:txBody>
      </p:sp>
      <p:graphicFrame>
        <p:nvGraphicFramePr>
          <p:cNvPr id="30" name="param-table"/>
          <p:cNvGraphicFramePr/>
          <p:nvPr>
            <p:extLst>
              <p:ext uri="{D42A27DB-BD31-4B8C-83A1-F6EECF244321}">
                <p14:modId xmlns:p14="http://schemas.microsoft.com/office/powerpoint/2010/main" val="3831051010"/>
              </p:ext>
            </p:extLst>
          </p:nvPr>
        </p:nvGraphicFramePr>
        <p:xfrm>
          <a:off x="6022181" y="2618074"/>
          <a:ext cx="5537200" cy="2984500"/>
        </p:xfrm>
        <a:graphic>
          <a:graphicData uri="http://schemas.openxmlformats.org/drawingml/2006/table">
            <a:tbl>
              <a:tblPr/>
              <a:tblGrid>
                <a:gridCol w="1328928">
                  <a:extLst>
                    <a:ext uri="{9D8B030D-6E8A-4147-A177-3AD203B41FA5}">
                      <a16:colId xmlns:a16="http://schemas.microsoft.com/office/drawing/2014/main" val="20000"/>
                    </a:ext>
                  </a:extLst>
                </a:gridCol>
                <a:gridCol w="1439672">
                  <a:extLst>
                    <a:ext uri="{9D8B030D-6E8A-4147-A177-3AD203B41FA5}">
                      <a16:colId xmlns:a16="http://schemas.microsoft.com/office/drawing/2014/main" val="20001"/>
                    </a:ext>
                  </a:extLst>
                </a:gridCol>
                <a:gridCol w="941324">
                  <a:extLst>
                    <a:ext uri="{9D8B030D-6E8A-4147-A177-3AD203B41FA5}">
                      <a16:colId xmlns:a16="http://schemas.microsoft.com/office/drawing/2014/main" val="20002"/>
                    </a:ext>
                  </a:extLst>
                </a:gridCol>
                <a:gridCol w="1827276">
                  <a:extLst>
                    <a:ext uri="{9D8B030D-6E8A-4147-A177-3AD203B41FA5}">
                      <a16:colId xmlns:a16="http://schemas.microsoft.com/office/drawing/2014/main" val="20003"/>
                    </a:ext>
                  </a:extLst>
                </a:gridCol>
              </a:tblGrid>
              <a:tr h="248920">
                <a:tc>
                  <a:txBody>
                    <a:bodyPr/>
                    <a:lstStyle/>
                    <a:p>
                      <a:pPr algn="l">
                        <a:buNone/>
                      </a:pPr>
                      <a:r>
                        <a:rPr sz="800" b="1">
                          <a:solidFill>
                            <a:srgbClr val="262626"/>
                          </a:solidFill>
                          <a:latin typeface="微软雅黑"/>
                          <a:ea typeface="微软雅黑"/>
                          <a:cs typeface="微软雅黑"/>
                        </a:rPr>
                        <a:t>组件</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373380">
                <a:tc>
                  <a:txBody>
                    <a:bodyPr/>
                    <a:lstStyle/>
                    <a:p>
                      <a:pPr algn="l">
                        <a:buNone/>
                      </a:pPr>
                      <a:r>
                        <a:rPr sz="800">
                          <a:solidFill>
                            <a:srgbClr val="262626"/>
                          </a:solidFill>
                          <a:latin typeface="微软雅黑"/>
                          <a:ea typeface="微软雅黑"/>
                          <a:cs typeface="微软雅黑"/>
                        </a:rPr>
                        <a:t>隐向量下投影 Wc</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x∈R7168 → ct∈Rdc</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2d·dc</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稠密 GEMM → CUBE；decode 退化为 GEMV，访存受限</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373380">
                <a:tc>
                  <a:txBody>
                    <a:bodyPr/>
                    <a:lstStyle/>
                    <a:p>
                      <a:pPr algn="l">
                        <a:buNone/>
                      </a:pPr>
                      <a:r>
                        <a:rPr sz="800" dirty="0">
                          <a:solidFill>
                            <a:srgbClr val="262626"/>
                          </a:solidFill>
                          <a:latin typeface="微软雅黑"/>
                          <a:ea typeface="微软雅黑"/>
                          <a:cs typeface="微软雅黑"/>
                        </a:rPr>
                        <a:t>Q/K/V </a:t>
                      </a:r>
                      <a:r>
                        <a:rPr sz="800" dirty="0" err="1">
                          <a:solidFill>
                            <a:srgbClr val="262626"/>
                          </a:solidFill>
                          <a:latin typeface="微软雅黑"/>
                          <a:ea typeface="微软雅黑"/>
                          <a:cs typeface="微软雅黑"/>
                        </a:rPr>
                        <a:t>投影与上投影</a:t>
                      </a:r>
                      <a:endParaRPr sz="800" dirty="0">
                        <a:solidFill>
                          <a:srgbClr val="262626"/>
                        </a:solidFill>
                        <a:latin typeface="微软雅黑"/>
                        <a:ea typeface="微软雅黑"/>
                        <a:cs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q: d→H·dh；k,v: dc→H·dh</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2d·H·dh + 4dc·H·dh</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decode 可吸收（absorb）上投影、直接以 ct 计算，降低 KV 读取</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373380">
                <a:tc>
                  <a:txBody>
                    <a:bodyPr/>
                    <a:lstStyle/>
                    <a:p>
                      <a:pPr algn="l">
                        <a:buNone/>
                      </a:pPr>
                      <a:r>
                        <a:rPr sz="800">
                          <a:solidFill>
                            <a:srgbClr val="262626"/>
                          </a:solidFill>
                          <a:latin typeface="微软雅黑"/>
                          <a:ea typeface="微软雅黑"/>
                          <a:cs typeface="微软雅黑"/>
                        </a:rPr>
                        <a:t>全局注意力 </a:t>
                      </a:r>
                      <a:r>
                        <a:rPr sz="800">
                          <a:solidFill>
                            <a:srgbClr val="C00000"/>
                          </a:solidFill>
                          <a:latin typeface="微软雅黑"/>
                          <a:ea typeface="微软雅黑"/>
                          <a:cs typeface="微软雅黑"/>
                        </a:rPr>
                        <a:t>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q,k,v∈RH·dh；L 任意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4L·H·dh，随 L 线性</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CUBE matmul + Vector softmax；无 RoPE → 省去旋转 kernel 与 sin/cos 表</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373380">
                <a:tc>
                  <a:txBody>
                    <a:bodyPr/>
                    <a:lstStyle/>
                    <a:p>
                      <a:pPr algn="l">
                        <a:buNone/>
                      </a:pPr>
                      <a:r>
                        <a:rPr sz="800">
                          <a:solidFill>
                            <a:srgbClr val="262626"/>
                          </a:solidFill>
                          <a:latin typeface="微软雅黑"/>
                          <a:ea typeface="微软雅黑"/>
                          <a:cs typeface="微软雅黑"/>
                        </a:rPr>
                        <a:t>KV Cache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ct：dc×2B / token / 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随 L 线性增长，1M 上下文为主要显存项；NoPE 后单 token 缓存 &lt; 标准 MLA</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373380">
                <a:tc>
                  <a:txBody>
                    <a:bodyPr/>
                    <a:lstStyle/>
                    <a:p>
                      <a:pPr algn="l">
                        <a:buNone/>
                      </a:pPr>
                      <a:r>
                        <a:rPr sz="800">
                          <a:solidFill>
                            <a:srgbClr val="262626"/>
                          </a:solidFill>
                          <a:latin typeface="微软雅黑"/>
                          <a:ea typeface="微软雅黑"/>
                          <a:cs typeface="微软雅黑"/>
                        </a:rPr>
                        <a:t>全秩输出门 </a:t>
                      </a:r>
                      <a:r>
                        <a:rPr sz="800">
                          <a:solidFill>
                            <a:srgbClr val="C00000"/>
                          </a:solidFill>
                          <a:latin typeface="微软雅黑"/>
                          <a:ea typeface="微软雅黑"/>
                          <a:cs typeface="微软雅黑"/>
                        </a:rPr>
                        <a:t>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err="1">
                          <a:solidFill>
                            <a:srgbClr val="262626"/>
                          </a:solidFill>
                          <a:latin typeface="微软雅黑"/>
                          <a:ea typeface="微软雅黑"/>
                          <a:cs typeface="微软雅黑"/>
                        </a:rPr>
                        <a:t>Wg</a:t>
                      </a:r>
                      <a:r>
                        <a:rPr sz="800" dirty="0">
                          <a:solidFill>
                            <a:srgbClr val="262626"/>
                          </a:solidFill>
                          <a:latin typeface="微软雅黑"/>
                          <a:ea typeface="微软雅黑"/>
                          <a:cs typeface="微软雅黑"/>
                        </a:rPr>
                        <a:t>: </a:t>
                      </a:r>
                      <a:r>
                        <a:rPr sz="800" dirty="0" err="1">
                          <a:solidFill>
                            <a:srgbClr val="262626"/>
                          </a:solidFill>
                          <a:latin typeface="微软雅黑"/>
                          <a:ea typeface="微软雅黑"/>
                          <a:cs typeface="微软雅黑"/>
                        </a:rPr>
                        <a:t>d×H·dh</a:t>
                      </a:r>
                      <a:endParaRPr sz="800" dirty="0">
                        <a:solidFill>
                          <a:srgbClr val="262626"/>
                        </a:solidFill>
                        <a:latin typeface="微软雅黑"/>
                        <a:ea typeface="微软雅黑"/>
                        <a:cs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2d·H·dh</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新增标准稠密 GEMM → CUBE 友好；应与注意力输出融合</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373380">
                <a:tc>
                  <a:txBody>
                    <a:bodyPr/>
                    <a:lstStyle/>
                    <a:p>
                      <a:pPr algn="l">
                        <a:buNone/>
                      </a:pPr>
                      <a:r>
                        <a:rPr sz="800">
                          <a:solidFill>
                            <a:srgbClr val="262626"/>
                          </a:solidFill>
                          <a:latin typeface="微软雅黑"/>
                          <a:ea typeface="微软雅黑"/>
                          <a:cs typeface="微软雅黑"/>
                        </a:rPr>
                        <a:t>综合账本</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仅 cₖᵥ 入 KV：24.6KB/token，1M≈24.6GB；KDA 状态≈217MB/</a:t>
                      </a:r>
                      <a:r>
                        <a:rPr sz="800" dirty="0" err="1">
                          <a:solidFill>
                            <a:srgbClr val="262626"/>
                          </a:solidFill>
                          <a:latin typeface="微软雅黑"/>
                          <a:ea typeface="微软雅黑"/>
                          <a:cs typeface="微软雅黑"/>
                        </a:rPr>
                        <a:t>序列（config</a:t>
                      </a:r>
                      <a:r>
                        <a:rPr sz="800" dirty="0">
                          <a:solidFill>
                            <a:srgbClr val="262626"/>
                          </a:solidFill>
                          <a:latin typeface="微软雅黑"/>
                          <a:ea typeface="微软雅黑"/>
                          <a:cs typeface="微软雅黑"/>
                        </a:rPr>
                        <a:t> </a:t>
                      </a:r>
                      <a:r>
                        <a:rPr sz="800" dirty="0" err="1">
                          <a:solidFill>
                            <a:srgbClr val="262626"/>
                          </a:solidFill>
                          <a:latin typeface="微软雅黑"/>
                          <a:ea typeface="微软雅黑"/>
                          <a:cs typeface="微软雅黑"/>
                        </a:rPr>
                        <a:t>假设</a:t>
                      </a:r>
                      <a:r>
                        <a:rPr sz="800" dirty="0">
                          <a:solidFill>
                            <a:srgbClr val="262626"/>
                          </a:solidFill>
                          <a:latin typeface="微软雅黑"/>
                          <a:ea typeface="微软雅黑"/>
                          <a:cs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err="1">
                          <a:solidFill>
                            <a:srgbClr val="262626"/>
                          </a:solidFill>
                          <a:latin typeface="微软雅黑"/>
                          <a:ea typeface="微软雅黑"/>
                          <a:cs typeface="微软雅黑"/>
                        </a:rPr>
                        <a:t>压缩</a:t>
                      </a:r>
                      <a:r>
                        <a:rPr sz="800" dirty="0">
                          <a:solidFill>
                            <a:srgbClr val="262626"/>
                          </a:solidFill>
                          <a:latin typeface="微软雅黑"/>
                          <a:ea typeface="微软雅黑"/>
                          <a:cs typeface="微软雅黑"/>
                        </a:rPr>
                        <a:t>/重建≈2d·dc；QKᵀ/AV 随 L 线性增长；gate≈2d²</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a:solidFill>
                            <a:srgbClr val="262626"/>
                          </a:solidFill>
                          <a:latin typeface="微软雅黑"/>
                          <a:ea typeface="微软雅黑"/>
                          <a:cs typeface="微软雅黑"/>
                        </a:rPr>
                        <a:t>CUBE: QKV/up-</a:t>
                      </a:r>
                      <a:r>
                        <a:rPr sz="800" dirty="0" err="1">
                          <a:solidFill>
                            <a:srgbClr val="262626"/>
                          </a:solidFill>
                          <a:latin typeface="微软雅黑"/>
                          <a:ea typeface="微软雅黑"/>
                          <a:cs typeface="微软雅黑"/>
                        </a:rPr>
                        <a:t>proj</a:t>
                      </a:r>
                      <a:r>
                        <a:rPr sz="800" dirty="0">
                          <a:solidFill>
                            <a:srgbClr val="262626"/>
                          </a:solidFill>
                          <a:latin typeface="微软雅黑"/>
                          <a:ea typeface="微软雅黑"/>
                          <a:cs typeface="微软雅黑"/>
                        </a:rPr>
                        <a:t>/Wo/</a:t>
                      </a:r>
                      <a:r>
                        <a:rPr sz="800" dirty="0" err="1">
                          <a:solidFill>
                            <a:srgbClr val="262626"/>
                          </a:solidFill>
                          <a:latin typeface="微软雅黑"/>
                          <a:ea typeface="微软雅黑"/>
                          <a:cs typeface="微软雅黑"/>
                        </a:rPr>
                        <a:t>gate；Vector</a:t>
                      </a:r>
                      <a:r>
                        <a:rPr sz="800" dirty="0">
                          <a:solidFill>
                            <a:srgbClr val="262626"/>
                          </a:solidFill>
                          <a:latin typeface="微软雅黑"/>
                          <a:ea typeface="微软雅黑"/>
                          <a:cs typeface="微软雅黑"/>
                        </a:rPr>
                        <a:t>: sigmoid/</a:t>
                      </a:r>
                      <a:r>
                        <a:rPr sz="800" dirty="0" err="1">
                          <a:solidFill>
                            <a:srgbClr val="262626"/>
                          </a:solidFill>
                          <a:latin typeface="微软雅黑"/>
                          <a:ea typeface="微软雅黑"/>
                          <a:cs typeface="微软雅黑"/>
                        </a:rPr>
                        <a:t>scale；KV</a:t>
                      </a:r>
                      <a:r>
                        <a:rPr sz="800" dirty="0">
                          <a:solidFill>
                            <a:srgbClr val="262626"/>
                          </a:solidFill>
                          <a:latin typeface="微软雅黑"/>
                          <a:ea typeface="微软雅黑"/>
                          <a:cs typeface="微软雅黑"/>
                        </a:rPr>
                        <a:t> page 与 KDA checkpoint </a:t>
                      </a:r>
                      <a:r>
                        <a:rPr sz="800" dirty="0" err="1">
                          <a:solidFill>
                            <a:srgbClr val="262626"/>
                          </a:solidFill>
                          <a:latin typeface="微软雅黑"/>
                          <a:ea typeface="微软雅黑"/>
                          <a:cs typeface="微软雅黑"/>
                        </a:rPr>
                        <a:t>统一回收</a:t>
                      </a:r>
                      <a:endParaRPr sz="800" dirty="0">
                        <a:solidFill>
                          <a:srgbClr val="262626"/>
                        </a:solidFill>
                        <a:latin typeface="微软雅黑"/>
                        <a:ea typeface="微软雅黑"/>
                        <a:cs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p:sp>
        <p:nvSpPr>
          <p:cNvPr id="14" name="param-note">
            <a:extLst>
              <a:ext uri="{FF2B5EF4-FFF2-40B4-BE49-F238E27FC236}">
                <a16:creationId xmlns:a16="http://schemas.microsoft.com/office/drawing/2014/main" id="{106BB118-80B1-482F-BEA3-E266CD8C5116}"/>
              </a:ext>
            </a:extLst>
          </p:cNvPr>
          <p:cNvSpPr>
            <a:spLocks noGrp="1"/>
          </p:cNvSpPr>
          <p:nvPr/>
        </p:nvSpPr>
        <p:spPr>
          <a:xfrm>
            <a:off x="6199981" y="5219700"/>
            <a:ext cx="5537168" cy="38100"/>
          </a:xfrm>
          <a:prstGeom prst="rect">
            <a:avLst/>
          </a:prstGeom>
          <a:noFill/>
          <a:ln>
            <a:noFill/>
          </a:ln>
        </p:spPr>
        <p:txBody>
          <a:bodyPr wrap="square" lIns="0" tIns="0" rIns="0" bIns="0" anchor="t"/>
          <a:lstStyle/>
          <a:p>
            <a:pPr>
              <a:lnSpc>
                <a:spcPct val="135000"/>
              </a:lnSpc>
            </a:pPr>
            <a:endParaRPr sz="750">
              <a:solidFill>
                <a:srgbClr val="000000"/>
              </a:solidFill>
              <a:latin typeface="MiSans"/>
            </a:endParaRPr>
          </a:p>
        </p:txBody>
      </p:sp>
      <p:sp>
        <p:nvSpPr>
          <p:cNvPr id="15" name="dev-label">
            <a:extLst>
              <a:ext uri="{FF2B5EF4-FFF2-40B4-BE49-F238E27FC236}">
                <a16:creationId xmlns:a16="http://schemas.microsoft.com/office/drawing/2014/main" id="{2F2EA3FE-17EF-4F91-B298-021E0D1E4FD6}"/>
              </a:ext>
            </a:extLst>
          </p:cNvPr>
          <p:cNvSpPr>
            <a:spLocks noGrp="1"/>
          </p:cNvSpPr>
          <p:nvPr/>
        </p:nvSpPr>
        <p:spPr>
          <a:xfrm>
            <a:off x="561213" y="5695950"/>
            <a:ext cx="111252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开发需求与趋势思考</a:t>
            </a:r>
            <a:endParaRPr sz="1200">
              <a:solidFill>
                <a:srgbClr val="000000"/>
              </a:solidFill>
              <a:latin typeface="MiSans"/>
            </a:endParaRPr>
          </a:p>
        </p:txBody>
      </p:sp>
      <p:sp>
        <p:nvSpPr>
          <p:cNvPr id="16" name="dev-bullets">
            <a:extLst>
              <a:ext uri="{FF2B5EF4-FFF2-40B4-BE49-F238E27FC236}">
                <a16:creationId xmlns:a16="http://schemas.microsoft.com/office/drawing/2014/main" id="{7DC0A6EA-D7BD-4254-B0E4-C3294355B584}"/>
              </a:ext>
            </a:extLst>
          </p:cNvPr>
          <p:cNvSpPr>
            <a:spLocks noGrp="1"/>
          </p:cNvSpPr>
          <p:nvPr/>
        </p:nvSpPr>
        <p:spPr>
          <a:xfrm>
            <a:off x="561213" y="5953125"/>
            <a:ext cx="11125200" cy="762000"/>
          </a:xfrm>
          <a:prstGeom prst="rect">
            <a:avLst/>
          </a:prstGeom>
          <a:noFill/>
          <a:ln>
            <a:noFill/>
          </a:ln>
        </p:spPr>
        <p:txBody>
          <a:bodyPr wrap="square" lIns="0" tIns="0" rIns="0" bIns="0" anchor="t"/>
          <a:lstStyle/>
          <a:p>
            <a:pPr>
              <a:lnSpc>
                <a:spcPct val="108000"/>
              </a:lnSpc>
              <a:spcBef>
                <a:spcPts val="10"/>
              </a:spcBef>
              <a:buFontTx/>
              <a:buChar char="•"/>
            </a:pPr>
            <a:r>
              <a:rPr sz="1050" b="1">
                <a:solidFill>
                  <a:srgbClr val="262626"/>
                </a:solidFill>
                <a:latin typeface="微软雅黑"/>
                <a:ea typeface="微软雅黑"/>
                <a:cs typeface="微软雅黑"/>
              </a:rPr>
              <a:t>框架：AscendMLABackend、MLA no-rope cache、PCP/DCP；KDA-aware prefix cache 同时索引 latent page 与 state checkpoint。</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部署：A3 指南固定 TP16/DP4/EP64、max_num_seqs=16、max_num_batched_tokens=8192、FULL_DECODE_ONLY；需按 prefill/decode 分开压测。</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缺口：当前 KVPP 主要覆盖非混合 MLA；KDA state checkpoint、MLA page、AttnRes bank 的统一回收与跨 PP/TP 生命周期仍需实现。</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趋势：先建立可观测的 bytes/token、HCCL time、tokens/s 和 tail latency，再评估 A5 resident-bank 优势。</a:t>
            </a:r>
            <a:endParaRPr sz="800">
              <a:solidFill>
                <a:srgbClr val="000000"/>
              </a:solidFill>
              <a:latin typeface="MiSans"/>
            </a:endParaRPr>
          </a:p>
        </p:txBody>
      </p:sp>
      <p:sp>
        <p:nvSpPr>
          <p:cNvPr id="17" name="文本框 16">
            <a:extLst>
              <a:ext uri="{FF2B5EF4-FFF2-40B4-BE49-F238E27FC236}">
                <a16:creationId xmlns:a16="http://schemas.microsoft.com/office/drawing/2014/main" id="{D67D4B4B-B0E9-4D33-994B-596CB495573C}"/>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童雨周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00886357</a:t>
            </a:r>
          </a:p>
        </p:txBody>
      </p:sp>
    </p:spTree>
    <p:extLst>
      <p:ext uri="{BB962C8B-B14F-4D97-AF65-F5344CB8AC3E}">
        <p14:creationId xmlns:p14="http://schemas.microsoft.com/office/powerpoint/2010/main" val="1275072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a:extLst>
              <a:ext uri="{FF2B5EF4-FFF2-40B4-BE49-F238E27FC236}">
                <a16:creationId xmlns:a16="http://schemas.microsoft.com/office/drawing/2014/main" id="{90E87FCE-1534-43B8-AAF0-595270B4B351}"/>
              </a:ext>
            </a:extLst>
          </p:cNvPr>
          <p:cNvSpPr>
            <a:spLocks noGrp="1"/>
          </p:cNvSpPr>
          <p:nvPr/>
        </p:nvSpPr>
        <p:spPr>
          <a:xfrm>
            <a:off x="4701381" y="177800"/>
            <a:ext cx="7035800" cy="177800"/>
          </a:xfrm>
          <a:prstGeom prst="rect">
            <a:avLst/>
          </a:prstGeom>
          <a:noFill/>
          <a:ln>
            <a:noFill/>
          </a:ln>
        </p:spPr>
        <p:txBody>
          <a:bodyPr wrap="none" lIns="0" tIns="0" rIns="0" bIns="0" anchor="ctr"/>
          <a:lstStyle/>
          <a:p>
            <a:pPr algn="r">
              <a:lnSpc>
                <a:spcPct val="120000"/>
              </a:lnSpc>
            </a:pPr>
            <a:r>
              <a:rPr sz="800">
                <a:solidFill>
                  <a:srgbClr val="737373"/>
                </a:solidFill>
                <a:latin typeface="微软雅黑"/>
                <a:ea typeface="微软雅黑"/>
                <a:cs typeface="微软雅黑"/>
              </a:rPr>
              <a:t>资料来源：Kimi K3 Technical Report §5.1.1；FlashKDA（MoonshotAI）；vllm-ascend ops/triton/kda</a:t>
            </a:r>
            <a:endParaRPr sz="800">
              <a:solidFill>
                <a:srgbClr val="000000"/>
              </a:solidFill>
              <a:latin typeface="MiSans"/>
            </a:endParaRPr>
          </a:p>
        </p:txBody>
      </p:sp>
      <p:sp>
        <p:nvSpPr>
          <p:cNvPr id="3" name="title">
            <a:extLst>
              <a:ext uri="{FF2B5EF4-FFF2-40B4-BE49-F238E27FC236}">
                <a16:creationId xmlns:a16="http://schemas.microsoft.com/office/drawing/2014/main" id="{CB8F8B91-6E7B-415D-886C-1AC990335E15}"/>
              </a:ext>
            </a:extLst>
          </p:cNvPr>
          <p:cNvSpPr>
            <a:spLocks noGrp="1"/>
          </p:cNvSpPr>
          <p:nvPr/>
        </p:nvSpPr>
        <p:spPr>
          <a:xfrm>
            <a:off x="561181" y="228600"/>
            <a:ext cx="11176000" cy="381000"/>
          </a:xfrm>
          <a:prstGeom prst="rect">
            <a:avLst/>
          </a:prstGeom>
          <a:noFill/>
          <a:ln>
            <a:noFill/>
          </a:ln>
        </p:spPr>
        <p:txBody>
          <a:bodyPr wrap="none" lIns="0" tIns="0" rIns="0" bIns="0" anchor="ctr"/>
          <a:lstStyle/>
          <a:p>
            <a:pPr>
              <a:lnSpc>
                <a:spcPct val="120000"/>
              </a:lnSpc>
            </a:pPr>
            <a:r>
              <a:rPr b="1">
                <a:solidFill>
                  <a:srgbClr val="C00000"/>
                </a:solidFill>
                <a:latin typeface="微软雅黑"/>
                <a:ea typeface="微软雅黑"/>
                <a:cs typeface="微软雅黑"/>
              </a:rPr>
              <a:t>FlashKDA：chunkwise 训练 / Prefill 融合算子</a:t>
            </a:r>
            <a:endParaRPr>
              <a:solidFill>
                <a:srgbClr val="000000"/>
              </a:solidFill>
              <a:latin typeface="MiSans"/>
            </a:endParaRPr>
          </a:p>
        </p:txBody>
      </p:sp>
      <p:sp>
        <p:nvSpPr>
          <p:cNvPr id="4" name="concl-label-bg">
            <a:extLst>
              <a:ext uri="{FF2B5EF4-FFF2-40B4-BE49-F238E27FC236}">
                <a16:creationId xmlns:a16="http://schemas.microsoft.com/office/drawing/2014/main" id="{145F3ECB-77C7-40B0-B6EB-77E81A2C3C7A}"/>
              </a:ext>
            </a:extLst>
          </p:cNvPr>
          <p:cNvSpPr>
            <a:spLocks noGrp="1"/>
          </p:cNvSpPr>
          <p:nvPr/>
        </p:nvSpPr>
        <p:spPr>
          <a:xfrm>
            <a:off x="561181" y="736600"/>
            <a:ext cx="1117600" cy="1397000"/>
          </a:xfrm>
          <a:prstGeom prst="rect">
            <a:avLst/>
          </a:prstGeom>
          <a:solidFill>
            <a:srgbClr val="C00000"/>
          </a:solidFill>
          <a:ln>
            <a:noFill/>
          </a:ln>
        </p:spPr>
      </p:sp>
      <p:sp>
        <p:nvSpPr>
          <p:cNvPr id="5" name="concl-label">
            <a:extLst>
              <a:ext uri="{FF2B5EF4-FFF2-40B4-BE49-F238E27FC236}">
                <a16:creationId xmlns:a16="http://schemas.microsoft.com/office/drawing/2014/main" id="{6328A4B6-53FC-4BD0-8072-01F36E116A71}"/>
              </a:ext>
            </a:extLst>
          </p:cNvPr>
          <p:cNvSpPr>
            <a:spLocks noGrp="1"/>
          </p:cNvSpPr>
          <p:nvPr/>
        </p:nvSpPr>
        <p:spPr>
          <a:xfrm>
            <a:off x="561181" y="736600"/>
            <a:ext cx="1117600" cy="1397000"/>
          </a:xfrm>
          <a:prstGeom prst="rect">
            <a:avLst/>
          </a:prstGeom>
          <a:noFill/>
          <a:ln>
            <a:noFill/>
          </a:ln>
        </p:spPr>
        <p:txBody>
          <a:bodyPr wrap="square" lIns="0" tIns="0" rIns="0" bIns="0" anchor="ctr"/>
          <a:lstStyle/>
          <a:p>
            <a:pPr algn="ctr">
              <a:lnSpc>
                <a:spcPct val="120000"/>
              </a:lnSpc>
            </a:pPr>
            <a:r>
              <a:rPr sz="1400" b="1">
                <a:solidFill>
                  <a:srgbClr val="FFFFFF"/>
                </a:solidFill>
                <a:latin typeface="微软雅黑"/>
                <a:ea typeface="微软雅黑"/>
                <a:cs typeface="微软雅黑"/>
              </a:rPr>
              <a:t>分析</a:t>
            </a:r>
            <a:endParaRPr sz="1400">
              <a:solidFill>
                <a:srgbClr val="000000"/>
              </a:solidFill>
              <a:latin typeface="MiSans"/>
            </a:endParaRPr>
          </a:p>
          <a:p>
            <a:pPr algn="ctr">
              <a:lnSpc>
                <a:spcPct val="120000"/>
              </a:lnSpc>
            </a:pPr>
            <a:r>
              <a:rPr sz="1400" b="1">
                <a:solidFill>
                  <a:srgbClr val="FFFFFF"/>
                </a:solidFill>
                <a:latin typeface="微软雅黑"/>
                <a:ea typeface="微软雅黑"/>
                <a:cs typeface="微软雅黑"/>
              </a:rPr>
              <a:t>结论</a:t>
            </a:r>
            <a:endParaRPr sz="1400">
              <a:solidFill>
                <a:srgbClr val="000000"/>
              </a:solidFill>
              <a:latin typeface="MiSans"/>
            </a:endParaRPr>
          </a:p>
        </p:txBody>
      </p:sp>
      <p:sp>
        <p:nvSpPr>
          <p:cNvPr id="6" name="concl-body-bg">
            <a:extLst>
              <a:ext uri="{FF2B5EF4-FFF2-40B4-BE49-F238E27FC236}">
                <a16:creationId xmlns:a16="http://schemas.microsoft.com/office/drawing/2014/main" id="{61CA74B6-78D3-4DDD-A73A-074F0A4CE215}"/>
              </a:ext>
            </a:extLst>
          </p:cNvPr>
          <p:cNvSpPr>
            <a:spLocks noGrp="1"/>
          </p:cNvSpPr>
          <p:nvPr/>
        </p:nvSpPr>
        <p:spPr>
          <a:xfrm>
            <a:off x="1780381" y="736600"/>
            <a:ext cx="9956800" cy="1397000"/>
          </a:xfrm>
          <a:prstGeom prst="rect">
            <a:avLst/>
          </a:prstGeom>
          <a:solidFill>
            <a:srgbClr val="F2F2F2"/>
          </a:solidFill>
          <a:ln>
            <a:noFill/>
          </a:ln>
        </p:spPr>
      </p:sp>
      <p:sp>
        <p:nvSpPr>
          <p:cNvPr id="7" name="concl-bullets">
            <a:extLst>
              <a:ext uri="{FF2B5EF4-FFF2-40B4-BE49-F238E27FC236}">
                <a16:creationId xmlns:a16="http://schemas.microsoft.com/office/drawing/2014/main" id="{20761175-B2A7-41CC-8F15-3CD7F65B1E87}"/>
              </a:ext>
            </a:extLst>
          </p:cNvPr>
          <p:cNvSpPr>
            <a:spLocks noGrp="1"/>
          </p:cNvSpPr>
          <p:nvPr/>
        </p:nvSpPr>
        <p:spPr>
          <a:xfrm>
            <a:off x="1958181" y="800100"/>
            <a:ext cx="9601200" cy="1270000"/>
          </a:xfrm>
          <a:prstGeom prst="rect">
            <a:avLst/>
          </a:prstGeom>
          <a:noFill/>
          <a:ln>
            <a:noFill/>
          </a:ln>
        </p:spPr>
        <p:txBody>
          <a:bodyPr wrap="square" lIns="0" tIns="0" rIns="0" bIns="0" anchor="ctr"/>
          <a:lstStyle/>
          <a:p>
            <a:pPr>
              <a:lnSpc>
                <a:spcPct val="135000"/>
              </a:lnSpc>
              <a:spcBef>
                <a:spcPts val="10"/>
              </a:spcBef>
              <a:buFontTx/>
              <a:buChar char="•"/>
            </a:pPr>
            <a:r>
              <a:rPr sz="900" b="1">
                <a:solidFill>
                  <a:srgbClr val="262626"/>
                </a:solidFill>
                <a:latin typeface="微软雅黑"/>
                <a:ea typeface="微软雅黑"/>
                <a:cs typeface="微软雅黑"/>
              </a:rPr>
              <a:t>FlashKDA 把 chunk 内 matmul 与跨 chunk 状态递归流水化：CUBE 处理 A·V，Vector 处理衰减、cumsum 和小矩阵更新。</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代码约束：chunk_size=64/128；K/V=128（V 可到256）；支持 raw/activated log gate、safe_gate 与最多1024条逻辑序列。</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量化账本：dk=dv=128 时，单 head、单 C=64 chunk 的 intra/state 主项均约2.1M FLOPs；递归只需一次 state handoff。</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昇腾路线：当前以 Triton 参考路径为主；A3/A5 Ascend C/CATLASS 融合 kernel 需分别 benchmark 验收。</a:t>
            </a:r>
            <a:endParaRPr sz="900">
              <a:solidFill>
                <a:srgbClr val="000000"/>
              </a:solidFill>
              <a:latin typeface="MiSans"/>
            </a:endParaRPr>
          </a:p>
        </p:txBody>
      </p:sp>
      <p:sp>
        <p:nvSpPr>
          <p:cNvPr id="8" name="arch-label">
            <a:extLst>
              <a:ext uri="{FF2B5EF4-FFF2-40B4-BE49-F238E27FC236}">
                <a16:creationId xmlns:a16="http://schemas.microsoft.com/office/drawing/2014/main" id="{A8EE2439-7937-47D8-AC86-94C0C55274DD}"/>
              </a:ext>
            </a:extLst>
          </p:cNvPr>
          <p:cNvSpPr>
            <a:spLocks noGrp="1"/>
          </p:cNvSpPr>
          <p:nvPr/>
        </p:nvSpPr>
        <p:spPr>
          <a:xfrm>
            <a:off x="561181" y="2286000"/>
            <a:ext cx="3302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计算 / 状态传播调度交叠</a:t>
            </a:r>
            <a:endParaRPr sz="1200">
              <a:solidFill>
                <a:srgbClr val="000000"/>
              </a:solidFill>
              <a:latin typeface="MiSans"/>
            </a:endParaRPr>
          </a:p>
        </p:txBody>
      </p:sp>
      <p:pic>
        <p:nvPicPr>
          <p:cNvPr id="24" name="arch-figure"/>
          <p:cNvPicPr>
            <a:picLocks noChangeAspect="1"/>
          </p:cNvPicPr>
          <p:nvPr/>
        </p:nvPicPr>
        <p:blipFill>
          <a:blip r:embed="rId3"/>
          <a:stretch/>
        </p:blipFill>
        <p:spPr>
          <a:xfrm>
            <a:off x="487226" y="2514600"/>
            <a:ext cx="5392653" cy="2774950"/>
          </a:xfrm>
          <a:prstGeom prst="rect">
            <a:avLst/>
          </a:prstGeom>
          <a:ln>
            <a:noFill/>
          </a:ln>
        </p:spPr>
      </p:pic>
      <p:sp>
        <p:nvSpPr>
          <p:cNvPr id="10" name="param-label">
            <a:extLst>
              <a:ext uri="{FF2B5EF4-FFF2-40B4-BE49-F238E27FC236}">
                <a16:creationId xmlns:a16="http://schemas.microsoft.com/office/drawing/2014/main" id="{BAABADC4-107D-40F3-B8F9-FA7F917B7B22}"/>
              </a:ext>
            </a:extLst>
          </p:cNvPr>
          <p:cNvSpPr>
            <a:spLocks noGrp="1"/>
          </p:cNvSpPr>
          <p:nvPr/>
        </p:nvSpPr>
        <p:spPr>
          <a:xfrm>
            <a:off x="6199981" y="2286000"/>
            <a:ext cx="381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各阶段负载与昇腾诉求</a:t>
            </a:r>
            <a:endParaRPr sz="1200">
              <a:solidFill>
                <a:srgbClr val="000000"/>
              </a:solidFill>
              <a:latin typeface="MiSans"/>
            </a:endParaRPr>
          </a:p>
        </p:txBody>
      </p:sp>
      <p:graphicFrame>
        <p:nvGraphicFramePr>
          <p:cNvPr id="26" name="param-table"/>
          <p:cNvGraphicFramePr/>
          <p:nvPr/>
        </p:nvGraphicFramePr>
        <p:xfrm>
          <a:off x="6199981" y="2641600"/>
          <a:ext cx="5537200" cy="2816860"/>
        </p:xfrm>
        <a:graphic>
          <a:graphicData uri="http://schemas.openxmlformats.org/drawingml/2006/table">
            <a:tbl>
              <a:tblPr/>
              <a:tblGrid>
                <a:gridCol w="1439672">
                  <a:extLst>
                    <a:ext uri="{9D8B030D-6E8A-4147-A177-3AD203B41FA5}">
                      <a16:colId xmlns:a16="http://schemas.microsoft.com/office/drawing/2014/main" val="20000"/>
                    </a:ext>
                  </a:extLst>
                </a:gridCol>
                <a:gridCol w="1439672">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1771904">
                  <a:extLst>
                    <a:ext uri="{9D8B030D-6E8A-4147-A177-3AD203B41FA5}">
                      <a16:colId xmlns:a16="http://schemas.microsoft.com/office/drawing/2014/main" val="20003"/>
                    </a:ext>
                  </a:extLst>
                </a:gridCol>
              </a:tblGrid>
              <a:tr h="248920">
                <a:tc>
                  <a:txBody>
                    <a:bodyPr/>
                    <a:lstStyle/>
                    <a:p>
                      <a:pPr algn="l">
                        <a:buNone/>
                      </a:pPr>
                      <a:r>
                        <a:rPr sz="800" b="1">
                          <a:solidFill>
                            <a:srgbClr val="262626"/>
                          </a:solidFill>
                          <a:latin typeface="微软雅黑"/>
                          <a:ea typeface="微软雅黑"/>
                          <a:cs typeface="微软雅黑"/>
                        </a:rPr>
                        <a:t>阶段</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FLOPs/token</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373380">
                <a:tc>
                  <a:txBody>
                    <a:bodyPr/>
                    <a:lstStyle/>
                    <a:p>
                      <a:pPr algn="l">
                        <a:buNone/>
                      </a:pPr>
                      <a:r>
                        <a:rPr sz="800">
                          <a:solidFill>
                            <a:srgbClr val="262626"/>
                          </a:solidFill>
                          <a:latin typeface="微软雅黑"/>
                          <a:ea typeface="微软雅黑"/>
                          <a:cs typeface="微软雅黑"/>
                        </a:rPr>
                        <a:t>chunk 内注意力 A·Ṽ</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[C,dk]×[dk,C]×[C,dv]，C = 64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2C(dk+dv)</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稠密 matmul → CUBE；典型 tile 64×128</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373380">
                <a:tc>
                  <a:txBody>
                    <a:bodyPr/>
                    <a:lstStyle/>
                    <a:p>
                      <a:pPr algn="l">
                        <a:buNone/>
                      </a:pPr>
                      <a:r>
                        <a:rPr sz="800">
                          <a:solidFill>
                            <a:srgbClr val="262626"/>
                          </a:solidFill>
                          <a:latin typeface="微软雅黑"/>
                          <a:ea typeface="微软雅黑"/>
                          <a:cs typeface="微软雅黑"/>
                        </a:rPr>
                        <a:t>跨 chunk 读取 (Γ⊙Q)S</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[C,dk]×[dk,dv]</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2dk·dv</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小矩阵乘、CUBE 利用率低 → 与 chunk 内计算双缓冲交叠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373380">
                <a:tc>
                  <a:txBody>
                    <a:bodyPr/>
                    <a:lstStyle/>
                    <a:p>
                      <a:pPr algn="l">
                        <a:buNone/>
                      </a:pPr>
                      <a:r>
                        <a:rPr sz="800">
                          <a:solidFill>
                            <a:srgbClr val="262626"/>
                          </a:solidFill>
                          <a:latin typeface="微软雅黑"/>
                          <a:ea typeface="微软雅黑"/>
                          <a:cs typeface="微软雅黑"/>
                        </a:rPr>
                        <a:t>状态更新 S←MS+K̄ᵀṼ</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[dk,dk]×[dk,dv]；[dk,C]×[C,dv]</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≈3dk·dv</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串行依赖；S 驻留片上（dk·dv×2B / head）避免 HBM 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373380">
                <a:tc>
                  <a:txBody>
                    <a:bodyPr/>
                    <a:lstStyle/>
                    <a:p>
                      <a:pPr algn="l">
                        <a:buNone/>
                      </a:pPr>
                      <a:r>
                        <a:rPr sz="800">
                          <a:solidFill>
                            <a:srgbClr val="262626"/>
                          </a:solidFill>
                          <a:latin typeface="微软雅黑"/>
                          <a:ea typeface="微软雅黑"/>
                          <a:cs typeface="微软雅黑"/>
                        </a:rPr>
                        <a:t>累积衰减 Γ</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[C,dk] / head，log 空间 cumsum</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O(C·dk)，逐元素</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纯 Vector；与 matmul 构成异构流水</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373380">
                <a:tc>
                  <a:txBody>
                    <a:bodyPr/>
                    <a:lstStyle/>
                    <a:p>
                      <a:pPr algn="l">
                        <a:buNone/>
                      </a:pPr>
                      <a:r>
                        <a:rPr sz="800">
                          <a:solidFill>
                            <a:srgbClr val="262626"/>
                          </a:solidFill>
                          <a:latin typeface="微软雅黑"/>
                          <a:ea typeface="微软雅黑"/>
                          <a:cs typeface="微软雅黑"/>
                        </a:rPr>
                        <a:t>UT 变换（W / U）</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[C,C] 三角求逆 + 小 matmul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O(C·dk)</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小尺寸 matmul → CUBE 效率受限，宜融合进主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r h="373380">
                <a:tc>
                  <a:txBody>
                    <a:bodyPr/>
                    <a:lstStyle/>
                    <a:p>
                      <a:pPr algn="l">
                        <a:buNone/>
                      </a:pPr>
                      <a:r>
                        <a:rPr sz="800">
                          <a:solidFill>
                            <a:srgbClr val="262626"/>
                          </a:solidFill>
                          <a:latin typeface="微软雅黑"/>
                          <a:ea typeface="微软雅黑"/>
                          <a:cs typeface="微软雅黑"/>
                        </a:rPr>
                        <a:t>综合账本</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S≈32KB/head；69层≈217MB*</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intra/state≈2.1M FLOPs/head/chunk（C=64）</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CUBE：A·V；Vector：decay/mask；chunk 64/128；L1/UB双缓冲</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6"/>
                  </a:ext>
                </a:extLst>
              </a:tr>
            </a:tbl>
          </a:graphicData>
        </a:graphic>
      </p:graphicFrame>
      <p:sp>
        <p:nvSpPr>
          <p:cNvPr id="12" name="param-note">
            <a:extLst>
              <a:ext uri="{FF2B5EF4-FFF2-40B4-BE49-F238E27FC236}">
                <a16:creationId xmlns:a16="http://schemas.microsoft.com/office/drawing/2014/main" id="{1F3E0A12-5F6A-4E9C-BF6B-1092B14792C0}"/>
              </a:ext>
            </a:extLst>
          </p:cNvPr>
          <p:cNvSpPr>
            <a:spLocks noGrp="1"/>
          </p:cNvSpPr>
          <p:nvPr/>
        </p:nvSpPr>
        <p:spPr>
          <a:xfrm>
            <a:off x="6200013" y="5219700"/>
            <a:ext cx="5537168" cy="38100"/>
          </a:xfrm>
          <a:prstGeom prst="rect">
            <a:avLst/>
          </a:prstGeom>
          <a:noFill/>
          <a:ln>
            <a:noFill/>
          </a:ln>
        </p:spPr>
        <p:txBody>
          <a:bodyPr wrap="square" lIns="0" tIns="0" rIns="0" bIns="0" anchor="t"/>
          <a:lstStyle/>
          <a:p>
            <a:pPr>
              <a:lnSpc>
                <a:spcPct val="135000"/>
              </a:lnSpc>
            </a:pPr>
            <a:endParaRPr sz="750">
              <a:solidFill>
                <a:srgbClr val="000000"/>
              </a:solidFill>
              <a:latin typeface="MiSans"/>
            </a:endParaRPr>
          </a:p>
        </p:txBody>
      </p:sp>
      <p:sp>
        <p:nvSpPr>
          <p:cNvPr id="13" name="dev-label">
            <a:extLst>
              <a:ext uri="{FF2B5EF4-FFF2-40B4-BE49-F238E27FC236}">
                <a16:creationId xmlns:a16="http://schemas.microsoft.com/office/drawing/2014/main" id="{BB194ED1-FF07-4EBF-9BC1-3B452C768766}"/>
              </a:ext>
            </a:extLst>
          </p:cNvPr>
          <p:cNvSpPr>
            <a:spLocks noGrp="1"/>
          </p:cNvSpPr>
          <p:nvPr/>
        </p:nvSpPr>
        <p:spPr>
          <a:xfrm>
            <a:off x="561213" y="5695950"/>
            <a:ext cx="111252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开发需求与趋势思考</a:t>
            </a:r>
            <a:endParaRPr sz="1200">
              <a:solidFill>
                <a:srgbClr val="000000"/>
              </a:solidFill>
              <a:latin typeface="MiSans"/>
            </a:endParaRPr>
          </a:p>
        </p:txBody>
      </p:sp>
      <p:sp>
        <p:nvSpPr>
          <p:cNvPr id="14" name="dev-bullets">
            <a:extLst>
              <a:ext uri="{FF2B5EF4-FFF2-40B4-BE49-F238E27FC236}">
                <a16:creationId xmlns:a16="http://schemas.microsoft.com/office/drawing/2014/main" id="{C5788FCB-20AA-4803-B0C7-890EA120E689}"/>
              </a:ext>
            </a:extLst>
          </p:cNvPr>
          <p:cNvSpPr>
            <a:spLocks noGrp="1"/>
          </p:cNvSpPr>
          <p:nvPr/>
        </p:nvSpPr>
        <p:spPr>
          <a:xfrm>
            <a:off x="561213" y="5953125"/>
            <a:ext cx="11125200" cy="762000"/>
          </a:xfrm>
          <a:prstGeom prst="rect">
            <a:avLst/>
          </a:prstGeom>
          <a:noFill/>
          <a:ln>
            <a:noFill/>
          </a:ln>
        </p:spPr>
        <p:txBody>
          <a:bodyPr wrap="square" lIns="0" tIns="0" rIns="0" bIns="0" anchor="t"/>
          <a:lstStyle/>
          <a:p>
            <a:pPr>
              <a:lnSpc>
                <a:spcPct val="108000"/>
              </a:lnSpc>
              <a:spcBef>
                <a:spcPts val="10"/>
              </a:spcBef>
              <a:buFontTx/>
              <a:buChar char="•"/>
            </a:pPr>
            <a:r>
              <a:rPr sz="1050" b="1" dirty="0" err="1">
                <a:solidFill>
                  <a:srgbClr val="262626"/>
                </a:solidFill>
                <a:latin typeface="微软雅黑"/>
                <a:ea typeface="微软雅黑"/>
                <a:cs typeface="微软雅黑"/>
              </a:rPr>
              <a:t>算子：把</a:t>
            </a:r>
            <a:r>
              <a:rPr sz="1050" b="1" dirty="0">
                <a:solidFill>
                  <a:srgbClr val="262626"/>
                </a:solidFill>
                <a:latin typeface="微软雅黑"/>
                <a:ea typeface="微软雅黑"/>
                <a:cs typeface="微软雅黑"/>
              </a:rPr>
              <a:t> </a:t>
            </a:r>
            <a:r>
              <a:rPr sz="1050" b="1" dirty="0" err="1">
                <a:solidFill>
                  <a:srgbClr val="262626"/>
                </a:solidFill>
                <a:latin typeface="微软雅黑"/>
                <a:ea typeface="微软雅黑"/>
                <a:cs typeface="微软雅黑"/>
              </a:rPr>
              <a:t>gate、prepare、post-Wu、FwdH、Finalize</a:t>
            </a:r>
            <a:r>
              <a:rPr sz="1050" b="1" dirty="0">
                <a:solidFill>
                  <a:srgbClr val="262626"/>
                </a:solidFill>
                <a:latin typeface="微软雅黑"/>
                <a:ea typeface="微软雅黑"/>
                <a:cs typeface="微软雅黑"/>
              </a:rPr>
              <a:t> </a:t>
            </a:r>
            <a:r>
              <a:rPr sz="1050" b="1" dirty="0" err="1">
                <a:solidFill>
                  <a:srgbClr val="262626"/>
                </a:solidFill>
                <a:latin typeface="微软雅黑"/>
                <a:ea typeface="微软雅黑"/>
                <a:cs typeface="微软雅黑"/>
              </a:rPr>
              <a:t>合并进单个物理</a:t>
            </a:r>
            <a:r>
              <a:rPr sz="1050" b="1" dirty="0">
                <a:solidFill>
                  <a:srgbClr val="262626"/>
                </a:solidFill>
                <a:latin typeface="微软雅黑"/>
                <a:ea typeface="微软雅黑"/>
                <a:cs typeface="微软雅黑"/>
              </a:rPr>
              <a:t> L0；避免 Python/多 L0 staging。</a:t>
            </a:r>
            <a:endParaRPr sz="800" dirty="0">
              <a:solidFill>
                <a:srgbClr val="000000"/>
              </a:solidFill>
              <a:latin typeface="MiSans"/>
            </a:endParaRPr>
          </a:p>
          <a:p>
            <a:pPr>
              <a:lnSpc>
                <a:spcPct val="108000"/>
              </a:lnSpc>
              <a:spcBef>
                <a:spcPts val="300"/>
              </a:spcBef>
              <a:buFontTx/>
              <a:buChar char="•"/>
            </a:pPr>
            <a:r>
              <a:rPr sz="1050" b="1" dirty="0" err="1">
                <a:solidFill>
                  <a:srgbClr val="262626"/>
                </a:solidFill>
                <a:latin typeface="微软雅黑"/>
                <a:ea typeface="微软雅黑"/>
                <a:cs typeface="微软雅黑"/>
              </a:rPr>
              <a:t>运行时：暴露</a:t>
            </a:r>
            <a:r>
              <a:rPr sz="1050" b="1" dirty="0">
                <a:solidFill>
                  <a:srgbClr val="262626"/>
                </a:solidFill>
                <a:latin typeface="微软雅黑"/>
                <a:ea typeface="微软雅黑"/>
                <a:cs typeface="微软雅黑"/>
              </a:rPr>
              <a:t> </a:t>
            </a:r>
            <a:r>
              <a:rPr sz="1050" b="1" dirty="0" err="1">
                <a:solidFill>
                  <a:srgbClr val="262626"/>
                </a:solidFill>
                <a:latin typeface="微软雅黑"/>
                <a:ea typeface="微软雅黑"/>
                <a:cs typeface="微软雅黑"/>
              </a:rPr>
              <a:t>initial_state</a:t>
            </a:r>
            <a:r>
              <a:rPr sz="1050" b="1" dirty="0">
                <a:solidFill>
                  <a:srgbClr val="262626"/>
                </a:solidFill>
                <a:latin typeface="微软雅黑"/>
                <a:ea typeface="微软雅黑"/>
                <a:cs typeface="微软雅黑"/>
              </a:rPr>
              <a:t>/</a:t>
            </a:r>
            <a:r>
              <a:rPr sz="1050" b="1" dirty="0" err="1">
                <a:solidFill>
                  <a:srgbClr val="262626"/>
                </a:solidFill>
                <a:latin typeface="微软雅黑"/>
                <a:ea typeface="微软雅黑"/>
                <a:cs typeface="微软雅黑"/>
              </a:rPr>
              <a:t>final_state</a:t>
            </a:r>
            <a:r>
              <a:rPr sz="1050" b="1" dirty="0">
                <a:solidFill>
                  <a:srgbClr val="262626"/>
                </a:solidFill>
                <a:latin typeface="微软雅黑"/>
                <a:ea typeface="微软雅黑"/>
                <a:cs typeface="微软雅黑"/>
              </a:rPr>
              <a:t>/gk，支持最多1024逻辑序列和 BSND </a:t>
            </a:r>
            <a:r>
              <a:rPr sz="1050" b="1" dirty="0" err="1">
                <a:solidFill>
                  <a:srgbClr val="262626"/>
                </a:solidFill>
                <a:latin typeface="微软雅黑"/>
                <a:ea typeface="微软雅黑"/>
                <a:cs typeface="微软雅黑"/>
              </a:rPr>
              <a:t>layout；prefill</a:t>
            </a:r>
            <a:r>
              <a:rPr sz="1050" b="1" dirty="0">
                <a:solidFill>
                  <a:srgbClr val="262626"/>
                </a:solidFill>
                <a:latin typeface="微软雅黑"/>
                <a:ea typeface="微软雅黑"/>
                <a:cs typeface="微软雅黑"/>
              </a:rPr>
              <a:t>/decode </a:t>
            </a:r>
            <a:r>
              <a:rPr sz="1050" b="1" dirty="0" err="1">
                <a:solidFill>
                  <a:srgbClr val="262626"/>
                </a:solidFill>
                <a:latin typeface="微软雅黑"/>
                <a:ea typeface="微软雅黑"/>
                <a:cs typeface="微软雅黑"/>
              </a:rPr>
              <a:t>采用不同</a:t>
            </a:r>
            <a:r>
              <a:rPr sz="1050" b="1" dirty="0">
                <a:solidFill>
                  <a:srgbClr val="262626"/>
                </a:solidFill>
                <a:latin typeface="微软雅黑"/>
                <a:ea typeface="微软雅黑"/>
                <a:cs typeface="微软雅黑"/>
              </a:rPr>
              <a:t> tiling。</a:t>
            </a:r>
            <a:endParaRPr sz="800" dirty="0">
              <a:solidFill>
                <a:srgbClr val="000000"/>
              </a:solidFill>
              <a:latin typeface="MiSans"/>
            </a:endParaRPr>
          </a:p>
          <a:p>
            <a:pPr>
              <a:lnSpc>
                <a:spcPct val="108000"/>
              </a:lnSpc>
              <a:spcBef>
                <a:spcPts val="300"/>
              </a:spcBef>
              <a:buFontTx/>
              <a:buChar char="•"/>
            </a:pPr>
            <a:r>
              <a:rPr sz="1050" b="1" dirty="0" err="1">
                <a:solidFill>
                  <a:srgbClr val="262626"/>
                </a:solidFill>
                <a:latin typeface="微软雅黑"/>
                <a:ea typeface="微软雅黑"/>
                <a:cs typeface="微软雅黑"/>
              </a:rPr>
              <a:t>趋势：以</a:t>
            </a:r>
            <a:r>
              <a:rPr sz="1050" b="1" dirty="0">
                <a:solidFill>
                  <a:srgbClr val="262626"/>
                </a:solidFill>
                <a:latin typeface="微软雅黑"/>
                <a:ea typeface="微软雅黑"/>
                <a:cs typeface="微软雅黑"/>
              </a:rPr>
              <a:t> A3/A5 </a:t>
            </a:r>
            <a:r>
              <a:rPr sz="1050" b="1" dirty="0" err="1">
                <a:solidFill>
                  <a:srgbClr val="262626"/>
                </a:solidFill>
                <a:latin typeface="微软雅黑"/>
                <a:ea typeface="微软雅黑"/>
                <a:cs typeface="微软雅黑"/>
              </a:rPr>
              <a:t>分别</a:t>
            </a:r>
            <a:r>
              <a:rPr sz="1050" b="1" dirty="0">
                <a:solidFill>
                  <a:srgbClr val="262626"/>
                </a:solidFill>
                <a:latin typeface="微软雅黑"/>
                <a:ea typeface="微软雅黑"/>
                <a:cs typeface="微软雅黑"/>
              </a:rPr>
              <a:t> </a:t>
            </a:r>
            <a:r>
              <a:rPr sz="1050" b="1" dirty="0" err="1">
                <a:solidFill>
                  <a:srgbClr val="262626"/>
                </a:solidFill>
                <a:latin typeface="微软雅黑"/>
                <a:ea typeface="微软雅黑"/>
                <a:cs typeface="微软雅黑"/>
              </a:rPr>
              <a:t>benchmark；验收项包括</a:t>
            </a:r>
            <a:r>
              <a:rPr sz="1050" b="1" dirty="0">
                <a:solidFill>
                  <a:srgbClr val="262626"/>
                </a:solidFill>
                <a:latin typeface="微软雅黑"/>
                <a:ea typeface="微软雅黑"/>
                <a:cs typeface="微软雅黑"/>
              </a:rPr>
              <a:t> 2.1M FLOPs/head/chunk </a:t>
            </a:r>
            <a:r>
              <a:rPr sz="1050" b="1" dirty="0" err="1">
                <a:solidFill>
                  <a:srgbClr val="262626"/>
                </a:solidFill>
                <a:latin typeface="微软雅黑"/>
                <a:ea typeface="微软雅黑"/>
                <a:cs typeface="微软雅黑"/>
              </a:rPr>
              <a:t>的有效吞吐、CUBE</a:t>
            </a:r>
            <a:r>
              <a:rPr sz="1050" b="1" dirty="0">
                <a:solidFill>
                  <a:srgbClr val="262626"/>
                </a:solidFill>
                <a:latin typeface="微软雅黑"/>
                <a:ea typeface="微软雅黑"/>
                <a:cs typeface="微软雅黑"/>
              </a:rPr>
              <a:t>/Vector overlap、L1 </a:t>
            </a:r>
            <a:r>
              <a:rPr sz="1050" b="1" dirty="0" err="1">
                <a:solidFill>
                  <a:srgbClr val="262626"/>
                </a:solidFill>
                <a:latin typeface="微软雅黑"/>
                <a:ea typeface="微软雅黑"/>
                <a:cs typeface="微软雅黑"/>
              </a:rPr>
              <a:t>命中率和</a:t>
            </a:r>
            <a:r>
              <a:rPr sz="1050" b="1" dirty="0">
                <a:solidFill>
                  <a:srgbClr val="262626"/>
                </a:solidFill>
                <a:latin typeface="微软雅黑"/>
                <a:ea typeface="微软雅黑"/>
                <a:cs typeface="微软雅黑"/>
              </a:rPr>
              <a:t> HBM </a:t>
            </a:r>
            <a:r>
              <a:rPr sz="1050" b="1" dirty="0" err="1">
                <a:solidFill>
                  <a:srgbClr val="262626"/>
                </a:solidFill>
                <a:latin typeface="微软雅黑"/>
                <a:ea typeface="微软雅黑"/>
                <a:cs typeface="微软雅黑"/>
              </a:rPr>
              <a:t>往返</a:t>
            </a:r>
            <a:r>
              <a:rPr sz="1050" b="1" dirty="0">
                <a:solidFill>
                  <a:srgbClr val="262626"/>
                </a:solidFill>
                <a:latin typeface="微软雅黑"/>
                <a:ea typeface="微软雅黑"/>
                <a:cs typeface="微软雅黑"/>
              </a:rPr>
              <a:t>。</a:t>
            </a:r>
            <a:endParaRPr sz="800" dirty="0">
              <a:solidFill>
                <a:srgbClr val="000000"/>
              </a:solidFill>
              <a:latin typeface="MiSans"/>
            </a:endParaRPr>
          </a:p>
        </p:txBody>
      </p:sp>
      <p:sp>
        <p:nvSpPr>
          <p:cNvPr id="15" name="文本框 14">
            <a:extLst>
              <a:ext uri="{FF2B5EF4-FFF2-40B4-BE49-F238E27FC236}">
                <a16:creationId xmlns:a16="http://schemas.microsoft.com/office/drawing/2014/main" id="{098198D8-6DD5-41AD-A309-7E4CE6578114}"/>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童雨周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00886357</a:t>
            </a:r>
          </a:p>
        </p:txBody>
      </p:sp>
      <p:sp>
        <p:nvSpPr>
          <p:cNvPr id="9" name="文本框 8">
            <a:extLst>
              <a:ext uri="{FF2B5EF4-FFF2-40B4-BE49-F238E27FC236}">
                <a16:creationId xmlns:a16="http://schemas.microsoft.com/office/drawing/2014/main" id="{A35AEDEE-73F7-4468-BE05-D8362D936718}"/>
              </a:ext>
            </a:extLst>
          </p:cNvPr>
          <p:cNvSpPr txBox="1"/>
          <p:nvPr/>
        </p:nvSpPr>
        <p:spPr>
          <a:xfrm>
            <a:off x="2861388" y="2529324"/>
            <a:ext cx="2954655" cy="369332"/>
          </a:xfrm>
          <a:prstGeom prst="rect">
            <a:avLst/>
          </a:prstGeom>
          <a:noFill/>
        </p:spPr>
        <p:txBody>
          <a:bodyPr wrap="none" rtlCol="0">
            <a:spAutoFit/>
          </a:bodyPr>
          <a:lstStyle/>
          <a:p>
            <a:r>
              <a:rPr lang="zh-CN" altLang="en-US" dirty="0"/>
              <a:t>这个图有点问题，其他同上</a:t>
            </a:r>
          </a:p>
        </p:txBody>
      </p:sp>
    </p:spTree>
    <p:extLst>
      <p:ext uri="{BB962C8B-B14F-4D97-AF65-F5344CB8AC3E}">
        <p14:creationId xmlns:p14="http://schemas.microsoft.com/office/powerpoint/2010/main" val="536379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a:extLst>
              <a:ext uri="{FF2B5EF4-FFF2-40B4-BE49-F238E27FC236}">
                <a16:creationId xmlns:a16="http://schemas.microsoft.com/office/drawing/2014/main" id="{C4144F33-DE17-4AB2-A4B7-64B46B78EF07}"/>
              </a:ext>
            </a:extLst>
          </p:cNvPr>
          <p:cNvSpPr>
            <a:spLocks noGrp="1"/>
          </p:cNvSpPr>
          <p:nvPr/>
        </p:nvSpPr>
        <p:spPr>
          <a:xfrm>
            <a:off x="4701381" y="177800"/>
            <a:ext cx="7035800" cy="177800"/>
          </a:xfrm>
          <a:prstGeom prst="rect">
            <a:avLst/>
          </a:prstGeom>
          <a:noFill/>
          <a:ln>
            <a:noFill/>
          </a:ln>
        </p:spPr>
        <p:txBody>
          <a:bodyPr wrap="none" lIns="0" tIns="0" rIns="0" bIns="0" anchor="ctr"/>
          <a:lstStyle/>
          <a:p>
            <a:pPr algn="r">
              <a:lnSpc>
                <a:spcPct val="120000"/>
              </a:lnSpc>
            </a:pPr>
            <a:r>
              <a:rPr sz="800">
                <a:solidFill>
                  <a:srgbClr val="737373"/>
                </a:solidFill>
                <a:latin typeface="微软雅黑"/>
                <a:ea typeface="微软雅黑"/>
                <a:cs typeface="微软雅黑"/>
              </a:rPr>
              <a:t>资料来源：Kimi K3 Technical Report §5.4.2（KDA）；ReplaySSM [25]；vllm-ascend ops/triton/kda</a:t>
            </a:r>
            <a:endParaRPr sz="800">
              <a:solidFill>
                <a:srgbClr val="000000"/>
              </a:solidFill>
              <a:latin typeface="MiSans"/>
            </a:endParaRPr>
          </a:p>
        </p:txBody>
      </p:sp>
      <p:sp>
        <p:nvSpPr>
          <p:cNvPr id="3" name="title">
            <a:extLst>
              <a:ext uri="{FF2B5EF4-FFF2-40B4-BE49-F238E27FC236}">
                <a16:creationId xmlns:a16="http://schemas.microsoft.com/office/drawing/2014/main" id="{A56DC90A-6CDB-4BBC-95D6-08CC0548F304}"/>
              </a:ext>
            </a:extLst>
          </p:cNvPr>
          <p:cNvSpPr>
            <a:spLocks noGrp="1"/>
          </p:cNvSpPr>
          <p:nvPr/>
        </p:nvSpPr>
        <p:spPr>
          <a:xfrm>
            <a:off x="561181" y="228600"/>
            <a:ext cx="11176000" cy="381000"/>
          </a:xfrm>
          <a:prstGeom prst="rect">
            <a:avLst/>
          </a:prstGeom>
          <a:noFill/>
          <a:ln>
            <a:noFill/>
          </a:ln>
        </p:spPr>
        <p:txBody>
          <a:bodyPr wrap="none" lIns="0" tIns="0" rIns="0" bIns="0" anchor="ctr"/>
          <a:lstStyle/>
          <a:p>
            <a:pPr>
              <a:lnSpc>
                <a:spcPct val="120000"/>
              </a:lnSpc>
            </a:pPr>
            <a:r>
              <a:rPr b="1">
                <a:solidFill>
                  <a:srgbClr val="C00000"/>
                </a:solidFill>
                <a:latin typeface="微软雅黑"/>
                <a:ea typeface="微软雅黑"/>
                <a:cs typeface="微软雅黑"/>
              </a:rPr>
              <a:t>KDA Decoding：可回滚的投机解码融合递归算子</a:t>
            </a:r>
            <a:endParaRPr>
              <a:solidFill>
                <a:srgbClr val="000000"/>
              </a:solidFill>
              <a:latin typeface="MiSans"/>
            </a:endParaRPr>
          </a:p>
        </p:txBody>
      </p:sp>
      <p:sp>
        <p:nvSpPr>
          <p:cNvPr id="4" name="concl-label-bg">
            <a:extLst>
              <a:ext uri="{FF2B5EF4-FFF2-40B4-BE49-F238E27FC236}">
                <a16:creationId xmlns:a16="http://schemas.microsoft.com/office/drawing/2014/main" id="{21AD9341-B110-46D3-8453-169C0C9D6888}"/>
              </a:ext>
            </a:extLst>
          </p:cNvPr>
          <p:cNvSpPr>
            <a:spLocks noGrp="1"/>
          </p:cNvSpPr>
          <p:nvPr/>
        </p:nvSpPr>
        <p:spPr>
          <a:xfrm>
            <a:off x="561181" y="736600"/>
            <a:ext cx="1117600" cy="1397000"/>
          </a:xfrm>
          <a:prstGeom prst="rect">
            <a:avLst/>
          </a:prstGeom>
          <a:solidFill>
            <a:srgbClr val="C00000"/>
          </a:solidFill>
          <a:ln>
            <a:noFill/>
          </a:ln>
        </p:spPr>
      </p:sp>
      <p:sp>
        <p:nvSpPr>
          <p:cNvPr id="5" name="concl-label">
            <a:extLst>
              <a:ext uri="{FF2B5EF4-FFF2-40B4-BE49-F238E27FC236}">
                <a16:creationId xmlns:a16="http://schemas.microsoft.com/office/drawing/2014/main" id="{0F110715-02E2-4FFC-A28A-0C31849034B2}"/>
              </a:ext>
            </a:extLst>
          </p:cNvPr>
          <p:cNvSpPr>
            <a:spLocks noGrp="1"/>
          </p:cNvSpPr>
          <p:nvPr/>
        </p:nvSpPr>
        <p:spPr>
          <a:xfrm>
            <a:off x="561181" y="736600"/>
            <a:ext cx="1117600" cy="1397000"/>
          </a:xfrm>
          <a:prstGeom prst="rect">
            <a:avLst/>
          </a:prstGeom>
          <a:noFill/>
          <a:ln>
            <a:noFill/>
          </a:ln>
        </p:spPr>
        <p:txBody>
          <a:bodyPr wrap="square" lIns="0" tIns="0" rIns="0" bIns="0" anchor="ctr"/>
          <a:lstStyle/>
          <a:p>
            <a:pPr algn="ctr">
              <a:lnSpc>
                <a:spcPct val="120000"/>
              </a:lnSpc>
            </a:pPr>
            <a:r>
              <a:rPr sz="1400" b="1">
                <a:solidFill>
                  <a:srgbClr val="FFFFFF"/>
                </a:solidFill>
                <a:latin typeface="微软雅黑"/>
                <a:ea typeface="微软雅黑"/>
                <a:cs typeface="微软雅黑"/>
              </a:rPr>
              <a:t>分析</a:t>
            </a:r>
            <a:endParaRPr sz="1400">
              <a:solidFill>
                <a:srgbClr val="000000"/>
              </a:solidFill>
              <a:latin typeface="MiSans"/>
            </a:endParaRPr>
          </a:p>
          <a:p>
            <a:pPr algn="ctr">
              <a:lnSpc>
                <a:spcPct val="120000"/>
              </a:lnSpc>
            </a:pPr>
            <a:r>
              <a:rPr sz="1400" b="1">
                <a:solidFill>
                  <a:srgbClr val="FFFFFF"/>
                </a:solidFill>
                <a:latin typeface="微软雅黑"/>
                <a:ea typeface="微软雅黑"/>
                <a:cs typeface="微软雅黑"/>
              </a:rPr>
              <a:t>结论</a:t>
            </a:r>
            <a:endParaRPr sz="1400">
              <a:solidFill>
                <a:srgbClr val="000000"/>
              </a:solidFill>
              <a:latin typeface="MiSans"/>
            </a:endParaRPr>
          </a:p>
        </p:txBody>
      </p:sp>
      <p:sp>
        <p:nvSpPr>
          <p:cNvPr id="6" name="concl-body-bg">
            <a:extLst>
              <a:ext uri="{FF2B5EF4-FFF2-40B4-BE49-F238E27FC236}">
                <a16:creationId xmlns:a16="http://schemas.microsoft.com/office/drawing/2014/main" id="{977AA15F-D33C-4064-B010-2130F521FC62}"/>
              </a:ext>
            </a:extLst>
          </p:cNvPr>
          <p:cNvSpPr>
            <a:spLocks noGrp="1"/>
          </p:cNvSpPr>
          <p:nvPr/>
        </p:nvSpPr>
        <p:spPr>
          <a:xfrm>
            <a:off x="1780381" y="736600"/>
            <a:ext cx="9956800" cy="1397000"/>
          </a:xfrm>
          <a:prstGeom prst="rect">
            <a:avLst/>
          </a:prstGeom>
          <a:solidFill>
            <a:srgbClr val="F2F2F2"/>
          </a:solidFill>
          <a:ln>
            <a:noFill/>
          </a:ln>
        </p:spPr>
      </p:sp>
      <p:sp>
        <p:nvSpPr>
          <p:cNvPr id="7" name="concl-bullets">
            <a:extLst>
              <a:ext uri="{FF2B5EF4-FFF2-40B4-BE49-F238E27FC236}">
                <a16:creationId xmlns:a16="http://schemas.microsoft.com/office/drawing/2014/main" id="{DC13E33E-2CC9-4FDC-B14D-748700614A46}"/>
              </a:ext>
            </a:extLst>
          </p:cNvPr>
          <p:cNvSpPr>
            <a:spLocks noGrp="1"/>
          </p:cNvSpPr>
          <p:nvPr/>
        </p:nvSpPr>
        <p:spPr>
          <a:xfrm>
            <a:off x="1958181" y="800100"/>
            <a:ext cx="9601200" cy="1270000"/>
          </a:xfrm>
          <a:prstGeom prst="rect">
            <a:avLst/>
          </a:prstGeom>
          <a:noFill/>
          <a:ln>
            <a:noFill/>
          </a:ln>
        </p:spPr>
        <p:txBody>
          <a:bodyPr wrap="square" lIns="0" tIns="0" rIns="0" bIns="0" anchor="ctr"/>
          <a:lstStyle/>
          <a:p>
            <a:pPr>
              <a:lnSpc>
                <a:spcPct val="135000"/>
              </a:lnSpc>
              <a:spcBef>
                <a:spcPts val="10"/>
              </a:spcBef>
              <a:buFontTx/>
              <a:buChar char="•"/>
            </a:pPr>
            <a:r>
              <a:rPr sz="900" b="1">
                <a:solidFill>
                  <a:srgbClr val="262626"/>
                </a:solidFill>
                <a:latin typeface="微软雅黑"/>
                <a:ea typeface="微软雅黑"/>
                <a:cs typeface="微软雅黑"/>
              </a:rPr>
              <a:t>KDA decode 将卷积、归一化、门控、递归状态和输出投影合并，减少每 token 的 kernel launch 与状态往返。</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RecoverSSM：拒绝的 draft token 只回滚到已验证位置的 S；状态快照必须与 speculative block 绑定，避免重复重算。</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推理协同：DSpark 使用 7-token speculative window（Block5 使用5）；vLLM upstream 通过 use_kda_recoverssm 恢复 K3 状态。</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昇腾诉求：FULL_DECODE_ONLY 固化 decode shape；D=4 快照约24MB/layer/step，片上 SRAM 决定 replay window。</a:t>
            </a:r>
            <a:endParaRPr sz="900">
              <a:solidFill>
                <a:srgbClr val="000000"/>
              </a:solidFill>
              <a:latin typeface="MiSans"/>
            </a:endParaRPr>
          </a:p>
        </p:txBody>
      </p:sp>
      <p:sp>
        <p:nvSpPr>
          <p:cNvPr id="8" name="arch-label">
            <a:extLst>
              <a:ext uri="{FF2B5EF4-FFF2-40B4-BE49-F238E27FC236}">
                <a16:creationId xmlns:a16="http://schemas.microsoft.com/office/drawing/2014/main" id="{A8F9BC74-2126-40C2-8D20-6571CB6B7A04}"/>
              </a:ext>
            </a:extLst>
          </p:cNvPr>
          <p:cNvSpPr>
            <a:spLocks noGrp="1"/>
          </p:cNvSpPr>
          <p:nvPr/>
        </p:nvSpPr>
        <p:spPr>
          <a:xfrm>
            <a:off x="561181" y="2286000"/>
            <a:ext cx="381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融合算子构成与状态回滚</a:t>
            </a:r>
            <a:endParaRPr sz="1200">
              <a:solidFill>
                <a:srgbClr val="000000"/>
              </a:solidFill>
              <a:latin typeface="MiSans"/>
            </a:endParaRPr>
          </a:p>
        </p:txBody>
      </p:sp>
      <p:pic>
        <p:nvPicPr>
          <p:cNvPr id="24" name="arch-figure"/>
          <p:cNvPicPr>
            <a:picLocks noChangeAspect="1"/>
          </p:cNvPicPr>
          <p:nvPr/>
        </p:nvPicPr>
        <p:blipFill>
          <a:blip r:embed="rId3"/>
          <a:stretch/>
        </p:blipFill>
        <p:spPr>
          <a:xfrm>
            <a:off x="487226" y="2514600"/>
            <a:ext cx="5380313" cy="2768600"/>
          </a:xfrm>
          <a:prstGeom prst="rect">
            <a:avLst/>
          </a:prstGeom>
          <a:ln>
            <a:noFill/>
          </a:ln>
        </p:spPr>
      </p:pic>
      <p:sp>
        <p:nvSpPr>
          <p:cNvPr id="10" name="param-label">
            <a:extLst>
              <a:ext uri="{FF2B5EF4-FFF2-40B4-BE49-F238E27FC236}">
                <a16:creationId xmlns:a16="http://schemas.microsoft.com/office/drawing/2014/main" id="{ACBD8D32-CEC6-4A74-B790-4D31AA254B71}"/>
              </a:ext>
            </a:extLst>
          </p:cNvPr>
          <p:cNvSpPr>
            <a:spLocks noGrp="1"/>
          </p:cNvSpPr>
          <p:nvPr/>
        </p:nvSpPr>
        <p:spPr>
          <a:xfrm>
            <a:off x="6199981" y="2286000"/>
            <a:ext cx="381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各阶段负载与昇腾诉求</a:t>
            </a:r>
            <a:endParaRPr sz="1200">
              <a:solidFill>
                <a:srgbClr val="000000"/>
              </a:solidFill>
              <a:latin typeface="MiSans"/>
            </a:endParaRPr>
          </a:p>
        </p:txBody>
      </p:sp>
      <p:graphicFrame>
        <p:nvGraphicFramePr>
          <p:cNvPr id="26" name="param-table"/>
          <p:cNvGraphicFramePr/>
          <p:nvPr/>
        </p:nvGraphicFramePr>
        <p:xfrm>
          <a:off x="6199981" y="2641600"/>
          <a:ext cx="5537200" cy="2629408"/>
        </p:xfrm>
        <a:graphic>
          <a:graphicData uri="http://schemas.openxmlformats.org/drawingml/2006/table">
            <a:tbl>
              <a:tblPr/>
              <a:tblGrid>
                <a:gridCol w="1439672">
                  <a:extLst>
                    <a:ext uri="{9D8B030D-6E8A-4147-A177-3AD203B41FA5}">
                      <a16:colId xmlns:a16="http://schemas.microsoft.com/office/drawing/2014/main" val="20000"/>
                    </a:ext>
                  </a:extLst>
                </a:gridCol>
                <a:gridCol w="1439672">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1771904">
                  <a:extLst>
                    <a:ext uri="{9D8B030D-6E8A-4147-A177-3AD203B41FA5}">
                      <a16:colId xmlns:a16="http://schemas.microsoft.com/office/drawing/2014/main" val="20003"/>
                    </a:ext>
                  </a:extLst>
                </a:gridCol>
              </a:tblGrid>
              <a:tr h="248920">
                <a:tc>
                  <a:txBody>
                    <a:bodyPr/>
                    <a:lstStyle/>
                    <a:p>
                      <a:pPr algn="l">
                        <a:buNone/>
                      </a:pPr>
                      <a:r>
                        <a:rPr sz="800" b="1">
                          <a:solidFill>
                            <a:srgbClr val="262626"/>
                          </a:solidFill>
                          <a:latin typeface="微软雅黑"/>
                          <a:ea typeface="微软雅黑"/>
                          <a:cs typeface="微软雅黑"/>
                        </a:rPr>
                        <a:t>阶段</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FLOPs</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48056">
                <a:tc>
                  <a:txBody>
                    <a:bodyPr/>
                    <a:lstStyle/>
                    <a:p>
                      <a:pPr algn="l">
                        <a:buNone/>
                      </a:pPr>
                      <a:r>
                        <a:rPr sz="800">
                          <a:solidFill>
                            <a:srgbClr val="262626"/>
                          </a:solidFill>
                          <a:latin typeface="微软雅黑"/>
                          <a:ea typeface="微软雅黑"/>
                          <a:cs typeface="微软雅黑"/>
                        </a:rPr>
                        <a:t>短卷积（causal，k=4）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[B,H,dk]×4</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≈4dk·H / token</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dirty="0" err="1">
                          <a:solidFill>
                            <a:srgbClr val="262626"/>
                          </a:solidFill>
                          <a:latin typeface="微软雅黑"/>
                          <a:ea typeface="微软雅黑"/>
                          <a:cs typeface="微软雅黑"/>
                        </a:rPr>
                        <a:t>小卷积</a:t>
                      </a:r>
                      <a:r>
                        <a:rPr sz="800" dirty="0">
                          <a:solidFill>
                            <a:srgbClr val="262626"/>
                          </a:solidFill>
                          <a:latin typeface="微软雅黑"/>
                          <a:ea typeface="微软雅黑"/>
                          <a:cs typeface="微软雅黑"/>
                        </a:rPr>
                        <a:t> → </a:t>
                      </a:r>
                      <a:r>
                        <a:rPr sz="800" dirty="0" err="1">
                          <a:solidFill>
                            <a:srgbClr val="262626"/>
                          </a:solidFill>
                          <a:latin typeface="微软雅黑"/>
                          <a:ea typeface="微软雅黑"/>
                          <a:cs typeface="微软雅黑"/>
                        </a:rPr>
                        <a:t>Vector；独立</a:t>
                      </a:r>
                      <a:r>
                        <a:rPr sz="800" dirty="0">
                          <a:solidFill>
                            <a:srgbClr val="262626"/>
                          </a:solidFill>
                          <a:latin typeface="微软雅黑"/>
                          <a:ea typeface="微软雅黑"/>
                          <a:cs typeface="微软雅黑"/>
                        </a:rPr>
                        <a:t> kernel </a:t>
                      </a:r>
                      <a:r>
                        <a:rPr sz="800" dirty="0" err="1">
                          <a:solidFill>
                            <a:srgbClr val="262626"/>
                          </a:solidFill>
                          <a:latin typeface="微软雅黑"/>
                          <a:ea typeface="微软雅黑"/>
                          <a:cs typeface="微软雅黑"/>
                        </a:rPr>
                        <a:t>不划算，必须融合</a:t>
                      </a:r>
                      <a:endParaRPr sz="800" dirty="0">
                        <a:solidFill>
                          <a:srgbClr val="262626"/>
                        </a:solidFill>
                        <a:latin typeface="微软雅黑"/>
                        <a:ea typeface="微软雅黑"/>
                        <a:cs typeface="微软雅黑"/>
                      </a:endParaRP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48056">
                <a:tc>
                  <a:txBody>
                    <a:bodyPr/>
                    <a:lstStyle/>
                    <a:p>
                      <a:pPr algn="l">
                        <a:buNone/>
                      </a:pPr>
                      <a:r>
                        <a:rPr sz="800">
                          <a:solidFill>
                            <a:srgbClr val="262626"/>
                          </a:solidFill>
                          <a:latin typeface="微软雅黑"/>
                          <a:ea typeface="微软雅黑"/>
                          <a:cs typeface="微软雅黑"/>
                        </a:rPr>
                        <a:t>门控（safe-gate）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g = −5·σ(eA·z)</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O(H·dk)</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纯 Vector；当前 NPU kernel 未融合（host 侧预处理，多一次显存往返）</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48056">
                <a:tc>
                  <a:txBody>
                    <a:bodyPr/>
                    <a:lstStyle/>
                    <a:p>
                      <a:pPr algn="l">
                        <a:buNone/>
                      </a:pPr>
                      <a:r>
                        <a:rPr sz="800">
                          <a:solidFill>
                            <a:srgbClr val="262626"/>
                          </a:solidFill>
                          <a:latin typeface="微软雅黑"/>
                          <a:ea typeface="微软雅黑"/>
                          <a:cs typeface="微软雅黑"/>
                        </a:rPr>
                        <a:t>KDA 递归（rank-1 更新）</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S: [H,dk,dv]，逐 token 串行</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≈3H·dk·dv / token</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小矩阵、并行度仅 B×H 维 → 状态驻留片上是关键</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48056">
                <a:tc>
                  <a:txBody>
                    <a:bodyPr/>
                    <a:lstStyle/>
                    <a:p>
                      <a:pPr algn="l">
                        <a:buNone/>
                      </a:pPr>
                      <a:r>
                        <a:rPr sz="800">
                          <a:solidFill>
                            <a:srgbClr val="262626"/>
                          </a:solidFill>
                          <a:latin typeface="微软雅黑"/>
                          <a:ea typeface="微软雅黑"/>
                          <a:cs typeface="微软雅黑"/>
                        </a:rPr>
                        <a:t>状态重建（replay）</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D 个草稿的投影输入</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D×3H·dk·dv</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片上重建，免去 D 份状态快照的 HBM 读写</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48056">
                <a:tc>
                  <a:txBody>
                    <a:bodyPr/>
                    <a:lstStyle/>
                    <a:p>
                      <a:pPr algn="l">
                        <a:buNone/>
                      </a:pPr>
                      <a:r>
                        <a:rPr sz="800">
                          <a:solidFill>
                            <a:srgbClr val="262626"/>
                          </a:solidFill>
                          <a:latin typeface="微软雅黑"/>
                          <a:ea typeface="微软雅黑"/>
                          <a:cs typeface="微软雅黑"/>
                        </a:rPr>
                        <a:t>综合账本</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完整状态≈3.0MB/layer（config 假设）；D=4 快照读写约24MB/layer/step</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replay≈D×3Hdkdv；投影输入缓存远小于 S</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dirty="0" err="1">
                          <a:solidFill>
                            <a:srgbClr val="262626"/>
                          </a:solidFill>
                          <a:latin typeface="微软雅黑"/>
                          <a:ea typeface="微软雅黑"/>
                          <a:cs typeface="微软雅黑"/>
                        </a:rPr>
                        <a:t>片上</a:t>
                      </a:r>
                      <a:r>
                        <a:rPr sz="800" dirty="0">
                          <a:solidFill>
                            <a:srgbClr val="262626"/>
                          </a:solidFill>
                          <a:latin typeface="微软雅黑"/>
                          <a:ea typeface="微软雅黑"/>
                          <a:cs typeface="微软雅黑"/>
                        </a:rPr>
                        <a:t> </a:t>
                      </a:r>
                      <a:r>
                        <a:rPr sz="800" dirty="0" err="1">
                          <a:solidFill>
                            <a:srgbClr val="262626"/>
                          </a:solidFill>
                          <a:latin typeface="微软雅黑"/>
                          <a:ea typeface="微软雅黑"/>
                          <a:cs typeface="微软雅黑"/>
                        </a:rPr>
                        <a:t>replay；HBM</a:t>
                      </a:r>
                      <a:r>
                        <a:rPr sz="800" dirty="0">
                          <a:solidFill>
                            <a:srgbClr val="262626"/>
                          </a:solidFill>
                          <a:latin typeface="微软雅黑"/>
                          <a:ea typeface="微软雅黑"/>
                          <a:cs typeface="微软雅黑"/>
                        </a:rPr>
                        <a:t> 仅 checkpoint/</a:t>
                      </a:r>
                      <a:r>
                        <a:rPr sz="800" dirty="0" err="1">
                          <a:solidFill>
                            <a:srgbClr val="262626"/>
                          </a:solidFill>
                          <a:latin typeface="微软雅黑"/>
                          <a:ea typeface="微软雅黑"/>
                          <a:cs typeface="微软雅黑"/>
                        </a:rPr>
                        <a:t>flush；DSpark</a:t>
                      </a:r>
                      <a:r>
                        <a:rPr sz="800" dirty="0">
                          <a:solidFill>
                            <a:srgbClr val="262626"/>
                          </a:solidFill>
                          <a:latin typeface="微软雅黑"/>
                          <a:ea typeface="微软雅黑"/>
                          <a:cs typeface="微软雅黑"/>
                        </a:rPr>
                        <a:t> 7/5 token 与 FULL_DECODE_ONLY </a:t>
                      </a:r>
                      <a:r>
                        <a:rPr sz="800" dirty="0" err="1">
                          <a:solidFill>
                            <a:srgbClr val="262626"/>
                          </a:solidFill>
                          <a:latin typeface="微软雅黑"/>
                          <a:ea typeface="微软雅黑"/>
                          <a:cs typeface="微软雅黑"/>
                        </a:rPr>
                        <a:t>需联调</a:t>
                      </a:r>
                      <a:endParaRPr sz="800" dirty="0">
                        <a:solidFill>
                          <a:srgbClr val="262626"/>
                        </a:solidFill>
                        <a:latin typeface="微软雅黑"/>
                        <a:ea typeface="微软雅黑"/>
                        <a:cs typeface="微软雅黑"/>
                      </a:endParaRP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bl>
          </a:graphicData>
        </a:graphic>
      </p:graphicFrame>
      <p:sp>
        <p:nvSpPr>
          <p:cNvPr id="12" name="param-note">
            <a:extLst>
              <a:ext uri="{FF2B5EF4-FFF2-40B4-BE49-F238E27FC236}">
                <a16:creationId xmlns:a16="http://schemas.microsoft.com/office/drawing/2014/main" id="{7AEE0410-6469-4019-9E34-63336FC2111A}"/>
              </a:ext>
            </a:extLst>
          </p:cNvPr>
          <p:cNvSpPr>
            <a:spLocks noGrp="1"/>
          </p:cNvSpPr>
          <p:nvPr/>
        </p:nvSpPr>
        <p:spPr>
          <a:xfrm>
            <a:off x="6200013" y="5219700"/>
            <a:ext cx="5537168" cy="38100"/>
          </a:xfrm>
          <a:prstGeom prst="rect">
            <a:avLst/>
          </a:prstGeom>
          <a:noFill/>
          <a:ln>
            <a:noFill/>
          </a:ln>
        </p:spPr>
        <p:txBody>
          <a:bodyPr wrap="square" lIns="0" tIns="0" rIns="0" bIns="0" anchor="t"/>
          <a:lstStyle/>
          <a:p>
            <a:pPr>
              <a:lnSpc>
                <a:spcPct val="135000"/>
              </a:lnSpc>
            </a:pPr>
            <a:endParaRPr sz="750">
              <a:solidFill>
                <a:srgbClr val="000000"/>
              </a:solidFill>
              <a:latin typeface="MiSans"/>
            </a:endParaRPr>
          </a:p>
        </p:txBody>
      </p:sp>
      <p:sp>
        <p:nvSpPr>
          <p:cNvPr id="13" name="dev-label">
            <a:extLst>
              <a:ext uri="{FF2B5EF4-FFF2-40B4-BE49-F238E27FC236}">
                <a16:creationId xmlns:a16="http://schemas.microsoft.com/office/drawing/2014/main" id="{A4D27E31-69E2-40E9-A7F0-00A9E5FC09F3}"/>
              </a:ext>
            </a:extLst>
          </p:cNvPr>
          <p:cNvSpPr>
            <a:spLocks noGrp="1"/>
          </p:cNvSpPr>
          <p:nvPr/>
        </p:nvSpPr>
        <p:spPr>
          <a:xfrm>
            <a:off x="561213" y="5695950"/>
            <a:ext cx="111252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开发需求与趋势思考</a:t>
            </a:r>
            <a:endParaRPr sz="1200">
              <a:solidFill>
                <a:srgbClr val="000000"/>
              </a:solidFill>
              <a:latin typeface="MiSans"/>
            </a:endParaRPr>
          </a:p>
        </p:txBody>
      </p:sp>
      <p:sp>
        <p:nvSpPr>
          <p:cNvPr id="14" name="dev-bullets">
            <a:extLst>
              <a:ext uri="{FF2B5EF4-FFF2-40B4-BE49-F238E27FC236}">
                <a16:creationId xmlns:a16="http://schemas.microsoft.com/office/drawing/2014/main" id="{20DAF891-2DBA-4D17-B603-4C5BD03EDE56}"/>
              </a:ext>
            </a:extLst>
          </p:cNvPr>
          <p:cNvSpPr>
            <a:spLocks noGrp="1"/>
          </p:cNvSpPr>
          <p:nvPr/>
        </p:nvSpPr>
        <p:spPr>
          <a:xfrm>
            <a:off x="561213" y="5953125"/>
            <a:ext cx="11125200" cy="762000"/>
          </a:xfrm>
          <a:prstGeom prst="rect">
            <a:avLst/>
          </a:prstGeom>
          <a:noFill/>
          <a:ln>
            <a:noFill/>
          </a:ln>
        </p:spPr>
        <p:txBody>
          <a:bodyPr wrap="square" lIns="0" tIns="0" rIns="0" bIns="0" anchor="t"/>
          <a:lstStyle/>
          <a:p>
            <a:pPr>
              <a:lnSpc>
                <a:spcPct val="108000"/>
              </a:lnSpc>
              <a:spcBef>
                <a:spcPts val="10"/>
              </a:spcBef>
              <a:buFontTx/>
              <a:buChar char="•"/>
            </a:pPr>
            <a:r>
              <a:rPr sz="1050" b="1">
                <a:solidFill>
                  <a:srgbClr val="262626"/>
                </a:solidFill>
                <a:latin typeface="微软雅黑"/>
                <a:ea typeface="微软雅黑"/>
                <a:cs typeface="微软雅黑"/>
              </a:rPr>
              <a:t>框架：vLLM cache.use_kda_recoverssm 与 DSpark 拒绝回滚打通；snapshot 粒度与 speculative block 对齐。</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图编译：FULL_DECODE_ONLY ACL Graph 固定 decode shapes；7-token/5-token draft 分别评测接受率、replay 开销、24MB 快照流量和 SRAM 占用。</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验收：正确性需覆盖部分拒绝、连续拒绝、跨 batch；性能同时看 HBM bytes/token、launch 数和状态恢复耗时。</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趋势：从“每 token 重算”转向“状态恢复+小窗口 replay”，但 KDA/MLA/AttnRes 三类状态仍需统一 spec-decode 生命周期。</a:t>
            </a:r>
            <a:endParaRPr sz="800">
              <a:solidFill>
                <a:srgbClr val="000000"/>
              </a:solidFill>
              <a:latin typeface="MiSans"/>
            </a:endParaRPr>
          </a:p>
        </p:txBody>
      </p:sp>
      <p:sp>
        <p:nvSpPr>
          <p:cNvPr id="15" name="文本框 14">
            <a:extLst>
              <a:ext uri="{FF2B5EF4-FFF2-40B4-BE49-F238E27FC236}">
                <a16:creationId xmlns:a16="http://schemas.microsoft.com/office/drawing/2014/main" id="{EF95BD90-5357-40A9-BCFD-A7FEAE0CADCF}"/>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童雨周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00886357</a:t>
            </a:r>
          </a:p>
        </p:txBody>
      </p:sp>
      <p:sp>
        <p:nvSpPr>
          <p:cNvPr id="16" name="文本框 15">
            <a:extLst>
              <a:ext uri="{FF2B5EF4-FFF2-40B4-BE49-F238E27FC236}">
                <a16:creationId xmlns:a16="http://schemas.microsoft.com/office/drawing/2014/main" id="{1AF9EE74-A395-4700-BC8A-5CD2FEBC9870}"/>
              </a:ext>
            </a:extLst>
          </p:cNvPr>
          <p:cNvSpPr txBox="1"/>
          <p:nvPr/>
        </p:nvSpPr>
        <p:spPr>
          <a:xfrm>
            <a:off x="2861388" y="2529324"/>
            <a:ext cx="2954655" cy="369332"/>
          </a:xfrm>
          <a:prstGeom prst="rect">
            <a:avLst/>
          </a:prstGeom>
          <a:noFill/>
        </p:spPr>
        <p:txBody>
          <a:bodyPr wrap="none" rtlCol="0">
            <a:spAutoFit/>
          </a:bodyPr>
          <a:lstStyle/>
          <a:p>
            <a:r>
              <a:rPr lang="zh-CN" altLang="en-US" dirty="0"/>
              <a:t>这个图有点问题，其他同上</a:t>
            </a:r>
          </a:p>
        </p:txBody>
      </p:sp>
    </p:spTree>
    <p:extLst>
      <p:ext uri="{BB962C8B-B14F-4D97-AF65-F5344CB8AC3E}">
        <p14:creationId xmlns:p14="http://schemas.microsoft.com/office/powerpoint/2010/main" val="1963343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a:extLst>
              <a:ext uri="{FF2B5EF4-FFF2-40B4-BE49-F238E27FC236}">
                <a16:creationId xmlns:a16="http://schemas.microsoft.com/office/drawing/2014/main" id="{045F3A8E-8B71-4BF9-847A-7898D3ABDD5D}"/>
              </a:ext>
            </a:extLst>
          </p:cNvPr>
          <p:cNvSpPr>
            <a:spLocks noGrp="1"/>
          </p:cNvSpPr>
          <p:nvPr/>
        </p:nvSpPr>
        <p:spPr>
          <a:xfrm>
            <a:off x="4701381" y="177800"/>
            <a:ext cx="7035800" cy="177800"/>
          </a:xfrm>
          <a:prstGeom prst="rect">
            <a:avLst/>
          </a:prstGeom>
          <a:noFill/>
          <a:ln>
            <a:noFill/>
          </a:ln>
        </p:spPr>
        <p:txBody>
          <a:bodyPr wrap="none" lIns="0" tIns="0" rIns="0" bIns="0" anchor="ctr"/>
          <a:lstStyle/>
          <a:p>
            <a:pPr algn="r">
              <a:lnSpc>
                <a:spcPct val="120000"/>
              </a:lnSpc>
            </a:pPr>
            <a:r>
              <a:rPr sz="800">
                <a:solidFill>
                  <a:srgbClr val="737373"/>
                </a:solidFill>
                <a:latin typeface="微软雅黑"/>
                <a:ea typeface="微软雅黑"/>
                <a:cs typeface="微软雅黑"/>
              </a:rPr>
              <a:t>资料来源：Kimi K3 Technical Report §2.2 / §5.4.2（Block AttnRes）</a:t>
            </a:r>
            <a:endParaRPr sz="800">
              <a:solidFill>
                <a:srgbClr val="000000"/>
              </a:solidFill>
              <a:latin typeface="MiSans"/>
            </a:endParaRPr>
          </a:p>
        </p:txBody>
      </p:sp>
      <p:sp>
        <p:nvSpPr>
          <p:cNvPr id="3" name="title">
            <a:extLst>
              <a:ext uri="{FF2B5EF4-FFF2-40B4-BE49-F238E27FC236}">
                <a16:creationId xmlns:a16="http://schemas.microsoft.com/office/drawing/2014/main" id="{9708715F-1971-4422-9C3F-9408EE0CD0FA}"/>
              </a:ext>
            </a:extLst>
          </p:cNvPr>
          <p:cNvSpPr>
            <a:spLocks noGrp="1"/>
          </p:cNvSpPr>
          <p:nvPr/>
        </p:nvSpPr>
        <p:spPr>
          <a:xfrm>
            <a:off x="561181" y="228600"/>
            <a:ext cx="11176000" cy="381000"/>
          </a:xfrm>
          <a:prstGeom prst="rect">
            <a:avLst/>
          </a:prstGeom>
          <a:noFill/>
          <a:ln>
            <a:noFill/>
          </a:ln>
        </p:spPr>
        <p:txBody>
          <a:bodyPr wrap="none" lIns="0" tIns="0" rIns="0" bIns="0" anchor="ctr"/>
          <a:lstStyle/>
          <a:p>
            <a:pPr>
              <a:lnSpc>
                <a:spcPct val="120000"/>
              </a:lnSpc>
            </a:pPr>
            <a:r>
              <a:rPr b="1">
                <a:solidFill>
                  <a:srgbClr val="C00000"/>
                </a:solidFill>
                <a:latin typeface="微软雅黑"/>
                <a:ea typeface="微软雅黑"/>
                <a:cs typeface="微软雅黑"/>
              </a:rPr>
              <a:t>Block AttnRes：两阶段调度与通信融合</a:t>
            </a:r>
            <a:endParaRPr>
              <a:solidFill>
                <a:srgbClr val="000000"/>
              </a:solidFill>
              <a:latin typeface="MiSans"/>
            </a:endParaRPr>
          </a:p>
        </p:txBody>
      </p:sp>
      <p:sp>
        <p:nvSpPr>
          <p:cNvPr id="4" name="concl-label-bg">
            <a:extLst>
              <a:ext uri="{FF2B5EF4-FFF2-40B4-BE49-F238E27FC236}">
                <a16:creationId xmlns:a16="http://schemas.microsoft.com/office/drawing/2014/main" id="{9FC65AD3-C993-4FCA-9DF4-460B3304FB2B}"/>
              </a:ext>
            </a:extLst>
          </p:cNvPr>
          <p:cNvSpPr>
            <a:spLocks noGrp="1"/>
          </p:cNvSpPr>
          <p:nvPr/>
        </p:nvSpPr>
        <p:spPr>
          <a:xfrm>
            <a:off x="561181" y="736600"/>
            <a:ext cx="1117600" cy="1397000"/>
          </a:xfrm>
          <a:prstGeom prst="rect">
            <a:avLst/>
          </a:prstGeom>
          <a:solidFill>
            <a:srgbClr val="C00000"/>
          </a:solidFill>
          <a:ln>
            <a:noFill/>
          </a:ln>
        </p:spPr>
      </p:sp>
      <p:sp>
        <p:nvSpPr>
          <p:cNvPr id="5" name="concl-label">
            <a:extLst>
              <a:ext uri="{FF2B5EF4-FFF2-40B4-BE49-F238E27FC236}">
                <a16:creationId xmlns:a16="http://schemas.microsoft.com/office/drawing/2014/main" id="{ED1BBC34-D09D-4F51-810E-148866EB427E}"/>
              </a:ext>
            </a:extLst>
          </p:cNvPr>
          <p:cNvSpPr>
            <a:spLocks noGrp="1"/>
          </p:cNvSpPr>
          <p:nvPr/>
        </p:nvSpPr>
        <p:spPr>
          <a:xfrm>
            <a:off x="561181" y="736600"/>
            <a:ext cx="1117600" cy="1397000"/>
          </a:xfrm>
          <a:prstGeom prst="rect">
            <a:avLst/>
          </a:prstGeom>
          <a:noFill/>
          <a:ln>
            <a:noFill/>
          </a:ln>
        </p:spPr>
        <p:txBody>
          <a:bodyPr wrap="square" lIns="0" tIns="0" rIns="0" bIns="0" anchor="ctr"/>
          <a:lstStyle/>
          <a:p>
            <a:pPr algn="ctr">
              <a:lnSpc>
                <a:spcPct val="120000"/>
              </a:lnSpc>
            </a:pPr>
            <a:r>
              <a:rPr sz="1400" b="1">
                <a:solidFill>
                  <a:srgbClr val="FFFFFF"/>
                </a:solidFill>
                <a:latin typeface="微软雅黑"/>
                <a:ea typeface="微软雅黑"/>
                <a:cs typeface="微软雅黑"/>
              </a:rPr>
              <a:t>分析</a:t>
            </a:r>
            <a:endParaRPr sz="1400">
              <a:solidFill>
                <a:srgbClr val="000000"/>
              </a:solidFill>
              <a:latin typeface="MiSans"/>
            </a:endParaRPr>
          </a:p>
          <a:p>
            <a:pPr algn="ctr">
              <a:lnSpc>
                <a:spcPct val="120000"/>
              </a:lnSpc>
            </a:pPr>
            <a:r>
              <a:rPr sz="1400" b="1">
                <a:solidFill>
                  <a:srgbClr val="FFFFFF"/>
                </a:solidFill>
                <a:latin typeface="微软雅黑"/>
                <a:ea typeface="微软雅黑"/>
                <a:cs typeface="微软雅黑"/>
              </a:rPr>
              <a:t>结论</a:t>
            </a:r>
            <a:endParaRPr sz="1400">
              <a:solidFill>
                <a:srgbClr val="000000"/>
              </a:solidFill>
              <a:latin typeface="MiSans"/>
            </a:endParaRPr>
          </a:p>
        </p:txBody>
      </p:sp>
      <p:sp>
        <p:nvSpPr>
          <p:cNvPr id="6" name="concl-body-bg">
            <a:extLst>
              <a:ext uri="{FF2B5EF4-FFF2-40B4-BE49-F238E27FC236}">
                <a16:creationId xmlns:a16="http://schemas.microsoft.com/office/drawing/2014/main" id="{0F0E4D06-90C6-44B3-9E43-5C072DB81DD4}"/>
              </a:ext>
            </a:extLst>
          </p:cNvPr>
          <p:cNvSpPr>
            <a:spLocks noGrp="1"/>
          </p:cNvSpPr>
          <p:nvPr/>
        </p:nvSpPr>
        <p:spPr>
          <a:xfrm>
            <a:off x="1780381" y="736600"/>
            <a:ext cx="9956800" cy="1397000"/>
          </a:xfrm>
          <a:prstGeom prst="rect">
            <a:avLst/>
          </a:prstGeom>
          <a:solidFill>
            <a:srgbClr val="F2F2F2"/>
          </a:solidFill>
          <a:ln>
            <a:noFill/>
          </a:ln>
        </p:spPr>
      </p:sp>
      <p:sp>
        <p:nvSpPr>
          <p:cNvPr id="7" name="concl-bullets">
            <a:extLst>
              <a:ext uri="{FF2B5EF4-FFF2-40B4-BE49-F238E27FC236}">
                <a16:creationId xmlns:a16="http://schemas.microsoft.com/office/drawing/2014/main" id="{5B50F457-DBDC-4086-BDF3-D3EAA84EB739}"/>
              </a:ext>
            </a:extLst>
          </p:cNvPr>
          <p:cNvSpPr>
            <a:spLocks noGrp="1"/>
          </p:cNvSpPr>
          <p:nvPr/>
        </p:nvSpPr>
        <p:spPr>
          <a:xfrm>
            <a:off x="1958181" y="800100"/>
            <a:ext cx="9601200" cy="1270000"/>
          </a:xfrm>
          <a:prstGeom prst="rect">
            <a:avLst/>
          </a:prstGeom>
          <a:noFill/>
          <a:ln>
            <a:noFill/>
          </a:ln>
        </p:spPr>
        <p:txBody>
          <a:bodyPr wrap="square" lIns="0" tIns="0" rIns="0" bIns="0" anchor="ctr"/>
          <a:lstStyle/>
          <a:p>
            <a:pPr>
              <a:lnSpc>
                <a:spcPct val="135000"/>
              </a:lnSpc>
              <a:spcBef>
                <a:spcPts val="10"/>
              </a:spcBef>
              <a:buFontTx/>
              <a:buChar char="•"/>
            </a:pPr>
            <a:r>
              <a:rPr sz="900" b="1">
                <a:solidFill>
                  <a:srgbClr val="262626"/>
                </a:solidFill>
                <a:latin typeface="微软雅黑"/>
                <a:ea typeface="微软雅黑"/>
                <a:cs typeface="微软雅黑"/>
              </a:rPr>
              <a:t>AttnRes 把 93 层深度残差变成 8 个 block 的可学习检索：w 生成伪查询，α=softmax(w·RMSNorm(b))，输出为各 block 表征的加权和。</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复杂度：全量深度注意力 O(L²d)，block 化后 O(Nd)，N≈8；嵌入加 8 个 block 共 9 个表示，约 126–129KB/token（BF16）。</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Prefill 可拆为 RS+AG 与 intra-block kernel；decode 用 side stream 交错 inter-block 计算，隐藏 HCCL 延迟。</a:t>
            </a:r>
            <a:endParaRPr sz="900">
              <a:solidFill>
                <a:srgbClr val="000000"/>
              </a:solidFill>
              <a:latin typeface="MiSans"/>
            </a:endParaRPr>
          </a:p>
          <a:p>
            <a:pPr>
              <a:lnSpc>
                <a:spcPct val="135000"/>
              </a:lnSpc>
              <a:spcBef>
                <a:spcPts val="400"/>
              </a:spcBef>
              <a:buFontTx/>
              <a:buChar char="•"/>
            </a:pPr>
            <a:r>
              <a:rPr sz="900" b="1">
                <a:solidFill>
                  <a:srgbClr val="262626"/>
                </a:solidFill>
                <a:latin typeface="微软雅黑"/>
                <a:ea typeface="微软雅黑"/>
                <a:cs typeface="微软雅黑"/>
              </a:rPr>
              <a:t>实现边界：attn_res_fwd 合并 BF16 add、residual mix、RMSNorm、writeback；A5 目标路径，A3 性能需实测。</a:t>
            </a:r>
            <a:endParaRPr sz="900">
              <a:solidFill>
                <a:srgbClr val="000000"/>
              </a:solidFill>
              <a:latin typeface="MiSans"/>
            </a:endParaRPr>
          </a:p>
        </p:txBody>
      </p:sp>
      <p:sp>
        <p:nvSpPr>
          <p:cNvPr id="8" name="arch-label">
            <a:extLst>
              <a:ext uri="{FF2B5EF4-FFF2-40B4-BE49-F238E27FC236}">
                <a16:creationId xmlns:a16="http://schemas.microsoft.com/office/drawing/2014/main" id="{E4687020-D441-41DB-AD79-F4F071C8189E}"/>
              </a:ext>
            </a:extLst>
          </p:cNvPr>
          <p:cNvSpPr>
            <a:spLocks noGrp="1"/>
          </p:cNvSpPr>
          <p:nvPr/>
        </p:nvSpPr>
        <p:spPr>
          <a:xfrm>
            <a:off x="561181" y="2286000"/>
            <a:ext cx="381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深度维注意力机制与执行调度</a:t>
            </a:r>
            <a:endParaRPr sz="1200">
              <a:solidFill>
                <a:srgbClr val="000000"/>
              </a:solidFill>
              <a:latin typeface="MiSans"/>
            </a:endParaRPr>
          </a:p>
        </p:txBody>
      </p:sp>
      <p:pic>
        <p:nvPicPr>
          <p:cNvPr id="24" name="arch-figure"/>
          <p:cNvPicPr>
            <a:picLocks noChangeAspect="1"/>
          </p:cNvPicPr>
          <p:nvPr/>
        </p:nvPicPr>
        <p:blipFill>
          <a:blip r:embed="rId3"/>
          <a:stretch/>
        </p:blipFill>
        <p:spPr>
          <a:xfrm>
            <a:off x="487226" y="2514600"/>
            <a:ext cx="5380313" cy="2768600"/>
          </a:xfrm>
          <a:prstGeom prst="rect">
            <a:avLst/>
          </a:prstGeom>
          <a:ln>
            <a:noFill/>
          </a:ln>
        </p:spPr>
      </p:pic>
      <p:sp>
        <p:nvSpPr>
          <p:cNvPr id="10" name="param-label">
            <a:extLst>
              <a:ext uri="{FF2B5EF4-FFF2-40B4-BE49-F238E27FC236}">
                <a16:creationId xmlns:a16="http://schemas.microsoft.com/office/drawing/2014/main" id="{9A8ED285-2D5D-455C-9C07-14DE1CF71EE6}"/>
              </a:ext>
            </a:extLst>
          </p:cNvPr>
          <p:cNvSpPr>
            <a:spLocks noGrp="1"/>
          </p:cNvSpPr>
          <p:nvPr/>
        </p:nvSpPr>
        <p:spPr>
          <a:xfrm>
            <a:off x="6199981" y="2286000"/>
            <a:ext cx="381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各阶段负载与昇腾诉求</a:t>
            </a:r>
            <a:endParaRPr sz="1200">
              <a:solidFill>
                <a:srgbClr val="000000"/>
              </a:solidFill>
              <a:latin typeface="MiSans"/>
            </a:endParaRPr>
          </a:p>
        </p:txBody>
      </p:sp>
      <p:graphicFrame>
        <p:nvGraphicFramePr>
          <p:cNvPr id="26" name="param-table"/>
          <p:cNvGraphicFramePr/>
          <p:nvPr/>
        </p:nvGraphicFramePr>
        <p:xfrm>
          <a:off x="6199981" y="2641600"/>
          <a:ext cx="5537200" cy="2620264"/>
        </p:xfrm>
        <a:graphic>
          <a:graphicData uri="http://schemas.openxmlformats.org/drawingml/2006/table">
            <a:tbl>
              <a:tblPr/>
              <a:tblGrid>
                <a:gridCol w="1439672">
                  <a:extLst>
                    <a:ext uri="{9D8B030D-6E8A-4147-A177-3AD203B41FA5}">
                      <a16:colId xmlns:a16="http://schemas.microsoft.com/office/drawing/2014/main" val="20000"/>
                    </a:ext>
                  </a:extLst>
                </a:gridCol>
                <a:gridCol w="1439672">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1771904">
                  <a:extLst>
                    <a:ext uri="{9D8B030D-6E8A-4147-A177-3AD203B41FA5}">
                      <a16:colId xmlns:a16="http://schemas.microsoft.com/office/drawing/2014/main" val="20003"/>
                    </a:ext>
                  </a:extLst>
                </a:gridCol>
              </a:tblGrid>
              <a:tr h="248920">
                <a:tc>
                  <a:txBody>
                    <a:bodyPr/>
                    <a:lstStyle/>
                    <a:p>
                      <a:pPr algn="l">
                        <a:buNone/>
                      </a:pPr>
                      <a:r>
                        <a:rPr sz="800" b="1">
                          <a:solidFill>
                            <a:srgbClr val="262626"/>
                          </a:solidFill>
                          <a:latin typeface="微软雅黑"/>
                          <a:ea typeface="微软雅黑"/>
                          <a:cs typeface="微软雅黑"/>
                        </a:rPr>
                        <a:t>阶段</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FLOPs</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48056">
                <a:tc>
                  <a:txBody>
                    <a:bodyPr/>
                    <a:lstStyle/>
                    <a:p>
                      <a:pPr algn="l">
                        <a:buNone/>
                      </a:pPr>
                      <a:r>
                        <a:rPr sz="800">
                          <a:solidFill>
                            <a:srgbClr val="262626"/>
                          </a:solidFill>
                          <a:latin typeface="微软雅黑"/>
                          <a:ea typeface="微软雅黑"/>
                          <a:cs typeface="微软雅黑"/>
                        </a:rPr>
                        <a:t>Inter-block pass</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读 N 个 block 表示 [N,d]</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O(N·d) / 层</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访存为主；批量读一次；decode 放 side stream 交叠</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48056">
                <a:tc>
                  <a:txBody>
                    <a:bodyPr/>
                    <a:lstStyle/>
                    <a:p>
                      <a:pPr algn="l">
                        <a:buNone/>
                      </a:pPr>
                      <a:r>
                        <a:rPr sz="800">
                          <a:solidFill>
                            <a:srgbClr val="262626"/>
                          </a:solidFill>
                          <a:latin typeface="微软雅黑"/>
                          <a:ea typeface="微软雅黑"/>
                          <a:cs typeface="微软雅黑"/>
                        </a:rPr>
                        <a:t>Intra-block 合并</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online softmax merge，[d]</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O(d) / 层</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融合进 TP all-reduce epilogue → 零独立 kernel</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48056">
                <a:tc>
                  <a:txBody>
                    <a:bodyPr/>
                    <a:lstStyle/>
                    <a:p>
                      <a:pPr algn="l">
                        <a:buNone/>
                      </a:pPr>
                      <a:r>
                        <a:rPr sz="800">
                          <a:solidFill>
                            <a:srgbClr val="262626"/>
                          </a:solidFill>
                          <a:latin typeface="微软雅黑"/>
                          <a:ea typeface="微软雅黑"/>
                          <a:cs typeface="微软雅黑"/>
                        </a:rPr>
                        <a:t>伪查询与权重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w∈Rd；α = softmax(w·RMSNorm(b))</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O(N·d)</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小 GEMV → Vector；N = 9，计算量极小</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48056">
                <a:tc>
                  <a:txBody>
                    <a:bodyPr/>
                    <a:lstStyle/>
                    <a:p>
                      <a:pPr algn="l">
                        <a:buNone/>
                      </a:pPr>
                      <a:r>
                        <a:rPr sz="800">
                          <a:solidFill>
                            <a:srgbClr val="262626"/>
                          </a:solidFill>
                          <a:latin typeface="微软雅黑"/>
                          <a:ea typeface="微软雅黑"/>
                          <a:cs typeface="微软雅黑"/>
                        </a:rPr>
                        <a:t>Block 表示缓存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N×d×2B / 序列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96 层 → 9 个表示 ≈126KB（BF16）；显存降一个量级</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48056">
                <a:tc>
                  <a:txBody>
                    <a:bodyPr/>
                    <a:lstStyle/>
                    <a:p>
                      <a:pPr algn="l">
                        <a:buNone/>
                      </a:pPr>
                      <a:r>
                        <a:rPr sz="800">
                          <a:solidFill>
                            <a:srgbClr val="262626"/>
                          </a:solidFill>
                          <a:latin typeface="微软雅黑"/>
                          <a:ea typeface="微软雅黑"/>
                          <a:cs typeface="微软雅黑"/>
                        </a:rPr>
                        <a:t>综合账本</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93层→8个 block 表示 + embedding，共9项；约126–129KB/token（BF16）</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O(Nd) 小型深度注意力；主要成本是访存/collective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HCCL RS/AG + AICore epilogue；side stream 隐藏 inter-block；A3 需实测</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bl>
          </a:graphicData>
        </a:graphic>
      </p:graphicFrame>
      <p:sp>
        <p:nvSpPr>
          <p:cNvPr id="12" name="param-note">
            <a:extLst>
              <a:ext uri="{FF2B5EF4-FFF2-40B4-BE49-F238E27FC236}">
                <a16:creationId xmlns:a16="http://schemas.microsoft.com/office/drawing/2014/main" id="{6725385B-5E7C-437B-8674-0B9F5A1D3916}"/>
              </a:ext>
            </a:extLst>
          </p:cNvPr>
          <p:cNvSpPr>
            <a:spLocks noGrp="1"/>
          </p:cNvSpPr>
          <p:nvPr/>
        </p:nvSpPr>
        <p:spPr>
          <a:xfrm>
            <a:off x="6200013" y="5219700"/>
            <a:ext cx="5537168" cy="38100"/>
          </a:xfrm>
          <a:prstGeom prst="rect">
            <a:avLst/>
          </a:prstGeom>
          <a:noFill/>
          <a:ln>
            <a:noFill/>
          </a:ln>
        </p:spPr>
        <p:txBody>
          <a:bodyPr wrap="square" lIns="0" tIns="0" rIns="0" bIns="0" anchor="t"/>
          <a:lstStyle/>
          <a:p>
            <a:pPr>
              <a:lnSpc>
                <a:spcPct val="135000"/>
              </a:lnSpc>
            </a:pPr>
            <a:endParaRPr sz="750">
              <a:solidFill>
                <a:srgbClr val="000000"/>
              </a:solidFill>
              <a:latin typeface="MiSans"/>
            </a:endParaRPr>
          </a:p>
        </p:txBody>
      </p:sp>
      <p:sp>
        <p:nvSpPr>
          <p:cNvPr id="13" name="dev-label">
            <a:extLst>
              <a:ext uri="{FF2B5EF4-FFF2-40B4-BE49-F238E27FC236}">
                <a16:creationId xmlns:a16="http://schemas.microsoft.com/office/drawing/2014/main" id="{E462A25E-948B-49CC-B0B1-DD36EB66B320}"/>
              </a:ext>
            </a:extLst>
          </p:cNvPr>
          <p:cNvSpPr>
            <a:spLocks noGrp="1"/>
          </p:cNvSpPr>
          <p:nvPr/>
        </p:nvSpPr>
        <p:spPr>
          <a:xfrm>
            <a:off x="561213" y="5695950"/>
            <a:ext cx="111252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开发需求与趋势思考</a:t>
            </a:r>
            <a:endParaRPr sz="1200">
              <a:solidFill>
                <a:srgbClr val="000000"/>
              </a:solidFill>
              <a:latin typeface="MiSans"/>
            </a:endParaRPr>
          </a:p>
        </p:txBody>
      </p:sp>
      <p:sp>
        <p:nvSpPr>
          <p:cNvPr id="14" name="dev-bullets">
            <a:extLst>
              <a:ext uri="{FF2B5EF4-FFF2-40B4-BE49-F238E27FC236}">
                <a16:creationId xmlns:a16="http://schemas.microsoft.com/office/drawing/2014/main" id="{A79F9DAA-3720-4059-8F66-DC9D15D5506C}"/>
              </a:ext>
            </a:extLst>
          </p:cNvPr>
          <p:cNvSpPr>
            <a:spLocks noGrp="1"/>
          </p:cNvSpPr>
          <p:nvPr/>
        </p:nvSpPr>
        <p:spPr>
          <a:xfrm>
            <a:off x="561213" y="5953125"/>
            <a:ext cx="11125200" cy="762000"/>
          </a:xfrm>
          <a:prstGeom prst="rect">
            <a:avLst/>
          </a:prstGeom>
          <a:noFill/>
          <a:ln>
            <a:noFill/>
          </a:ln>
        </p:spPr>
        <p:txBody>
          <a:bodyPr wrap="square" lIns="0" tIns="0" rIns="0" bIns="0" anchor="t"/>
          <a:lstStyle/>
          <a:p>
            <a:pPr>
              <a:lnSpc>
                <a:spcPct val="108000"/>
              </a:lnSpc>
              <a:spcBef>
                <a:spcPts val="10"/>
              </a:spcBef>
              <a:buFontTx/>
              <a:buChar char="•"/>
            </a:pPr>
            <a:r>
              <a:rPr sz="1050" b="1">
                <a:solidFill>
                  <a:srgbClr val="262626"/>
                </a:solidFill>
                <a:latin typeface="微软雅黑"/>
                <a:ea typeface="微软雅黑"/>
                <a:cs typeface="微软雅黑"/>
              </a:rPr>
              <a:t>算子：attn_res_fwd 合并 BF16 add、bank mix、RMSNorm、writeback；提供 RESIDENT/RELOAD、prefill/decode tiling。</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通信：Prefill 用 RS+AG，decode 用 side stream；9 个 block 表示的缓存生命周期需与 PP/TP 切分联动。</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验收：A3 先建立 126–129KB/token 的带宽与正确性基线，再测 HCCL overlap；A5 resident-bank 只能作为迁移目标。</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趋势：AttnRes 是跨层状态的新访存模式，必须纳入统一 cache manager 和内存碎片监控。</a:t>
            </a:r>
            <a:endParaRPr sz="800">
              <a:solidFill>
                <a:srgbClr val="000000"/>
              </a:solidFill>
              <a:latin typeface="MiSans"/>
            </a:endParaRPr>
          </a:p>
        </p:txBody>
      </p:sp>
      <p:sp>
        <p:nvSpPr>
          <p:cNvPr id="15" name="文本框 14">
            <a:extLst>
              <a:ext uri="{FF2B5EF4-FFF2-40B4-BE49-F238E27FC236}">
                <a16:creationId xmlns:a16="http://schemas.microsoft.com/office/drawing/2014/main" id="{F3BB71E8-1C80-4793-94B2-8FC7EB47D4BA}"/>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童雨周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00886357</a:t>
            </a:r>
          </a:p>
        </p:txBody>
      </p:sp>
    </p:spTree>
    <p:extLst>
      <p:ext uri="{BB962C8B-B14F-4D97-AF65-F5344CB8AC3E}">
        <p14:creationId xmlns:p14="http://schemas.microsoft.com/office/powerpoint/2010/main" val="1952908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ource-note">
            <a:extLst>
              <a:ext uri="{FF2B5EF4-FFF2-40B4-BE49-F238E27FC236}">
                <a16:creationId xmlns:a16="http://schemas.microsoft.com/office/drawing/2014/main" id="{CFF0169F-42E3-4266-93CB-658066E5A7A6}"/>
              </a:ext>
            </a:extLst>
          </p:cNvPr>
          <p:cNvSpPr>
            <a:spLocks noGrp="1"/>
          </p:cNvSpPr>
          <p:nvPr/>
        </p:nvSpPr>
        <p:spPr>
          <a:xfrm>
            <a:off x="4701381" y="177800"/>
            <a:ext cx="7035800" cy="177800"/>
          </a:xfrm>
          <a:prstGeom prst="rect">
            <a:avLst/>
          </a:prstGeom>
          <a:noFill/>
          <a:ln>
            <a:noFill/>
          </a:ln>
        </p:spPr>
        <p:txBody>
          <a:bodyPr wrap="none" lIns="0" tIns="0" rIns="0" bIns="0" anchor="ctr"/>
          <a:lstStyle/>
          <a:p>
            <a:pPr algn="r">
              <a:lnSpc>
                <a:spcPct val="120000"/>
              </a:lnSpc>
            </a:pPr>
            <a:r>
              <a:rPr sz="800">
                <a:solidFill>
                  <a:srgbClr val="737373"/>
                </a:solidFill>
                <a:latin typeface="微软雅黑"/>
                <a:ea typeface="微软雅黑"/>
                <a:cs typeface="微软雅黑"/>
              </a:rPr>
              <a:t>资料来源：Kimi K3 Technical Report §2.3 / §5.4.2（Stable LatentMoE）；WarpDecode [12]；vllm-ascend quantization</a:t>
            </a:r>
            <a:endParaRPr sz="800">
              <a:solidFill>
                <a:srgbClr val="000000"/>
              </a:solidFill>
              <a:latin typeface="MiSans"/>
            </a:endParaRPr>
          </a:p>
        </p:txBody>
      </p:sp>
      <p:sp>
        <p:nvSpPr>
          <p:cNvPr id="3" name="title">
            <a:extLst>
              <a:ext uri="{FF2B5EF4-FFF2-40B4-BE49-F238E27FC236}">
                <a16:creationId xmlns:a16="http://schemas.microsoft.com/office/drawing/2014/main" id="{07DB46E4-D876-46C2-8BA7-6C0D909C994B}"/>
              </a:ext>
            </a:extLst>
          </p:cNvPr>
          <p:cNvSpPr>
            <a:spLocks noGrp="1"/>
          </p:cNvSpPr>
          <p:nvPr/>
        </p:nvSpPr>
        <p:spPr>
          <a:xfrm>
            <a:off x="561181" y="228600"/>
            <a:ext cx="11176000" cy="381000"/>
          </a:xfrm>
          <a:prstGeom prst="rect">
            <a:avLst/>
          </a:prstGeom>
          <a:noFill/>
          <a:ln>
            <a:noFill/>
          </a:ln>
        </p:spPr>
        <p:txBody>
          <a:bodyPr wrap="none" lIns="0" tIns="0" rIns="0" bIns="0" anchor="ctr"/>
          <a:lstStyle/>
          <a:p>
            <a:pPr>
              <a:lnSpc>
                <a:spcPct val="120000"/>
              </a:lnSpc>
            </a:pPr>
            <a:r>
              <a:rPr b="1">
                <a:solidFill>
                  <a:srgbClr val="C00000"/>
                </a:solidFill>
                <a:latin typeface="微软雅黑"/>
                <a:ea typeface="微软雅黑"/>
                <a:cs typeface="微软雅黑"/>
              </a:rPr>
              <a:t>Stable LatentMoE：隐空间专家计算的 GEMM 优化</a:t>
            </a:r>
            <a:endParaRPr>
              <a:solidFill>
                <a:srgbClr val="000000"/>
              </a:solidFill>
              <a:latin typeface="MiSans"/>
            </a:endParaRPr>
          </a:p>
        </p:txBody>
      </p:sp>
      <p:sp>
        <p:nvSpPr>
          <p:cNvPr id="4" name="concl-label-bg">
            <a:extLst>
              <a:ext uri="{FF2B5EF4-FFF2-40B4-BE49-F238E27FC236}">
                <a16:creationId xmlns:a16="http://schemas.microsoft.com/office/drawing/2014/main" id="{D054FD55-3ACF-40D2-BFDC-AC927BD7143F}"/>
              </a:ext>
            </a:extLst>
          </p:cNvPr>
          <p:cNvSpPr>
            <a:spLocks noGrp="1"/>
          </p:cNvSpPr>
          <p:nvPr/>
        </p:nvSpPr>
        <p:spPr>
          <a:xfrm>
            <a:off x="561181" y="736600"/>
            <a:ext cx="1117600" cy="1397000"/>
          </a:xfrm>
          <a:prstGeom prst="rect">
            <a:avLst/>
          </a:prstGeom>
          <a:solidFill>
            <a:srgbClr val="C00000"/>
          </a:solidFill>
          <a:ln>
            <a:noFill/>
          </a:ln>
        </p:spPr>
      </p:sp>
      <p:sp>
        <p:nvSpPr>
          <p:cNvPr id="5" name="concl-label">
            <a:extLst>
              <a:ext uri="{FF2B5EF4-FFF2-40B4-BE49-F238E27FC236}">
                <a16:creationId xmlns:a16="http://schemas.microsoft.com/office/drawing/2014/main" id="{8C60752C-1477-42E1-8815-4D8A6A8A1982}"/>
              </a:ext>
            </a:extLst>
          </p:cNvPr>
          <p:cNvSpPr>
            <a:spLocks noGrp="1"/>
          </p:cNvSpPr>
          <p:nvPr/>
        </p:nvSpPr>
        <p:spPr>
          <a:xfrm>
            <a:off x="561181" y="736600"/>
            <a:ext cx="1117600" cy="1397000"/>
          </a:xfrm>
          <a:prstGeom prst="rect">
            <a:avLst/>
          </a:prstGeom>
          <a:noFill/>
          <a:ln>
            <a:noFill/>
          </a:ln>
        </p:spPr>
        <p:txBody>
          <a:bodyPr wrap="square" lIns="0" tIns="0" rIns="0" bIns="0" anchor="ctr"/>
          <a:lstStyle/>
          <a:p>
            <a:pPr algn="ctr">
              <a:lnSpc>
                <a:spcPct val="120000"/>
              </a:lnSpc>
            </a:pPr>
            <a:r>
              <a:rPr sz="1400" b="1">
                <a:solidFill>
                  <a:srgbClr val="FFFFFF"/>
                </a:solidFill>
                <a:latin typeface="微软雅黑"/>
                <a:ea typeface="微软雅黑"/>
                <a:cs typeface="微软雅黑"/>
              </a:rPr>
              <a:t>分析</a:t>
            </a:r>
            <a:endParaRPr sz="1400">
              <a:solidFill>
                <a:srgbClr val="000000"/>
              </a:solidFill>
              <a:latin typeface="MiSans"/>
            </a:endParaRPr>
          </a:p>
          <a:p>
            <a:pPr algn="ctr">
              <a:lnSpc>
                <a:spcPct val="120000"/>
              </a:lnSpc>
            </a:pPr>
            <a:r>
              <a:rPr sz="1400" b="1">
                <a:solidFill>
                  <a:srgbClr val="FFFFFF"/>
                </a:solidFill>
                <a:latin typeface="微软雅黑"/>
                <a:ea typeface="微软雅黑"/>
                <a:cs typeface="微软雅黑"/>
              </a:rPr>
              <a:t>结论</a:t>
            </a:r>
            <a:endParaRPr sz="1400">
              <a:solidFill>
                <a:srgbClr val="000000"/>
              </a:solidFill>
              <a:latin typeface="MiSans"/>
            </a:endParaRPr>
          </a:p>
        </p:txBody>
      </p:sp>
      <p:sp>
        <p:nvSpPr>
          <p:cNvPr id="6" name="concl-body-bg">
            <a:extLst>
              <a:ext uri="{FF2B5EF4-FFF2-40B4-BE49-F238E27FC236}">
                <a16:creationId xmlns:a16="http://schemas.microsoft.com/office/drawing/2014/main" id="{99C286DE-95EA-4128-9CA2-5528AF5A83AE}"/>
              </a:ext>
            </a:extLst>
          </p:cNvPr>
          <p:cNvSpPr>
            <a:spLocks noGrp="1"/>
          </p:cNvSpPr>
          <p:nvPr/>
        </p:nvSpPr>
        <p:spPr>
          <a:xfrm>
            <a:off x="1780381" y="736600"/>
            <a:ext cx="9956800" cy="1397000"/>
          </a:xfrm>
          <a:prstGeom prst="rect">
            <a:avLst/>
          </a:prstGeom>
          <a:solidFill>
            <a:srgbClr val="F2F2F2"/>
          </a:solidFill>
          <a:ln>
            <a:noFill/>
          </a:ln>
        </p:spPr>
      </p:sp>
      <p:sp>
        <p:nvSpPr>
          <p:cNvPr id="7" name="concl-bullets">
            <a:extLst>
              <a:ext uri="{FF2B5EF4-FFF2-40B4-BE49-F238E27FC236}">
                <a16:creationId xmlns:a16="http://schemas.microsoft.com/office/drawing/2014/main" id="{BA71A1A1-3596-41E8-901A-81DA6D96B150}"/>
              </a:ext>
            </a:extLst>
          </p:cNvPr>
          <p:cNvSpPr>
            <a:spLocks noGrp="1"/>
          </p:cNvSpPr>
          <p:nvPr/>
        </p:nvSpPr>
        <p:spPr>
          <a:xfrm>
            <a:off x="1958181" y="800100"/>
            <a:ext cx="9601200" cy="1270000"/>
          </a:xfrm>
          <a:prstGeom prst="rect">
            <a:avLst/>
          </a:prstGeom>
          <a:noFill/>
          <a:ln>
            <a:noFill/>
          </a:ln>
        </p:spPr>
        <p:txBody>
          <a:bodyPr wrap="square" lIns="0" tIns="0" rIns="0" bIns="0" anchor="ctr"/>
          <a:lstStyle/>
          <a:p>
            <a:pPr>
              <a:lnSpc>
                <a:spcPct val="135000"/>
              </a:lnSpc>
              <a:spcBef>
                <a:spcPts val="10"/>
              </a:spcBef>
              <a:buFontTx/>
              <a:buChar char="•"/>
            </a:pPr>
            <a:r>
              <a:rPr sz="900" b="1" dirty="0" err="1">
                <a:solidFill>
                  <a:srgbClr val="262626"/>
                </a:solidFill>
                <a:latin typeface="微软雅黑"/>
                <a:ea typeface="微软雅黑"/>
                <a:cs typeface="微软雅黑"/>
              </a:rPr>
              <a:t>LatentMoE</a:t>
            </a:r>
            <a:r>
              <a:rPr sz="900" b="1" dirty="0">
                <a:solidFill>
                  <a:srgbClr val="262626"/>
                </a:solidFill>
                <a:latin typeface="微软雅黑"/>
                <a:ea typeface="微软雅黑"/>
                <a:cs typeface="微软雅黑"/>
              </a:rPr>
              <a:t> </a:t>
            </a:r>
            <a:r>
              <a:rPr sz="900" b="1" dirty="0" err="1">
                <a:solidFill>
                  <a:srgbClr val="262626"/>
                </a:solidFill>
                <a:latin typeface="微软雅黑"/>
                <a:ea typeface="微软雅黑"/>
                <a:cs typeface="微软雅黑"/>
              </a:rPr>
              <a:t>先将</a:t>
            </a:r>
            <a:r>
              <a:rPr sz="900" b="1" dirty="0">
                <a:solidFill>
                  <a:srgbClr val="262626"/>
                </a:solidFill>
                <a:latin typeface="微软雅黑"/>
                <a:ea typeface="微软雅黑"/>
                <a:cs typeface="微软雅黑"/>
              </a:rPr>
              <a:t> d=7168 </a:t>
            </a:r>
            <a:r>
              <a:rPr sz="900" b="1" dirty="0" err="1">
                <a:solidFill>
                  <a:srgbClr val="262626"/>
                </a:solidFill>
                <a:latin typeface="微软雅黑"/>
                <a:ea typeface="微软雅黑"/>
                <a:cs typeface="微软雅黑"/>
              </a:rPr>
              <a:t>压到</a:t>
            </a:r>
            <a:r>
              <a:rPr sz="900" b="1" dirty="0">
                <a:solidFill>
                  <a:srgbClr val="262626"/>
                </a:solidFill>
                <a:latin typeface="微软雅黑"/>
                <a:ea typeface="微软雅黑"/>
                <a:cs typeface="微软雅黑"/>
              </a:rPr>
              <a:t> latent ℓ=3584，再做 896 </a:t>
            </a:r>
            <a:r>
              <a:rPr sz="900" b="1" dirty="0" err="1">
                <a:solidFill>
                  <a:srgbClr val="262626"/>
                </a:solidFill>
                <a:latin typeface="微软雅黑"/>
                <a:ea typeface="微软雅黑"/>
                <a:cs typeface="微软雅黑"/>
              </a:rPr>
              <a:t>路由专家中的</a:t>
            </a:r>
            <a:r>
              <a:rPr sz="900" b="1" dirty="0">
                <a:solidFill>
                  <a:srgbClr val="262626"/>
                </a:solidFill>
                <a:latin typeface="微软雅黑"/>
                <a:ea typeface="微软雅黑"/>
                <a:cs typeface="微软雅黑"/>
              </a:rPr>
              <a:t> top-16，并叠加2个 shared </a:t>
            </a:r>
            <a:r>
              <a:rPr sz="900" b="1" dirty="0" err="1">
                <a:solidFill>
                  <a:srgbClr val="262626"/>
                </a:solidFill>
                <a:latin typeface="微软雅黑"/>
                <a:ea typeface="微软雅黑"/>
                <a:cs typeface="微软雅黑"/>
              </a:rPr>
              <a:t>expert；W↑恢复到</a:t>
            </a:r>
            <a:r>
              <a:rPr sz="900" b="1" dirty="0">
                <a:solidFill>
                  <a:srgbClr val="262626"/>
                </a:solidFill>
                <a:latin typeface="微软雅黑"/>
                <a:ea typeface="微软雅黑"/>
                <a:cs typeface="微软雅黑"/>
              </a:rPr>
              <a:t> d。</a:t>
            </a:r>
            <a:endParaRPr sz="900" dirty="0">
              <a:solidFill>
                <a:srgbClr val="000000"/>
              </a:solidFill>
              <a:latin typeface="MiSans"/>
            </a:endParaRPr>
          </a:p>
          <a:p>
            <a:pPr>
              <a:lnSpc>
                <a:spcPct val="135000"/>
              </a:lnSpc>
              <a:spcBef>
                <a:spcPts val="400"/>
              </a:spcBef>
              <a:buFontTx/>
              <a:buChar char="•"/>
            </a:pPr>
            <a:r>
              <a:rPr sz="900" b="1" dirty="0" err="1">
                <a:solidFill>
                  <a:srgbClr val="262626"/>
                </a:solidFill>
                <a:latin typeface="微软雅黑"/>
                <a:ea typeface="微软雅黑"/>
                <a:cs typeface="微软雅黑"/>
              </a:rPr>
              <a:t>通信变化：EP</a:t>
            </a:r>
            <a:r>
              <a:rPr sz="900" b="1" dirty="0">
                <a:solidFill>
                  <a:srgbClr val="262626"/>
                </a:solidFill>
                <a:latin typeface="微软雅黑"/>
                <a:ea typeface="微软雅黑"/>
                <a:cs typeface="微软雅黑"/>
              </a:rPr>
              <a:t> dispatch/combine 在 latent </a:t>
            </a:r>
            <a:r>
              <a:rPr sz="900" b="1" dirty="0" err="1">
                <a:solidFill>
                  <a:srgbClr val="262626"/>
                </a:solidFill>
                <a:latin typeface="微软雅黑"/>
                <a:ea typeface="微软雅黑"/>
                <a:cs typeface="微软雅黑"/>
              </a:rPr>
              <a:t>域，all-to-all</a:t>
            </a:r>
            <a:r>
              <a:rPr sz="900" b="1" dirty="0">
                <a:solidFill>
                  <a:srgbClr val="262626"/>
                </a:solidFill>
                <a:latin typeface="微软雅黑"/>
                <a:ea typeface="微软雅黑"/>
                <a:cs typeface="微软雅黑"/>
              </a:rPr>
              <a:t> payload </a:t>
            </a:r>
            <a:r>
              <a:rPr sz="900" b="1" dirty="0" err="1">
                <a:solidFill>
                  <a:srgbClr val="262626"/>
                </a:solidFill>
                <a:latin typeface="微软雅黑"/>
                <a:ea typeface="微软雅黑"/>
                <a:cs typeface="微软雅黑"/>
              </a:rPr>
              <a:t>约为</a:t>
            </a:r>
            <a:r>
              <a:rPr sz="900" b="1" dirty="0">
                <a:solidFill>
                  <a:srgbClr val="262626"/>
                </a:solidFill>
                <a:latin typeface="微软雅黑"/>
                <a:ea typeface="微软雅黑"/>
                <a:cs typeface="微软雅黑"/>
              </a:rPr>
              <a:t> d 域 50%；小 batch decode </a:t>
            </a:r>
            <a:r>
              <a:rPr sz="900" b="1" dirty="0" err="1">
                <a:solidFill>
                  <a:srgbClr val="262626"/>
                </a:solidFill>
                <a:latin typeface="微软雅黑"/>
                <a:ea typeface="微软雅黑"/>
                <a:cs typeface="微软雅黑"/>
              </a:rPr>
              <a:t>仍受专家权重流式读取限制</a:t>
            </a:r>
            <a:r>
              <a:rPr sz="900" b="1" dirty="0">
                <a:solidFill>
                  <a:srgbClr val="262626"/>
                </a:solidFill>
                <a:latin typeface="微软雅黑"/>
                <a:ea typeface="微软雅黑"/>
                <a:cs typeface="微软雅黑"/>
              </a:rPr>
              <a:t>。</a:t>
            </a:r>
            <a:endParaRPr sz="900" dirty="0">
              <a:solidFill>
                <a:srgbClr val="000000"/>
              </a:solidFill>
              <a:latin typeface="MiSans"/>
            </a:endParaRPr>
          </a:p>
          <a:p>
            <a:pPr>
              <a:lnSpc>
                <a:spcPct val="135000"/>
              </a:lnSpc>
              <a:spcBef>
                <a:spcPts val="400"/>
              </a:spcBef>
              <a:buFontTx/>
              <a:buChar char="•"/>
            </a:pPr>
            <a:r>
              <a:rPr sz="900" b="1" dirty="0" err="1">
                <a:solidFill>
                  <a:srgbClr val="262626"/>
                </a:solidFill>
                <a:latin typeface="微软雅黑"/>
                <a:ea typeface="微软雅黑"/>
                <a:cs typeface="微软雅黑"/>
              </a:rPr>
              <a:t>参数账本：单</a:t>
            </a:r>
            <a:r>
              <a:rPr sz="900" b="1" dirty="0">
                <a:solidFill>
                  <a:srgbClr val="262626"/>
                </a:solidFill>
                <a:latin typeface="微软雅黑"/>
                <a:ea typeface="微软雅黑"/>
                <a:cs typeface="微软雅黑"/>
              </a:rPr>
              <a:t> expert 约33.0M 参数；BF16≈66MB，W4≈16.5MB；16 routed 激活权重约1.06/0.26GB。</a:t>
            </a:r>
            <a:endParaRPr sz="900" dirty="0">
              <a:solidFill>
                <a:srgbClr val="000000"/>
              </a:solidFill>
              <a:latin typeface="MiSans"/>
            </a:endParaRPr>
          </a:p>
          <a:p>
            <a:pPr>
              <a:lnSpc>
                <a:spcPct val="135000"/>
              </a:lnSpc>
              <a:spcBef>
                <a:spcPts val="400"/>
              </a:spcBef>
              <a:buFontTx/>
              <a:buChar char="•"/>
            </a:pPr>
            <a:r>
              <a:rPr sz="900" b="1" dirty="0">
                <a:solidFill>
                  <a:srgbClr val="262626"/>
                </a:solidFill>
                <a:latin typeface="微软雅黑"/>
                <a:ea typeface="微软雅黑"/>
                <a:cs typeface="微软雅黑"/>
              </a:rPr>
              <a:t>部署边界：A3 W4A8 为4节点 DP4/TP16/EP64、约1.49TB权重存储；HCCL_BUFFSIZE=1024、EP=2048，存储值不等于运行时 HBM。</a:t>
            </a:r>
            <a:endParaRPr sz="900" dirty="0">
              <a:solidFill>
                <a:srgbClr val="000000"/>
              </a:solidFill>
              <a:latin typeface="MiSans"/>
            </a:endParaRPr>
          </a:p>
        </p:txBody>
      </p:sp>
      <p:sp>
        <p:nvSpPr>
          <p:cNvPr id="8" name="arch-label">
            <a:extLst>
              <a:ext uri="{FF2B5EF4-FFF2-40B4-BE49-F238E27FC236}">
                <a16:creationId xmlns:a16="http://schemas.microsoft.com/office/drawing/2014/main" id="{B6B9EF23-5399-4CAD-88F0-AC9DA9DB3C9C}"/>
              </a:ext>
            </a:extLst>
          </p:cNvPr>
          <p:cNvSpPr>
            <a:spLocks noGrp="1"/>
          </p:cNvSpPr>
          <p:nvPr/>
        </p:nvSpPr>
        <p:spPr>
          <a:xfrm>
            <a:off x="561181" y="2286000"/>
            <a:ext cx="4064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隐空间数据流与 decode kernel 设计</a:t>
            </a:r>
            <a:endParaRPr sz="1200">
              <a:solidFill>
                <a:srgbClr val="000000"/>
              </a:solidFill>
              <a:latin typeface="MiSans"/>
            </a:endParaRPr>
          </a:p>
        </p:txBody>
      </p:sp>
      <p:pic>
        <p:nvPicPr>
          <p:cNvPr id="24" name="arch-figure"/>
          <p:cNvPicPr>
            <a:picLocks noChangeAspect="1"/>
          </p:cNvPicPr>
          <p:nvPr/>
        </p:nvPicPr>
        <p:blipFill>
          <a:blip r:embed="rId3"/>
          <a:stretch/>
        </p:blipFill>
        <p:spPr>
          <a:xfrm>
            <a:off x="487226" y="2514600"/>
            <a:ext cx="5380313" cy="2768600"/>
          </a:xfrm>
          <a:prstGeom prst="rect">
            <a:avLst/>
          </a:prstGeom>
          <a:ln>
            <a:noFill/>
          </a:ln>
        </p:spPr>
      </p:pic>
      <p:sp>
        <p:nvSpPr>
          <p:cNvPr id="10" name="param-label">
            <a:extLst>
              <a:ext uri="{FF2B5EF4-FFF2-40B4-BE49-F238E27FC236}">
                <a16:creationId xmlns:a16="http://schemas.microsoft.com/office/drawing/2014/main" id="{5D48B5DB-61FF-45DE-A016-D9BAF7E78A5D}"/>
              </a:ext>
            </a:extLst>
          </p:cNvPr>
          <p:cNvSpPr>
            <a:spLocks noGrp="1"/>
          </p:cNvSpPr>
          <p:nvPr/>
        </p:nvSpPr>
        <p:spPr>
          <a:xfrm>
            <a:off x="6199981" y="2286000"/>
            <a:ext cx="38100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各阶段负载与昇腾诉求</a:t>
            </a:r>
            <a:endParaRPr sz="1200">
              <a:solidFill>
                <a:srgbClr val="000000"/>
              </a:solidFill>
              <a:latin typeface="MiSans"/>
            </a:endParaRPr>
          </a:p>
        </p:txBody>
      </p:sp>
      <p:graphicFrame>
        <p:nvGraphicFramePr>
          <p:cNvPr id="26" name="param-table"/>
          <p:cNvGraphicFramePr/>
          <p:nvPr/>
        </p:nvGraphicFramePr>
        <p:xfrm>
          <a:off x="6199981" y="2641600"/>
          <a:ext cx="5537200" cy="2751328"/>
        </p:xfrm>
        <a:graphic>
          <a:graphicData uri="http://schemas.openxmlformats.org/drawingml/2006/table">
            <a:tbl>
              <a:tblPr/>
              <a:tblGrid>
                <a:gridCol w="1495044">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885952">
                  <a:extLst>
                    <a:ext uri="{9D8B030D-6E8A-4147-A177-3AD203B41FA5}">
                      <a16:colId xmlns:a16="http://schemas.microsoft.com/office/drawing/2014/main" val="20002"/>
                    </a:ext>
                  </a:extLst>
                </a:gridCol>
                <a:gridCol w="1771904">
                  <a:extLst>
                    <a:ext uri="{9D8B030D-6E8A-4147-A177-3AD203B41FA5}">
                      <a16:colId xmlns:a16="http://schemas.microsoft.com/office/drawing/2014/main" val="20003"/>
                    </a:ext>
                  </a:extLst>
                </a:gridCol>
              </a:tblGrid>
              <a:tr h="248920">
                <a:tc>
                  <a:txBody>
                    <a:bodyPr/>
                    <a:lstStyle/>
                    <a:p>
                      <a:pPr algn="l">
                        <a:buNone/>
                      </a:pPr>
                      <a:r>
                        <a:rPr sz="800" b="1">
                          <a:solidFill>
                            <a:srgbClr val="262626"/>
                          </a:solidFill>
                          <a:latin typeface="微软雅黑"/>
                          <a:ea typeface="微软雅黑"/>
                          <a:cs typeface="微软雅黑"/>
                        </a:rPr>
                        <a:t>阶段</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张量形状</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FLOPs</a:t>
                      </a:r>
                    </a:p>
                  </a:txBody>
                  <a:tcPr anchor="ctr">
                    <a:lnL>
                      <a:noFill/>
                    </a:lnL>
                    <a:lnR>
                      <a:noFill/>
                    </a:lnR>
                    <a:lnT>
                      <a:noFill/>
                    </a:lnT>
                    <a:lnB w="12700">
                      <a:solidFill>
                        <a:srgbClr val="737373"/>
                      </a:solidFill>
                    </a:lnB>
                    <a:solidFill>
                      <a:srgbClr val="F5F5F5"/>
                    </a:solidFill>
                  </a:tcPr>
                </a:tc>
                <a:tc>
                  <a:txBody>
                    <a:bodyPr/>
                    <a:lstStyle/>
                    <a:p>
                      <a:pPr algn="l">
                        <a:buNone/>
                      </a:pPr>
                      <a:r>
                        <a:rPr sz="800" b="1">
                          <a:solidFill>
                            <a:srgbClr val="262626"/>
                          </a:solidFill>
                          <a:latin typeface="微软雅黑"/>
                          <a:ea typeface="微软雅黑"/>
                          <a:cs typeface="微软雅黑"/>
                        </a:rPr>
                        <a:t>负载特征 → 昇腾诉求</a:t>
                      </a:r>
                    </a:p>
                  </a:txBody>
                  <a:tcPr anchor="ctr">
                    <a:lnL>
                      <a:noFill/>
                    </a:lnL>
                    <a:lnR>
                      <a:noFill/>
                    </a:lnR>
                    <a:lnT>
                      <a:noFill/>
                    </a:lnT>
                    <a:lnB w="12700">
                      <a:solidFill>
                        <a:srgbClr val="737373"/>
                      </a:solidFill>
                    </a:lnB>
                    <a:solidFill>
                      <a:srgbClr val="F5F5F5"/>
                    </a:solidFill>
                  </a:tcPr>
                </a:tc>
                <a:extLst>
                  <a:ext uri="{0D108BD9-81ED-4DB2-BD59-A6C34878D82A}">
                    <a16:rowId xmlns:a16="http://schemas.microsoft.com/office/drawing/2014/main" val="10000"/>
                  </a:ext>
                </a:extLst>
              </a:tr>
              <a:tr h="448056">
                <a:tc>
                  <a:txBody>
                    <a:bodyPr/>
                    <a:lstStyle/>
                    <a:p>
                      <a:pPr algn="l">
                        <a:buNone/>
                      </a:pPr>
                      <a:r>
                        <a:rPr sz="800">
                          <a:solidFill>
                            <a:srgbClr val="262626"/>
                          </a:solidFill>
                          <a:latin typeface="微软雅黑"/>
                          <a:ea typeface="微软雅黑"/>
                          <a:cs typeface="微软雅黑"/>
                        </a:rPr>
                        <a:t>Router + 下投影融合 ①</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[T,d]×[d, ℓ+E]</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2T·d·(ℓ+E)</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单 GEMM → CUBE；省一次中间结果写回</a:t>
                      </a:r>
                    </a:p>
                  </a:txBody>
                  <a:tcPr anchor="ctr">
                    <a:lnL>
                      <a:noFill/>
                    </a:lnL>
                    <a:lnR>
                      <a:noFill/>
                    </a:lnR>
                    <a:lnT w="12700" cap="flat" cmpd="sng" algn="ctr">
                      <a:solidFill>
                        <a:srgbClr val="737373"/>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1"/>
                  </a:ext>
                </a:extLst>
              </a:tr>
              <a:tr h="448056">
                <a:tc>
                  <a:txBody>
                    <a:bodyPr/>
                    <a:lstStyle/>
                    <a:p>
                      <a:pPr algn="l">
                        <a:buNone/>
                      </a:pPr>
                      <a:r>
                        <a:rPr sz="800">
                          <a:solidFill>
                            <a:srgbClr val="262626"/>
                          </a:solidFill>
                          <a:latin typeface="微软雅黑"/>
                          <a:ea typeface="微软雅黑"/>
                          <a:cs typeface="微软雅黑"/>
                        </a:rPr>
                        <a:t>路由专家 GEMM</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每专家 [Te,ℓ]×[ℓ,he]，he = 3072</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2k·3ℓ·he，k = 16</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隐空间 ℓ = 3584（0.5d）→ 计算量较全宽减半；group GEMM → CUBE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2"/>
                  </a:ext>
                </a:extLst>
              </a:tr>
              <a:tr h="448056">
                <a:tc>
                  <a:txBody>
                    <a:bodyPr/>
                    <a:lstStyle/>
                    <a:p>
                      <a:pPr algn="l">
                        <a:buNone/>
                      </a:pPr>
                      <a:r>
                        <a:rPr sz="800">
                          <a:solidFill>
                            <a:srgbClr val="262626"/>
                          </a:solidFill>
                          <a:latin typeface="微软雅黑"/>
                          <a:ea typeface="微软雅黑"/>
                          <a:cs typeface="微软雅黑"/>
                        </a:rPr>
                        <a:t>上投影 W↑ + AG 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[T,ℓ]×[ℓ,d] + all-gather</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2T·ℓ·d</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multimem store 融合 AG → 通信隐藏于计算</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3"/>
                  </a:ext>
                </a:extLst>
              </a:tr>
              <a:tr h="448056">
                <a:tc>
                  <a:txBody>
                    <a:bodyPr/>
                    <a:lstStyle/>
                    <a:p>
                      <a:pPr algn="l">
                        <a:buNone/>
                      </a:pPr>
                      <a:r>
                        <a:rPr sz="800">
                          <a:solidFill>
                            <a:srgbClr val="262626"/>
                          </a:solidFill>
                          <a:latin typeface="微软雅黑"/>
                          <a:ea typeface="微软雅黑"/>
                          <a:cs typeface="微软雅黑"/>
                        </a:rPr>
                        <a:t>Decode 权重流读</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每专家 3·ℓ·he 权重</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≈0（纯访存）</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memory-bound：带宽利用率为唯一指标 → token 中心 warp 设计</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4"/>
                  </a:ext>
                </a:extLst>
              </a:tr>
              <a:tr h="448056">
                <a:tc>
                  <a:txBody>
                    <a:bodyPr/>
                    <a:lstStyle/>
                    <a:p>
                      <a:pPr algn="l">
                        <a:buNone/>
                      </a:pPr>
                      <a:r>
                        <a:rPr sz="800">
                          <a:solidFill>
                            <a:srgbClr val="262626"/>
                          </a:solidFill>
                          <a:latin typeface="微软雅黑"/>
                          <a:ea typeface="微软雅黑"/>
                          <a:cs typeface="微软雅黑"/>
                        </a:rPr>
                        <a:t>综合账本</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每 expert≈33.0M 参数；BF16≈66MB，W4≈16.5MB；16 routed≈1.06/0.26GB</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Router+down≈2T·d(ℓ+E)；16专家 GEMM≈2T·k·ℓ·he</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tc>
                  <a:txBody>
                    <a:bodyPr/>
                    <a:lstStyle/>
                    <a:p>
                      <a:pPr algn="l">
                        <a:buNone/>
                      </a:pPr>
                      <a:r>
                        <a:rPr sz="800">
                          <a:solidFill>
                            <a:srgbClr val="262626"/>
                          </a:solidFill>
                          <a:latin typeface="微软雅黑"/>
                          <a:ea typeface="微软雅黑"/>
                          <a:cs typeface="微软雅黑"/>
                        </a:rPr>
                        <a:t>CUBE: latent/expert GEMM；Vector: top-k/SiTU；EP64 latent all-to-all≈50% payload；W4A8 约1.49TB存储</a:t>
                      </a:r>
                    </a:p>
                  </a:txBody>
                  <a:tcPr anchor="ctr">
                    <a:lnL>
                      <a:noFill/>
                    </a:lnL>
                    <a:lnR>
                      <a:noFill/>
                    </a:lnR>
                    <a:lnT w="9525" cap="flat" cmpd="sng" algn="ctr">
                      <a:solidFill>
                        <a:srgbClr val="D4D4D4"/>
                      </a:solidFill>
                      <a:prstDash val="solid"/>
                      <a:round/>
                      <a:headEnd type="none" w="med" len="med"/>
                      <a:tailEnd type="none" w="med" len="med"/>
                    </a:lnT>
                    <a:lnB w="9525">
                      <a:solidFill>
                        <a:srgbClr val="D4D4D4"/>
                      </a:solidFill>
                    </a:lnB>
                    <a:noFill/>
                  </a:tcPr>
                </a:tc>
                <a:extLst>
                  <a:ext uri="{0D108BD9-81ED-4DB2-BD59-A6C34878D82A}">
                    <a16:rowId xmlns:a16="http://schemas.microsoft.com/office/drawing/2014/main" val="10005"/>
                  </a:ext>
                </a:extLst>
              </a:tr>
            </a:tbl>
          </a:graphicData>
        </a:graphic>
      </p:graphicFrame>
      <p:sp>
        <p:nvSpPr>
          <p:cNvPr id="12" name="param-note">
            <a:extLst>
              <a:ext uri="{FF2B5EF4-FFF2-40B4-BE49-F238E27FC236}">
                <a16:creationId xmlns:a16="http://schemas.microsoft.com/office/drawing/2014/main" id="{34098CA7-FE16-4388-A248-073936202C66}"/>
              </a:ext>
            </a:extLst>
          </p:cNvPr>
          <p:cNvSpPr>
            <a:spLocks noGrp="1"/>
          </p:cNvSpPr>
          <p:nvPr/>
        </p:nvSpPr>
        <p:spPr>
          <a:xfrm>
            <a:off x="6200013" y="5219700"/>
            <a:ext cx="5537168" cy="38100"/>
          </a:xfrm>
          <a:prstGeom prst="rect">
            <a:avLst/>
          </a:prstGeom>
          <a:noFill/>
          <a:ln>
            <a:noFill/>
          </a:ln>
        </p:spPr>
        <p:txBody>
          <a:bodyPr wrap="square" lIns="0" tIns="0" rIns="0" bIns="0" anchor="t"/>
          <a:lstStyle/>
          <a:p>
            <a:pPr>
              <a:lnSpc>
                <a:spcPct val="135000"/>
              </a:lnSpc>
            </a:pPr>
            <a:endParaRPr sz="750">
              <a:solidFill>
                <a:srgbClr val="000000"/>
              </a:solidFill>
              <a:latin typeface="MiSans"/>
            </a:endParaRPr>
          </a:p>
        </p:txBody>
      </p:sp>
      <p:sp>
        <p:nvSpPr>
          <p:cNvPr id="13" name="dev-label">
            <a:extLst>
              <a:ext uri="{FF2B5EF4-FFF2-40B4-BE49-F238E27FC236}">
                <a16:creationId xmlns:a16="http://schemas.microsoft.com/office/drawing/2014/main" id="{EF64635C-45B2-480E-BA44-B7FB49AFF727}"/>
              </a:ext>
            </a:extLst>
          </p:cNvPr>
          <p:cNvSpPr>
            <a:spLocks noGrp="1"/>
          </p:cNvSpPr>
          <p:nvPr/>
        </p:nvSpPr>
        <p:spPr>
          <a:xfrm>
            <a:off x="561213" y="5695950"/>
            <a:ext cx="11125200" cy="190500"/>
          </a:xfrm>
          <a:prstGeom prst="rect">
            <a:avLst/>
          </a:prstGeom>
          <a:noFill/>
          <a:ln>
            <a:noFill/>
          </a:ln>
        </p:spPr>
        <p:txBody>
          <a:bodyPr wrap="none" lIns="0" tIns="0" rIns="0" bIns="0" anchor="ctr"/>
          <a:lstStyle/>
          <a:p>
            <a:pPr>
              <a:lnSpc>
                <a:spcPct val="120000"/>
              </a:lnSpc>
            </a:pPr>
            <a:r>
              <a:rPr sz="1200" b="1">
                <a:solidFill>
                  <a:srgbClr val="C00000"/>
                </a:solidFill>
                <a:latin typeface="微软雅黑"/>
                <a:ea typeface="微软雅黑"/>
                <a:cs typeface="微软雅黑"/>
              </a:rPr>
              <a:t>开发需求与趋势思考</a:t>
            </a:r>
            <a:endParaRPr sz="1200">
              <a:solidFill>
                <a:srgbClr val="000000"/>
              </a:solidFill>
              <a:latin typeface="MiSans"/>
            </a:endParaRPr>
          </a:p>
        </p:txBody>
      </p:sp>
      <p:sp>
        <p:nvSpPr>
          <p:cNvPr id="14" name="dev-bullets">
            <a:extLst>
              <a:ext uri="{FF2B5EF4-FFF2-40B4-BE49-F238E27FC236}">
                <a16:creationId xmlns:a16="http://schemas.microsoft.com/office/drawing/2014/main" id="{414B5FD4-D1F3-42FD-AEEC-BF4552E1F5F6}"/>
              </a:ext>
            </a:extLst>
          </p:cNvPr>
          <p:cNvSpPr>
            <a:spLocks noGrp="1"/>
          </p:cNvSpPr>
          <p:nvPr/>
        </p:nvSpPr>
        <p:spPr>
          <a:xfrm>
            <a:off x="561213" y="5953125"/>
            <a:ext cx="11125200" cy="762000"/>
          </a:xfrm>
          <a:prstGeom prst="rect">
            <a:avLst/>
          </a:prstGeom>
          <a:noFill/>
          <a:ln>
            <a:noFill/>
          </a:ln>
        </p:spPr>
        <p:txBody>
          <a:bodyPr wrap="square" lIns="0" tIns="0" rIns="0" bIns="0" anchor="t"/>
          <a:lstStyle/>
          <a:p>
            <a:pPr>
              <a:lnSpc>
                <a:spcPct val="108000"/>
              </a:lnSpc>
              <a:spcBef>
                <a:spcPts val="10"/>
              </a:spcBef>
              <a:buFontTx/>
              <a:buChar char="•"/>
            </a:pPr>
            <a:r>
              <a:rPr sz="1050" b="1">
                <a:solidFill>
                  <a:srgbClr val="262626"/>
                </a:solidFill>
                <a:latin typeface="微软雅黑"/>
                <a:ea typeface="微软雅黑"/>
                <a:cs typeface="微软雅黑"/>
              </a:rPr>
              <a:t>算子：latent router、top-k、SiTU-GLU、group GEMM、epilogue combine；token-centric WarpDecode 适配小 batch。</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框架：EP64 与 latent-width all-to-all；权重预取、W4A8 解量化、HBM 分片、HCCL buffer 要可观测。</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验收：拆分 router、dispatch、expert GEMM、combine 四段测量；报告中的 1.49TB 是存储估算，不能替代运行时 HBM/通信预算。</a:t>
            </a:r>
            <a:endParaRPr sz="800">
              <a:solidFill>
                <a:srgbClr val="000000"/>
              </a:solidFill>
              <a:latin typeface="MiSans"/>
            </a:endParaRPr>
          </a:p>
          <a:p>
            <a:pPr>
              <a:lnSpc>
                <a:spcPct val="108000"/>
              </a:lnSpc>
              <a:spcBef>
                <a:spcPts val="300"/>
              </a:spcBef>
              <a:buFontTx/>
              <a:buChar char="•"/>
            </a:pPr>
            <a:r>
              <a:rPr sz="1050" b="1">
                <a:solidFill>
                  <a:srgbClr val="262626"/>
                </a:solidFill>
                <a:latin typeface="微软雅黑"/>
                <a:ea typeface="微软雅黑"/>
                <a:cs typeface="微软雅黑"/>
              </a:rPr>
              <a:t>趋势：通信约减半但权重带宽主导 decode；联合优化 HBM、CUBE、HCCL，并以 payload/token、tokens/s 和尾延迟验收。</a:t>
            </a:r>
            <a:endParaRPr sz="800">
              <a:solidFill>
                <a:srgbClr val="000000"/>
              </a:solidFill>
              <a:latin typeface="MiSans"/>
            </a:endParaRPr>
          </a:p>
        </p:txBody>
      </p:sp>
      <p:sp>
        <p:nvSpPr>
          <p:cNvPr id="15" name="文本框 14">
            <a:extLst>
              <a:ext uri="{FF2B5EF4-FFF2-40B4-BE49-F238E27FC236}">
                <a16:creationId xmlns:a16="http://schemas.microsoft.com/office/drawing/2014/main" id="{66B9F2C6-4F19-4C88-9BAA-57E582B94363}"/>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童雨周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00886357</a:t>
            </a:r>
          </a:p>
        </p:txBody>
      </p:sp>
    </p:spTree>
    <p:extLst>
      <p:ext uri="{BB962C8B-B14F-4D97-AF65-F5344CB8AC3E}">
        <p14:creationId xmlns:p14="http://schemas.microsoft.com/office/powerpoint/2010/main" val="52954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33425" y="342900"/>
            <a:ext cx="10725150" cy="447675"/>
          </a:xfrm>
          <a:prstGeom prst="rect">
            <a:avLst/>
          </a:prstGeom>
        </p:spPr>
        <p:txBody>
          <a:bodyPr lIns="0" tIns="0" rIns="0" bIns="0" anchor="t">
            <a:noAutofit/>
          </a:bodyPr>
          <a:lstStyle>
            <a:lvl1pPr marL="0" indent="0" algn="l">
              <a:lnSpc>
                <a:spcPts val="3430"/>
              </a:lnSpc>
              <a:spcBef>
                <a:spcPts val="0"/>
              </a:spcBef>
              <a:buNone/>
              <a:defRPr sz="3200" baseline="0">
                <a:solidFill>
                  <a:schemeClr val="tx1"/>
                </a:solidFill>
                <a:latin typeface="Microsoft YaHei"/>
                <a:ea typeface="Microsoft YaHei"/>
                <a:cs typeface="Microsoft YaHei"/>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pPr>
              <a:buNone/>
              <a:defRPr sz="2250" b="1">
                <a:solidFill>
                  <a:srgbClr val="C7000B"/>
                </a:solidFill>
                <a:latin typeface="Microsoft YaHei"/>
                <a:ea typeface="Microsoft YaHei"/>
                <a:cs typeface="Microsoft YaHei"/>
              </a:defRPr>
            </a:pPr>
            <a:r>
              <a:rPr sz="2250" b="1" dirty="0">
                <a:solidFill>
                  <a:srgbClr val="C7000B"/>
                </a:solidFill>
                <a:latin typeface="Microsoft YaHei"/>
                <a:ea typeface="Microsoft YaHei"/>
                <a:cs typeface="Microsoft YaHei"/>
              </a:rPr>
              <a:t>Stable LatentMoE（1/4）：Normalized </a:t>
            </a:r>
            <a:r>
              <a:rPr sz="2250" b="1" dirty="0" err="1">
                <a:solidFill>
                  <a:srgbClr val="C7000B"/>
                </a:solidFill>
                <a:latin typeface="Microsoft YaHei"/>
                <a:ea typeface="Microsoft YaHei"/>
                <a:cs typeface="Microsoft YaHei"/>
              </a:rPr>
              <a:t>LatentMoE</a:t>
            </a:r>
            <a:r>
              <a:rPr sz="2250" b="1" dirty="0">
                <a:solidFill>
                  <a:srgbClr val="C7000B"/>
                </a:solidFill>
                <a:latin typeface="Microsoft YaHei"/>
                <a:ea typeface="Microsoft YaHei"/>
                <a:cs typeface="Microsoft YaHei"/>
              </a:rPr>
              <a:t> </a:t>
            </a:r>
            <a:r>
              <a:rPr sz="2250" b="1" dirty="0" err="1">
                <a:solidFill>
                  <a:srgbClr val="C7000B"/>
                </a:solidFill>
                <a:latin typeface="Microsoft YaHei"/>
                <a:ea typeface="Microsoft YaHei"/>
                <a:cs typeface="Microsoft YaHei"/>
              </a:rPr>
              <a:t>的扩容与稳定性</a:t>
            </a:r>
            <a:endParaRPr dirty="0"/>
          </a:p>
        </p:txBody>
      </p:sp>
      <p:sp>
        <p:nvSpPr>
          <p:cNvPr id="2"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prstGeom prst="rect">
            <a:avLst/>
          </a:prstGeom>
        </p:spPr>
        <p:txBody>
          <a:bodyPr lIns="0" tIns="0" rIns="0" bIns="0"/>
          <a:lstStyle>
            <a:lvl1pPr marL="12373" indent="0">
              <a:lnSpc>
                <a:spcPct val="100000"/>
              </a:lnSpc>
              <a:spcBef>
                <a:spcPts val="0"/>
              </a:spcBef>
              <a:buFontTx/>
              <a:buNone/>
              <a:tabLst>
                <a:tab pos="1208420" algn="ctr"/>
              </a:tabLst>
              <a:defRPr sz="1800" baseline="0">
                <a:solidFill>
                  <a:schemeClr val="tx1"/>
                </a:solidFill>
                <a:latin typeface="Microsoft YaHei"/>
                <a:ea typeface="Microsoft YaHei"/>
                <a:cs typeface="Microsoft YaHei"/>
              </a:defRPr>
            </a:lvl1pPr>
            <a:lvl2pPr marL="525850" indent="-171159">
              <a:buFont typeface="Arial"/>
              <a:buChar char="•"/>
              <a:tabLst>
                <a:tab pos="1208420" algn="ctr"/>
              </a:tabLst>
              <a:defRPr sz="1299" baseline="0"/>
            </a:lvl2pPr>
            <a:lvl3pPr marL="525850" indent="-171159">
              <a:buFont typeface="Arial"/>
              <a:buChar char="•"/>
              <a:tabLst>
                <a:tab pos="1208420" algn="ctr"/>
              </a:tabLst>
              <a:defRPr sz="1299" baseline="0"/>
            </a:lvl3pPr>
            <a:lvl4pPr marL="525850" indent="-171159">
              <a:buFont typeface="Arial"/>
              <a:buChar char="•"/>
              <a:tabLst>
                <a:tab pos="1208420" algn="ctr"/>
              </a:tabLst>
              <a:defRPr sz="1299" baseline="0"/>
            </a:lvl4pPr>
            <a:lvl5pPr marL="525850" indent="-171159">
              <a:buFont typeface="Arial"/>
              <a:buChar char="•"/>
              <a:tabLst>
                <a:tab pos="1208420" algn="ctr"/>
              </a:tabLst>
              <a:defRPr sz="1299" baseline="0"/>
            </a:lvl5pPr>
          </a:lstStyle>
          <a:p>
            <a:pPr lvl="0">
              <a:buNone/>
            </a:pPr>
            <a:endParaRPr dirty="0"/>
          </a:p>
        </p:txBody>
      </p:sp>
      <p:sp>
        <p:nvSpPr>
          <p:cNvPr id="3" name="条带-0j3vr6-77">
            <a:extLst>
              <a:ext uri="{FF2B5EF4-FFF2-40B4-BE49-F238E27FC236}">
                <a16:creationId xmlns:a16="http://schemas.microsoft.com/office/drawing/2014/main" id="{D2C48A7B-FDD6-4ECC-9B53-4B3098FF9534}"/>
              </a:ext>
            </a:extLst>
          </p:cNvPr>
          <p:cNvSpPr>
            <a:spLocks noGrp="1"/>
          </p:cNvSpPr>
          <p:nvPr/>
        </p:nvSpPr>
        <p:spPr>
          <a:xfrm>
            <a:off x="733425" y="952500"/>
            <a:ext cx="10725150" cy="1257300"/>
          </a:xfrm>
          <a:prstGeom prst="rect">
            <a:avLst/>
          </a:prstGeom>
          <a:solidFill>
            <a:srgbClr val="EEEEEE"/>
          </a:solidFill>
          <a:ln w="0">
            <a:noFill/>
          </a:ln>
        </p:spPr>
      </p:sp>
      <p:sp>
        <p:nvSpPr>
          <p:cNvPr id="4" name="条带-0j3vr6-77">
            <a:extLst>
              <a:ext uri="{FF2B5EF4-FFF2-40B4-BE49-F238E27FC236}">
                <a16:creationId xmlns:a16="http://schemas.microsoft.com/office/drawing/2014/main" id="{BCC28162-7727-4B77-AC84-E69733EAEA9B}"/>
              </a:ext>
            </a:extLst>
          </p:cNvPr>
          <p:cNvSpPr>
            <a:spLocks noGrp="1"/>
          </p:cNvSpPr>
          <p:nvPr/>
        </p:nvSpPr>
        <p:spPr>
          <a:xfrm>
            <a:off x="733425" y="952500"/>
            <a:ext cx="762000" cy="1257300"/>
          </a:xfrm>
          <a:prstGeom prst="rect">
            <a:avLst/>
          </a:prstGeom>
          <a:solidFill>
            <a:srgbClr val="C7000B"/>
          </a:solidFill>
          <a:ln w="0">
            <a:noFill/>
          </a:ln>
        </p:spPr>
      </p:sp>
      <p:sp>
        <p:nvSpPr>
          <p:cNvPr id="5" name="分析&#10;结论">
            <a:extLst>
              <a:ext uri="{FF2B5EF4-FFF2-40B4-BE49-F238E27FC236}">
                <a16:creationId xmlns:a16="http://schemas.microsoft.com/office/drawing/2014/main" id="{E45946DC-6FD1-459C-A4FC-4E2AACB1E3C2}"/>
              </a:ext>
            </a:extLst>
          </p:cNvPr>
          <p:cNvSpPr>
            <a:spLocks noGrp="1"/>
          </p:cNvSpPr>
          <p:nvPr/>
        </p:nvSpPr>
        <p:spPr>
          <a:xfrm>
            <a:off x="809625" y="1333500"/>
            <a:ext cx="609600" cy="504825"/>
          </a:xfrm>
          <a:prstGeom prst="rect">
            <a:avLst/>
          </a:prstGeom>
          <a:noFill/>
          <a:ln w="0">
            <a:noFill/>
          </a:ln>
        </p:spPr>
        <p:txBody>
          <a:bodyPr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75" b="1">
                <a:solidFill>
                  <a:srgbClr val="FFFFFF"/>
                </a:solidFill>
                <a:latin typeface="Microsoft YaHei"/>
                <a:ea typeface="Microsoft YaHei"/>
                <a:cs typeface="Microsoft YaHei"/>
              </a:defRPr>
            </a:pPr>
            <a:r>
              <a:rPr kumimoji="0" sz="1575" b="1" i="0" u="none" strike="noStrike" kern="1200" cap="none" spc="0" normalizeH="0" baseline="0" noProof="0">
                <a:ln>
                  <a:noFill/>
                </a:ln>
                <a:solidFill>
                  <a:srgbClr val="FFFFFF"/>
                </a:solidFill>
                <a:effectLst/>
                <a:uLnTx/>
                <a:uFillTx/>
                <a:latin typeface="Microsoft YaHei"/>
                <a:ea typeface="Microsoft YaHei"/>
                <a:cs typeface="Microsoft YaHei"/>
              </a:rPr>
              <a:t>分析</a:t>
            </a:r>
          </a:p>
          <a:p>
            <a:pPr marL="0" marR="0" lvl="0" indent="0" algn="ctr" defTabSz="914400" rtl="0" eaLnBrk="1" fontAlgn="auto" latinLnBrk="0" hangingPunct="1">
              <a:lnSpc>
                <a:spcPct val="100000"/>
              </a:lnSpc>
              <a:spcBef>
                <a:spcPts val="0"/>
              </a:spcBef>
              <a:spcAft>
                <a:spcPts val="0"/>
              </a:spcAft>
              <a:buClrTx/>
              <a:buSzTx/>
              <a:buFontTx/>
              <a:buNone/>
              <a:tabLst/>
              <a:defRPr sz="1575" b="1">
                <a:solidFill>
                  <a:srgbClr val="FFFFFF"/>
                </a:solidFill>
                <a:latin typeface="Microsoft YaHei"/>
                <a:ea typeface="Microsoft YaHei"/>
                <a:cs typeface="Microsoft YaHei"/>
              </a:defRPr>
            </a:pPr>
            <a:r>
              <a:rPr kumimoji="0" sz="1575" b="1" i="0" u="none" strike="noStrike" kern="1200" cap="none" spc="0" normalizeH="0" baseline="0" noProof="0">
                <a:ln>
                  <a:noFill/>
                </a:ln>
                <a:solidFill>
                  <a:srgbClr val="FFFFFF"/>
                </a:solidFill>
                <a:effectLst/>
                <a:uLnTx/>
                <a:uFillTx/>
                <a:latin typeface="Microsoft YaHei"/>
                <a:ea typeface="Microsoft YaHei"/>
                <a:cs typeface="Microsoft YaHei"/>
              </a:rPr>
              <a:t>结论</a:t>
            </a:r>
          </a:p>
        </p:txBody>
      </p:sp>
      <p:sp>
        <p:nvSpPr>
          <p:cNvPr id="6" name="RMSNorm 放在路由专家聚合后、上投影前，抑制分支尺度变">
            <a:extLst>
              <a:ext uri="{FF2B5EF4-FFF2-40B4-BE49-F238E27FC236}">
                <a16:creationId xmlns:a16="http://schemas.microsoft.com/office/drawing/2014/main" id="{061B0440-12A8-41EC-87AF-863F4AC14BB7}"/>
              </a:ext>
            </a:extLst>
          </p:cNvPr>
          <p:cNvSpPr>
            <a:spLocks noGrp="1"/>
          </p:cNvSpPr>
          <p:nvPr/>
        </p:nvSpPr>
        <p:spPr>
          <a:xfrm>
            <a:off x="1657350" y="1057275"/>
            <a:ext cx="9658350" cy="1047750"/>
          </a:xfrm>
          <a:prstGeom prst="rect">
            <a:avLst/>
          </a:prstGeom>
          <a:noFill/>
          <a:ln w="0">
            <a:noFill/>
          </a:ln>
        </p:spPr>
        <p:txBody>
          <a:bodyPr lIns="0" tIns="0" rIns="0" bIns="0" anchor="ctr">
            <a:noAutofit/>
          </a:bodyPr>
          <a:lstStyle/>
          <a:p>
            <a:pPr marL="139700" marR="0" lvl="0" indent="-76200" algn="l" defTabSz="914400" rtl="0" eaLnBrk="1" fontAlgn="auto" latinLnBrk="0" hangingPunct="1">
              <a:lnSpc>
                <a:spcPts val="1450"/>
              </a:lnSpc>
              <a:spcBef>
                <a:spcPts val="0"/>
              </a:spcBef>
              <a:spcAft>
                <a:spcPts val="30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在低维专家</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聚合后、上投影前加入 RMSNorm</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，稳定路由分支幅值，再与全宽共享分支融合</a:t>
            </a:r>
          </a:p>
          <a:p>
            <a:pPr marL="139700" marR="0" lvl="0" indent="-76200" algn="l" defTabSz="914400" rtl="0" eaLnBrk="1" fontAlgn="auto" latinLnBrk="0" hangingPunct="1">
              <a:lnSpc>
                <a:spcPts val="1450"/>
              </a:lnSpc>
              <a:spcBef>
                <a:spcPts val="0"/>
              </a:spcBef>
              <a:spcAft>
                <a:spcPts val="300"/>
              </a:spcAft>
              <a:buClrTx/>
              <a:buSzTx/>
              <a:buFont typeface="Microsoft YaHei"/>
              <a:buChar char="•"/>
              <a:tabLst/>
              <a:defRPr sz="1313" b="0">
                <a:solidFill>
                  <a:srgbClr val="1D1D1B"/>
                </a:solidFill>
                <a:latin typeface="Microsoft YaHei"/>
                <a:ea typeface="Microsoft YaHei"/>
                <a:cs typeface="Microsoft YaHei"/>
              </a:defRPr>
            </a:pP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分发维度减半</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，为更多激活专家留出通信空间；</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Top-k 翻倍</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时，</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每层逻辑载荷仍相当</a:t>
            </a:r>
          </a:p>
          <a:p>
            <a:pPr marL="139700" marR="0" lvl="0" indent="-76200" algn="l" defTabSz="914400" rtl="0" eaLnBrk="1" fontAlgn="auto" latinLnBrk="0" hangingPunct="1">
              <a:lnSpc>
                <a:spcPts val="1450"/>
              </a:lnSpc>
              <a:spcBef>
                <a:spcPts val="0"/>
              </a:spcBef>
              <a:spcAft>
                <a:spcPts val="30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相对 K2.6，每 MoE 层每 token 前向矩阵乘仍</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增加 80%</a:t>
            </a:r>
          </a:p>
          <a:p>
            <a:pPr marL="139700" marR="0" lvl="0" indent="-76200" algn="l" defTabSz="914400" rtl="0" eaLnBrk="1" fontAlgn="auto" latinLnBrk="0" hangingPunct="1">
              <a:lnSpc>
                <a:spcPts val="1450"/>
              </a:lnSpc>
              <a:spcBef>
                <a:spcPts val="0"/>
              </a:spcBef>
              <a:spcAft>
                <a:spcPts val="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昇腾需联合优化</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专家调度、投影融合与算通重叠</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；大批量关注 Cube，小批量 decode 关注权重访存</a:t>
            </a:r>
          </a:p>
        </p:txBody>
      </p:sp>
      <p:pic>
        <p:nvPicPr>
          <p:cNvPr id="25" name="图片 24"/>
          <p:cNvPicPr>
            <a:picLocks noChangeAspect="1"/>
          </p:cNvPicPr>
          <p:nvPr/>
        </p:nvPicPr>
        <p:blipFill>
          <a:blip r:embed="rId3"/>
          <a:stretch/>
        </p:blipFill>
        <p:spPr>
          <a:xfrm>
            <a:off x="753794" y="2145623"/>
            <a:ext cx="3769262" cy="2948235"/>
          </a:xfrm>
          <a:prstGeom prst="rect">
            <a:avLst/>
          </a:prstGeom>
        </p:spPr>
      </p:pic>
      <p:sp>
        <p:nvSpPr>
          <p:cNvPr id="9" name="论文 Fig.2 局部：数据自下而上流动">
            <a:extLst>
              <a:ext uri="{FF2B5EF4-FFF2-40B4-BE49-F238E27FC236}">
                <a16:creationId xmlns:a16="http://schemas.microsoft.com/office/drawing/2014/main" id="{AA78B076-95F2-4A6B-A95B-DEE09505C5AF}"/>
              </a:ext>
            </a:extLst>
          </p:cNvPr>
          <p:cNvSpPr>
            <a:spLocks noGrp="1"/>
          </p:cNvSpPr>
          <p:nvPr/>
        </p:nvSpPr>
        <p:spPr>
          <a:xfrm>
            <a:off x="733425" y="5381625"/>
            <a:ext cx="3810000" cy="2000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a:solidFill>
                  <a:srgbClr val="666666"/>
                </a:solidFill>
                <a:latin typeface="Microsoft YaHei"/>
                <a:ea typeface="Microsoft YaHei"/>
                <a:cs typeface="Microsoft YaHei"/>
              </a:defRPr>
            </a:pPr>
            <a:r>
              <a:rPr kumimoji="0" sz="1050" b="0" i="0" u="none" strike="noStrike" kern="1200" cap="none" spc="0" normalizeH="0" baseline="0" noProof="0">
                <a:ln>
                  <a:noFill/>
                </a:ln>
                <a:solidFill>
                  <a:srgbClr val="666666"/>
                </a:solidFill>
                <a:effectLst/>
                <a:uLnTx/>
                <a:uFillTx/>
                <a:latin typeface="Microsoft YaHei"/>
                <a:ea typeface="Microsoft YaHei"/>
                <a:cs typeface="Microsoft YaHei"/>
              </a:rPr>
              <a:t>聚合后再归一化与上投影；共享分支保持全宽</a:t>
            </a:r>
          </a:p>
        </p:txBody>
      </p:sp>
      <p:graphicFrame>
        <p:nvGraphicFramePr>
          <p:cNvPr id="28" name="表格 27"/>
          <p:cNvGraphicFramePr/>
          <p:nvPr/>
        </p:nvGraphicFramePr>
        <p:xfrm>
          <a:off x="4743450" y="2362200"/>
          <a:ext cx="6715125" cy="2152647"/>
        </p:xfrm>
        <a:graphic>
          <a:graphicData uri="http://schemas.openxmlformats.org/drawingml/2006/table">
            <a:tbl>
              <a:tblPr/>
              <a:tblGrid>
                <a:gridCol w="3114675">
                  <a:extLst>
                    <a:ext uri="{9D8B030D-6E8A-4147-A177-3AD203B41FA5}">
                      <a16:colId xmlns:a16="http://schemas.microsoft.com/office/drawing/2014/main" val="20000"/>
                    </a:ext>
                  </a:extLst>
                </a:gridCol>
                <a:gridCol w="1800225">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tblGrid>
              <a:tr h="307521">
                <a:tc>
                  <a:txBody>
                    <a:bodyPr/>
                    <a:lstStyle/>
                    <a:p>
                      <a:r>
                        <a:rPr sz="1313" b="1" dirty="0" err="1">
                          <a:solidFill>
                            <a:srgbClr val="1D1D1B"/>
                          </a:solidFill>
                          <a:latin typeface="Microsoft YaHei"/>
                          <a:ea typeface="Microsoft YaHei"/>
                          <a:cs typeface="Microsoft YaHei"/>
                        </a:rPr>
                        <a:t>配置</a:t>
                      </a:r>
                      <a:r>
                        <a:rPr sz="1313" b="1" dirty="0">
                          <a:solidFill>
                            <a:srgbClr val="1D1D1B"/>
                          </a:solidFill>
                          <a:latin typeface="Microsoft YaHei"/>
                          <a:ea typeface="Microsoft YaHei"/>
                          <a:cs typeface="Microsoft YaHei"/>
                        </a:rPr>
                        <a:t> / 每 </a:t>
                      </a:r>
                      <a:r>
                        <a:rPr sz="1313" b="1" dirty="0" err="1">
                          <a:solidFill>
                            <a:srgbClr val="1D1D1B"/>
                          </a:solidFill>
                          <a:latin typeface="Microsoft YaHei"/>
                          <a:ea typeface="Microsoft YaHei"/>
                          <a:cs typeface="Microsoft YaHei"/>
                        </a:rPr>
                        <a:t>MoE</a:t>
                      </a:r>
                      <a:r>
                        <a:rPr sz="1313" b="1" dirty="0">
                          <a:solidFill>
                            <a:srgbClr val="1D1D1B"/>
                          </a:solidFill>
                          <a:latin typeface="Microsoft YaHei"/>
                          <a:ea typeface="Microsoft YaHei"/>
                          <a:cs typeface="Microsoft YaHei"/>
                        </a:rPr>
                        <a:t> </a:t>
                      </a:r>
                      <a:r>
                        <a:rPr sz="1313" b="1" dirty="0" err="1">
                          <a:solidFill>
                            <a:srgbClr val="1D1D1B"/>
                          </a:solidFill>
                          <a:latin typeface="Microsoft YaHei"/>
                          <a:ea typeface="Microsoft YaHei"/>
                          <a:cs typeface="Microsoft YaHei"/>
                        </a:rPr>
                        <a:t>层负载</a:t>
                      </a:r>
                      <a:endParaRPr sz="1313" b="1" dirty="0">
                        <a:solidFill>
                          <a:srgbClr val="1D1D1B"/>
                        </a:solidFill>
                        <a:latin typeface="Microsoft YaHei"/>
                        <a:ea typeface="Microsoft YaHei"/>
                        <a:cs typeface="Microsoft YaHei"/>
                      </a:endParaRPr>
                    </a:p>
                  </a:txBody>
                  <a:tcPr marL="76200" marR="76200" marT="38100" marB="38100" anchor="ctr">
                    <a:lnL w="7620">
                      <a:solidFill>
                        <a:srgbClr val="888888"/>
                      </a:solidFill>
                      <a:prstDash val="solid"/>
                    </a:lnL>
                    <a:lnR w="6191">
                      <a:solidFill>
                        <a:srgbClr val="A9A9A9"/>
                      </a:solidFill>
                      <a:prstDash val="solid"/>
                    </a:lnR>
                    <a:lnT w="7620">
                      <a:solidFill>
                        <a:srgbClr val="888888"/>
                      </a:solidFill>
                      <a:prstDash val="solid"/>
                    </a:lnT>
                    <a:lnB w="6191">
                      <a:solidFill>
                        <a:srgbClr val="A9A9A9"/>
                      </a:solidFill>
                      <a:prstDash val="solid"/>
                    </a:lnB>
                    <a:solidFill>
                      <a:srgbClr val="E8E8E8"/>
                    </a:solidFill>
                  </a:tcPr>
                </a:tc>
                <a:tc>
                  <a:txBody>
                    <a:bodyPr/>
                    <a:lstStyle/>
                    <a:p>
                      <a:r>
                        <a:rPr sz="1313" b="1">
                          <a:solidFill>
                            <a:srgbClr val="1D1D1B"/>
                          </a:solidFill>
                          <a:latin typeface="Microsoft YaHei"/>
                          <a:ea typeface="Microsoft YaHei"/>
                          <a:cs typeface="Microsoft YaHei"/>
                        </a:rPr>
                        <a:t>Kimi K2.6</a:t>
                      </a:r>
                    </a:p>
                  </a:txBody>
                  <a:tcPr marL="76200" marR="76200" marT="38100" marB="38100" anchor="ctr">
                    <a:lnL w="6191" cap="flat" cmpd="sng" algn="ctr">
                      <a:solidFill>
                        <a:srgbClr val="A9A9A9"/>
                      </a:solidFill>
                      <a:prstDash val="solid"/>
                      <a:round/>
                      <a:headEnd type="none" w="med" len="med"/>
                      <a:tailEnd type="none" w="med" len="med"/>
                    </a:lnL>
                    <a:lnR w="6191">
                      <a:solidFill>
                        <a:srgbClr val="A9A9A9"/>
                      </a:solidFill>
                      <a:prstDash val="solid"/>
                    </a:lnR>
                    <a:lnT w="7620">
                      <a:solidFill>
                        <a:srgbClr val="888888"/>
                      </a:solidFill>
                      <a:prstDash val="solid"/>
                    </a:lnT>
                    <a:lnB w="6191">
                      <a:solidFill>
                        <a:srgbClr val="A9A9A9"/>
                      </a:solidFill>
                      <a:prstDash val="solid"/>
                    </a:lnB>
                    <a:solidFill>
                      <a:srgbClr val="E8E8E8"/>
                    </a:solidFill>
                  </a:tcPr>
                </a:tc>
                <a:tc>
                  <a:txBody>
                    <a:bodyPr/>
                    <a:lstStyle/>
                    <a:p>
                      <a:r>
                        <a:rPr sz="1313" b="1">
                          <a:solidFill>
                            <a:srgbClr val="1D1D1B"/>
                          </a:solidFill>
                          <a:latin typeface="Microsoft YaHei"/>
                          <a:ea typeface="Microsoft YaHei"/>
                          <a:cs typeface="Microsoft YaHei"/>
                        </a:rPr>
                        <a:t>Kimi K3</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7620">
                      <a:solidFill>
                        <a:srgbClr val="888888"/>
                      </a:solidFill>
                      <a:prstDash val="solid"/>
                    </a:lnT>
                    <a:lnB w="6191">
                      <a:solidFill>
                        <a:srgbClr val="A9A9A9"/>
                      </a:solidFill>
                      <a:prstDash val="solid"/>
                    </a:lnB>
                    <a:solidFill>
                      <a:srgbClr val="E8E8E8"/>
                    </a:solidFill>
                  </a:tcPr>
                </a:tc>
                <a:extLst>
                  <a:ext uri="{0D108BD9-81ED-4DB2-BD59-A6C34878D82A}">
                    <a16:rowId xmlns:a16="http://schemas.microsoft.com/office/drawing/2014/main" val="10000"/>
                  </a:ext>
                </a:extLst>
              </a:tr>
              <a:tr h="307521">
                <a:tc>
                  <a:txBody>
                    <a:bodyPr/>
                    <a:lstStyle/>
                    <a:p>
                      <a:r>
                        <a:rPr sz="1313" dirty="0" err="1">
                          <a:solidFill>
                            <a:srgbClr val="1D1D1B"/>
                          </a:solidFill>
                          <a:latin typeface="Microsoft YaHei"/>
                          <a:ea typeface="Microsoft YaHei"/>
                          <a:cs typeface="Microsoft YaHei"/>
                        </a:rPr>
                        <a:t>隐层维度</a:t>
                      </a:r>
                      <a:r>
                        <a:rPr sz="1313" dirty="0">
                          <a:solidFill>
                            <a:srgbClr val="1D1D1B"/>
                          </a:solidFill>
                          <a:latin typeface="Microsoft YaHei"/>
                          <a:ea typeface="Microsoft YaHei"/>
                          <a:cs typeface="Microsoft YaHei"/>
                        </a:rPr>
                        <a:t> / </a:t>
                      </a:r>
                      <a:r>
                        <a:rPr sz="1313" dirty="0" err="1">
                          <a:solidFill>
                            <a:srgbClr val="1D1D1B"/>
                          </a:solidFill>
                          <a:latin typeface="Microsoft YaHei"/>
                          <a:ea typeface="Microsoft YaHei"/>
                          <a:cs typeface="Microsoft YaHei"/>
                        </a:rPr>
                        <a:t>专家分发维度</a:t>
                      </a:r>
                      <a:endParaRPr sz="1313" dirty="0">
                        <a:solidFill>
                          <a:srgbClr val="1D1D1B"/>
                        </a:solidFill>
                        <a:latin typeface="Microsoft YaHei"/>
                        <a:ea typeface="Microsoft YaHei"/>
                        <a:cs typeface="Microsoft YaHei"/>
                      </a:endParaRPr>
                    </a:p>
                  </a:txBody>
                  <a:tcPr marL="76200" marR="76200" marT="38100" marB="38100" anchor="ctr">
                    <a:lnL w="7620">
                      <a:solidFill>
                        <a:srgbClr val="888888"/>
                      </a:solidFill>
                      <a:prstDash val="soli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tc>
                  <a:txBody>
                    <a:bodyPr/>
                    <a:lstStyle/>
                    <a:p>
                      <a:r>
                        <a:rPr sz="1313">
                          <a:solidFill>
                            <a:srgbClr val="1D1D1B"/>
                          </a:solidFill>
                          <a:latin typeface="Microsoft YaHei"/>
                          <a:ea typeface="Microsoft YaHei"/>
                          <a:cs typeface="Microsoft YaHei"/>
                        </a:rPr>
                        <a:t>7168 / 7168</a:t>
                      </a:r>
                    </a:p>
                  </a:txBody>
                  <a:tcPr marL="76200" marR="76200" marT="38100" marB="38100" anchor="ctr">
                    <a:lnL w="6191" cap="flat" cmpd="sng" algn="ctr">
                      <a:solidFill>
                        <a:srgbClr val="A9A9A9"/>
                      </a:solidFill>
                      <a:prstDash val="solid"/>
                      <a:round/>
                      <a:headEnd type="none" w="med" len="med"/>
                      <a:tailEnd type="none" w="med" len="me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tc>
                  <a:txBody>
                    <a:bodyPr/>
                    <a:lstStyle/>
                    <a:p>
                      <a:r>
                        <a:rPr sz="1313">
                          <a:solidFill>
                            <a:srgbClr val="1D1D1B"/>
                          </a:solidFill>
                          <a:latin typeface="Microsoft YaHei"/>
                          <a:ea typeface="Microsoft YaHei"/>
                          <a:cs typeface="Microsoft YaHei"/>
                        </a:rPr>
                        <a:t>7168 / 3584</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extLst>
                  <a:ext uri="{0D108BD9-81ED-4DB2-BD59-A6C34878D82A}">
                    <a16:rowId xmlns:a16="http://schemas.microsoft.com/office/drawing/2014/main" val="10001"/>
                  </a:ext>
                </a:extLst>
              </a:tr>
              <a:tr h="307521">
                <a:tc>
                  <a:txBody>
                    <a:bodyPr/>
                    <a:lstStyle/>
                    <a:p>
                      <a:r>
                        <a:rPr sz="1313">
                          <a:solidFill>
                            <a:srgbClr val="1D1D1B"/>
                          </a:solidFill>
                          <a:latin typeface="Microsoft YaHei"/>
                          <a:ea typeface="Microsoft YaHei"/>
                          <a:cs typeface="Microsoft YaHei"/>
                        </a:rPr>
                        <a:t>专家中间维度 f</a:t>
                      </a:r>
                    </a:p>
                  </a:txBody>
                  <a:tcPr marL="76200" marR="76200" marT="38100" marB="38100" anchor="ctr">
                    <a:lnL w="7620">
                      <a:solidFill>
                        <a:srgbClr val="888888"/>
                      </a:solidFill>
                      <a:prstDash val="soli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1F1F1"/>
                    </a:solidFill>
                  </a:tcPr>
                </a:tc>
                <a:tc>
                  <a:txBody>
                    <a:bodyPr/>
                    <a:lstStyle/>
                    <a:p>
                      <a:r>
                        <a:rPr sz="1313" dirty="0">
                          <a:solidFill>
                            <a:srgbClr val="1D1D1B"/>
                          </a:solidFill>
                          <a:latin typeface="Microsoft YaHei"/>
                          <a:ea typeface="Microsoft YaHei"/>
                          <a:cs typeface="Microsoft YaHei"/>
                        </a:rPr>
                        <a:t>2048</a:t>
                      </a:r>
                    </a:p>
                  </a:txBody>
                  <a:tcPr marL="76200" marR="76200" marT="38100" marB="38100" anchor="ctr">
                    <a:lnL w="6191" cap="flat" cmpd="sng" algn="ctr">
                      <a:solidFill>
                        <a:srgbClr val="A9A9A9"/>
                      </a:solidFill>
                      <a:prstDash val="solid"/>
                      <a:round/>
                      <a:headEnd type="none" w="med" len="med"/>
                      <a:tailEnd type="none" w="med" len="me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1F1F1"/>
                    </a:solidFill>
                  </a:tcPr>
                </a:tc>
                <a:tc>
                  <a:txBody>
                    <a:bodyPr/>
                    <a:lstStyle/>
                    <a:p>
                      <a:r>
                        <a:rPr sz="1313">
                          <a:solidFill>
                            <a:srgbClr val="1D1D1B"/>
                          </a:solidFill>
                          <a:latin typeface="Microsoft YaHei"/>
                          <a:ea typeface="Microsoft YaHei"/>
                          <a:cs typeface="Microsoft YaHei"/>
                        </a:rPr>
                        <a:t>3072</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1F1F1"/>
                    </a:solidFill>
                  </a:tcPr>
                </a:tc>
                <a:extLst>
                  <a:ext uri="{0D108BD9-81ED-4DB2-BD59-A6C34878D82A}">
                    <a16:rowId xmlns:a16="http://schemas.microsoft.com/office/drawing/2014/main" val="10002"/>
                  </a:ext>
                </a:extLst>
              </a:tr>
              <a:tr h="307521">
                <a:tc>
                  <a:txBody>
                    <a:bodyPr/>
                    <a:lstStyle/>
                    <a:p>
                      <a:r>
                        <a:rPr sz="1313">
                          <a:solidFill>
                            <a:srgbClr val="1D1D1B"/>
                          </a:solidFill>
                          <a:latin typeface="Microsoft YaHei"/>
                          <a:ea typeface="Microsoft YaHei"/>
                          <a:cs typeface="Microsoft YaHei"/>
                        </a:rPr>
                        <a:t>路由专家总数 / Top-k</a:t>
                      </a:r>
                    </a:p>
                  </a:txBody>
                  <a:tcPr marL="76200" marR="76200" marT="38100" marB="38100" anchor="ctr">
                    <a:lnL w="7620">
                      <a:solidFill>
                        <a:srgbClr val="888888"/>
                      </a:solidFill>
                      <a:prstDash val="soli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tc>
                  <a:txBody>
                    <a:bodyPr/>
                    <a:lstStyle/>
                    <a:p>
                      <a:r>
                        <a:rPr sz="1313" dirty="0">
                          <a:solidFill>
                            <a:srgbClr val="1D1D1B"/>
                          </a:solidFill>
                          <a:latin typeface="Microsoft YaHei"/>
                          <a:ea typeface="Microsoft YaHei"/>
                          <a:cs typeface="Microsoft YaHei"/>
                        </a:rPr>
                        <a:t>384 / 8</a:t>
                      </a:r>
                    </a:p>
                  </a:txBody>
                  <a:tcPr marL="76200" marR="76200" marT="38100" marB="38100" anchor="ctr">
                    <a:lnL w="6191" cap="flat" cmpd="sng" algn="ctr">
                      <a:solidFill>
                        <a:srgbClr val="A9A9A9"/>
                      </a:solidFill>
                      <a:prstDash val="solid"/>
                      <a:round/>
                      <a:headEnd type="none" w="med" len="med"/>
                      <a:tailEnd type="none" w="med" len="me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tc>
                  <a:txBody>
                    <a:bodyPr/>
                    <a:lstStyle/>
                    <a:p>
                      <a:r>
                        <a:rPr sz="1313">
                          <a:solidFill>
                            <a:srgbClr val="1D1D1B"/>
                          </a:solidFill>
                          <a:latin typeface="Microsoft YaHei"/>
                          <a:ea typeface="Microsoft YaHei"/>
                          <a:cs typeface="Microsoft YaHei"/>
                        </a:rPr>
                        <a:t>896 / 16</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extLst>
                  <a:ext uri="{0D108BD9-81ED-4DB2-BD59-A6C34878D82A}">
                    <a16:rowId xmlns:a16="http://schemas.microsoft.com/office/drawing/2014/main" val="10003"/>
                  </a:ext>
                </a:extLst>
              </a:tr>
              <a:tr h="307521">
                <a:tc>
                  <a:txBody>
                    <a:bodyPr/>
                    <a:lstStyle/>
                    <a:p>
                      <a:r>
                        <a:rPr sz="1313">
                          <a:solidFill>
                            <a:srgbClr val="1D1D1B"/>
                          </a:solidFill>
                          <a:latin typeface="Microsoft YaHei"/>
                          <a:ea typeface="Microsoft YaHei"/>
                          <a:cs typeface="Microsoft YaHei"/>
                        </a:rPr>
                        <a:t>全宽共享专家</a:t>
                      </a:r>
                    </a:p>
                  </a:txBody>
                  <a:tcPr marL="76200" marR="76200" marT="38100" marB="38100" anchor="ctr">
                    <a:lnL w="7620">
                      <a:solidFill>
                        <a:srgbClr val="888888"/>
                      </a:solidFill>
                      <a:prstDash val="soli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1F1F1"/>
                    </a:solidFill>
                  </a:tcPr>
                </a:tc>
                <a:tc>
                  <a:txBody>
                    <a:bodyPr/>
                    <a:lstStyle/>
                    <a:p>
                      <a:r>
                        <a:rPr sz="1313" dirty="0">
                          <a:solidFill>
                            <a:srgbClr val="1D1D1B"/>
                          </a:solidFill>
                          <a:latin typeface="Microsoft YaHei"/>
                          <a:ea typeface="Microsoft YaHei"/>
                          <a:cs typeface="Microsoft YaHei"/>
                        </a:rPr>
                        <a:t>1</a:t>
                      </a:r>
                    </a:p>
                  </a:txBody>
                  <a:tcPr marL="76200" marR="76200" marT="38100" marB="38100" anchor="ctr">
                    <a:lnL w="6191" cap="flat" cmpd="sng" algn="ctr">
                      <a:solidFill>
                        <a:srgbClr val="A9A9A9"/>
                      </a:solidFill>
                      <a:prstDash val="solid"/>
                      <a:round/>
                      <a:headEnd type="none" w="med" len="med"/>
                      <a:tailEnd type="none" w="med" len="me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1F1F1"/>
                    </a:solidFill>
                  </a:tcPr>
                </a:tc>
                <a:tc>
                  <a:txBody>
                    <a:bodyPr/>
                    <a:lstStyle/>
                    <a:p>
                      <a:r>
                        <a:rPr sz="1313">
                          <a:solidFill>
                            <a:srgbClr val="1D1D1B"/>
                          </a:solidFill>
                          <a:latin typeface="Microsoft YaHei"/>
                          <a:ea typeface="Microsoft YaHei"/>
                          <a:cs typeface="Microsoft YaHei"/>
                        </a:rPr>
                        <a:t>2</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1F1F1"/>
                    </a:solidFill>
                  </a:tcPr>
                </a:tc>
                <a:extLst>
                  <a:ext uri="{0D108BD9-81ED-4DB2-BD59-A6C34878D82A}">
                    <a16:rowId xmlns:a16="http://schemas.microsoft.com/office/drawing/2014/main" val="10004"/>
                  </a:ext>
                </a:extLst>
              </a:tr>
              <a:tr h="307521">
                <a:tc>
                  <a:txBody>
                    <a:bodyPr/>
                    <a:lstStyle/>
                    <a:p>
                      <a:r>
                        <a:rPr sz="1313">
                          <a:solidFill>
                            <a:srgbClr val="1D1D1B"/>
                          </a:solidFill>
                          <a:latin typeface="Microsoft YaHei"/>
                          <a:ea typeface="Microsoft YaHei"/>
                          <a:cs typeface="Microsoft YaHei"/>
                        </a:rPr>
                        <a:t>理论前向矩阵乘 / token（FMA=2）</a:t>
                      </a:r>
                    </a:p>
                  </a:txBody>
                  <a:tcPr marL="76200" marR="76200" marT="38100" marB="38100" anchor="ctr">
                    <a:lnL w="7620">
                      <a:solidFill>
                        <a:srgbClr val="888888"/>
                      </a:solidFill>
                      <a:prstDash val="soli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tc>
                  <a:txBody>
                    <a:bodyPr/>
                    <a:lstStyle/>
                    <a:p>
                      <a:r>
                        <a:rPr sz="1313" dirty="0">
                          <a:solidFill>
                            <a:srgbClr val="1D1D1B"/>
                          </a:solidFill>
                          <a:latin typeface="Microsoft YaHei"/>
                          <a:ea typeface="Microsoft YaHei"/>
                          <a:cs typeface="Microsoft YaHei"/>
                        </a:rPr>
                        <a:t>0.798 GF</a:t>
                      </a:r>
                    </a:p>
                  </a:txBody>
                  <a:tcPr marL="76200" marR="76200" marT="38100" marB="38100" anchor="ctr">
                    <a:lnL w="6191" cap="flat" cmpd="sng" algn="ctr">
                      <a:solidFill>
                        <a:srgbClr val="A9A9A9"/>
                      </a:solidFill>
                      <a:prstDash val="solid"/>
                      <a:round/>
                      <a:headEnd type="none" w="med" len="med"/>
                      <a:tailEnd type="none" w="med" len="me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tc>
                  <a:txBody>
                    <a:bodyPr/>
                    <a:lstStyle/>
                    <a:p>
                      <a:r>
                        <a:rPr sz="1313">
                          <a:solidFill>
                            <a:srgbClr val="1D1D1B"/>
                          </a:solidFill>
                          <a:latin typeface="Microsoft YaHei"/>
                          <a:ea typeface="Microsoft YaHei"/>
                          <a:cs typeface="Microsoft YaHei"/>
                        </a:rPr>
                        <a:t>1.437 GF</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extLst>
                  <a:ext uri="{0D108BD9-81ED-4DB2-BD59-A6C34878D82A}">
                    <a16:rowId xmlns:a16="http://schemas.microsoft.com/office/drawing/2014/main" val="10005"/>
                  </a:ext>
                </a:extLst>
              </a:tr>
              <a:tr h="307521">
                <a:tc>
                  <a:txBody>
                    <a:bodyPr/>
                    <a:lstStyle/>
                    <a:p>
                      <a:r>
                        <a:rPr sz="1313">
                          <a:solidFill>
                            <a:srgbClr val="1D1D1B"/>
                          </a:solidFill>
                          <a:latin typeface="Microsoft YaHei"/>
                          <a:ea typeface="Microsoft YaHei"/>
                          <a:cs typeface="Microsoft YaHei"/>
                        </a:rPr>
                        <a:t>路由专家权重（全部专家，BF16/层）</a:t>
                      </a:r>
                    </a:p>
                  </a:txBody>
                  <a:tcPr marL="76200" marR="76200" marT="38100" marB="38100" anchor="ctr">
                    <a:lnL w="7620">
                      <a:solidFill>
                        <a:srgbClr val="888888"/>
                      </a:solidFill>
                      <a:prstDash val="solid"/>
                    </a:lnL>
                    <a:lnR w="6191">
                      <a:solidFill>
                        <a:srgbClr val="A9A9A9"/>
                      </a:solidFill>
                      <a:prstDash val="solid"/>
                    </a:lnR>
                    <a:lnT w="6191" cap="flat" cmpd="sng" algn="ctr">
                      <a:solidFill>
                        <a:srgbClr val="A9A9A9"/>
                      </a:solidFill>
                      <a:prstDash val="solid"/>
                      <a:round/>
                      <a:headEnd type="none" w="med" len="med"/>
                      <a:tailEnd type="none" w="med" len="med"/>
                    </a:lnT>
                    <a:lnB w="7620">
                      <a:solidFill>
                        <a:srgbClr val="888888"/>
                      </a:solidFill>
                      <a:prstDash val="solid"/>
                    </a:lnB>
                    <a:solidFill>
                      <a:srgbClr val="F1F1F1"/>
                    </a:solidFill>
                  </a:tcPr>
                </a:tc>
                <a:tc>
                  <a:txBody>
                    <a:bodyPr/>
                    <a:lstStyle/>
                    <a:p>
                      <a:r>
                        <a:rPr sz="1313" dirty="0">
                          <a:solidFill>
                            <a:srgbClr val="1D1D1B"/>
                          </a:solidFill>
                          <a:latin typeface="Microsoft YaHei"/>
                          <a:ea typeface="Microsoft YaHei"/>
                          <a:cs typeface="Microsoft YaHei"/>
                        </a:rPr>
                        <a:t>31.5 GiB</a:t>
                      </a:r>
                    </a:p>
                  </a:txBody>
                  <a:tcPr marL="76200" marR="76200" marT="38100" marB="38100" anchor="ctr">
                    <a:lnL w="6191" cap="flat" cmpd="sng" algn="ctr">
                      <a:solidFill>
                        <a:srgbClr val="A9A9A9"/>
                      </a:solidFill>
                      <a:prstDash val="solid"/>
                      <a:round/>
                      <a:headEnd type="none" w="med" len="med"/>
                      <a:tailEnd type="none" w="med" len="med"/>
                    </a:lnL>
                    <a:lnR w="6191">
                      <a:solidFill>
                        <a:srgbClr val="A9A9A9"/>
                      </a:solidFill>
                      <a:prstDash val="solid"/>
                    </a:lnR>
                    <a:lnT w="6191" cap="flat" cmpd="sng" algn="ctr">
                      <a:solidFill>
                        <a:srgbClr val="A9A9A9"/>
                      </a:solidFill>
                      <a:prstDash val="solid"/>
                      <a:round/>
                      <a:headEnd type="none" w="med" len="med"/>
                      <a:tailEnd type="none" w="med" len="med"/>
                    </a:lnT>
                    <a:lnB w="7620">
                      <a:solidFill>
                        <a:srgbClr val="888888"/>
                      </a:solidFill>
                      <a:prstDash val="solid"/>
                    </a:lnB>
                    <a:solidFill>
                      <a:srgbClr val="F1F1F1"/>
                    </a:solidFill>
                  </a:tcPr>
                </a:tc>
                <a:tc>
                  <a:txBody>
                    <a:bodyPr/>
                    <a:lstStyle/>
                    <a:p>
                      <a:r>
                        <a:rPr sz="1313" dirty="0">
                          <a:solidFill>
                            <a:srgbClr val="1D1D1B"/>
                          </a:solidFill>
                          <a:latin typeface="Microsoft YaHei"/>
                          <a:ea typeface="Microsoft YaHei"/>
                          <a:cs typeface="Microsoft YaHei"/>
                        </a:rPr>
                        <a:t>55.125 GiB</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6191" cap="flat" cmpd="sng" algn="ctr">
                      <a:solidFill>
                        <a:srgbClr val="A9A9A9"/>
                      </a:solidFill>
                      <a:prstDash val="solid"/>
                      <a:round/>
                      <a:headEnd type="none" w="med" len="med"/>
                      <a:tailEnd type="none" w="med" len="med"/>
                    </a:lnT>
                    <a:lnB w="7620">
                      <a:solidFill>
                        <a:srgbClr val="888888"/>
                      </a:solidFill>
                      <a:prstDash val="solid"/>
                    </a:lnB>
                    <a:solidFill>
                      <a:srgbClr val="F1F1F1"/>
                    </a:solidFill>
                  </a:tcPr>
                </a:tc>
                <a:extLst>
                  <a:ext uri="{0D108BD9-81ED-4DB2-BD59-A6C34878D82A}">
                    <a16:rowId xmlns:a16="http://schemas.microsoft.com/office/drawing/2014/main" val="10006"/>
                  </a:ext>
                </a:extLst>
              </a:tr>
            </a:tbl>
          </a:graphicData>
        </a:graphic>
      </p:graphicFrame>
      <p:sp>
        <p:nvSpPr>
          <p:cNvPr id="500" name="MathRepair_1">
            <a:extLst>
              <a:ext uri="{FF2B5EF4-FFF2-40B4-BE49-F238E27FC236}">
                <a16:creationId xmlns:a16="http://schemas.microsoft.com/office/drawing/2014/main" id="{2A02ED57-5E7A-4FE4-8E60-32B6BDFBBAA3}"/>
              </a:ext>
            </a:extLst>
          </p:cNvPr>
          <p:cNvSpPr>
            <a:spLocks noGrp="1"/>
          </p:cNvSpPr>
          <p:nvPr/>
        </p:nvSpPr>
        <p:spPr>
          <a:xfrm>
            <a:off x="733425" y="5657850"/>
            <a:ext cx="323850"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dirty="0">
                <a:ln>
                  <a:noFill/>
                </a:ln>
                <a:solidFill>
                  <a:srgbClr val="1D1D1B"/>
                </a:solidFill>
                <a:effectLst/>
                <a:uLnTx/>
                <a:uFillTx/>
                <a:latin typeface="Microsoft YaHei"/>
                <a:ea typeface="Microsoft YaHei"/>
                <a:cs typeface="Microsoft YaHei"/>
              </a:rPr>
              <a:t>z =</a:t>
            </a:r>
          </a:p>
        </p:txBody>
      </p:sp>
      <p:sp>
        <p:nvSpPr>
          <p:cNvPr id="501" name="MathRepair_2">
            <a:extLst>
              <a:ext uri="{FF2B5EF4-FFF2-40B4-BE49-F238E27FC236}">
                <a16:creationId xmlns:a16="http://schemas.microsoft.com/office/drawing/2014/main" id="{A0F26C35-2FF1-48A2-B694-53D0FFBF3799}"/>
              </a:ext>
            </a:extLst>
          </p:cNvPr>
          <p:cNvSpPr>
            <a:spLocks noGrp="1"/>
          </p:cNvSpPr>
          <p:nvPr/>
        </p:nvSpPr>
        <p:spPr>
          <a:xfrm>
            <a:off x="1085850" y="5657850"/>
            <a:ext cx="200025"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a:ln>
                  <a:noFill/>
                </a:ln>
                <a:solidFill>
                  <a:srgbClr val="1D1D1B"/>
                </a:solidFill>
                <a:effectLst/>
                <a:uLnTx/>
                <a:uFillTx/>
                <a:latin typeface="Microsoft YaHei"/>
                <a:ea typeface="Microsoft YaHei"/>
                <a:cs typeface="Microsoft YaHei"/>
              </a:rPr>
              <a:t>W</a:t>
            </a:r>
          </a:p>
        </p:txBody>
      </p:sp>
      <p:sp>
        <p:nvSpPr>
          <p:cNvPr id="502" name="MathRepair_3">
            <a:extLst>
              <a:ext uri="{FF2B5EF4-FFF2-40B4-BE49-F238E27FC236}">
                <a16:creationId xmlns:a16="http://schemas.microsoft.com/office/drawing/2014/main" id="{D662E00A-54BE-4F42-9A8C-C54C581B6A43}"/>
              </a:ext>
            </a:extLst>
          </p:cNvPr>
          <p:cNvSpPr>
            <a:spLocks noGrp="1"/>
          </p:cNvSpPr>
          <p:nvPr/>
        </p:nvSpPr>
        <p:spPr>
          <a:xfrm>
            <a:off x="1285875" y="5762625"/>
            <a:ext cx="323850" cy="153352"/>
          </a:xfrm>
          <a:prstGeom prst="rect">
            <a:avLst/>
          </a:prstGeom>
          <a:noFill/>
          <a:ln w="0">
            <a:noFill/>
          </a:ln>
        </p:spPr>
        <p:txBody>
          <a:bodyPr wrap="none" lIns="0" tIns="0" rIns="0" bIns="0">
            <a:noAutofit/>
          </a:bodyPr>
          <a:lstStyle>
            <a:defPPr>
              <a:defRPr sz="863"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863" b="1">
                <a:solidFill>
                  <a:srgbClr val="1D1D1B"/>
                </a:solidFill>
                <a:latin typeface="Microsoft YaHei"/>
                <a:ea typeface="Microsoft YaHei"/>
                <a:cs typeface="Microsoft YaHei"/>
              </a:defRPr>
            </a:pPr>
            <a:r>
              <a:rPr kumimoji="0" sz="863" b="1" i="0" u="none" strike="noStrike" kern="1200" cap="none" spc="0" normalizeH="0" baseline="0" noProof="0">
                <a:ln>
                  <a:noFill/>
                </a:ln>
                <a:solidFill>
                  <a:srgbClr val="1D1D1B"/>
                </a:solidFill>
                <a:effectLst/>
                <a:uLnTx/>
                <a:uFillTx/>
                <a:latin typeface="Microsoft YaHei"/>
                <a:ea typeface="Microsoft YaHei"/>
                <a:cs typeface="Microsoft YaHei"/>
              </a:rPr>
              <a:t>down</a:t>
            </a:r>
          </a:p>
        </p:txBody>
      </p:sp>
      <p:sp>
        <p:nvSpPr>
          <p:cNvPr id="503" name="MathRepair_4">
            <a:extLst>
              <a:ext uri="{FF2B5EF4-FFF2-40B4-BE49-F238E27FC236}">
                <a16:creationId xmlns:a16="http://schemas.microsoft.com/office/drawing/2014/main" id="{29846098-D0C8-4395-A946-67C22DC47D41}"/>
              </a:ext>
            </a:extLst>
          </p:cNvPr>
          <p:cNvSpPr>
            <a:spLocks noGrp="1"/>
          </p:cNvSpPr>
          <p:nvPr/>
        </p:nvSpPr>
        <p:spPr>
          <a:xfrm>
            <a:off x="1628775" y="5657850"/>
            <a:ext cx="657225"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a:ln>
                  <a:noFill/>
                </a:ln>
                <a:solidFill>
                  <a:srgbClr val="1D1D1B"/>
                </a:solidFill>
                <a:effectLst/>
                <a:uLnTx/>
                <a:uFillTx/>
                <a:latin typeface="Microsoft YaHei"/>
                <a:ea typeface="Microsoft YaHei"/>
                <a:cs typeface="Microsoft YaHei"/>
              </a:rPr>
              <a:t>x,   u =</a:t>
            </a:r>
          </a:p>
        </p:txBody>
      </p:sp>
      <p:sp>
        <p:nvSpPr>
          <p:cNvPr id="504" name="MathRepair_5">
            <a:extLst>
              <a:ext uri="{FF2B5EF4-FFF2-40B4-BE49-F238E27FC236}">
                <a16:creationId xmlns:a16="http://schemas.microsoft.com/office/drawing/2014/main" id="{BB5ABE85-F0D3-42ED-9339-39E6883AF675}"/>
              </a:ext>
            </a:extLst>
          </p:cNvPr>
          <p:cNvSpPr>
            <a:spLocks noGrp="1"/>
          </p:cNvSpPr>
          <p:nvPr/>
        </p:nvSpPr>
        <p:spPr>
          <a:xfrm>
            <a:off x="2305050" y="5619750"/>
            <a:ext cx="209550" cy="320040"/>
          </a:xfrm>
          <a:prstGeom prst="rect">
            <a:avLst/>
          </a:prstGeom>
          <a:noFill/>
          <a:ln w="0">
            <a:noFill/>
          </a:ln>
        </p:spPr>
        <p:txBody>
          <a:bodyPr wrap="none" lIns="0" tIns="0" rIns="0" bIns="0">
            <a:noAutofit/>
          </a:bodyPr>
          <a:lstStyle>
            <a:defPPr>
              <a:defRPr sz="1800"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800" b="1">
                <a:solidFill>
                  <a:srgbClr val="1D1D1B"/>
                </a:solidFill>
                <a:latin typeface="Microsoft YaHei"/>
                <a:ea typeface="Microsoft YaHei"/>
                <a:cs typeface="Microsoft YaHei"/>
              </a:defRPr>
            </a:pPr>
            <a:r>
              <a:rPr kumimoji="0" sz="1800" b="1" i="0" u="none" strike="noStrike" kern="1200" cap="none" spc="0" normalizeH="0" baseline="0" noProof="0">
                <a:ln>
                  <a:noFill/>
                </a:ln>
                <a:solidFill>
                  <a:srgbClr val="1D1D1B"/>
                </a:solidFill>
                <a:effectLst/>
                <a:uLnTx/>
                <a:uFillTx/>
                <a:latin typeface="Microsoft YaHei"/>
                <a:ea typeface="Microsoft YaHei"/>
                <a:cs typeface="Microsoft YaHei"/>
              </a:rPr>
              <a:t>∑</a:t>
            </a:r>
          </a:p>
        </p:txBody>
      </p:sp>
      <p:sp>
        <p:nvSpPr>
          <p:cNvPr id="505" name="MathRepair_6">
            <a:extLst>
              <a:ext uri="{FF2B5EF4-FFF2-40B4-BE49-F238E27FC236}">
                <a16:creationId xmlns:a16="http://schemas.microsoft.com/office/drawing/2014/main" id="{270EEFCD-8D45-49CC-952D-A7890B9FC4E7}"/>
              </a:ext>
            </a:extLst>
          </p:cNvPr>
          <p:cNvSpPr>
            <a:spLocks noGrp="1"/>
          </p:cNvSpPr>
          <p:nvPr/>
        </p:nvSpPr>
        <p:spPr>
          <a:xfrm>
            <a:off x="2495550" y="5772150"/>
            <a:ext cx="57150" cy="153352"/>
          </a:xfrm>
          <a:prstGeom prst="rect">
            <a:avLst/>
          </a:prstGeom>
          <a:noFill/>
          <a:ln w="0">
            <a:noFill/>
          </a:ln>
        </p:spPr>
        <p:txBody>
          <a:bodyPr wrap="none" lIns="0" tIns="0" rIns="0" bIns="0">
            <a:noAutofit/>
          </a:bodyPr>
          <a:lstStyle>
            <a:defPPr>
              <a:defRPr sz="863"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863" b="1">
                <a:solidFill>
                  <a:srgbClr val="1D1D1B"/>
                </a:solidFill>
                <a:latin typeface="Microsoft YaHei"/>
                <a:ea typeface="Microsoft YaHei"/>
                <a:cs typeface="Microsoft YaHei"/>
              </a:defRPr>
            </a:pPr>
            <a:r>
              <a:rPr kumimoji="0" sz="863" b="1" i="0" u="none" strike="noStrike" kern="1200" cap="none" spc="0" normalizeH="0" baseline="0" noProof="0">
                <a:ln>
                  <a:noFill/>
                </a:ln>
                <a:solidFill>
                  <a:srgbClr val="1D1D1B"/>
                </a:solidFill>
                <a:effectLst/>
                <a:uLnTx/>
                <a:uFillTx/>
                <a:latin typeface="Microsoft YaHei"/>
                <a:ea typeface="Microsoft YaHei"/>
                <a:cs typeface="Microsoft YaHei"/>
              </a:rPr>
              <a:t>i</a:t>
            </a:r>
          </a:p>
        </p:txBody>
      </p:sp>
      <p:sp>
        <p:nvSpPr>
          <p:cNvPr id="506" name="MathRepair_7">
            <a:extLst>
              <a:ext uri="{FF2B5EF4-FFF2-40B4-BE49-F238E27FC236}">
                <a16:creationId xmlns:a16="http://schemas.microsoft.com/office/drawing/2014/main" id="{EB617945-03BA-44FC-A8FA-291F0BB4E7E8}"/>
              </a:ext>
            </a:extLst>
          </p:cNvPr>
          <p:cNvSpPr>
            <a:spLocks noGrp="1"/>
          </p:cNvSpPr>
          <p:nvPr/>
        </p:nvSpPr>
        <p:spPr>
          <a:xfrm>
            <a:off x="2600325" y="5657850"/>
            <a:ext cx="123825"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a:ln>
                  <a:noFill/>
                </a:ln>
                <a:solidFill>
                  <a:srgbClr val="1D1D1B"/>
                </a:solidFill>
                <a:effectLst/>
                <a:uLnTx/>
                <a:uFillTx/>
                <a:latin typeface="Microsoft YaHei"/>
                <a:ea typeface="Microsoft YaHei"/>
                <a:cs typeface="Microsoft YaHei"/>
              </a:rPr>
              <a:t>p</a:t>
            </a:r>
          </a:p>
        </p:txBody>
      </p:sp>
      <p:sp>
        <p:nvSpPr>
          <p:cNvPr id="507" name="MathRepair_8">
            <a:extLst>
              <a:ext uri="{FF2B5EF4-FFF2-40B4-BE49-F238E27FC236}">
                <a16:creationId xmlns:a16="http://schemas.microsoft.com/office/drawing/2014/main" id="{F00FE07C-FBCD-413C-AB11-1969E439B2D3}"/>
              </a:ext>
            </a:extLst>
          </p:cNvPr>
          <p:cNvSpPr>
            <a:spLocks noGrp="1"/>
          </p:cNvSpPr>
          <p:nvPr/>
        </p:nvSpPr>
        <p:spPr>
          <a:xfrm>
            <a:off x="2724150" y="5762625"/>
            <a:ext cx="57150" cy="153352"/>
          </a:xfrm>
          <a:prstGeom prst="rect">
            <a:avLst/>
          </a:prstGeom>
          <a:noFill/>
          <a:ln w="0">
            <a:noFill/>
          </a:ln>
        </p:spPr>
        <p:txBody>
          <a:bodyPr wrap="none" lIns="0" tIns="0" rIns="0" bIns="0">
            <a:noAutofit/>
          </a:bodyPr>
          <a:lstStyle>
            <a:defPPr>
              <a:defRPr sz="863"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863" b="1">
                <a:solidFill>
                  <a:srgbClr val="1D1D1B"/>
                </a:solidFill>
                <a:latin typeface="Microsoft YaHei"/>
                <a:ea typeface="Microsoft YaHei"/>
                <a:cs typeface="Microsoft YaHei"/>
              </a:defRPr>
            </a:pPr>
            <a:r>
              <a:rPr kumimoji="0" sz="863" b="1" i="0" u="none" strike="noStrike" kern="1200" cap="none" spc="0" normalizeH="0" baseline="0" noProof="0">
                <a:ln>
                  <a:noFill/>
                </a:ln>
                <a:solidFill>
                  <a:srgbClr val="1D1D1B"/>
                </a:solidFill>
                <a:effectLst/>
                <a:uLnTx/>
                <a:uFillTx/>
                <a:latin typeface="Microsoft YaHei"/>
                <a:ea typeface="Microsoft YaHei"/>
                <a:cs typeface="Microsoft YaHei"/>
              </a:rPr>
              <a:t>i</a:t>
            </a:r>
          </a:p>
        </p:txBody>
      </p:sp>
      <p:sp>
        <p:nvSpPr>
          <p:cNvPr id="508" name="MathRepair_9">
            <a:extLst>
              <a:ext uri="{FF2B5EF4-FFF2-40B4-BE49-F238E27FC236}">
                <a16:creationId xmlns:a16="http://schemas.microsoft.com/office/drawing/2014/main" id="{567280BF-655D-4021-8EE6-99756B2FB382}"/>
              </a:ext>
            </a:extLst>
          </p:cNvPr>
          <p:cNvSpPr>
            <a:spLocks noGrp="1"/>
          </p:cNvSpPr>
          <p:nvPr/>
        </p:nvSpPr>
        <p:spPr>
          <a:xfrm>
            <a:off x="2828925" y="5657850"/>
            <a:ext cx="133350"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a:ln>
                  <a:noFill/>
                </a:ln>
                <a:solidFill>
                  <a:srgbClr val="1D1D1B"/>
                </a:solidFill>
                <a:effectLst/>
                <a:uLnTx/>
                <a:uFillTx/>
                <a:latin typeface="Microsoft YaHei"/>
                <a:ea typeface="Microsoft YaHei"/>
                <a:cs typeface="Microsoft YaHei"/>
              </a:rPr>
              <a:t>E</a:t>
            </a:r>
          </a:p>
        </p:txBody>
      </p:sp>
      <p:sp>
        <p:nvSpPr>
          <p:cNvPr id="509" name="MathRepair_10">
            <a:extLst>
              <a:ext uri="{FF2B5EF4-FFF2-40B4-BE49-F238E27FC236}">
                <a16:creationId xmlns:a16="http://schemas.microsoft.com/office/drawing/2014/main" id="{2E5BBE09-D03D-45F0-9E74-815639C1D93D}"/>
              </a:ext>
            </a:extLst>
          </p:cNvPr>
          <p:cNvSpPr>
            <a:spLocks noGrp="1"/>
          </p:cNvSpPr>
          <p:nvPr/>
        </p:nvSpPr>
        <p:spPr>
          <a:xfrm>
            <a:off x="2962275" y="5762625"/>
            <a:ext cx="57150" cy="153352"/>
          </a:xfrm>
          <a:prstGeom prst="rect">
            <a:avLst/>
          </a:prstGeom>
          <a:noFill/>
          <a:ln w="0">
            <a:noFill/>
          </a:ln>
        </p:spPr>
        <p:txBody>
          <a:bodyPr wrap="none" lIns="0" tIns="0" rIns="0" bIns="0">
            <a:noAutofit/>
          </a:bodyPr>
          <a:lstStyle>
            <a:defPPr>
              <a:defRPr sz="863"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863" b="1">
                <a:solidFill>
                  <a:srgbClr val="1D1D1B"/>
                </a:solidFill>
                <a:latin typeface="Microsoft YaHei"/>
                <a:ea typeface="Microsoft YaHei"/>
                <a:cs typeface="Microsoft YaHei"/>
              </a:defRPr>
            </a:pPr>
            <a:r>
              <a:rPr kumimoji="0" sz="863" b="1" i="0" u="none" strike="noStrike" kern="1200" cap="none" spc="0" normalizeH="0" baseline="0" noProof="0">
                <a:ln>
                  <a:noFill/>
                </a:ln>
                <a:solidFill>
                  <a:srgbClr val="1D1D1B"/>
                </a:solidFill>
                <a:effectLst/>
                <a:uLnTx/>
                <a:uFillTx/>
                <a:latin typeface="Microsoft YaHei"/>
                <a:ea typeface="Microsoft YaHei"/>
                <a:cs typeface="Microsoft YaHei"/>
              </a:rPr>
              <a:t>i</a:t>
            </a:r>
          </a:p>
        </p:txBody>
      </p:sp>
      <p:sp>
        <p:nvSpPr>
          <p:cNvPr id="510" name="MathRepair_11">
            <a:extLst>
              <a:ext uri="{FF2B5EF4-FFF2-40B4-BE49-F238E27FC236}">
                <a16:creationId xmlns:a16="http://schemas.microsoft.com/office/drawing/2014/main" id="{D3B07AC4-F329-4B4C-A734-002B53DE15EE}"/>
              </a:ext>
            </a:extLst>
          </p:cNvPr>
          <p:cNvSpPr>
            <a:spLocks noGrp="1"/>
          </p:cNvSpPr>
          <p:nvPr/>
        </p:nvSpPr>
        <p:spPr>
          <a:xfrm>
            <a:off x="3038475" y="5657850"/>
            <a:ext cx="276225"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a:ln>
                  <a:noFill/>
                </a:ln>
                <a:solidFill>
                  <a:srgbClr val="1D1D1B"/>
                </a:solidFill>
                <a:effectLst/>
                <a:uLnTx/>
                <a:uFillTx/>
                <a:latin typeface="Microsoft YaHei"/>
                <a:ea typeface="Microsoft YaHei"/>
                <a:cs typeface="Microsoft YaHei"/>
              </a:rPr>
              <a:t>(z)</a:t>
            </a:r>
          </a:p>
        </p:txBody>
      </p:sp>
      <p:sp>
        <p:nvSpPr>
          <p:cNvPr id="511" name="MathRepair_12">
            <a:extLst>
              <a:ext uri="{FF2B5EF4-FFF2-40B4-BE49-F238E27FC236}">
                <a16:creationId xmlns:a16="http://schemas.microsoft.com/office/drawing/2014/main" id="{DCF43BD9-9166-4508-BD98-452557FBD74A}"/>
              </a:ext>
            </a:extLst>
          </p:cNvPr>
          <p:cNvSpPr>
            <a:spLocks noGrp="1"/>
          </p:cNvSpPr>
          <p:nvPr/>
        </p:nvSpPr>
        <p:spPr>
          <a:xfrm>
            <a:off x="733425" y="5962650"/>
            <a:ext cx="333375"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a:ln>
                  <a:noFill/>
                </a:ln>
                <a:solidFill>
                  <a:srgbClr val="1D1D1B"/>
                </a:solidFill>
                <a:effectLst/>
                <a:uLnTx/>
                <a:uFillTx/>
                <a:latin typeface="Microsoft YaHei"/>
                <a:ea typeface="Microsoft YaHei"/>
                <a:cs typeface="Microsoft YaHei"/>
              </a:rPr>
              <a:t>y =</a:t>
            </a:r>
          </a:p>
        </p:txBody>
      </p:sp>
      <p:sp>
        <p:nvSpPr>
          <p:cNvPr id="512" name="MathRepair_13">
            <a:extLst>
              <a:ext uri="{FF2B5EF4-FFF2-40B4-BE49-F238E27FC236}">
                <a16:creationId xmlns:a16="http://schemas.microsoft.com/office/drawing/2014/main" id="{E1BE437E-4486-4B65-A921-0559FD8F014D}"/>
              </a:ext>
            </a:extLst>
          </p:cNvPr>
          <p:cNvSpPr>
            <a:spLocks noGrp="1"/>
          </p:cNvSpPr>
          <p:nvPr/>
        </p:nvSpPr>
        <p:spPr>
          <a:xfrm>
            <a:off x="1095375" y="5924550"/>
            <a:ext cx="209550" cy="320040"/>
          </a:xfrm>
          <a:prstGeom prst="rect">
            <a:avLst/>
          </a:prstGeom>
          <a:noFill/>
          <a:ln w="0">
            <a:noFill/>
          </a:ln>
        </p:spPr>
        <p:txBody>
          <a:bodyPr wrap="none" lIns="0" tIns="0" rIns="0" bIns="0">
            <a:noAutofit/>
          </a:bodyPr>
          <a:lstStyle>
            <a:defPPr>
              <a:defRPr sz="1800"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800" b="1">
                <a:solidFill>
                  <a:srgbClr val="1D1D1B"/>
                </a:solidFill>
                <a:latin typeface="Microsoft YaHei"/>
                <a:ea typeface="Microsoft YaHei"/>
                <a:cs typeface="Microsoft YaHei"/>
              </a:defRPr>
            </a:pPr>
            <a:r>
              <a:rPr kumimoji="0" sz="1800" b="1" i="0" u="none" strike="noStrike" kern="1200" cap="none" spc="0" normalizeH="0" baseline="0" noProof="0">
                <a:ln>
                  <a:noFill/>
                </a:ln>
                <a:solidFill>
                  <a:srgbClr val="1D1D1B"/>
                </a:solidFill>
                <a:effectLst/>
                <a:uLnTx/>
                <a:uFillTx/>
                <a:latin typeface="Microsoft YaHei"/>
                <a:ea typeface="Microsoft YaHei"/>
                <a:cs typeface="Microsoft YaHei"/>
              </a:rPr>
              <a:t>∑</a:t>
            </a:r>
          </a:p>
        </p:txBody>
      </p:sp>
      <p:sp>
        <p:nvSpPr>
          <p:cNvPr id="513" name="MathRepair_14">
            <a:extLst>
              <a:ext uri="{FF2B5EF4-FFF2-40B4-BE49-F238E27FC236}">
                <a16:creationId xmlns:a16="http://schemas.microsoft.com/office/drawing/2014/main" id="{419D3CC6-5648-4A62-914F-D1E58B3C27F7}"/>
              </a:ext>
            </a:extLst>
          </p:cNvPr>
          <p:cNvSpPr>
            <a:spLocks noGrp="1"/>
          </p:cNvSpPr>
          <p:nvPr/>
        </p:nvSpPr>
        <p:spPr>
          <a:xfrm>
            <a:off x="1285875" y="6076950"/>
            <a:ext cx="57150" cy="153352"/>
          </a:xfrm>
          <a:prstGeom prst="rect">
            <a:avLst/>
          </a:prstGeom>
          <a:noFill/>
          <a:ln w="0">
            <a:noFill/>
          </a:ln>
        </p:spPr>
        <p:txBody>
          <a:bodyPr wrap="none" lIns="0" tIns="0" rIns="0" bIns="0">
            <a:noAutofit/>
          </a:bodyPr>
          <a:lstStyle>
            <a:defPPr>
              <a:defRPr sz="863"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863" b="1">
                <a:solidFill>
                  <a:srgbClr val="1D1D1B"/>
                </a:solidFill>
                <a:latin typeface="Microsoft YaHei"/>
                <a:ea typeface="Microsoft YaHei"/>
                <a:cs typeface="Microsoft YaHei"/>
              </a:defRPr>
            </a:pPr>
            <a:r>
              <a:rPr kumimoji="0" sz="863" b="1" i="0" u="none" strike="noStrike" kern="1200" cap="none" spc="0" normalizeH="0" baseline="0" noProof="0">
                <a:ln>
                  <a:noFill/>
                </a:ln>
                <a:solidFill>
                  <a:srgbClr val="1D1D1B"/>
                </a:solidFill>
                <a:effectLst/>
                <a:uLnTx/>
                <a:uFillTx/>
                <a:latin typeface="Microsoft YaHei"/>
                <a:ea typeface="Microsoft YaHei"/>
                <a:cs typeface="Microsoft YaHei"/>
              </a:rPr>
              <a:t>j</a:t>
            </a:r>
          </a:p>
        </p:txBody>
      </p:sp>
      <p:sp>
        <p:nvSpPr>
          <p:cNvPr id="514" name="MathRepair_15">
            <a:extLst>
              <a:ext uri="{FF2B5EF4-FFF2-40B4-BE49-F238E27FC236}">
                <a16:creationId xmlns:a16="http://schemas.microsoft.com/office/drawing/2014/main" id="{721813ED-73F7-45F2-A6FF-E2BF7696B32B}"/>
              </a:ext>
            </a:extLst>
          </p:cNvPr>
          <p:cNvSpPr>
            <a:spLocks noGrp="1"/>
          </p:cNvSpPr>
          <p:nvPr/>
        </p:nvSpPr>
        <p:spPr>
          <a:xfrm>
            <a:off x="1390650" y="5962650"/>
            <a:ext cx="133350"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a:ln>
                  <a:noFill/>
                </a:ln>
                <a:solidFill>
                  <a:srgbClr val="1D1D1B"/>
                </a:solidFill>
                <a:effectLst/>
                <a:uLnTx/>
                <a:uFillTx/>
                <a:latin typeface="Microsoft YaHei"/>
                <a:ea typeface="Microsoft YaHei"/>
                <a:cs typeface="Microsoft YaHei"/>
              </a:rPr>
              <a:t>E</a:t>
            </a:r>
          </a:p>
        </p:txBody>
      </p:sp>
      <p:sp>
        <p:nvSpPr>
          <p:cNvPr id="515" name="MathRepair_16">
            <a:extLst>
              <a:ext uri="{FF2B5EF4-FFF2-40B4-BE49-F238E27FC236}">
                <a16:creationId xmlns:a16="http://schemas.microsoft.com/office/drawing/2014/main" id="{D10174EF-E55D-4E4D-8EE1-F52DD0C969B0}"/>
              </a:ext>
            </a:extLst>
          </p:cNvPr>
          <p:cNvSpPr>
            <a:spLocks noGrp="1"/>
          </p:cNvSpPr>
          <p:nvPr/>
        </p:nvSpPr>
        <p:spPr>
          <a:xfrm>
            <a:off x="1524000" y="5915025"/>
            <a:ext cx="400050" cy="153352"/>
          </a:xfrm>
          <a:prstGeom prst="rect">
            <a:avLst/>
          </a:prstGeom>
          <a:noFill/>
          <a:ln w="0">
            <a:noFill/>
          </a:ln>
        </p:spPr>
        <p:txBody>
          <a:bodyPr wrap="none" lIns="0" tIns="0" rIns="0" bIns="0">
            <a:noAutofit/>
          </a:bodyPr>
          <a:lstStyle>
            <a:defPPr>
              <a:defRPr sz="863"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863" b="1">
                <a:solidFill>
                  <a:srgbClr val="1D1D1B"/>
                </a:solidFill>
                <a:latin typeface="Microsoft YaHei"/>
                <a:ea typeface="Microsoft YaHei"/>
                <a:cs typeface="Microsoft YaHei"/>
              </a:defRPr>
            </a:pPr>
            <a:r>
              <a:rPr kumimoji="0" sz="863" b="1" i="0" u="none" strike="noStrike" kern="1200" cap="none" spc="0" normalizeH="0" baseline="0" noProof="0">
                <a:ln>
                  <a:noFill/>
                </a:ln>
                <a:solidFill>
                  <a:srgbClr val="1D1D1B"/>
                </a:solidFill>
                <a:effectLst/>
                <a:uLnTx/>
                <a:uFillTx/>
                <a:latin typeface="Microsoft YaHei"/>
                <a:ea typeface="Microsoft YaHei"/>
                <a:cs typeface="Microsoft YaHei"/>
              </a:rPr>
              <a:t>shared</a:t>
            </a:r>
          </a:p>
        </p:txBody>
      </p:sp>
      <p:sp>
        <p:nvSpPr>
          <p:cNvPr id="516" name="MathRepair_17">
            <a:extLst>
              <a:ext uri="{FF2B5EF4-FFF2-40B4-BE49-F238E27FC236}">
                <a16:creationId xmlns:a16="http://schemas.microsoft.com/office/drawing/2014/main" id="{96C4E6D2-D50B-48B4-8D98-C9B6703D9FEF}"/>
              </a:ext>
            </a:extLst>
          </p:cNvPr>
          <p:cNvSpPr>
            <a:spLocks noGrp="1"/>
          </p:cNvSpPr>
          <p:nvPr/>
        </p:nvSpPr>
        <p:spPr>
          <a:xfrm>
            <a:off x="1524000" y="6067425"/>
            <a:ext cx="57150" cy="153352"/>
          </a:xfrm>
          <a:prstGeom prst="rect">
            <a:avLst/>
          </a:prstGeom>
          <a:noFill/>
          <a:ln w="0">
            <a:noFill/>
          </a:ln>
        </p:spPr>
        <p:txBody>
          <a:bodyPr wrap="none" lIns="0" tIns="0" rIns="0" bIns="0">
            <a:noAutofit/>
          </a:bodyPr>
          <a:lstStyle>
            <a:defPPr>
              <a:defRPr sz="863"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863" b="1">
                <a:solidFill>
                  <a:srgbClr val="1D1D1B"/>
                </a:solidFill>
                <a:latin typeface="Microsoft YaHei"/>
                <a:ea typeface="Microsoft YaHei"/>
                <a:cs typeface="Microsoft YaHei"/>
              </a:defRPr>
            </a:pPr>
            <a:r>
              <a:rPr kumimoji="0" sz="863" b="1" i="0" u="none" strike="noStrike" kern="1200" cap="none" spc="0" normalizeH="0" baseline="0" noProof="0">
                <a:ln>
                  <a:noFill/>
                </a:ln>
                <a:solidFill>
                  <a:srgbClr val="1D1D1B"/>
                </a:solidFill>
                <a:effectLst/>
                <a:uLnTx/>
                <a:uFillTx/>
                <a:latin typeface="Microsoft YaHei"/>
                <a:ea typeface="Microsoft YaHei"/>
                <a:cs typeface="Microsoft YaHei"/>
              </a:rPr>
              <a:t>j</a:t>
            </a:r>
          </a:p>
        </p:txBody>
      </p:sp>
      <p:sp>
        <p:nvSpPr>
          <p:cNvPr id="517" name="MathRepair_18">
            <a:extLst>
              <a:ext uri="{FF2B5EF4-FFF2-40B4-BE49-F238E27FC236}">
                <a16:creationId xmlns:a16="http://schemas.microsoft.com/office/drawing/2014/main" id="{DB9547C7-51F2-4883-92AD-EB1D8164BDC0}"/>
              </a:ext>
            </a:extLst>
          </p:cNvPr>
          <p:cNvSpPr>
            <a:spLocks noGrp="1"/>
          </p:cNvSpPr>
          <p:nvPr/>
        </p:nvSpPr>
        <p:spPr>
          <a:xfrm>
            <a:off x="1943100" y="5962650"/>
            <a:ext cx="495300"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a:ln>
                  <a:noFill/>
                </a:ln>
                <a:solidFill>
                  <a:srgbClr val="1D1D1B"/>
                </a:solidFill>
                <a:effectLst/>
                <a:uLnTx/>
                <a:uFillTx/>
                <a:latin typeface="Microsoft YaHei"/>
                <a:ea typeface="Microsoft YaHei"/>
                <a:cs typeface="Microsoft YaHei"/>
              </a:rPr>
              <a:t>(x) +</a:t>
            </a:r>
          </a:p>
        </p:txBody>
      </p:sp>
      <p:sp>
        <p:nvSpPr>
          <p:cNvPr id="518" name="MathRepair_19">
            <a:extLst>
              <a:ext uri="{FF2B5EF4-FFF2-40B4-BE49-F238E27FC236}">
                <a16:creationId xmlns:a16="http://schemas.microsoft.com/office/drawing/2014/main" id="{0360252C-9730-4BEB-BB13-EFA0EAD97D35}"/>
              </a:ext>
            </a:extLst>
          </p:cNvPr>
          <p:cNvSpPr>
            <a:spLocks noGrp="1"/>
          </p:cNvSpPr>
          <p:nvPr/>
        </p:nvSpPr>
        <p:spPr>
          <a:xfrm>
            <a:off x="2457450" y="5962650"/>
            <a:ext cx="200025"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a:ln>
                  <a:noFill/>
                </a:ln>
                <a:solidFill>
                  <a:srgbClr val="1D1D1B"/>
                </a:solidFill>
                <a:effectLst/>
                <a:uLnTx/>
                <a:uFillTx/>
                <a:latin typeface="Microsoft YaHei"/>
                <a:ea typeface="Microsoft YaHei"/>
                <a:cs typeface="Microsoft YaHei"/>
              </a:rPr>
              <a:t>W</a:t>
            </a:r>
          </a:p>
        </p:txBody>
      </p:sp>
      <p:sp>
        <p:nvSpPr>
          <p:cNvPr id="519" name="MathRepair_20">
            <a:extLst>
              <a:ext uri="{FF2B5EF4-FFF2-40B4-BE49-F238E27FC236}">
                <a16:creationId xmlns:a16="http://schemas.microsoft.com/office/drawing/2014/main" id="{9E826600-4651-49E7-B9A6-51F4026282E0}"/>
              </a:ext>
            </a:extLst>
          </p:cNvPr>
          <p:cNvSpPr>
            <a:spLocks noGrp="1"/>
          </p:cNvSpPr>
          <p:nvPr/>
        </p:nvSpPr>
        <p:spPr>
          <a:xfrm>
            <a:off x="2657475" y="6067425"/>
            <a:ext cx="161925" cy="153352"/>
          </a:xfrm>
          <a:prstGeom prst="rect">
            <a:avLst/>
          </a:prstGeom>
          <a:noFill/>
          <a:ln w="0">
            <a:noFill/>
          </a:ln>
        </p:spPr>
        <p:txBody>
          <a:bodyPr wrap="none" lIns="0" tIns="0" rIns="0" bIns="0">
            <a:noAutofit/>
          </a:bodyPr>
          <a:lstStyle>
            <a:defPPr>
              <a:defRPr sz="863"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863" b="1">
                <a:solidFill>
                  <a:srgbClr val="1D1D1B"/>
                </a:solidFill>
                <a:latin typeface="Microsoft YaHei"/>
                <a:ea typeface="Microsoft YaHei"/>
                <a:cs typeface="Microsoft YaHei"/>
              </a:defRPr>
            </a:pPr>
            <a:r>
              <a:rPr kumimoji="0" sz="863" b="1" i="0" u="none" strike="noStrike" kern="1200" cap="none" spc="0" normalizeH="0" baseline="0" noProof="0">
                <a:ln>
                  <a:noFill/>
                </a:ln>
                <a:solidFill>
                  <a:srgbClr val="1D1D1B"/>
                </a:solidFill>
                <a:effectLst/>
                <a:uLnTx/>
                <a:uFillTx/>
                <a:latin typeface="Microsoft YaHei"/>
                <a:ea typeface="Microsoft YaHei"/>
                <a:cs typeface="Microsoft YaHei"/>
              </a:rPr>
              <a:t>up</a:t>
            </a:r>
          </a:p>
        </p:txBody>
      </p:sp>
      <p:sp>
        <p:nvSpPr>
          <p:cNvPr id="520" name="MathRepair_21">
            <a:extLst>
              <a:ext uri="{FF2B5EF4-FFF2-40B4-BE49-F238E27FC236}">
                <a16:creationId xmlns:a16="http://schemas.microsoft.com/office/drawing/2014/main" id="{2A6378C9-B4FD-4A7B-AAA5-638266D72F42}"/>
              </a:ext>
            </a:extLst>
          </p:cNvPr>
          <p:cNvSpPr>
            <a:spLocks noGrp="1"/>
          </p:cNvSpPr>
          <p:nvPr/>
        </p:nvSpPr>
        <p:spPr>
          <a:xfrm>
            <a:off x="2876550" y="5962650"/>
            <a:ext cx="1247775" cy="246831"/>
          </a:xfrm>
          <a:prstGeom prst="rect">
            <a:avLst/>
          </a:prstGeom>
          <a:noFill/>
          <a:ln w="0">
            <a:noFill/>
          </a:ln>
        </p:spPr>
        <p:txBody>
          <a:bodyPr wrap="none" lIns="0" tIns="0" rIns="0" bIns="0">
            <a:noAutofit/>
          </a:bodyPr>
          <a:lstStyle>
            <a:defPPr>
              <a:defRPr sz="1388"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1D1D1B"/>
                </a:solidFill>
                <a:latin typeface="Microsoft YaHei"/>
                <a:ea typeface="Microsoft YaHei"/>
                <a:cs typeface="Microsoft YaHei"/>
              </a:defRPr>
            </a:pPr>
            <a:r>
              <a:rPr kumimoji="0" sz="1388" b="1" i="0" u="none" strike="noStrike" kern="1200" cap="none" spc="0" normalizeH="0" baseline="0" noProof="0" dirty="0" err="1">
                <a:ln>
                  <a:noFill/>
                </a:ln>
                <a:solidFill>
                  <a:srgbClr val="1D1D1B"/>
                </a:solidFill>
                <a:effectLst/>
                <a:uLnTx/>
                <a:uFillTx/>
                <a:latin typeface="Microsoft YaHei"/>
                <a:ea typeface="Microsoft YaHei"/>
                <a:cs typeface="Microsoft YaHei"/>
              </a:rPr>
              <a:t>RMSNorm</a:t>
            </a:r>
            <a:r>
              <a:rPr kumimoji="0" sz="1388" b="1" i="0" u="none" strike="noStrike" kern="1200" cap="none" spc="0" normalizeH="0" baseline="0" noProof="0" dirty="0">
                <a:ln>
                  <a:noFill/>
                </a:ln>
                <a:solidFill>
                  <a:srgbClr val="1D1D1B"/>
                </a:solidFill>
                <a:effectLst/>
                <a:uLnTx/>
                <a:uFillTx/>
                <a:latin typeface="Microsoft YaHei"/>
                <a:ea typeface="Microsoft YaHei"/>
                <a:cs typeface="Microsoft YaHei"/>
              </a:rPr>
              <a:t>(u)</a:t>
            </a:r>
          </a:p>
        </p:txBody>
      </p:sp>
      <p:sp>
        <p:nvSpPr>
          <p:cNvPr id="700" name="CausalDiagram_1">
            <a:extLst>
              <a:ext uri="{FF2B5EF4-FFF2-40B4-BE49-F238E27FC236}">
                <a16:creationId xmlns:a16="http://schemas.microsoft.com/office/drawing/2014/main" id="{9569C350-4CEA-4E73-8931-3E72A5FB31AF}"/>
              </a:ext>
            </a:extLst>
          </p:cNvPr>
          <p:cNvSpPr>
            <a:spLocks noGrp="1"/>
          </p:cNvSpPr>
          <p:nvPr/>
        </p:nvSpPr>
        <p:spPr>
          <a:xfrm>
            <a:off x="4743450" y="4543425"/>
            <a:ext cx="6715125" cy="171450"/>
          </a:xfrm>
          <a:prstGeom prst="rect">
            <a:avLst/>
          </a:prstGeom>
          <a:noFill/>
          <a:ln w="0">
            <a:noFill/>
          </a:ln>
        </p:spPr>
        <p:txBody>
          <a:bodyPr wrap="none" lIns="0" tIns="0" rIns="0" bIns="0">
            <a:noAutofit/>
          </a:bodyPr>
          <a:lstStyle>
            <a:defPPr>
              <a:defRPr sz="1013" b="0">
                <a:solidFill>
                  <a:srgbClr val="666666"/>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013" b="0">
                <a:solidFill>
                  <a:srgbClr val="666666"/>
                </a:solidFill>
                <a:latin typeface="Microsoft YaHei"/>
                <a:ea typeface="Microsoft YaHei"/>
                <a:cs typeface="Microsoft YaHei"/>
              </a:defRPr>
            </a:pPr>
            <a:r>
              <a:rPr kumimoji="0" sz="1013" b="0" i="0" u="none" strike="noStrike" kern="1200" cap="none" spc="0" normalizeH="0" baseline="0" noProof="0">
                <a:ln>
                  <a:noFill/>
                </a:ln>
                <a:solidFill>
                  <a:srgbClr val="666666"/>
                </a:solidFill>
                <a:effectLst/>
                <a:uLnTx/>
                <a:uFillTx/>
                <a:latin typeface="Microsoft YaHei"/>
                <a:ea typeface="Microsoft YaHei"/>
                <a:cs typeface="Microsoft YaHei"/>
              </a:rPr>
              <a:t>权重口径：全部路由专家，非单次选中部分；BF16 折算，非实际量化显存</a:t>
            </a:r>
          </a:p>
        </p:txBody>
      </p:sp>
      <p:sp>
        <p:nvSpPr>
          <p:cNvPr id="701" name="CausalDiagram_2">
            <a:extLst>
              <a:ext uri="{FF2B5EF4-FFF2-40B4-BE49-F238E27FC236}">
                <a16:creationId xmlns:a16="http://schemas.microsoft.com/office/drawing/2014/main" id="{5A3027B4-156F-428C-80EC-3CC202566085}"/>
              </a:ext>
            </a:extLst>
          </p:cNvPr>
          <p:cNvSpPr>
            <a:spLocks noGrp="1"/>
          </p:cNvSpPr>
          <p:nvPr/>
        </p:nvSpPr>
        <p:spPr>
          <a:xfrm>
            <a:off x="4743450" y="4762500"/>
            <a:ext cx="6715125" cy="228600"/>
          </a:xfrm>
          <a:prstGeom prst="rect">
            <a:avLst/>
          </a:prstGeom>
          <a:noFill/>
          <a:ln w="0">
            <a:noFill/>
          </a:ln>
        </p:spPr>
        <p:txBody>
          <a:bodyPr wrap="none" lIns="0" tIns="0" rIns="0" bIns="0">
            <a:noAutofit/>
          </a:bodyPr>
          <a:lstStyle>
            <a:defPPr>
              <a:defRPr sz="1463"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63" b="1">
                <a:solidFill>
                  <a:srgbClr val="C7000B"/>
                </a:solidFill>
                <a:latin typeface="Microsoft YaHei"/>
                <a:ea typeface="Microsoft YaHei"/>
                <a:cs typeface="Microsoft YaHei"/>
              </a:defRPr>
            </a:pPr>
            <a:r>
              <a:rPr kumimoji="0" sz="1463" b="1" i="0" u="none" strike="noStrike" kern="1200" cap="none" spc="0" normalizeH="0" baseline="0" noProof="0" dirty="0" err="1">
                <a:ln>
                  <a:noFill/>
                </a:ln>
                <a:solidFill>
                  <a:srgbClr val="C7000B"/>
                </a:solidFill>
                <a:effectLst/>
                <a:uLnTx/>
                <a:uFillTx/>
                <a:latin typeface="Microsoft YaHei"/>
                <a:ea typeface="Microsoft YaHei"/>
                <a:cs typeface="Microsoft YaHei"/>
              </a:rPr>
              <a:t>路由扩容为何需要算通协同</a:t>
            </a:r>
            <a:endParaRPr kumimoji="0" sz="1463" b="1" i="0" u="none" strike="noStrike" kern="1200" cap="none" spc="0" normalizeH="0" baseline="0" noProof="0" dirty="0">
              <a:ln>
                <a:noFill/>
              </a:ln>
              <a:solidFill>
                <a:srgbClr val="C7000B"/>
              </a:solidFill>
              <a:effectLst/>
              <a:uLnTx/>
              <a:uFillTx/>
              <a:latin typeface="Microsoft YaHei"/>
              <a:ea typeface="Microsoft YaHei"/>
              <a:cs typeface="Microsoft YaHei"/>
            </a:endParaRPr>
          </a:p>
        </p:txBody>
      </p:sp>
      <p:sp>
        <p:nvSpPr>
          <p:cNvPr id="702" name="CausalDiagram_3">
            <a:extLst>
              <a:ext uri="{FF2B5EF4-FFF2-40B4-BE49-F238E27FC236}">
                <a16:creationId xmlns:a16="http://schemas.microsoft.com/office/drawing/2014/main" id="{45ED2697-4A21-4829-8247-2A14DA5B4CF7}"/>
              </a:ext>
            </a:extLst>
          </p:cNvPr>
          <p:cNvSpPr>
            <a:spLocks noGrp="1"/>
          </p:cNvSpPr>
          <p:nvPr/>
        </p:nvSpPr>
        <p:spPr>
          <a:xfrm>
            <a:off x="4743450" y="5038725"/>
            <a:ext cx="1914525" cy="628650"/>
          </a:xfrm>
          <a:prstGeom prst="rect">
            <a:avLst/>
          </a:prstGeom>
          <a:solidFill>
            <a:srgbClr val="F0F0F0"/>
          </a:solidFill>
          <a:ln w="7620">
            <a:solidFill>
              <a:srgbClr val="9C9C9C"/>
            </a:solidFill>
          </a:ln>
        </p:spPr>
        <p:txBody>
          <a:bodyPr wrap="none" lIns="57150" tIns="57150" rIns="57150" bIns="57150" anchor="ctr">
            <a:noAutofit/>
          </a:bodyPr>
          <a:lstStyle>
            <a:defPPr algn="l">
              <a:defRPr sz="1163">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dirty="0" err="1">
                <a:ln>
                  <a:noFill/>
                </a:ln>
                <a:solidFill>
                  <a:srgbClr val="1D1D1B"/>
                </a:solidFill>
                <a:effectLst/>
                <a:uLnTx/>
                <a:uFillTx/>
                <a:latin typeface="Microsoft YaHei"/>
                <a:ea typeface="Microsoft YaHei"/>
                <a:cs typeface="Microsoft YaHei"/>
              </a:rPr>
              <a:t>候选专家</a:t>
            </a:r>
            <a:r>
              <a:rPr kumimoji="0" sz="1163" b="0" i="0" u="none" strike="noStrike" kern="1200" cap="none" spc="0" normalizeH="0" baseline="0" noProof="0" dirty="0">
                <a:ln>
                  <a:noFill/>
                </a:ln>
                <a:solidFill>
                  <a:srgbClr val="1D1D1B"/>
                </a:solidFill>
                <a:effectLst/>
                <a:uLnTx/>
                <a:uFillTx/>
                <a:latin typeface="Microsoft YaHei"/>
                <a:ea typeface="Microsoft YaHei"/>
                <a:cs typeface="Microsoft YaHei"/>
              </a:rPr>
              <a:t> 384→896</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dirty="0" err="1">
                <a:ln>
                  <a:noFill/>
                </a:ln>
                <a:solidFill>
                  <a:srgbClr val="1D1D1B"/>
                </a:solidFill>
                <a:effectLst/>
                <a:uLnTx/>
                <a:uFillTx/>
                <a:latin typeface="Microsoft YaHei"/>
                <a:ea typeface="Microsoft YaHei"/>
                <a:cs typeface="Microsoft YaHei"/>
              </a:rPr>
              <a:t>激活专家</a:t>
            </a:r>
            <a:r>
              <a:rPr kumimoji="0" sz="1163" b="0" i="0" u="none" strike="noStrike" kern="1200" cap="none" spc="0" normalizeH="0" baseline="0" noProof="0" dirty="0">
                <a:ln>
                  <a:noFill/>
                </a:ln>
                <a:solidFill>
                  <a:srgbClr val="1D1D1B"/>
                </a:solidFill>
                <a:effectLst/>
                <a:uLnTx/>
                <a:uFillTx/>
                <a:latin typeface="Microsoft YaHei"/>
                <a:ea typeface="Microsoft YaHei"/>
                <a:cs typeface="Microsoft YaHei"/>
              </a:rPr>
              <a:t> 8→16</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dirty="0" err="1">
                <a:ln>
                  <a:noFill/>
                </a:ln>
                <a:solidFill>
                  <a:srgbClr val="1D1D1B"/>
                </a:solidFill>
                <a:effectLst/>
                <a:uLnTx/>
                <a:uFillTx/>
                <a:latin typeface="Microsoft YaHei"/>
                <a:ea typeface="Microsoft YaHei"/>
                <a:cs typeface="Microsoft YaHei"/>
              </a:rPr>
              <a:t>分发维度</a:t>
            </a:r>
            <a:r>
              <a:rPr kumimoji="0" sz="1163" b="0" i="0" u="none" strike="noStrike" kern="1200" cap="none" spc="0" normalizeH="0" baseline="0" noProof="0" dirty="0">
                <a:ln>
                  <a:noFill/>
                </a:ln>
                <a:solidFill>
                  <a:srgbClr val="1D1D1B"/>
                </a:solidFill>
                <a:effectLst/>
                <a:uLnTx/>
                <a:uFillTx/>
                <a:latin typeface="Microsoft YaHei"/>
                <a:ea typeface="Microsoft YaHei"/>
                <a:cs typeface="Microsoft YaHei"/>
              </a:rPr>
              <a:t> 7168→3584</a:t>
            </a:r>
          </a:p>
        </p:txBody>
      </p:sp>
      <p:sp>
        <p:nvSpPr>
          <p:cNvPr id="703" name="CausalDiagram_4">
            <a:extLst>
              <a:ext uri="{FF2B5EF4-FFF2-40B4-BE49-F238E27FC236}">
                <a16:creationId xmlns:a16="http://schemas.microsoft.com/office/drawing/2014/main" id="{5036E16C-2DF3-445C-92FE-8CB63ABB7C1A}"/>
              </a:ext>
            </a:extLst>
          </p:cNvPr>
          <p:cNvSpPr>
            <a:spLocks noGrp="1"/>
          </p:cNvSpPr>
          <p:nvPr/>
        </p:nvSpPr>
        <p:spPr>
          <a:xfrm>
            <a:off x="6886575" y="5038725"/>
            <a:ext cx="2095500" cy="628650"/>
          </a:xfrm>
          <a:prstGeom prst="rect">
            <a:avLst/>
          </a:prstGeom>
          <a:solidFill>
            <a:srgbClr val="F0F0F0"/>
          </a:solidFill>
          <a:ln w="7620">
            <a:solidFill>
              <a:srgbClr val="9C9C9C"/>
            </a:solidFill>
          </a:ln>
        </p:spPr>
        <p:txBody>
          <a:bodyPr wrap="none" lIns="57150" tIns="57150" rIns="57150" bIns="57150" anchor="ctr">
            <a:noAutofit/>
          </a:bodyPr>
          <a:lstStyle>
            <a:defPPr algn="l">
              <a:defRPr sz="1163">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dirty="0">
                <a:ln>
                  <a:noFill/>
                </a:ln>
                <a:solidFill>
                  <a:srgbClr val="1D1D1B"/>
                </a:solidFill>
                <a:effectLst/>
                <a:uLnTx/>
                <a:uFillTx/>
                <a:latin typeface="Microsoft YaHei"/>
                <a:ea typeface="Microsoft YaHei"/>
                <a:cs typeface="Microsoft YaHei"/>
              </a:rPr>
              <a:t>每 token </a:t>
            </a:r>
            <a:r>
              <a:rPr kumimoji="0" sz="1163" b="0" i="0" u="none" strike="noStrike" kern="1200" cap="none" spc="0" normalizeH="0" baseline="0" noProof="0" dirty="0" err="1">
                <a:ln>
                  <a:noFill/>
                </a:ln>
                <a:solidFill>
                  <a:srgbClr val="1D1D1B"/>
                </a:solidFill>
                <a:effectLst/>
                <a:uLnTx/>
                <a:uFillTx/>
                <a:latin typeface="Microsoft YaHei"/>
                <a:ea typeface="Microsoft YaHei"/>
                <a:cs typeface="Microsoft YaHei"/>
              </a:rPr>
              <a:t>逻辑载荷相当</a:t>
            </a:r>
            <a:endParaRPr kumimoji="0" sz="1163" b="0" i="0" u="none" strike="noStrike" kern="1200" cap="none" spc="0" normalizeH="0" baseline="0" noProof="0" dirty="0">
              <a:ln>
                <a:noFill/>
              </a:ln>
              <a:solidFill>
                <a:srgbClr val="1D1D1B"/>
              </a:solidFill>
              <a:effectLst/>
              <a:uLnTx/>
              <a:uFillTx/>
              <a:latin typeface="Microsoft YaHei"/>
              <a:ea typeface="Microsoft YaHei"/>
              <a:cs typeface="Microsoft YaHei"/>
            </a:endParaRP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dirty="0" err="1">
                <a:ln>
                  <a:noFill/>
                </a:ln>
                <a:solidFill>
                  <a:srgbClr val="1D1D1B"/>
                </a:solidFill>
                <a:effectLst/>
                <a:uLnTx/>
                <a:uFillTx/>
                <a:latin typeface="Microsoft YaHei"/>
                <a:ea typeface="Microsoft YaHei"/>
                <a:cs typeface="Microsoft YaHei"/>
              </a:rPr>
              <a:t>调度</a:t>
            </a:r>
            <a:r>
              <a:rPr kumimoji="0" sz="1163" b="0" i="0" u="none" strike="noStrike" kern="1200" cap="none" spc="0" normalizeH="0" baseline="0" noProof="0" dirty="0">
                <a:ln>
                  <a:noFill/>
                </a:ln>
                <a:solidFill>
                  <a:srgbClr val="1D1D1B"/>
                </a:solidFill>
                <a:effectLst/>
                <a:uLnTx/>
                <a:uFillTx/>
                <a:latin typeface="Microsoft YaHei"/>
                <a:ea typeface="Microsoft YaHei"/>
                <a:cs typeface="Microsoft YaHei"/>
              </a:rPr>
              <a:t>/</a:t>
            </a:r>
            <a:r>
              <a:rPr kumimoji="0" sz="1163" b="0" i="0" u="none" strike="noStrike" kern="1200" cap="none" spc="0" normalizeH="0" baseline="0" noProof="0" dirty="0" err="1">
                <a:ln>
                  <a:noFill/>
                </a:ln>
                <a:solidFill>
                  <a:srgbClr val="1D1D1B"/>
                </a:solidFill>
                <a:effectLst/>
                <a:uLnTx/>
                <a:uFillTx/>
                <a:latin typeface="Microsoft YaHei"/>
                <a:ea typeface="Microsoft YaHei"/>
                <a:cs typeface="Microsoft YaHei"/>
              </a:rPr>
              <a:t>协调开销仍增加</a:t>
            </a:r>
            <a:endParaRPr kumimoji="0" sz="1163" b="0" i="0" u="none" strike="noStrike" kern="1200" cap="none" spc="0" normalizeH="0" baseline="0" noProof="0" dirty="0">
              <a:ln>
                <a:noFill/>
              </a:ln>
              <a:solidFill>
                <a:srgbClr val="1D1D1B"/>
              </a:solidFill>
              <a:effectLst/>
              <a:uLnTx/>
              <a:uFillTx/>
              <a:latin typeface="Microsoft YaHei"/>
              <a:ea typeface="Microsoft YaHei"/>
              <a:cs typeface="Microsoft YaHei"/>
            </a:endParaRPr>
          </a:p>
        </p:txBody>
      </p:sp>
      <p:sp>
        <p:nvSpPr>
          <p:cNvPr id="704" name="CausalDiagram_5">
            <a:extLst>
              <a:ext uri="{FF2B5EF4-FFF2-40B4-BE49-F238E27FC236}">
                <a16:creationId xmlns:a16="http://schemas.microsoft.com/office/drawing/2014/main" id="{46A5A5B2-D48C-447D-93E7-7FB3555CE5C9}"/>
              </a:ext>
            </a:extLst>
          </p:cNvPr>
          <p:cNvSpPr>
            <a:spLocks noGrp="1"/>
          </p:cNvSpPr>
          <p:nvPr/>
        </p:nvSpPr>
        <p:spPr>
          <a:xfrm>
            <a:off x="4743450" y="5753100"/>
            <a:ext cx="1914525" cy="438150"/>
          </a:xfrm>
          <a:prstGeom prst="rect">
            <a:avLst/>
          </a:prstGeom>
          <a:solidFill>
            <a:srgbClr val="F0F0F0"/>
          </a:solidFill>
          <a:ln w="7620">
            <a:solidFill>
              <a:srgbClr val="9C9C9C"/>
            </a:solidFill>
          </a:ln>
        </p:spPr>
        <p:txBody>
          <a:bodyPr wrap="none" lIns="57150" tIns="57150" rIns="57150" bIns="57150" anchor="ctr">
            <a:noAutofit/>
          </a:bodyPr>
          <a:lstStyle>
            <a:defPPr algn="l">
              <a:defRPr sz="1163">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中间维度 2048→3072</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共享专家 1→2</a:t>
            </a:r>
          </a:p>
        </p:txBody>
      </p:sp>
      <p:sp>
        <p:nvSpPr>
          <p:cNvPr id="705" name="CausalDiagram_6">
            <a:extLst>
              <a:ext uri="{FF2B5EF4-FFF2-40B4-BE49-F238E27FC236}">
                <a16:creationId xmlns:a16="http://schemas.microsoft.com/office/drawing/2014/main" id="{64AD24DD-4D4E-4C31-8103-1DC6DE2593A4}"/>
              </a:ext>
            </a:extLst>
          </p:cNvPr>
          <p:cNvSpPr>
            <a:spLocks noGrp="1"/>
          </p:cNvSpPr>
          <p:nvPr/>
        </p:nvSpPr>
        <p:spPr>
          <a:xfrm>
            <a:off x="6886575" y="5753100"/>
            <a:ext cx="2095500" cy="438150"/>
          </a:xfrm>
          <a:prstGeom prst="rect">
            <a:avLst/>
          </a:prstGeom>
          <a:solidFill>
            <a:srgbClr val="F0F0F0"/>
          </a:solidFill>
          <a:ln w="7620">
            <a:solidFill>
              <a:srgbClr val="9C9C9C"/>
            </a:solidFill>
          </a:ln>
        </p:spPr>
        <p:txBody>
          <a:bodyPr wrap="none" lIns="57150" tIns="57150" rIns="57150" bIns="57150" anchor="ctr">
            <a:noAutofit/>
          </a:bodyPr>
          <a:lstStyle>
            <a:defPPr algn="l">
              <a:defRPr sz="1163">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路由 ×1.5，共享 ×3</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含投影/Router：总计 ×1.8</a:t>
            </a:r>
          </a:p>
        </p:txBody>
      </p:sp>
      <p:sp>
        <p:nvSpPr>
          <p:cNvPr id="706" name="CausalDiagram_7">
            <a:extLst>
              <a:ext uri="{FF2B5EF4-FFF2-40B4-BE49-F238E27FC236}">
                <a16:creationId xmlns:a16="http://schemas.microsoft.com/office/drawing/2014/main" id="{17422B63-71AF-4FA6-94C8-9CE1425F983C}"/>
              </a:ext>
            </a:extLst>
          </p:cNvPr>
          <p:cNvSpPr>
            <a:spLocks noGrp="1"/>
          </p:cNvSpPr>
          <p:nvPr/>
        </p:nvSpPr>
        <p:spPr>
          <a:xfrm>
            <a:off x="9210675" y="5038725"/>
            <a:ext cx="2247900" cy="1152525"/>
          </a:xfrm>
          <a:prstGeom prst="rect">
            <a:avLst/>
          </a:prstGeom>
          <a:solidFill>
            <a:srgbClr val="FFF2F2"/>
          </a:solidFill>
          <a:ln w="7620">
            <a:solidFill>
              <a:srgbClr val="C7000B"/>
            </a:solidFill>
          </a:ln>
        </p:spPr>
        <p:txBody>
          <a:bodyPr wrap="none" lIns="57150" tIns="57150" rIns="57150" bIns="57150" anchor="ctr">
            <a:noAutofit/>
          </a:bodyPr>
          <a:lstStyle>
            <a:defPPr algn="l">
              <a:defRPr sz="1163">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推理侧融合与重叠</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下投影 + Router 合并 GEMM</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分片投影 + all-gather 融合</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通信与共享专家计算重叠</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减少重复搬运与串行等待</a:t>
            </a:r>
          </a:p>
        </p:txBody>
      </p:sp>
      <p:sp>
        <p:nvSpPr>
          <p:cNvPr id="707" name="CausalDiagram_8">
            <a:extLst>
              <a:ext uri="{FF2B5EF4-FFF2-40B4-BE49-F238E27FC236}">
                <a16:creationId xmlns:a16="http://schemas.microsoft.com/office/drawing/2014/main" id="{A4DC099C-4CB2-4FB8-8D10-4086B2DEB33F}"/>
              </a:ext>
            </a:extLst>
          </p:cNvPr>
          <p:cNvSpPr>
            <a:spLocks noGrp="1"/>
          </p:cNvSpPr>
          <p:nvPr/>
        </p:nvSpPr>
        <p:spPr>
          <a:xfrm>
            <a:off x="6677025" y="5286375"/>
            <a:ext cx="190500" cy="114300"/>
          </a:xfrm>
          <a:prstGeom prst="rightArrow">
            <a:avLst/>
          </a:prstGeom>
          <a:solidFill>
            <a:srgbClr val="777777"/>
          </a:solidFill>
          <a:ln w="0">
            <a:noFill/>
          </a:ln>
        </p:spPr>
      </p:sp>
      <p:sp>
        <p:nvSpPr>
          <p:cNvPr id="708" name="CausalDiagram_9">
            <a:extLst>
              <a:ext uri="{FF2B5EF4-FFF2-40B4-BE49-F238E27FC236}">
                <a16:creationId xmlns:a16="http://schemas.microsoft.com/office/drawing/2014/main" id="{5AD1012F-CC43-4A8E-BC0A-BB5FC4E744E8}"/>
              </a:ext>
            </a:extLst>
          </p:cNvPr>
          <p:cNvSpPr>
            <a:spLocks noGrp="1"/>
          </p:cNvSpPr>
          <p:nvPr/>
        </p:nvSpPr>
        <p:spPr>
          <a:xfrm>
            <a:off x="9001125" y="5286375"/>
            <a:ext cx="190500" cy="114300"/>
          </a:xfrm>
          <a:prstGeom prst="rightArrow">
            <a:avLst/>
          </a:prstGeom>
          <a:solidFill>
            <a:srgbClr val="777777"/>
          </a:solidFill>
          <a:ln w="0">
            <a:noFill/>
          </a:ln>
        </p:spPr>
      </p:sp>
      <p:sp>
        <p:nvSpPr>
          <p:cNvPr id="709" name="CausalDiagram_10">
            <a:extLst>
              <a:ext uri="{FF2B5EF4-FFF2-40B4-BE49-F238E27FC236}">
                <a16:creationId xmlns:a16="http://schemas.microsoft.com/office/drawing/2014/main" id="{1A387E12-5C6B-4468-9B71-D8263B50167C}"/>
              </a:ext>
            </a:extLst>
          </p:cNvPr>
          <p:cNvSpPr>
            <a:spLocks noGrp="1"/>
          </p:cNvSpPr>
          <p:nvPr/>
        </p:nvSpPr>
        <p:spPr>
          <a:xfrm>
            <a:off x="6677025" y="5915025"/>
            <a:ext cx="190500" cy="114300"/>
          </a:xfrm>
          <a:prstGeom prst="rightArrow">
            <a:avLst/>
          </a:prstGeom>
          <a:solidFill>
            <a:srgbClr val="777777"/>
          </a:solidFill>
          <a:ln w="0">
            <a:noFill/>
          </a:ln>
        </p:spPr>
      </p:sp>
      <p:sp>
        <p:nvSpPr>
          <p:cNvPr id="710" name="CausalDiagram_11">
            <a:extLst>
              <a:ext uri="{FF2B5EF4-FFF2-40B4-BE49-F238E27FC236}">
                <a16:creationId xmlns:a16="http://schemas.microsoft.com/office/drawing/2014/main" id="{87C3CD47-FE41-47A0-AFEE-756B56ED9AFE}"/>
              </a:ext>
            </a:extLst>
          </p:cNvPr>
          <p:cNvSpPr>
            <a:spLocks noGrp="1"/>
          </p:cNvSpPr>
          <p:nvPr/>
        </p:nvSpPr>
        <p:spPr>
          <a:xfrm>
            <a:off x="9001125" y="5915025"/>
            <a:ext cx="190500" cy="114300"/>
          </a:xfrm>
          <a:prstGeom prst="rightArrow">
            <a:avLst/>
          </a:prstGeom>
          <a:solidFill>
            <a:srgbClr val="777777"/>
          </a:solidFill>
          <a:ln w="0">
            <a:noFill/>
          </a:ln>
        </p:spPr>
      </p:sp>
      <p:sp>
        <p:nvSpPr>
          <p:cNvPr id="711" name="CausalDiagram_12">
            <a:extLst>
              <a:ext uri="{FF2B5EF4-FFF2-40B4-BE49-F238E27FC236}">
                <a16:creationId xmlns:a16="http://schemas.microsoft.com/office/drawing/2014/main" id="{F6CC7B5B-9FC4-401E-A58F-F93CFF4829D5}"/>
              </a:ext>
            </a:extLst>
          </p:cNvPr>
          <p:cNvSpPr>
            <a:spLocks noGrp="1"/>
          </p:cNvSpPr>
          <p:nvPr/>
        </p:nvSpPr>
        <p:spPr>
          <a:xfrm>
            <a:off x="4743450" y="6238875"/>
            <a:ext cx="6715125" cy="171450"/>
          </a:xfrm>
          <a:prstGeom prst="rect">
            <a:avLst/>
          </a:prstGeom>
          <a:noFill/>
          <a:ln w="0">
            <a:noFill/>
          </a:ln>
        </p:spPr>
        <p:txBody>
          <a:bodyPr wrap="none" lIns="0" tIns="0" rIns="0" bIns="0">
            <a:noAutofit/>
          </a:bodyPr>
          <a:lstStyle>
            <a:defPPr>
              <a:defRPr sz="1013" b="0">
                <a:solidFill>
                  <a:srgbClr val="666666"/>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013" b="0">
                <a:solidFill>
                  <a:srgbClr val="666666"/>
                </a:solidFill>
                <a:latin typeface="Microsoft YaHei"/>
                <a:ea typeface="Microsoft YaHei"/>
                <a:cs typeface="Microsoft YaHei"/>
              </a:defRPr>
            </a:pPr>
            <a:r>
              <a:rPr kumimoji="0" sz="1013" b="0" i="0" u="none" strike="noStrike" kern="1200" cap="none" spc="0" normalizeH="0" baseline="0" noProof="0">
                <a:ln>
                  <a:noFill/>
                </a:ln>
                <a:solidFill>
                  <a:srgbClr val="666666"/>
                </a:solidFill>
                <a:effectLst/>
                <a:uLnTx/>
                <a:uFillTx/>
                <a:latin typeface="Microsoft YaHei"/>
                <a:ea typeface="Microsoft YaHei"/>
                <a:cs typeface="Microsoft YaHei"/>
              </a:rPr>
              <a:t>载荷：BF16 派发+回传 224 KiB/token/层；非实测链路流量；FLOPs ≠ 时延</a:t>
            </a:r>
          </a:p>
        </p:txBody>
      </p:sp>
      <p:sp>
        <p:nvSpPr>
          <p:cNvPr id="44" name="文本框 43">
            <a:extLst>
              <a:ext uri="{FF2B5EF4-FFF2-40B4-BE49-F238E27FC236}">
                <a16:creationId xmlns:a16="http://schemas.microsoft.com/office/drawing/2014/main" id="{497B4943-B2F2-4711-8D85-A3F2B4C15FD8}"/>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宋泽宇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00886374</a:t>
            </a:r>
          </a:p>
        </p:txBody>
      </p:sp>
    </p:spTree>
    <p:extLst>
      <p:ext uri="{BB962C8B-B14F-4D97-AF65-F5344CB8AC3E}">
        <p14:creationId xmlns:p14="http://schemas.microsoft.com/office/powerpoint/2010/main" val="250755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a:extLst>
              <a:ext uri="{FF2B5EF4-FFF2-40B4-BE49-F238E27FC236}">
                <a16:creationId xmlns:a16="http://schemas.microsoft.com/office/drawing/2014/main" id="{C1B5BBFC-E8CC-412B-945F-AAF601CC5245}"/>
              </a:ext>
            </a:extLst>
          </p:cNvPr>
          <p:cNvSpPr>
            <a:spLocks noGrp="1"/>
          </p:cNvSpPr>
          <p:nvPr/>
        </p:nvSpPr>
        <p:spPr>
          <a:xfrm>
            <a:off x="733425" y="342900"/>
            <a:ext cx="10725150" cy="447675"/>
          </a:xfrm>
          <a:prstGeom prst="rect">
            <a:avLst/>
          </a:prstGeom>
          <a:noFill/>
          <a:ln w="0">
            <a:noFill/>
          </a:ln>
        </p:spPr>
        <p:txBody>
          <a:bodyPr wrap="none" lIns="0" tIns="0" rIns="0" bIns="0">
            <a:noAutofit/>
          </a:bodyPr>
          <a:lstStyle>
            <a:defPPr>
              <a:defRPr sz="2250"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C7000B"/>
                </a:solidFill>
                <a:latin typeface="Microsoft YaHei"/>
                <a:ea typeface="Microsoft YaHei"/>
                <a:cs typeface="Microsoft YaHei"/>
              </a:defRPr>
            </a:pPr>
            <a:r>
              <a:rPr kumimoji="0" sz="2250" b="1" i="0" u="none" strike="noStrike" kern="1200" cap="none" spc="0" normalizeH="0" baseline="0" noProof="0">
                <a:ln>
                  <a:noFill/>
                </a:ln>
                <a:solidFill>
                  <a:srgbClr val="C7000B"/>
                </a:solidFill>
                <a:effectLst/>
                <a:uLnTx/>
                <a:uFillTx/>
                <a:latin typeface="Microsoft YaHei"/>
                <a:ea typeface="Microsoft YaHei"/>
                <a:cs typeface="Microsoft YaHei"/>
              </a:rPr>
              <a:t>Stable LatentMoE（2/4）：宽度设计与稳定性的协同</a:t>
            </a:r>
          </a:p>
        </p:txBody>
      </p:sp>
      <p:sp>
        <p:nvSpPr>
          <p:cNvPr id="2" name="矩形 1">
            <a:extLst>
              <a:ext uri="{FF2B5EF4-FFF2-40B4-BE49-F238E27FC236}">
                <a16:creationId xmlns:a16="http://schemas.microsoft.com/office/drawing/2014/main" id="{3321A005-2F94-4429-83AF-377513A11D28}"/>
              </a:ext>
            </a:extLst>
          </p:cNvPr>
          <p:cNvSpPr>
            <a:spLocks noGrp="1"/>
          </p:cNvSpPr>
          <p:nvPr/>
        </p:nvSpPr>
        <p:spPr>
          <a:xfrm>
            <a:off x="733425" y="1028700"/>
            <a:ext cx="10725150" cy="561975"/>
          </a:xfrm>
          <a:prstGeom prst="rect">
            <a:avLst/>
          </a:prstGeom>
          <a:solidFill>
            <a:srgbClr val="F0F0F0"/>
          </a:solidFill>
          <a:ln w="9525">
            <a:solidFill>
              <a:srgbClr val="A0A0A0"/>
            </a:solidFill>
          </a:ln>
        </p:spPr>
      </p:sp>
      <p:sp>
        <p:nvSpPr>
          <p:cNvPr id="3" name="矩形 2">
            <a:extLst>
              <a:ext uri="{FF2B5EF4-FFF2-40B4-BE49-F238E27FC236}">
                <a16:creationId xmlns:a16="http://schemas.microsoft.com/office/drawing/2014/main" id="{FE3FD0A1-DB64-43BF-8D6C-4B520A55815F}"/>
              </a:ext>
            </a:extLst>
          </p:cNvPr>
          <p:cNvSpPr>
            <a:spLocks noGrp="1"/>
          </p:cNvSpPr>
          <p:nvPr/>
        </p:nvSpPr>
        <p:spPr>
          <a:xfrm>
            <a:off x="866775" y="1143000"/>
            <a:ext cx="10458450" cy="371475"/>
          </a:xfrm>
          <a:prstGeom prst="rect">
            <a:avLst/>
          </a:prstGeom>
          <a:noFill/>
          <a:ln w="0">
            <a:noFill/>
          </a:ln>
        </p:spPr>
        <p:txBody>
          <a:bodyPr wrap="none" lIns="0" tIns="0" rIns="0" bIns="0">
            <a:noAutofit/>
          </a:bodyPr>
          <a:lstStyle>
            <a:defPPr>
              <a:defRPr sz="1725"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D1D1B"/>
                </a:solidFill>
                <a:latin typeface="Microsoft YaHei"/>
                <a:ea typeface="Microsoft YaHei"/>
                <a:cs typeface="Microsoft YaHei"/>
              </a:defRPr>
            </a:pPr>
            <a:r>
              <a:rPr kumimoji="0" sz="1725" b="0" i="0" u="none" strike="noStrike" kern="1200" cap="none" spc="0" normalizeH="0" baseline="0" noProof="0">
                <a:ln>
                  <a:noFill/>
                </a:ln>
                <a:solidFill>
                  <a:srgbClr val="1D1D1B"/>
                </a:solidFill>
                <a:effectLst/>
                <a:uLnTx/>
                <a:uFillTx/>
                <a:latin typeface="Microsoft YaHei"/>
                <a:ea typeface="Microsoft YaHei"/>
                <a:cs typeface="Microsoft YaHei"/>
              </a:rPr>
              <a:t>扩容目标：扩大专家池与 TopK，增加容量及专家特化空间</a:t>
            </a:r>
          </a:p>
        </p:txBody>
      </p:sp>
      <p:sp>
        <p:nvSpPr>
          <p:cNvPr id="4" name="矩形 3">
            <a:extLst>
              <a:ext uri="{FF2B5EF4-FFF2-40B4-BE49-F238E27FC236}">
                <a16:creationId xmlns:a16="http://schemas.microsoft.com/office/drawing/2014/main" id="{055804C3-5826-4540-92FD-07A14E541C0D}"/>
              </a:ext>
            </a:extLst>
          </p:cNvPr>
          <p:cNvSpPr>
            <a:spLocks noGrp="1"/>
          </p:cNvSpPr>
          <p:nvPr/>
        </p:nvSpPr>
        <p:spPr>
          <a:xfrm>
            <a:off x="733425" y="1838325"/>
            <a:ext cx="3571875" cy="276225"/>
          </a:xfrm>
          <a:prstGeom prst="rect">
            <a:avLst/>
          </a:prstGeom>
          <a:noFill/>
          <a:ln w="0">
            <a:noFill/>
          </a:ln>
        </p:spPr>
        <p:txBody>
          <a:bodyPr wrap="none" lIns="0" tIns="0" rIns="0" bIns="0">
            <a:noAutofit/>
          </a:bodyPr>
          <a:lstStyle>
            <a:defPPr>
              <a:defRPr sz="1575" b="1">
                <a:solidFill>
                  <a:srgbClr val="666666"/>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575" b="1">
                <a:solidFill>
                  <a:srgbClr val="666666"/>
                </a:solidFill>
                <a:latin typeface="Microsoft YaHei"/>
                <a:ea typeface="Microsoft YaHei"/>
                <a:cs typeface="Microsoft YaHei"/>
              </a:defRPr>
            </a:pPr>
            <a:r>
              <a:rPr kumimoji="0" sz="1575" b="1" i="0" u="none" strike="noStrike" kern="1200" cap="none" spc="0" normalizeH="0" baseline="0" noProof="0">
                <a:ln>
                  <a:noFill/>
                </a:ln>
                <a:solidFill>
                  <a:srgbClr val="666666"/>
                </a:solidFill>
                <a:effectLst/>
                <a:uLnTx/>
                <a:uFillTx/>
                <a:latin typeface="Microsoft YaHei"/>
                <a:ea typeface="Microsoft YaHei"/>
                <a:cs typeface="Microsoft YaHei"/>
              </a:rPr>
              <a:t>扩容后的挑战</a:t>
            </a:r>
          </a:p>
        </p:txBody>
      </p:sp>
      <p:sp>
        <p:nvSpPr>
          <p:cNvPr id="5" name="矩形 4">
            <a:extLst>
              <a:ext uri="{FF2B5EF4-FFF2-40B4-BE49-F238E27FC236}">
                <a16:creationId xmlns:a16="http://schemas.microsoft.com/office/drawing/2014/main" id="{C96A10E6-55A7-48A3-B2BF-C45989AF1010}"/>
              </a:ext>
            </a:extLst>
          </p:cNvPr>
          <p:cNvSpPr>
            <a:spLocks noGrp="1"/>
          </p:cNvSpPr>
          <p:nvPr/>
        </p:nvSpPr>
        <p:spPr>
          <a:xfrm>
            <a:off x="4857750" y="1838325"/>
            <a:ext cx="6600825" cy="276225"/>
          </a:xfrm>
          <a:prstGeom prst="rect">
            <a:avLst/>
          </a:prstGeom>
          <a:noFill/>
          <a:ln w="0">
            <a:noFill/>
          </a:ln>
        </p:spPr>
        <p:txBody>
          <a:bodyPr wrap="none" lIns="0" tIns="0" rIns="0" bIns="0">
            <a:noAutofit/>
          </a:bodyPr>
          <a:lstStyle>
            <a:defPPr>
              <a:defRPr sz="1575"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575" b="1">
                <a:solidFill>
                  <a:srgbClr val="C7000B"/>
                </a:solidFill>
                <a:latin typeface="Microsoft YaHei"/>
                <a:ea typeface="Microsoft YaHei"/>
                <a:cs typeface="Microsoft YaHei"/>
              </a:defRPr>
            </a:pPr>
            <a:r>
              <a:rPr kumimoji="0" sz="1575" b="1" i="0" u="none" strike="noStrike" kern="1200" cap="none" spc="0" normalizeH="0" baseline="0" noProof="0">
                <a:ln>
                  <a:noFill/>
                </a:ln>
                <a:solidFill>
                  <a:srgbClr val="C7000B"/>
                </a:solidFill>
                <a:effectLst/>
                <a:uLnTx/>
                <a:uFillTx/>
                <a:latin typeface="Microsoft YaHei"/>
                <a:ea typeface="Microsoft YaHei"/>
                <a:cs typeface="Microsoft YaHei"/>
              </a:rPr>
              <a:t>对应设计</a:t>
            </a:r>
          </a:p>
        </p:txBody>
      </p:sp>
      <p:sp>
        <p:nvSpPr>
          <p:cNvPr id="6" name="矩形 5">
            <a:extLst>
              <a:ext uri="{FF2B5EF4-FFF2-40B4-BE49-F238E27FC236}">
                <a16:creationId xmlns:a16="http://schemas.microsoft.com/office/drawing/2014/main" id="{CD03B8A0-E9A4-44C3-9407-F6A259635743}"/>
              </a:ext>
            </a:extLst>
          </p:cNvPr>
          <p:cNvSpPr>
            <a:spLocks noGrp="1"/>
          </p:cNvSpPr>
          <p:nvPr/>
        </p:nvSpPr>
        <p:spPr>
          <a:xfrm>
            <a:off x="733425" y="2143125"/>
            <a:ext cx="3571875" cy="742950"/>
          </a:xfrm>
          <a:prstGeom prst="rect">
            <a:avLst/>
          </a:prstGeom>
          <a:solidFill>
            <a:srgbClr val="F0F0F0"/>
          </a:solidFill>
          <a:ln w="9525">
            <a:solidFill>
              <a:srgbClr val="A0A0A0"/>
            </a:solidFill>
          </a:ln>
        </p:spPr>
      </p:sp>
      <p:sp>
        <p:nvSpPr>
          <p:cNvPr id="7" name="矩形 6">
            <a:extLst>
              <a:ext uri="{FF2B5EF4-FFF2-40B4-BE49-F238E27FC236}">
                <a16:creationId xmlns:a16="http://schemas.microsoft.com/office/drawing/2014/main" id="{884AAA27-4C5D-4893-88BC-C1BACC7257AD}"/>
              </a:ext>
            </a:extLst>
          </p:cNvPr>
          <p:cNvSpPr>
            <a:spLocks noGrp="1"/>
          </p:cNvSpPr>
          <p:nvPr/>
        </p:nvSpPr>
        <p:spPr>
          <a:xfrm>
            <a:off x="866775" y="2257425"/>
            <a:ext cx="3305175" cy="552450"/>
          </a:xfrm>
          <a:prstGeom prst="rect">
            <a:avLst/>
          </a:prstGeom>
          <a:noFill/>
          <a:ln w="0">
            <a:noFill/>
          </a:ln>
        </p:spPr>
        <p:txBody>
          <a:bodyPr wrap="none" lIns="0" tIns="0" rIns="0" bIns="0">
            <a:noAutofit/>
          </a:bodyPr>
          <a:lstStyle>
            <a:defPPr>
              <a:defRPr sz="1500"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1D1D1B"/>
                </a:solidFill>
                <a:latin typeface="Microsoft YaHei"/>
                <a:ea typeface="Microsoft YaHei"/>
                <a:cs typeface="Microsoft YaHei"/>
              </a:defRPr>
            </a:pPr>
            <a:r>
              <a:rPr kumimoji="0" sz="1500" b="0" i="0" u="none" strike="noStrike" kern="1200" cap="none" spc="0" normalizeH="0" baseline="0" noProof="0">
                <a:ln>
                  <a:noFill/>
                </a:ln>
                <a:solidFill>
                  <a:srgbClr val="1D1D1B"/>
                </a:solidFill>
                <a:effectLst/>
                <a:uLnTx/>
                <a:uFillTx/>
                <a:latin typeface="Microsoft YaHei"/>
                <a:ea typeface="Microsoft YaHei"/>
                <a:cs typeface="Microsoft YaHei"/>
              </a:rPr>
              <a:t>成本压力</a:t>
            </a:r>
          </a:p>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1D1D1B"/>
                </a:solidFill>
                <a:latin typeface="Microsoft YaHei"/>
                <a:ea typeface="Microsoft YaHei"/>
                <a:cs typeface="Microsoft YaHei"/>
              </a:defRPr>
            </a:pPr>
            <a:r>
              <a:rPr kumimoji="0" sz="1500" b="0" i="0" u="none" strike="noStrike" kern="1200" cap="none" spc="0" normalizeH="0" baseline="0" noProof="0">
                <a:ln>
                  <a:noFill/>
                </a:ln>
                <a:solidFill>
                  <a:srgbClr val="1D1D1B"/>
                </a:solidFill>
                <a:effectLst/>
                <a:uLnTx/>
                <a:uFillTx/>
                <a:latin typeface="Microsoft YaHei"/>
                <a:ea typeface="Microsoft YaHei"/>
                <a:cs typeface="Microsoft YaHei"/>
              </a:rPr>
              <a:t>更多专家权重与激活分发</a:t>
            </a:r>
          </a:p>
        </p:txBody>
      </p:sp>
      <p:sp>
        <p:nvSpPr>
          <p:cNvPr id="8" name="箭头: 右 7">
            <a:extLst>
              <a:ext uri="{FF2B5EF4-FFF2-40B4-BE49-F238E27FC236}">
                <a16:creationId xmlns:a16="http://schemas.microsoft.com/office/drawing/2014/main" id="{670CE857-66D1-48B3-9101-2758504D7E9C}"/>
              </a:ext>
            </a:extLst>
          </p:cNvPr>
          <p:cNvSpPr>
            <a:spLocks noGrp="1"/>
          </p:cNvSpPr>
          <p:nvPr/>
        </p:nvSpPr>
        <p:spPr>
          <a:xfrm>
            <a:off x="4457700" y="2447925"/>
            <a:ext cx="247650" cy="133350"/>
          </a:xfrm>
          <a:prstGeom prst="rightArrow">
            <a:avLst/>
          </a:prstGeom>
          <a:solidFill>
            <a:srgbClr val="777777"/>
          </a:solidFill>
          <a:ln w="0">
            <a:noFill/>
          </a:ln>
        </p:spPr>
      </p:sp>
      <p:sp>
        <p:nvSpPr>
          <p:cNvPr id="9" name="矩形 8">
            <a:extLst>
              <a:ext uri="{FF2B5EF4-FFF2-40B4-BE49-F238E27FC236}">
                <a16:creationId xmlns:a16="http://schemas.microsoft.com/office/drawing/2014/main" id="{0D8AC68B-2592-4F5B-A925-055E965DA8B1}"/>
              </a:ext>
            </a:extLst>
          </p:cNvPr>
          <p:cNvSpPr>
            <a:spLocks noGrp="1"/>
          </p:cNvSpPr>
          <p:nvPr/>
        </p:nvSpPr>
        <p:spPr>
          <a:xfrm>
            <a:off x="4857750" y="2143125"/>
            <a:ext cx="6600825" cy="742950"/>
          </a:xfrm>
          <a:prstGeom prst="rect">
            <a:avLst/>
          </a:prstGeom>
          <a:solidFill>
            <a:srgbClr val="FFF2F2"/>
          </a:solidFill>
          <a:ln w="9525">
            <a:solidFill>
              <a:srgbClr val="C7000B"/>
            </a:solidFill>
          </a:ln>
        </p:spPr>
      </p:sp>
      <p:sp>
        <p:nvSpPr>
          <p:cNvPr id="10" name="矩形 9">
            <a:extLst>
              <a:ext uri="{FF2B5EF4-FFF2-40B4-BE49-F238E27FC236}">
                <a16:creationId xmlns:a16="http://schemas.microsoft.com/office/drawing/2014/main" id="{E4D44578-9E70-451E-9AFA-08FCA00D5190}"/>
              </a:ext>
            </a:extLst>
          </p:cNvPr>
          <p:cNvSpPr>
            <a:spLocks noGrp="1"/>
          </p:cNvSpPr>
          <p:nvPr/>
        </p:nvSpPr>
        <p:spPr>
          <a:xfrm>
            <a:off x="4991100" y="2257425"/>
            <a:ext cx="6334125" cy="552450"/>
          </a:xfrm>
          <a:prstGeom prst="rect">
            <a:avLst/>
          </a:prstGeom>
          <a:noFill/>
          <a:ln w="0">
            <a:noFill/>
          </a:ln>
        </p:spPr>
        <p:txBody>
          <a:bodyPr wrap="none" lIns="0" tIns="0" rIns="0" bIns="0">
            <a:noAutofit/>
          </a:bodyPr>
          <a:lstStyle>
            <a:defPPr>
              <a:defRPr sz="1500"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C7000B"/>
                </a:solidFill>
                <a:latin typeface="Microsoft YaHei"/>
                <a:ea typeface="Microsoft YaHei"/>
                <a:cs typeface="Microsoft YaHei"/>
              </a:defRPr>
            </a:pPr>
            <a:r>
              <a:rPr kumimoji="0" sz="1500" b="1" i="0" u="none" strike="noStrike" kern="1200" cap="none" spc="0" normalizeH="0" baseline="0" noProof="0">
                <a:ln>
                  <a:noFill/>
                </a:ln>
                <a:solidFill>
                  <a:srgbClr val="C7000B"/>
                </a:solidFill>
                <a:effectLst/>
                <a:uLnTx/>
                <a:uFillTx/>
                <a:latin typeface="Microsoft YaHei"/>
                <a:ea typeface="Microsoft YaHei"/>
                <a:cs typeface="Microsoft YaHei"/>
              </a:rPr>
              <a:t>半宽 latent 专家控制权重、GEMM 与派发 / 回传成本</a:t>
            </a:r>
          </a:p>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C7000B"/>
                </a:solidFill>
                <a:latin typeface="Microsoft YaHei"/>
                <a:ea typeface="Microsoft YaHei"/>
                <a:cs typeface="Microsoft YaHei"/>
              </a:defRPr>
            </a:pPr>
            <a:r>
              <a:rPr kumimoji="0" sz="1500" b="1" i="0" u="none" strike="noStrike" kern="1200" cap="none" spc="0" normalizeH="0" baseline="0" noProof="0">
                <a:ln>
                  <a:noFill/>
                </a:ln>
                <a:solidFill>
                  <a:srgbClr val="C7000B"/>
                </a:solidFill>
                <a:effectLst/>
                <a:uLnTx/>
                <a:uFillTx/>
                <a:latin typeface="Microsoft YaHei"/>
                <a:ea typeface="Microsoft YaHei"/>
                <a:cs typeface="Microsoft YaHei"/>
              </a:rPr>
              <a:t>同配置全宽基准下比较，共享专家保留全宽通路</a:t>
            </a:r>
          </a:p>
        </p:txBody>
      </p:sp>
      <p:sp>
        <p:nvSpPr>
          <p:cNvPr id="11" name="矩形 10">
            <a:extLst>
              <a:ext uri="{FF2B5EF4-FFF2-40B4-BE49-F238E27FC236}">
                <a16:creationId xmlns:a16="http://schemas.microsoft.com/office/drawing/2014/main" id="{0715B3AF-610E-49FA-A9C8-D05E4B8B3CE0}"/>
              </a:ext>
            </a:extLst>
          </p:cNvPr>
          <p:cNvSpPr>
            <a:spLocks noGrp="1"/>
          </p:cNvSpPr>
          <p:nvPr/>
        </p:nvSpPr>
        <p:spPr>
          <a:xfrm>
            <a:off x="733425" y="3067050"/>
            <a:ext cx="3571875" cy="781050"/>
          </a:xfrm>
          <a:prstGeom prst="rect">
            <a:avLst/>
          </a:prstGeom>
          <a:solidFill>
            <a:srgbClr val="F0F0F0"/>
          </a:solidFill>
          <a:ln w="9525">
            <a:solidFill>
              <a:srgbClr val="A0A0A0"/>
            </a:solidFill>
          </a:ln>
        </p:spPr>
      </p:sp>
      <p:sp>
        <p:nvSpPr>
          <p:cNvPr id="12" name="矩形 11">
            <a:extLst>
              <a:ext uri="{FF2B5EF4-FFF2-40B4-BE49-F238E27FC236}">
                <a16:creationId xmlns:a16="http://schemas.microsoft.com/office/drawing/2014/main" id="{C48B1F89-C46D-4929-8F15-EFDB611FEB54}"/>
              </a:ext>
            </a:extLst>
          </p:cNvPr>
          <p:cNvSpPr>
            <a:spLocks noGrp="1"/>
          </p:cNvSpPr>
          <p:nvPr/>
        </p:nvSpPr>
        <p:spPr>
          <a:xfrm>
            <a:off x="866775" y="3181350"/>
            <a:ext cx="3305175" cy="590550"/>
          </a:xfrm>
          <a:prstGeom prst="rect">
            <a:avLst/>
          </a:prstGeom>
          <a:noFill/>
          <a:ln w="0">
            <a:noFill/>
          </a:ln>
        </p:spPr>
        <p:txBody>
          <a:bodyPr wrap="none" lIns="0" tIns="0" rIns="0" bIns="0">
            <a:noAutofit/>
          </a:bodyPr>
          <a:lstStyle>
            <a:defPPr>
              <a:defRPr sz="1425"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数值风险</a:t>
            </a:r>
          </a:p>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投影延长矩阵链，激活可能放大</a:t>
            </a:r>
          </a:p>
        </p:txBody>
      </p:sp>
      <p:sp>
        <p:nvSpPr>
          <p:cNvPr id="13" name="箭头: 右 12">
            <a:extLst>
              <a:ext uri="{FF2B5EF4-FFF2-40B4-BE49-F238E27FC236}">
                <a16:creationId xmlns:a16="http://schemas.microsoft.com/office/drawing/2014/main" id="{558021BD-D998-48CB-BAC6-93F269D75B34}"/>
              </a:ext>
            </a:extLst>
          </p:cNvPr>
          <p:cNvSpPr>
            <a:spLocks noGrp="1"/>
          </p:cNvSpPr>
          <p:nvPr/>
        </p:nvSpPr>
        <p:spPr>
          <a:xfrm>
            <a:off x="4457700" y="3390900"/>
            <a:ext cx="247650" cy="133350"/>
          </a:xfrm>
          <a:prstGeom prst="rightArrow">
            <a:avLst/>
          </a:prstGeom>
          <a:solidFill>
            <a:srgbClr val="777777"/>
          </a:solidFill>
          <a:ln w="0">
            <a:noFill/>
          </a:ln>
        </p:spPr>
      </p:sp>
      <p:sp>
        <p:nvSpPr>
          <p:cNvPr id="14" name="矩形 13">
            <a:extLst>
              <a:ext uri="{FF2B5EF4-FFF2-40B4-BE49-F238E27FC236}">
                <a16:creationId xmlns:a16="http://schemas.microsoft.com/office/drawing/2014/main" id="{D7EE4A2A-190A-41A4-B649-53560D85B00C}"/>
              </a:ext>
            </a:extLst>
          </p:cNvPr>
          <p:cNvSpPr>
            <a:spLocks noGrp="1"/>
          </p:cNvSpPr>
          <p:nvPr/>
        </p:nvSpPr>
        <p:spPr>
          <a:xfrm>
            <a:off x="4857750" y="3067050"/>
            <a:ext cx="6600825" cy="781050"/>
          </a:xfrm>
          <a:prstGeom prst="rect">
            <a:avLst/>
          </a:prstGeom>
          <a:solidFill>
            <a:srgbClr val="FFF2F2"/>
          </a:solidFill>
          <a:ln w="9525">
            <a:solidFill>
              <a:srgbClr val="C7000B"/>
            </a:solidFill>
          </a:ln>
        </p:spPr>
      </p:sp>
      <p:sp>
        <p:nvSpPr>
          <p:cNvPr id="15" name="矩形 14">
            <a:extLst>
              <a:ext uri="{FF2B5EF4-FFF2-40B4-BE49-F238E27FC236}">
                <a16:creationId xmlns:a16="http://schemas.microsoft.com/office/drawing/2014/main" id="{741149BA-69AF-4195-8EED-24D85E7871B0}"/>
              </a:ext>
            </a:extLst>
          </p:cNvPr>
          <p:cNvSpPr>
            <a:spLocks noGrp="1"/>
          </p:cNvSpPr>
          <p:nvPr/>
        </p:nvSpPr>
        <p:spPr>
          <a:xfrm>
            <a:off x="4991100" y="3181350"/>
            <a:ext cx="6334125" cy="590550"/>
          </a:xfrm>
          <a:prstGeom prst="rect">
            <a:avLst/>
          </a:prstGeom>
          <a:noFill/>
          <a:ln w="0">
            <a:noFill/>
          </a:ln>
        </p:spPr>
        <p:txBody>
          <a:bodyPr wrap="none" lIns="0" tIns="0" rIns="0" bIns="0">
            <a:noAutofit/>
          </a:bodyPr>
          <a:lstStyle>
            <a:defPPr>
              <a:defRPr sz="1500"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C7000B"/>
                </a:solidFill>
                <a:latin typeface="Microsoft YaHei"/>
                <a:ea typeface="Microsoft YaHei"/>
                <a:cs typeface="Microsoft YaHei"/>
              </a:defRPr>
            </a:pPr>
            <a:r>
              <a:rPr kumimoji="0" sz="1500" b="1" i="0" u="none" strike="noStrike" kern="1200" cap="none" spc="0" normalizeH="0" baseline="0" noProof="0">
                <a:ln>
                  <a:noFill/>
                </a:ln>
                <a:solidFill>
                  <a:srgbClr val="C7000B"/>
                </a:solidFill>
                <a:effectLst/>
                <a:uLnTx/>
                <a:uFillTx/>
                <a:latin typeface="Microsoft YaHei"/>
                <a:ea typeface="Microsoft YaHei"/>
                <a:cs typeface="Microsoft YaHei"/>
              </a:rPr>
              <a:t>SiTU 控制专家内乘积，RMSNorm 控制聚合后幅度</a:t>
            </a:r>
          </a:p>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C7000B"/>
                </a:solidFill>
                <a:latin typeface="Microsoft YaHei"/>
                <a:ea typeface="Microsoft YaHei"/>
                <a:cs typeface="Microsoft YaHei"/>
              </a:defRPr>
            </a:pPr>
            <a:r>
              <a:rPr kumimoji="0" sz="1500" b="1" i="0" u="none" strike="noStrike" kern="1200" cap="none" spc="0" normalizeH="0" baseline="0" noProof="0">
                <a:ln>
                  <a:noFill/>
                </a:ln>
                <a:solidFill>
                  <a:srgbClr val="C7000B"/>
                </a:solidFill>
                <a:effectLst/>
                <a:uLnTx/>
                <a:uFillTx/>
                <a:latin typeface="Microsoft YaHei"/>
                <a:ea typeface="Microsoft YaHei"/>
                <a:cs typeface="Microsoft YaHei"/>
              </a:rPr>
              <a:t>分别保护专家内部与 latent up 的输入</a:t>
            </a:r>
          </a:p>
        </p:txBody>
      </p:sp>
      <p:sp>
        <p:nvSpPr>
          <p:cNvPr id="16" name="矩形 15">
            <a:extLst>
              <a:ext uri="{FF2B5EF4-FFF2-40B4-BE49-F238E27FC236}">
                <a16:creationId xmlns:a16="http://schemas.microsoft.com/office/drawing/2014/main" id="{43D24ABC-C817-4850-8E9A-DB02A13C2EC0}"/>
              </a:ext>
            </a:extLst>
          </p:cNvPr>
          <p:cNvSpPr>
            <a:spLocks noGrp="1"/>
          </p:cNvSpPr>
          <p:nvPr/>
        </p:nvSpPr>
        <p:spPr>
          <a:xfrm>
            <a:off x="733425" y="4000500"/>
            <a:ext cx="1409700" cy="695325"/>
          </a:xfrm>
          <a:prstGeom prst="rect">
            <a:avLst/>
          </a:prstGeom>
          <a:solidFill>
            <a:srgbClr val="F0F0F0"/>
          </a:solidFill>
          <a:ln w="9525">
            <a:solidFill>
              <a:srgbClr val="A0A0A0"/>
            </a:solidFill>
          </a:ln>
        </p:spPr>
      </p:sp>
      <p:sp>
        <p:nvSpPr>
          <p:cNvPr id="17" name="矩形 16">
            <a:extLst>
              <a:ext uri="{FF2B5EF4-FFF2-40B4-BE49-F238E27FC236}">
                <a16:creationId xmlns:a16="http://schemas.microsoft.com/office/drawing/2014/main" id="{B28EF77A-60F7-4CA2-B0A1-6FAC59BC713F}"/>
              </a:ext>
            </a:extLst>
          </p:cNvPr>
          <p:cNvSpPr>
            <a:spLocks noGrp="1"/>
          </p:cNvSpPr>
          <p:nvPr/>
        </p:nvSpPr>
        <p:spPr>
          <a:xfrm>
            <a:off x="866775" y="4114800"/>
            <a:ext cx="1143000" cy="504825"/>
          </a:xfrm>
          <a:prstGeom prst="rect">
            <a:avLst/>
          </a:prstGeom>
          <a:noFill/>
          <a:ln w="0">
            <a:noFill/>
          </a:ln>
        </p:spPr>
        <p:txBody>
          <a:bodyPr wrap="none" lIns="0" tIns="0" rIns="0" bIns="0">
            <a:noAutofit/>
          </a:bodyPr>
          <a:lstStyle>
            <a:defPPr>
              <a:defRPr sz="1425"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latent down</a:t>
            </a:r>
          </a:p>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降维投影</a:t>
            </a:r>
          </a:p>
        </p:txBody>
      </p:sp>
      <p:sp>
        <p:nvSpPr>
          <p:cNvPr id="18" name="箭头: 右 17">
            <a:extLst>
              <a:ext uri="{FF2B5EF4-FFF2-40B4-BE49-F238E27FC236}">
                <a16:creationId xmlns:a16="http://schemas.microsoft.com/office/drawing/2014/main" id="{FA5D940A-931F-4315-900F-4C4570E61497}"/>
              </a:ext>
            </a:extLst>
          </p:cNvPr>
          <p:cNvSpPr>
            <a:spLocks noGrp="1"/>
          </p:cNvSpPr>
          <p:nvPr/>
        </p:nvSpPr>
        <p:spPr>
          <a:xfrm>
            <a:off x="2181225" y="4276725"/>
            <a:ext cx="209550" cy="133350"/>
          </a:xfrm>
          <a:prstGeom prst="rightArrow">
            <a:avLst/>
          </a:prstGeom>
          <a:solidFill>
            <a:srgbClr val="777777"/>
          </a:solidFill>
          <a:ln w="0">
            <a:noFill/>
          </a:ln>
        </p:spPr>
      </p:sp>
      <p:sp>
        <p:nvSpPr>
          <p:cNvPr id="19" name="矩形 18">
            <a:extLst>
              <a:ext uri="{FF2B5EF4-FFF2-40B4-BE49-F238E27FC236}">
                <a16:creationId xmlns:a16="http://schemas.microsoft.com/office/drawing/2014/main" id="{2E911037-5DB7-4FF1-8C82-1923A3FA8B9E}"/>
              </a:ext>
            </a:extLst>
          </p:cNvPr>
          <p:cNvSpPr>
            <a:spLocks noGrp="1"/>
          </p:cNvSpPr>
          <p:nvPr/>
        </p:nvSpPr>
        <p:spPr>
          <a:xfrm>
            <a:off x="2428875" y="4000500"/>
            <a:ext cx="1571625" cy="695325"/>
          </a:xfrm>
          <a:prstGeom prst="rect">
            <a:avLst/>
          </a:prstGeom>
          <a:solidFill>
            <a:srgbClr val="FFF2F2"/>
          </a:solidFill>
          <a:ln w="9525">
            <a:solidFill>
              <a:srgbClr val="C7000B"/>
            </a:solidFill>
          </a:ln>
        </p:spPr>
      </p:sp>
      <p:sp>
        <p:nvSpPr>
          <p:cNvPr id="20" name="矩形 19">
            <a:extLst>
              <a:ext uri="{FF2B5EF4-FFF2-40B4-BE49-F238E27FC236}">
                <a16:creationId xmlns:a16="http://schemas.microsoft.com/office/drawing/2014/main" id="{251BC1E6-787C-4612-89F9-16C6D349297A}"/>
              </a:ext>
            </a:extLst>
          </p:cNvPr>
          <p:cNvSpPr>
            <a:spLocks noGrp="1"/>
          </p:cNvSpPr>
          <p:nvPr/>
        </p:nvSpPr>
        <p:spPr>
          <a:xfrm>
            <a:off x="2562225" y="4114800"/>
            <a:ext cx="1304925" cy="504825"/>
          </a:xfrm>
          <a:prstGeom prst="rect">
            <a:avLst/>
          </a:prstGeom>
          <a:noFill/>
          <a:ln w="0">
            <a:noFill/>
          </a:ln>
        </p:spPr>
        <p:txBody>
          <a:bodyPr wrap="none" lIns="0" tIns="0" rIns="0" bIns="0">
            <a:noAutofit/>
          </a:bodyPr>
          <a:lstStyle>
            <a:defPPr>
              <a:defRPr sz="1425"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C7000B"/>
                </a:solidFill>
                <a:latin typeface="Microsoft YaHei"/>
                <a:ea typeface="Microsoft YaHei"/>
                <a:cs typeface="Microsoft YaHei"/>
              </a:defRPr>
            </a:pPr>
            <a:r>
              <a:rPr kumimoji="0" sz="1425" b="1" i="0" u="none" strike="noStrike" kern="1200" cap="none" spc="0" normalizeH="0" baseline="0" noProof="0">
                <a:ln>
                  <a:noFill/>
                </a:ln>
                <a:solidFill>
                  <a:srgbClr val="C7000B"/>
                </a:solidFill>
                <a:effectLst/>
                <a:uLnTx/>
                <a:uFillTx/>
                <a:latin typeface="Microsoft YaHei"/>
                <a:ea typeface="Microsoft YaHei"/>
                <a:cs typeface="Microsoft YaHei"/>
              </a:rPr>
              <a:t>专家内</a:t>
            </a:r>
          </a:p>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C7000B"/>
                </a:solidFill>
                <a:latin typeface="Microsoft YaHei"/>
                <a:ea typeface="Microsoft YaHei"/>
                <a:cs typeface="Microsoft YaHei"/>
              </a:defRPr>
            </a:pPr>
            <a:r>
              <a:rPr kumimoji="0" sz="1425" b="1" i="0" u="none" strike="noStrike" kern="1200" cap="none" spc="0" normalizeH="0" baseline="0" noProof="0">
                <a:ln>
                  <a:noFill/>
                </a:ln>
                <a:solidFill>
                  <a:srgbClr val="C7000B"/>
                </a:solidFill>
                <a:effectLst/>
                <a:uLnTx/>
                <a:uFillTx/>
                <a:latin typeface="Microsoft YaHei"/>
                <a:ea typeface="Microsoft YaHei"/>
                <a:cs typeface="Microsoft YaHei"/>
              </a:rPr>
              <a:t>SiTU-GLU</a:t>
            </a:r>
          </a:p>
        </p:txBody>
      </p:sp>
      <p:sp>
        <p:nvSpPr>
          <p:cNvPr id="21" name="箭头: 右 20">
            <a:extLst>
              <a:ext uri="{FF2B5EF4-FFF2-40B4-BE49-F238E27FC236}">
                <a16:creationId xmlns:a16="http://schemas.microsoft.com/office/drawing/2014/main" id="{AB17CB4A-7698-43E7-B28D-19B9988FB011}"/>
              </a:ext>
            </a:extLst>
          </p:cNvPr>
          <p:cNvSpPr>
            <a:spLocks noGrp="1"/>
          </p:cNvSpPr>
          <p:nvPr/>
        </p:nvSpPr>
        <p:spPr>
          <a:xfrm>
            <a:off x="4038600" y="4276725"/>
            <a:ext cx="209550" cy="133350"/>
          </a:xfrm>
          <a:prstGeom prst="rightArrow">
            <a:avLst/>
          </a:prstGeom>
          <a:solidFill>
            <a:srgbClr val="777777"/>
          </a:solidFill>
          <a:ln w="0">
            <a:noFill/>
          </a:ln>
        </p:spPr>
      </p:sp>
      <p:sp>
        <p:nvSpPr>
          <p:cNvPr id="22" name="矩形 21">
            <a:extLst>
              <a:ext uri="{FF2B5EF4-FFF2-40B4-BE49-F238E27FC236}">
                <a16:creationId xmlns:a16="http://schemas.microsoft.com/office/drawing/2014/main" id="{80609641-F1D4-45FE-92FB-450CB92E64B8}"/>
              </a:ext>
            </a:extLst>
          </p:cNvPr>
          <p:cNvSpPr>
            <a:spLocks noGrp="1"/>
          </p:cNvSpPr>
          <p:nvPr/>
        </p:nvSpPr>
        <p:spPr>
          <a:xfrm>
            <a:off x="4286250" y="4000500"/>
            <a:ext cx="1571625" cy="695325"/>
          </a:xfrm>
          <a:prstGeom prst="rect">
            <a:avLst/>
          </a:prstGeom>
          <a:solidFill>
            <a:srgbClr val="F0F0F0"/>
          </a:solidFill>
          <a:ln w="9525">
            <a:solidFill>
              <a:srgbClr val="A0A0A0"/>
            </a:solidFill>
          </a:ln>
        </p:spPr>
      </p:sp>
      <p:sp>
        <p:nvSpPr>
          <p:cNvPr id="23" name="矩形 22">
            <a:extLst>
              <a:ext uri="{FF2B5EF4-FFF2-40B4-BE49-F238E27FC236}">
                <a16:creationId xmlns:a16="http://schemas.microsoft.com/office/drawing/2014/main" id="{BC7CDF8A-5911-4298-A573-8EA45921847A}"/>
              </a:ext>
            </a:extLst>
          </p:cNvPr>
          <p:cNvSpPr>
            <a:spLocks noGrp="1"/>
          </p:cNvSpPr>
          <p:nvPr/>
        </p:nvSpPr>
        <p:spPr>
          <a:xfrm>
            <a:off x="4419600" y="4114800"/>
            <a:ext cx="1304925" cy="504825"/>
          </a:xfrm>
          <a:prstGeom prst="rect">
            <a:avLst/>
          </a:prstGeom>
          <a:noFill/>
          <a:ln w="0">
            <a:noFill/>
          </a:ln>
        </p:spPr>
        <p:txBody>
          <a:bodyPr wrap="none" lIns="0" tIns="0" rIns="0" bIns="0">
            <a:noAutofit/>
          </a:bodyPr>
          <a:lstStyle>
            <a:defPPr>
              <a:defRPr sz="1425"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专家 output</a:t>
            </a:r>
          </a:p>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Linear</a:t>
            </a:r>
          </a:p>
        </p:txBody>
      </p:sp>
      <p:sp>
        <p:nvSpPr>
          <p:cNvPr id="24" name="箭头: 右 23">
            <a:extLst>
              <a:ext uri="{FF2B5EF4-FFF2-40B4-BE49-F238E27FC236}">
                <a16:creationId xmlns:a16="http://schemas.microsoft.com/office/drawing/2014/main" id="{8BF7B6E6-924B-4A67-A18A-A131726F998F}"/>
              </a:ext>
            </a:extLst>
          </p:cNvPr>
          <p:cNvSpPr>
            <a:spLocks noGrp="1"/>
          </p:cNvSpPr>
          <p:nvPr/>
        </p:nvSpPr>
        <p:spPr>
          <a:xfrm>
            <a:off x="5895975" y="4276725"/>
            <a:ext cx="209550" cy="133350"/>
          </a:xfrm>
          <a:prstGeom prst="rightArrow">
            <a:avLst/>
          </a:prstGeom>
          <a:solidFill>
            <a:srgbClr val="777777"/>
          </a:solidFill>
          <a:ln w="0">
            <a:noFill/>
          </a:ln>
        </p:spPr>
      </p:sp>
      <p:sp>
        <p:nvSpPr>
          <p:cNvPr id="25" name="矩形 24">
            <a:extLst>
              <a:ext uri="{FF2B5EF4-FFF2-40B4-BE49-F238E27FC236}">
                <a16:creationId xmlns:a16="http://schemas.microsoft.com/office/drawing/2014/main" id="{88376576-2228-4310-A299-8AB677975161}"/>
              </a:ext>
            </a:extLst>
          </p:cNvPr>
          <p:cNvSpPr>
            <a:spLocks noGrp="1"/>
          </p:cNvSpPr>
          <p:nvPr/>
        </p:nvSpPr>
        <p:spPr>
          <a:xfrm>
            <a:off x="6143625" y="4000500"/>
            <a:ext cx="1524000" cy="695325"/>
          </a:xfrm>
          <a:prstGeom prst="rect">
            <a:avLst/>
          </a:prstGeom>
          <a:solidFill>
            <a:srgbClr val="F0F0F0"/>
          </a:solidFill>
          <a:ln w="9525">
            <a:solidFill>
              <a:srgbClr val="A0A0A0"/>
            </a:solidFill>
          </a:ln>
        </p:spPr>
      </p:sp>
      <p:sp>
        <p:nvSpPr>
          <p:cNvPr id="26" name="矩形 25">
            <a:extLst>
              <a:ext uri="{FF2B5EF4-FFF2-40B4-BE49-F238E27FC236}">
                <a16:creationId xmlns:a16="http://schemas.microsoft.com/office/drawing/2014/main" id="{4EDCD78E-7DBC-499E-B0BF-A39F33926C52}"/>
              </a:ext>
            </a:extLst>
          </p:cNvPr>
          <p:cNvSpPr>
            <a:spLocks noGrp="1"/>
          </p:cNvSpPr>
          <p:nvPr/>
        </p:nvSpPr>
        <p:spPr>
          <a:xfrm>
            <a:off x="6276975" y="4114800"/>
            <a:ext cx="1257300" cy="504825"/>
          </a:xfrm>
          <a:prstGeom prst="rect">
            <a:avLst/>
          </a:prstGeom>
          <a:noFill/>
          <a:ln w="0">
            <a:noFill/>
          </a:ln>
        </p:spPr>
        <p:txBody>
          <a:bodyPr wrap="none" lIns="0" tIns="0" rIns="0" bIns="0">
            <a:noAutofit/>
          </a:bodyPr>
          <a:lstStyle>
            <a:defPPr>
              <a:defRPr sz="1425"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专家输出</a:t>
            </a:r>
          </a:p>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加权聚合</a:t>
            </a:r>
          </a:p>
        </p:txBody>
      </p:sp>
      <p:sp>
        <p:nvSpPr>
          <p:cNvPr id="27" name="箭头: 右 26">
            <a:extLst>
              <a:ext uri="{FF2B5EF4-FFF2-40B4-BE49-F238E27FC236}">
                <a16:creationId xmlns:a16="http://schemas.microsoft.com/office/drawing/2014/main" id="{9B94A9C8-7954-4ECE-A2ED-F6D325C69137}"/>
              </a:ext>
            </a:extLst>
          </p:cNvPr>
          <p:cNvSpPr>
            <a:spLocks noGrp="1"/>
          </p:cNvSpPr>
          <p:nvPr/>
        </p:nvSpPr>
        <p:spPr>
          <a:xfrm>
            <a:off x="7705725" y="4276725"/>
            <a:ext cx="209550" cy="133350"/>
          </a:xfrm>
          <a:prstGeom prst="rightArrow">
            <a:avLst/>
          </a:prstGeom>
          <a:solidFill>
            <a:srgbClr val="777777"/>
          </a:solidFill>
          <a:ln w="0">
            <a:noFill/>
          </a:ln>
        </p:spPr>
      </p:sp>
      <p:sp>
        <p:nvSpPr>
          <p:cNvPr id="28" name="矩形 27">
            <a:extLst>
              <a:ext uri="{FF2B5EF4-FFF2-40B4-BE49-F238E27FC236}">
                <a16:creationId xmlns:a16="http://schemas.microsoft.com/office/drawing/2014/main" id="{A15016A1-D8BF-4880-B278-8FD79C73C825}"/>
              </a:ext>
            </a:extLst>
          </p:cNvPr>
          <p:cNvSpPr>
            <a:spLocks noGrp="1"/>
          </p:cNvSpPr>
          <p:nvPr/>
        </p:nvSpPr>
        <p:spPr>
          <a:xfrm>
            <a:off x="7953375" y="4000500"/>
            <a:ext cx="1571625" cy="695325"/>
          </a:xfrm>
          <a:prstGeom prst="rect">
            <a:avLst/>
          </a:prstGeom>
          <a:solidFill>
            <a:srgbClr val="FFF2F2"/>
          </a:solidFill>
          <a:ln w="9525">
            <a:solidFill>
              <a:srgbClr val="C7000B"/>
            </a:solidFill>
          </a:ln>
        </p:spPr>
      </p:sp>
      <p:sp>
        <p:nvSpPr>
          <p:cNvPr id="29" name="矩形 28">
            <a:extLst>
              <a:ext uri="{FF2B5EF4-FFF2-40B4-BE49-F238E27FC236}">
                <a16:creationId xmlns:a16="http://schemas.microsoft.com/office/drawing/2014/main" id="{789B3D60-2462-49A2-B933-08D9DDFB184C}"/>
              </a:ext>
            </a:extLst>
          </p:cNvPr>
          <p:cNvSpPr>
            <a:spLocks noGrp="1"/>
          </p:cNvSpPr>
          <p:nvPr/>
        </p:nvSpPr>
        <p:spPr>
          <a:xfrm>
            <a:off x="8086725" y="4114800"/>
            <a:ext cx="1304925" cy="504825"/>
          </a:xfrm>
          <a:prstGeom prst="rect">
            <a:avLst/>
          </a:prstGeom>
          <a:noFill/>
          <a:ln w="0">
            <a:noFill/>
          </a:ln>
        </p:spPr>
        <p:txBody>
          <a:bodyPr wrap="none" lIns="0" tIns="0" rIns="0" bIns="0">
            <a:noAutofit/>
          </a:bodyPr>
          <a:lstStyle>
            <a:defPPr>
              <a:defRPr sz="1425"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C7000B"/>
                </a:solidFill>
                <a:latin typeface="Microsoft YaHei"/>
                <a:ea typeface="Microsoft YaHei"/>
                <a:cs typeface="Microsoft YaHei"/>
              </a:defRPr>
            </a:pPr>
            <a:r>
              <a:rPr kumimoji="0" sz="1425" b="1" i="0" u="none" strike="noStrike" kern="1200" cap="none" spc="0" normalizeH="0" baseline="0" noProof="0">
                <a:ln>
                  <a:noFill/>
                </a:ln>
                <a:solidFill>
                  <a:srgbClr val="C7000B"/>
                </a:solidFill>
                <a:effectLst/>
                <a:uLnTx/>
                <a:uFillTx/>
                <a:latin typeface="Microsoft YaHei"/>
                <a:ea typeface="Microsoft YaHei"/>
                <a:cs typeface="Microsoft YaHei"/>
              </a:rPr>
              <a:t>RMSNorm</a:t>
            </a:r>
          </a:p>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C7000B"/>
                </a:solidFill>
                <a:latin typeface="Microsoft YaHei"/>
                <a:ea typeface="Microsoft YaHei"/>
                <a:cs typeface="Microsoft YaHei"/>
              </a:defRPr>
            </a:pPr>
            <a:r>
              <a:rPr kumimoji="0" sz="1425" b="1" i="0" u="none" strike="noStrike" kern="1200" cap="none" spc="0" normalizeH="0" baseline="0" noProof="0">
                <a:ln>
                  <a:noFill/>
                </a:ln>
                <a:solidFill>
                  <a:srgbClr val="C7000B"/>
                </a:solidFill>
                <a:effectLst/>
                <a:uLnTx/>
                <a:uFillTx/>
                <a:latin typeface="Microsoft YaHei"/>
                <a:ea typeface="Microsoft YaHei"/>
                <a:cs typeface="Microsoft YaHei"/>
              </a:rPr>
              <a:t>归一化尺度</a:t>
            </a:r>
          </a:p>
        </p:txBody>
      </p:sp>
      <p:sp>
        <p:nvSpPr>
          <p:cNvPr id="30" name="箭头: 右 29">
            <a:extLst>
              <a:ext uri="{FF2B5EF4-FFF2-40B4-BE49-F238E27FC236}">
                <a16:creationId xmlns:a16="http://schemas.microsoft.com/office/drawing/2014/main" id="{B82FDEBD-69D6-4B80-9EBE-6077A1CEFC2B}"/>
              </a:ext>
            </a:extLst>
          </p:cNvPr>
          <p:cNvSpPr>
            <a:spLocks noGrp="1"/>
          </p:cNvSpPr>
          <p:nvPr/>
        </p:nvSpPr>
        <p:spPr>
          <a:xfrm>
            <a:off x="9563100" y="4276725"/>
            <a:ext cx="209550" cy="133350"/>
          </a:xfrm>
          <a:prstGeom prst="rightArrow">
            <a:avLst/>
          </a:prstGeom>
          <a:solidFill>
            <a:srgbClr val="777777"/>
          </a:solidFill>
          <a:ln w="0">
            <a:noFill/>
          </a:ln>
        </p:spPr>
      </p:sp>
      <p:sp>
        <p:nvSpPr>
          <p:cNvPr id="31" name="矩形 30">
            <a:extLst>
              <a:ext uri="{FF2B5EF4-FFF2-40B4-BE49-F238E27FC236}">
                <a16:creationId xmlns:a16="http://schemas.microsoft.com/office/drawing/2014/main" id="{89CDE6BA-90AF-4909-82CD-C990B0BBC7EB}"/>
              </a:ext>
            </a:extLst>
          </p:cNvPr>
          <p:cNvSpPr>
            <a:spLocks noGrp="1"/>
          </p:cNvSpPr>
          <p:nvPr/>
        </p:nvSpPr>
        <p:spPr>
          <a:xfrm>
            <a:off x="9810750" y="4000500"/>
            <a:ext cx="1647825" cy="695325"/>
          </a:xfrm>
          <a:prstGeom prst="rect">
            <a:avLst/>
          </a:prstGeom>
          <a:solidFill>
            <a:srgbClr val="F0F0F0"/>
          </a:solidFill>
          <a:ln w="9525">
            <a:solidFill>
              <a:srgbClr val="A0A0A0"/>
            </a:solidFill>
          </a:ln>
        </p:spPr>
      </p:sp>
      <p:sp>
        <p:nvSpPr>
          <p:cNvPr id="32" name="矩形 31">
            <a:extLst>
              <a:ext uri="{FF2B5EF4-FFF2-40B4-BE49-F238E27FC236}">
                <a16:creationId xmlns:a16="http://schemas.microsoft.com/office/drawing/2014/main" id="{D3160620-B868-4C01-944C-B70D23DC2CDB}"/>
              </a:ext>
            </a:extLst>
          </p:cNvPr>
          <p:cNvSpPr>
            <a:spLocks noGrp="1"/>
          </p:cNvSpPr>
          <p:nvPr/>
        </p:nvSpPr>
        <p:spPr>
          <a:xfrm>
            <a:off x="9944100" y="4114800"/>
            <a:ext cx="1381125" cy="504825"/>
          </a:xfrm>
          <a:prstGeom prst="rect">
            <a:avLst/>
          </a:prstGeom>
          <a:noFill/>
          <a:ln w="0">
            <a:noFill/>
          </a:ln>
        </p:spPr>
        <p:txBody>
          <a:bodyPr wrap="none" lIns="0" tIns="0" rIns="0" bIns="0">
            <a:noAutofit/>
          </a:bodyPr>
          <a:lstStyle>
            <a:defPPr>
              <a:defRPr sz="1425"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latent up</a:t>
            </a:r>
          </a:p>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升维投影</a:t>
            </a:r>
          </a:p>
        </p:txBody>
      </p:sp>
      <p:sp>
        <p:nvSpPr>
          <p:cNvPr id="33" name="矩形 32">
            <a:extLst>
              <a:ext uri="{FF2B5EF4-FFF2-40B4-BE49-F238E27FC236}">
                <a16:creationId xmlns:a16="http://schemas.microsoft.com/office/drawing/2014/main" id="{32F0A6A7-9B1E-4208-B532-57EEDF47AD65}"/>
              </a:ext>
            </a:extLst>
          </p:cNvPr>
          <p:cNvSpPr>
            <a:spLocks noGrp="1"/>
          </p:cNvSpPr>
          <p:nvPr/>
        </p:nvSpPr>
        <p:spPr>
          <a:xfrm>
            <a:off x="2428875" y="4819650"/>
            <a:ext cx="5143500" cy="476250"/>
          </a:xfrm>
          <a:prstGeom prst="rect">
            <a:avLst/>
          </a:prstGeom>
          <a:noFill/>
          <a:ln w="0">
            <a:noFill/>
          </a:ln>
        </p:spPr>
        <p:txBody>
          <a:bodyPr wrap="none" lIns="0" tIns="0" rIns="0" bIns="0">
            <a:noAutofit/>
          </a:bodyPr>
          <a:lstStyle>
            <a:defPPr>
              <a:defRPr sz="1350"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Gate 与 Up 分别软限幅，</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在专家输出 Linear 前抑制乘积放大</a:t>
            </a:r>
          </a:p>
        </p:txBody>
      </p:sp>
      <p:sp>
        <p:nvSpPr>
          <p:cNvPr id="34" name="矩形 33">
            <a:extLst>
              <a:ext uri="{FF2B5EF4-FFF2-40B4-BE49-F238E27FC236}">
                <a16:creationId xmlns:a16="http://schemas.microsoft.com/office/drawing/2014/main" id="{97598374-0086-41F2-982B-98732380BE76}"/>
              </a:ext>
            </a:extLst>
          </p:cNvPr>
          <p:cNvSpPr>
            <a:spLocks noGrp="1"/>
          </p:cNvSpPr>
          <p:nvPr/>
        </p:nvSpPr>
        <p:spPr>
          <a:xfrm>
            <a:off x="7953375" y="4819650"/>
            <a:ext cx="3505200" cy="476250"/>
          </a:xfrm>
          <a:prstGeom prst="rect">
            <a:avLst/>
          </a:prstGeom>
          <a:noFill/>
          <a:ln w="0">
            <a:noFill/>
          </a:ln>
        </p:spPr>
        <p:txBody>
          <a:bodyPr wrap="none" lIns="0" tIns="0" rIns="0" bIns="0">
            <a:noAutofit/>
          </a:bodyPr>
          <a:lstStyle>
            <a:defPPr>
              <a:defRPr sz="1350"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归一化加权聚合后的幅度，</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再送入 latent up</a:t>
            </a:r>
          </a:p>
        </p:txBody>
      </p:sp>
      <p:sp>
        <p:nvSpPr>
          <p:cNvPr id="35" name="矩形 34">
            <a:extLst>
              <a:ext uri="{FF2B5EF4-FFF2-40B4-BE49-F238E27FC236}">
                <a16:creationId xmlns:a16="http://schemas.microsoft.com/office/drawing/2014/main" id="{919F31C6-5B76-4835-A4C3-DD9F90C7DDA9}"/>
              </a:ext>
            </a:extLst>
          </p:cNvPr>
          <p:cNvSpPr>
            <a:spLocks noGrp="1"/>
          </p:cNvSpPr>
          <p:nvPr/>
        </p:nvSpPr>
        <p:spPr>
          <a:xfrm>
            <a:off x="733425" y="5495925"/>
            <a:ext cx="3571875" cy="638175"/>
          </a:xfrm>
          <a:prstGeom prst="rect">
            <a:avLst/>
          </a:prstGeom>
          <a:solidFill>
            <a:srgbClr val="F0F0F0"/>
          </a:solidFill>
          <a:ln w="9525">
            <a:solidFill>
              <a:srgbClr val="A0A0A0"/>
            </a:solidFill>
          </a:ln>
        </p:spPr>
      </p:sp>
      <p:sp>
        <p:nvSpPr>
          <p:cNvPr id="36" name="矩形 35">
            <a:extLst>
              <a:ext uri="{FF2B5EF4-FFF2-40B4-BE49-F238E27FC236}">
                <a16:creationId xmlns:a16="http://schemas.microsoft.com/office/drawing/2014/main" id="{E0798EB3-1846-4848-A853-893AD6633B5B}"/>
              </a:ext>
            </a:extLst>
          </p:cNvPr>
          <p:cNvSpPr>
            <a:spLocks noGrp="1"/>
          </p:cNvSpPr>
          <p:nvPr/>
        </p:nvSpPr>
        <p:spPr>
          <a:xfrm>
            <a:off x="866775" y="5610225"/>
            <a:ext cx="3305175" cy="447675"/>
          </a:xfrm>
          <a:prstGeom prst="rect">
            <a:avLst/>
          </a:prstGeom>
          <a:noFill/>
          <a:ln w="0">
            <a:noFill/>
          </a:ln>
        </p:spPr>
        <p:txBody>
          <a:bodyPr wrap="none" lIns="0" tIns="0" rIns="0" bIns="0">
            <a:noAutofit/>
          </a:bodyPr>
          <a:lstStyle>
            <a:defPPr>
              <a:defRPr sz="1425"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负载不均</a:t>
            </a:r>
          </a:p>
          <a:p>
            <a:pPr marL="0" marR="0" lvl="0" indent="0" algn="l" defTabSz="914400" rtl="0" eaLnBrk="1" fontAlgn="auto" latinLnBrk="0" hangingPunct="1">
              <a:lnSpc>
                <a:spcPct val="100000"/>
              </a:lnSpc>
              <a:spcBef>
                <a:spcPts val="0"/>
              </a:spcBef>
              <a:spcAft>
                <a:spcPts val="0"/>
              </a:spcAft>
              <a:buClrTx/>
              <a:buSzTx/>
              <a:buFontTx/>
              <a:buNone/>
              <a:tabLst/>
              <a:defRPr sz="1425" b="0">
                <a:solidFill>
                  <a:srgbClr val="1D1D1B"/>
                </a:solidFill>
                <a:latin typeface="Microsoft YaHei"/>
                <a:ea typeface="Microsoft YaHei"/>
                <a:cs typeface="Microsoft YaHei"/>
              </a:defRPr>
            </a:pPr>
            <a:r>
              <a:rPr kumimoji="0" sz="1425" b="0" i="0" u="none" strike="noStrike" kern="1200" cap="none" spc="0" normalizeH="0" baseline="0" noProof="0">
                <a:ln>
                  <a:noFill/>
                </a:ln>
                <a:solidFill>
                  <a:srgbClr val="1D1D1B"/>
                </a:solidFill>
                <a:effectLst/>
                <a:uLnTx/>
                <a:uFillTx/>
                <a:latin typeface="Microsoft YaHei"/>
                <a:ea typeface="Microsoft YaHei"/>
                <a:cs typeface="Microsoft YaHei"/>
              </a:rPr>
              <a:t>专家池扩大，热门 / 冷门分化</a:t>
            </a:r>
          </a:p>
        </p:txBody>
      </p:sp>
      <p:sp>
        <p:nvSpPr>
          <p:cNvPr id="37" name="箭头: 右 36">
            <a:extLst>
              <a:ext uri="{FF2B5EF4-FFF2-40B4-BE49-F238E27FC236}">
                <a16:creationId xmlns:a16="http://schemas.microsoft.com/office/drawing/2014/main" id="{DE183207-524E-45E8-BC23-DD9DFC3F1B72}"/>
              </a:ext>
            </a:extLst>
          </p:cNvPr>
          <p:cNvSpPr>
            <a:spLocks noGrp="1"/>
          </p:cNvSpPr>
          <p:nvPr/>
        </p:nvSpPr>
        <p:spPr>
          <a:xfrm>
            <a:off x="4457700" y="5753100"/>
            <a:ext cx="247650" cy="133350"/>
          </a:xfrm>
          <a:prstGeom prst="rightArrow">
            <a:avLst/>
          </a:prstGeom>
          <a:solidFill>
            <a:srgbClr val="777777"/>
          </a:solidFill>
          <a:ln w="0">
            <a:noFill/>
          </a:ln>
        </p:spPr>
      </p:sp>
      <p:sp>
        <p:nvSpPr>
          <p:cNvPr id="38" name="矩形 37">
            <a:extLst>
              <a:ext uri="{FF2B5EF4-FFF2-40B4-BE49-F238E27FC236}">
                <a16:creationId xmlns:a16="http://schemas.microsoft.com/office/drawing/2014/main" id="{9F5987E3-9B4F-4DA5-ABAB-8C86F2566117}"/>
              </a:ext>
            </a:extLst>
          </p:cNvPr>
          <p:cNvSpPr>
            <a:spLocks noGrp="1"/>
          </p:cNvSpPr>
          <p:nvPr/>
        </p:nvSpPr>
        <p:spPr>
          <a:xfrm>
            <a:off x="4857750" y="5495925"/>
            <a:ext cx="6600825" cy="638175"/>
          </a:xfrm>
          <a:prstGeom prst="rect">
            <a:avLst/>
          </a:prstGeom>
          <a:solidFill>
            <a:srgbClr val="FFF2F2"/>
          </a:solidFill>
          <a:ln w="9525">
            <a:solidFill>
              <a:srgbClr val="C7000B"/>
            </a:solidFill>
          </a:ln>
        </p:spPr>
      </p:sp>
      <p:sp>
        <p:nvSpPr>
          <p:cNvPr id="39" name="矩形 38">
            <a:extLst>
              <a:ext uri="{FF2B5EF4-FFF2-40B4-BE49-F238E27FC236}">
                <a16:creationId xmlns:a16="http://schemas.microsoft.com/office/drawing/2014/main" id="{7F9D69D1-83D0-4A7C-8A65-91DDC03F6155}"/>
              </a:ext>
            </a:extLst>
          </p:cNvPr>
          <p:cNvSpPr>
            <a:spLocks noGrp="1"/>
          </p:cNvSpPr>
          <p:nvPr/>
        </p:nvSpPr>
        <p:spPr>
          <a:xfrm>
            <a:off x="4991100" y="5610225"/>
            <a:ext cx="6334125" cy="447675"/>
          </a:xfrm>
          <a:prstGeom prst="rect">
            <a:avLst/>
          </a:prstGeom>
          <a:noFill/>
          <a:ln w="0">
            <a:noFill/>
          </a:ln>
        </p:spPr>
        <p:txBody>
          <a:bodyPr wrap="none" lIns="0" tIns="0" rIns="0" bIns="0">
            <a:noAutofit/>
          </a:bodyPr>
          <a:lstStyle>
            <a:defPPr>
              <a:defRPr sz="1425"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C7000B"/>
                </a:solidFill>
                <a:latin typeface="Microsoft YaHei"/>
                <a:ea typeface="Microsoft YaHei"/>
                <a:cs typeface="Microsoft YaHei"/>
              </a:defRPr>
            </a:pPr>
            <a:r>
              <a:rPr kumimoji="0" sz="1425" b="1" i="0" u="none" strike="noStrike" kern="1200" cap="none" spc="0" normalizeH="0" baseline="0" noProof="0">
                <a:ln>
                  <a:noFill/>
                </a:ln>
                <a:solidFill>
                  <a:srgbClr val="C7000B"/>
                </a:solidFill>
                <a:effectLst/>
                <a:uLnTx/>
                <a:uFillTx/>
                <a:latin typeface="Microsoft YaHei"/>
                <a:ea typeface="Microsoft YaHei"/>
                <a:cs typeface="Microsoft YaHei"/>
              </a:rPr>
              <a:t>Quantile Balancing：按 margin 分布估计训练 bias</a:t>
            </a:r>
          </a:p>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C7000B"/>
                </a:solidFill>
                <a:latin typeface="Microsoft YaHei"/>
                <a:ea typeface="Microsoft YaHei"/>
                <a:cs typeface="Microsoft YaHei"/>
              </a:defRPr>
            </a:pPr>
            <a:r>
              <a:rPr kumimoji="0" sz="1425" b="1" i="0" u="none" strike="noStrike" kern="1200" cap="none" spc="0" normalizeH="0" baseline="0" noProof="0">
                <a:ln>
                  <a:noFill/>
                </a:ln>
                <a:solidFill>
                  <a:srgbClr val="C7000B"/>
                </a:solidFill>
                <a:effectLst/>
                <a:uLnTx/>
                <a:uFillTx/>
                <a:latin typeface="Microsoft YaHei"/>
                <a:ea typeface="Microsoft YaHei"/>
                <a:cs typeface="Microsoft YaHei"/>
              </a:rPr>
              <a:t>下一训练步生效，推理使用固定 bias</a:t>
            </a:r>
          </a:p>
        </p:txBody>
      </p:sp>
      <p:sp>
        <p:nvSpPr>
          <p:cNvPr id="41" name="文本框 40">
            <a:extLst>
              <a:ext uri="{FF2B5EF4-FFF2-40B4-BE49-F238E27FC236}">
                <a16:creationId xmlns:a16="http://schemas.microsoft.com/office/drawing/2014/main" id="{BE976189-AB82-4F95-89C5-24B543AD9B0C}"/>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宋泽宇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00886374</a:t>
            </a:r>
          </a:p>
        </p:txBody>
      </p:sp>
    </p:spTree>
    <p:extLst>
      <p:ext uri="{BB962C8B-B14F-4D97-AF65-F5344CB8AC3E}">
        <p14:creationId xmlns:p14="http://schemas.microsoft.com/office/powerpoint/2010/main" val="3318620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33425" y="342900"/>
            <a:ext cx="10725150" cy="447675"/>
          </a:xfrm>
          <a:prstGeom prst="rect">
            <a:avLst/>
          </a:prstGeom>
        </p:spPr>
        <p:txBody>
          <a:bodyPr lIns="0" tIns="0" rIns="0" bIns="0" anchor="t">
            <a:noAutofit/>
          </a:bodyPr>
          <a:lstStyle>
            <a:lvl1pPr marL="0" indent="0" algn="l">
              <a:lnSpc>
                <a:spcPts val="3430"/>
              </a:lnSpc>
              <a:spcBef>
                <a:spcPts val="0"/>
              </a:spcBef>
              <a:buNone/>
              <a:defRPr sz="3200" baseline="0">
                <a:solidFill>
                  <a:schemeClr val="tx1"/>
                </a:solidFill>
                <a:latin typeface="Microsoft YaHei"/>
                <a:ea typeface="Microsoft YaHei"/>
                <a:cs typeface="Microsoft YaHei"/>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pPr>
              <a:buNone/>
              <a:defRPr sz="2250" b="1">
                <a:solidFill>
                  <a:srgbClr val="C7000B"/>
                </a:solidFill>
                <a:latin typeface="Microsoft YaHei"/>
                <a:ea typeface="Microsoft YaHei"/>
                <a:cs typeface="Microsoft YaHei"/>
              </a:defRPr>
            </a:pPr>
            <a:r>
              <a:rPr sz="2250" b="1" dirty="0">
                <a:solidFill>
                  <a:srgbClr val="C7000B"/>
                </a:solidFill>
                <a:latin typeface="Microsoft YaHei"/>
                <a:ea typeface="Microsoft YaHei"/>
                <a:cs typeface="Microsoft YaHei"/>
              </a:rPr>
              <a:t>Stable LatentMoE（3/4）：</a:t>
            </a:r>
            <a:r>
              <a:rPr sz="2250" b="1" dirty="0" err="1">
                <a:solidFill>
                  <a:srgbClr val="C7000B"/>
                </a:solidFill>
                <a:latin typeface="Microsoft YaHei"/>
                <a:ea typeface="Microsoft YaHei"/>
                <a:cs typeface="Microsoft YaHei"/>
              </a:rPr>
              <a:t>SiTU</a:t>
            </a:r>
            <a:r>
              <a:rPr sz="2250" b="1" dirty="0">
                <a:solidFill>
                  <a:srgbClr val="C7000B"/>
                </a:solidFill>
                <a:latin typeface="Microsoft YaHei"/>
                <a:ea typeface="Microsoft YaHei"/>
                <a:cs typeface="Microsoft YaHei"/>
              </a:rPr>
              <a:t>-GLU </a:t>
            </a:r>
            <a:r>
              <a:rPr sz="2250" b="1" dirty="0" err="1">
                <a:solidFill>
                  <a:srgbClr val="C7000B"/>
                </a:solidFill>
                <a:latin typeface="Microsoft YaHei"/>
                <a:ea typeface="Microsoft YaHei"/>
                <a:cs typeface="Microsoft YaHei"/>
              </a:rPr>
              <a:t>的稳定机制与昇腾适配</a:t>
            </a:r>
            <a:endParaRPr dirty="0"/>
          </a:p>
        </p:txBody>
      </p:sp>
      <p:sp>
        <p:nvSpPr>
          <p:cNvPr id="2"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prstGeom prst="rect">
            <a:avLst/>
          </a:prstGeom>
        </p:spPr>
        <p:txBody>
          <a:bodyPr lIns="0" tIns="0" rIns="0" bIns="0"/>
          <a:lstStyle>
            <a:lvl1pPr marL="12373" indent="0">
              <a:lnSpc>
                <a:spcPct val="100000"/>
              </a:lnSpc>
              <a:spcBef>
                <a:spcPts val="0"/>
              </a:spcBef>
              <a:buFontTx/>
              <a:buNone/>
              <a:tabLst>
                <a:tab pos="1208420" algn="ctr"/>
              </a:tabLst>
              <a:defRPr sz="1800" baseline="0">
                <a:solidFill>
                  <a:schemeClr val="tx1"/>
                </a:solidFill>
                <a:latin typeface="Microsoft YaHei"/>
                <a:ea typeface="Microsoft YaHei"/>
                <a:cs typeface="Microsoft YaHei"/>
              </a:defRPr>
            </a:lvl1pPr>
            <a:lvl2pPr marL="525850" indent="-171159">
              <a:buFont typeface="Arial"/>
              <a:buChar char="•"/>
              <a:tabLst>
                <a:tab pos="1208420" algn="ctr"/>
              </a:tabLst>
              <a:defRPr sz="1299" baseline="0"/>
            </a:lvl2pPr>
            <a:lvl3pPr marL="525850" indent="-171159">
              <a:buFont typeface="Arial"/>
              <a:buChar char="•"/>
              <a:tabLst>
                <a:tab pos="1208420" algn="ctr"/>
              </a:tabLst>
              <a:defRPr sz="1299" baseline="0"/>
            </a:lvl3pPr>
            <a:lvl4pPr marL="525850" indent="-171159">
              <a:buFont typeface="Arial"/>
              <a:buChar char="•"/>
              <a:tabLst>
                <a:tab pos="1208420" algn="ctr"/>
              </a:tabLst>
              <a:defRPr sz="1299" baseline="0"/>
            </a:lvl4pPr>
            <a:lvl5pPr marL="525850" indent="-171159">
              <a:buFont typeface="Arial"/>
              <a:buChar char="•"/>
              <a:tabLst>
                <a:tab pos="1208420" algn="ctr"/>
              </a:tabLst>
              <a:defRPr sz="1299" baseline="0"/>
            </a:lvl5pPr>
          </a:lstStyle>
          <a:p>
            <a:pPr lvl="0">
              <a:buNone/>
            </a:pPr>
            <a:endParaRPr dirty="0"/>
          </a:p>
        </p:txBody>
      </p:sp>
      <p:sp>
        <p:nvSpPr>
          <p:cNvPr id="3" name="条带-h4xuhv-77">
            <a:extLst>
              <a:ext uri="{FF2B5EF4-FFF2-40B4-BE49-F238E27FC236}">
                <a16:creationId xmlns:a16="http://schemas.microsoft.com/office/drawing/2014/main" id="{31A37607-86C2-4AB7-AB3E-08E7405F8344}"/>
              </a:ext>
            </a:extLst>
          </p:cNvPr>
          <p:cNvSpPr>
            <a:spLocks noGrp="1"/>
          </p:cNvSpPr>
          <p:nvPr/>
        </p:nvSpPr>
        <p:spPr>
          <a:xfrm>
            <a:off x="791094" y="952500"/>
            <a:ext cx="10725150" cy="1257300"/>
          </a:xfrm>
          <a:prstGeom prst="rect">
            <a:avLst/>
          </a:prstGeom>
          <a:solidFill>
            <a:srgbClr val="EEEEEE"/>
          </a:solidFill>
          <a:ln w="0">
            <a:noFill/>
          </a:ln>
        </p:spPr>
      </p:sp>
      <p:sp>
        <p:nvSpPr>
          <p:cNvPr id="4" name="条带-h4xuhv-77">
            <a:extLst>
              <a:ext uri="{FF2B5EF4-FFF2-40B4-BE49-F238E27FC236}">
                <a16:creationId xmlns:a16="http://schemas.microsoft.com/office/drawing/2014/main" id="{E9A073CE-062F-40C5-A73F-55C4E1F5DB9A}"/>
              </a:ext>
            </a:extLst>
          </p:cNvPr>
          <p:cNvSpPr>
            <a:spLocks noGrp="1"/>
          </p:cNvSpPr>
          <p:nvPr/>
        </p:nvSpPr>
        <p:spPr>
          <a:xfrm>
            <a:off x="733425" y="952500"/>
            <a:ext cx="762000" cy="1257300"/>
          </a:xfrm>
          <a:prstGeom prst="rect">
            <a:avLst/>
          </a:prstGeom>
          <a:solidFill>
            <a:srgbClr val="C7000B"/>
          </a:solidFill>
          <a:ln w="0">
            <a:noFill/>
          </a:ln>
        </p:spPr>
      </p:sp>
      <p:sp>
        <p:nvSpPr>
          <p:cNvPr id="5" name="分析&#10;结论">
            <a:extLst>
              <a:ext uri="{FF2B5EF4-FFF2-40B4-BE49-F238E27FC236}">
                <a16:creationId xmlns:a16="http://schemas.microsoft.com/office/drawing/2014/main" id="{1EFC8657-2C3E-47D8-9F3F-ACE974226F3D}"/>
              </a:ext>
            </a:extLst>
          </p:cNvPr>
          <p:cNvSpPr>
            <a:spLocks noGrp="1"/>
          </p:cNvSpPr>
          <p:nvPr/>
        </p:nvSpPr>
        <p:spPr>
          <a:xfrm>
            <a:off x="809625" y="1333500"/>
            <a:ext cx="609600" cy="504825"/>
          </a:xfrm>
          <a:prstGeom prst="rect">
            <a:avLst/>
          </a:prstGeom>
          <a:noFill/>
          <a:ln w="0">
            <a:noFill/>
          </a:ln>
        </p:spPr>
        <p:txBody>
          <a:bodyPr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75" b="1">
                <a:solidFill>
                  <a:srgbClr val="FFFFFF"/>
                </a:solidFill>
                <a:latin typeface="Microsoft YaHei"/>
                <a:ea typeface="Microsoft YaHei"/>
                <a:cs typeface="Microsoft YaHei"/>
              </a:defRPr>
            </a:pPr>
            <a:r>
              <a:rPr kumimoji="0" sz="1575" b="1" i="0" u="none" strike="noStrike" kern="1200" cap="none" spc="0" normalizeH="0" baseline="0" noProof="0">
                <a:ln>
                  <a:noFill/>
                </a:ln>
                <a:solidFill>
                  <a:srgbClr val="FFFFFF"/>
                </a:solidFill>
                <a:effectLst/>
                <a:uLnTx/>
                <a:uFillTx/>
                <a:latin typeface="Microsoft YaHei"/>
                <a:ea typeface="Microsoft YaHei"/>
                <a:cs typeface="Microsoft YaHei"/>
              </a:rPr>
              <a:t>分析</a:t>
            </a:r>
          </a:p>
          <a:p>
            <a:pPr marL="0" marR="0" lvl="0" indent="0" algn="ctr" defTabSz="914400" rtl="0" eaLnBrk="1" fontAlgn="auto" latinLnBrk="0" hangingPunct="1">
              <a:lnSpc>
                <a:spcPct val="100000"/>
              </a:lnSpc>
              <a:spcBef>
                <a:spcPts val="0"/>
              </a:spcBef>
              <a:spcAft>
                <a:spcPts val="0"/>
              </a:spcAft>
              <a:buClrTx/>
              <a:buSzTx/>
              <a:buFontTx/>
              <a:buNone/>
              <a:tabLst/>
              <a:defRPr sz="1575" b="1">
                <a:solidFill>
                  <a:srgbClr val="FFFFFF"/>
                </a:solidFill>
                <a:latin typeface="Microsoft YaHei"/>
                <a:ea typeface="Microsoft YaHei"/>
                <a:cs typeface="Microsoft YaHei"/>
              </a:defRPr>
            </a:pPr>
            <a:r>
              <a:rPr kumimoji="0" sz="1575" b="1" i="0" u="none" strike="noStrike" kern="1200" cap="none" spc="0" normalizeH="0" baseline="0" noProof="0">
                <a:ln>
                  <a:noFill/>
                </a:ln>
                <a:solidFill>
                  <a:srgbClr val="FFFFFF"/>
                </a:solidFill>
                <a:effectLst/>
                <a:uLnTx/>
                <a:uFillTx/>
                <a:latin typeface="Microsoft YaHei"/>
                <a:ea typeface="Microsoft YaHei"/>
                <a:cs typeface="Microsoft YaHei"/>
              </a:rPr>
              <a:t>结论</a:t>
            </a:r>
          </a:p>
        </p:txBody>
      </p:sp>
      <p:sp>
        <p:nvSpPr>
          <p:cNvPr id="6" name="Sigmoid Tanh Unit GLU 分别软限幅 ga">
            <a:extLst>
              <a:ext uri="{FF2B5EF4-FFF2-40B4-BE49-F238E27FC236}">
                <a16:creationId xmlns:a16="http://schemas.microsoft.com/office/drawing/2014/main" id="{483131A6-7848-4A9A-81A4-001D7D8F86D3}"/>
              </a:ext>
            </a:extLst>
          </p:cNvPr>
          <p:cNvSpPr>
            <a:spLocks noGrp="1"/>
          </p:cNvSpPr>
          <p:nvPr/>
        </p:nvSpPr>
        <p:spPr>
          <a:xfrm>
            <a:off x="1657350" y="1057275"/>
            <a:ext cx="9658350" cy="1047750"/>
          </a:xfrm>
          <a:prstGeom prst="rect">
            <a:avLst/>
          </a:prstGeom>
          <a:noFill/>
          <a:ln w="0">
            <a:noFill/>
          </a:ln>
        </p:spPr>
        <p:txBody>
          <a:bodyPr lIns="0" tIns="0" rIns="0" bIns="0" anchor="ctr">
            <a:noAutofit/>
          </a:bodyPr>
          <a:lstStyle/>
          <a:p>
            <a:pPr marL="139700" marR="0" lvl="0" indent="-76200" algn="l" defTabSz="914400" rtl="0" eaLnBrk="1" fontAlgn="auto" latinLnBrk="0" hangingPunct="1">
              <a:lnSpc>
                <a:spcPts val="1450"/>
              </a:lnSpc>
              <a:spcBef>
                <a:spcPts val="0"/>
              </a:spcBef>
              <a:spcAft>
                <a:spcPts val="30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LatentMoE 额外投影</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加深矩阵乘链</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，叠加 SwiGLU 两支无界，易放大路由分支内部异常激活</a:t>
            </a:r>
          </a:p>
          <a:p>
            <a:pPr marL="139700" marR="0" lvl="0" indent="-76200" algn="l" defTabSz="914400" rtl="0" eaLnBrk="1" fontAlgn="auto" latinLnBrk="0" hangingPunct="1">
              <a:lnSpc>
                <a:spcPts val="1450"/>
              </a:lnSpc>
              <a:spcBef>
                <a:spcPts val="0"/>
              </a:spcBef>
              <a:spcAft>
                <a:spcPts val="30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SiTU 对两支</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平滑限幅</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，将专家输出 Linear 前的每坐标乘积约束到 </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|h|≤100</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，近零处近似 SwiGLU</a:t>
            </a:r>
          </a:p>
          <a:p>
            <a:pPr marL="139700" marR="0" lvl="0" indent="-76200" algn="l" defTabSz="914400" rtl="0" eaLnBrk="1" fontAlgn="auto" latinLnBrk="0" hangingPunct="1">
              <a:lnSpc>
                <a:spcPts val="1450"/>
              </a:lnSpc>
              <a:spcBef>
                <a:spcPts val="0"/>
              </a:spcBef>
              <a:spcAft>
                <a:spcPts val="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SiTU </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控制专家内乘积</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，RMSNorm </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控制聚合后尺度</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；两者互补，分层处理路由分支的幅值风险</a:t>
            </a:r>
          </a:p>
        </p:txBody>
      </p:sp>
      <p:pic>
        <p:nvPicPr>
          <p:cNvPr id="27" name="图片 26"/>
          <p:cNvPicPr>
            <a:picLocks noChangeAspect="1"/>
          </p:cNvPicPr>
          <p:nvPr/>
        </p:nvPicPr>
        <p:blipFill>
          <a:blip r:embed="rId3"/>
          <a:stretch/>
        </p:blipFill>
        <p:spPr>
          <a:xfrm>
            <a:off x="1016145" y="2381250"/>
            <a:ext cx="3273136" cy="2143125"/>
          </a:xfrm>
          <a:prstGeom prst="rect">
            <a:avLst/>
          </a:prstGeom>
        </p:spPr>
      </p:pic>
      <p:sp>
        <p:nvSpPr>
          <p:cNvPr id="9" name="Figure 4 原图（non-editable），g=u=">
            <a:extLst>
              <a:ext uri="{FF2B5EF4-FFF2-40B4-BE49-F238E27FC236}">
                <a16:creationId xmlns:a16="http://schemas.microsoft.com/office/drawing/2014/main" id="{F19795DD-929D-4309-BCC1-55AA9B928FC5}"/>
              </a:ext>
            </a:extLst>
          </p:cNvPr>
          <p:cNvSpPr>
            <a:spLocks noGrp="1"/>
          </p:cNvSpPr>
          <p:nvPr/>
        </p:nvSpPr>
        <p:spPr>
          <a:xfrm>
            <a:off x="733425" y="4591050"/>
            <a:ext cx="3838575" cy="3143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975">
                <a:solidFill>
                  <a:srgbClr val="666666"/>
                </a:solidFill>
                <a:latin typeface="Microsoft YaHei"/>
                <a:ea typeface="Microsoft YaHei"/>
                <a:cs typeface="Microsoft YaHei"/>
              </a:defRPr>
            </a:pPr>
            <a:r>
              <a:rPr kumimoji="0" sz="975" b="0" i="0" u="none" strike="noStrike" kern="1200" cap="none" spc="0" normalizeH="0" baseline="0" noProof="0">
                <a:ln>
                  <a:noFill/>
                </a:ln>
                <a:solidFill>
                  <a:srgbClr val="666666"/>
                </a:solidFill>
                <a:effectLst/>
                <a:uLnTx/>
                <a:uFillTx/>
                <a:latin typeface="Microsoft YaHei"/>
                <a:ea typeface="Microsoft YaHei"/>
                <a:cs typeface="Microsoft YaHei"/>
              </a:rPr>
              <a:t>SwiGLU 两支无界；SiTU 平滑限幅，近零接近前者</a:t>
            </a:r>
          </a:p>
          <a:p>
            <a:pPr marL="0" marR="0" lvl="0" indent="0" algn="l" defTabSz="914400" rtl="0" eaLnBrk="1" fontAlgn="auto" latinLnBrk="0" hangingPunct="1">
              <a:lnSpc>
                <a:spcPct val="100000"/>
              </a:lnSpc>
              <a:spcBef>
                <a:spcPts val="0"/>
              </a:spcBef>
              <a:spcAft>
                <a:spcPts val="0"/>
              </a:spcAft>
              <a:buClrTx/>
              <a:buSzTx/>
              <a:buFontTx/>
              <a:buNone/>
              <a:tabLst/>
              <a:defRPr sz="975">
                <a:solidFill>
                  <a:srgbClr val="666666"/>
                </a:solidFill>
                <a:latin typeface="Microsoft YaHei"/>
                <a:ea typeface="Microsoft YaHei"/>
                <a:cs typeface="Microsoft YaHei"/>
              </a:defRPr>
            </a:pPr>
            <a:r>
              <a:rPr kumimoji="0" sz="975" b="0" i="0" u="none" strike="noStrike" kern="1200" cap="none" spc="0" normalizeH="0" baseline="0" noProof="0">
                <a:ln>
                  <a:noFill/>
                </a:ln>
                <a:solidFill>
                  <a:srgbClr val="666666"/>
                </a:solidFill>
                <a:effectLst/>
                <a:uLnTx/>
                <a:uFillTx/>
                <a:latin typeface="Microsoft YaHei"/>
                <a:ea typeface="Microsoft YaHei"/>
                <a:cs typeface="Microsoft YaHei"/>
              </a:rPr>
              <a:t>图示 g=u=x；|h|≤100 仅限专家输出 Linear 之前</a:t>
            </a:r>
          </a:p>
        </p:txBody>
      </p:sp>
      <p:sp>
        <p:nvSpPr>
          <p:cNvPr id="1000" name="MathCompare_1">
            <a:extLst>
              <a:ext uri="{FF2B5EF4-FFF2-40B4-BE49-F238E27FC236}">
                <a16:creationId xmlns:a16="http://schemas.microsoft.com/office/drawing/2014/main" id="{EF518526-F0AC-4A69-BEB8-DC36D6E56E5C}"/>
              </a:ext>
            </a:extLst>
          </p:cNvPr>
          <p:cNvSpPr>
            <a:spLocks noGrp="1"/>
          </p:cNvSpPr>
          <p:nvPr/>
        </p:nvSpPr>
        <p:spPr>
          <a:xfrm>
            <a:off x="733425" y="4933950"/>
            <a:ext cx="3838575" cy="228600"/>
          </a:xfrm>
          <a:prstGeom prst="rect">
            <a:avLst/>
          </a:prstGeom>
          <a:noFill/>
          <a:ln w="0">
            <a:noFill/>
          </a:ln>
        </p:spPr>
        <p:txBody>
          <a:bodyPr wrap="none" lIns="0" tIns="0" rIns="0" bIns="0">
            <a:noAutofit/>
          </a:bodyPr>
          <a:lstStyle>
            <a:defPPr>
              <a:defRPr sz="1388"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88" b="1">
                <a:solidFill>
                  <a:srgbClr val="C7000B"/>
                </a:solidFill>
                <a:latin typeface="Microsoft YaHei"/>
                <a:ea typeface="Microsoft YaHei"/>
                <a:cs typeface="Microsoft YaHei"/>
              </a:defRPr>
            </a:pPr>
            <a:r>
              <a:rPr kumimoji="0" sz="1388" b="1" i="0" u="none" strike="noStrike" kern="1200" cap="none" spc="0" normalizeH="0" baseline="0" noProof="0">
                <a:ln>
                  <a:noFill/>
                </a:ln>
                <a:solidFill>
                  <a:srgbClr val="C7000B"/>
                </a:solidFill>
                <a:effectLst/>
                <a:uLnTx/>
                <a:uFillTx/>
                <a:latin typeface="Microsoft YaHei"/>
                <a:ea typeface="Microsoft YaHei"/>
                <a:cs typeface="Microsoft YaHei"/>
              </a:rPr>
              <a:t>SiTU-GLU 与 SwiGLU 的计算对比</a:t>
            </a:r>
          </a:p>
        </p:txBody>
      </p:sp>
      <p:sp>
        <p:nvSpPr>
          <p:cNvPr id="1001" name="MathCompare_2">
            <a:extLst>
              <a:ext uri="{FF2B5EF4-FFF2-40B4-BE49-F238E27FC236}">
                <a16:creationId xmlns:a16="http://schemas.microsoft.com/office/drawing/2014/main" id="{6906252D-7B30-45A0-AE62-72F6B8011593}"/>
              </a:ext>
            </a:extLst>
          </p:cNvPr>
          <p:cNvSpPr>
            <a:spLocks noGrp="1"/>
          </p:cNvSpPr>
          <p:nvPr/>
        </p:nvSpPr>
        <p:spPr>
          <a:xfrm>
            <a:off x="733425" y="5219700"/>
            <a:ext cx="3838575" cy="209550"/>
          </a:xfrm>
          <a:prstGeom prst="rect">
            <a:avLst/>
          </a:prstGeom>
          <a:noFill/>
          <a:ln w="0">
            <a:noFill/>
          </a:ln>
        </p:spPr>
        <p:txBody>
          <a:bodyPr wrap="none" lIns="0" tIns="0" rIns="0" bIns="0">
            <a:noAutofit/>
          </a:bodyPr>
          <a:lstStyle>
            <a:defPPr>
              <a:defRPr sz="1163"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b="0">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SwiGLU(</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x</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 [</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W</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g</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x</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 Sigmoid(</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W</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g</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x</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 </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W</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u</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x</a:t>
            </a:r>
          </a:p>
        </p:txBody>
      </p:sp>
      <p:sp>
        <p:nvSpPr>
          <p:cNvPr id="1002" name="MathCompare_3">
            <a:extLst>
              <a:ext uri="{FF2B5EF4-FFF2-40B4-BE49-F238E27FC236}">
                <a16:creationId xmlns:a16="http://schemas.microsoft.com/office/drawing/2014/main" id="{69F0E58A-1475-4AEC-B082-9CCEE66CDE9B}"/>
              </a:ext>
            </a:extLst>
          </p:cNvPr>
          <p:cNvSpPr>
            <a:spLocks noGrp="1"/>
          </p:cNvSpPr>
          <p:nvPr/>
        </p:nvSpPr>
        <p:spPr>
          <a:xfrm>
            <a:off x="733425" y="5486400"/>
            <a:ext cx="3838575" cy="209550"/>
          </a:xfrm>
          <a:prstGeom prst="rect">
            <a:avLst/>
          </a:prstGeom>
          <a:noFill/>
          <a:ln w="0">
            <a:noFill/>
          </a:ln>
        </p:spPr>
        <p:txBody>
          <a:bodyPr wrap="none" lIns="0" tIns="0" rIns="0" bIns="0">
            <a:noAutofit/>
          </a:bodyPr>
          <a:lstStyle>
            <a:defPPr>
              <a:defRPr sz="1163"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b="0">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SiTU-GLU(</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x</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a:t>
            </a:r>
          </a:p>
        </p:txBody>
      </p:sp>
      <p:sp>
        <p:nvSpPr>
          <p:cNvPr id="1003" name="MathCompare_4">
            <a:extLst>
              <a:ext uri="{FF2B5EF4-FFF2-40B4-BE49-F238E27FC236}">
                <a16:creationId xmlns:a16="http://schemas.microsoft.com/office/drawing/2014/main" id="{BADFD2E8-E919-49EB-A049-012FC5CB1788}"/>
              </a:ext>
            </a:extLst>
          </p:cNvPr>
          <p:cNvSpPr>
            <a:spLocks noGrp="1"/>
          </p:cNvSpPr>
          <p:nvPr/>
        </p:nvSpPr>
        <p:spPr>
          <a:xfrm>
            <a:off x="733425" y="5667375"/>
            <a:ext cx="3838575" cy="209550"/>
          </a:xfrm>
          <a:prstGeom prst="rect">
            <a:avLst/>
          </a:prstGeom>
          <a:noFill/>
          <a:ln w="0">
            <a:noFill/>
          </a:ln>
        </p:spPr>
        <p:txBody>
          <a:bodyPr wrap="none" lIns="0" tIns="0" rIns="0" bIns="0">
            <a:noAutofit/>
          </a:bodyPr>
          <a:lstStyle>
            <a:defPPr>
              <a:defRPr sz="1163"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b="0">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[β</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1</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tanh(</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W</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g</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x</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/β</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1</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 Sigmoid(</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W</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g</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x</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a:t>
            </a:r>
          </a:p>
        </p:txBody>
      </p:sp>
      <p:sp>
        <p:nvSpPr>
          <p:cNvPr id="1004" name="MathCompare_5">
            <a:extLst>
              <a:ext uri="{FF2B5EF4-FFF2-40B4-BE49-F238E27FC236}">
                <a16:creationId xmlns:a16="http://schemas.microsoft.com/office/drawing/2014/main" id="{A0E0D886-6759-4194-8AEC-7EBD036B23DA}"/>
              </a:ext>
            </a:extLst>
          </p:cNvPr>
          <p:cNvSpPr>
            <a:spLocks noGrp="1"/>
          </p:cNvSpPr>
          <p:nvPr/>
        </p:nvSpPr>
        <p:spPr>
          <a:xfrm>
            <a:off x="733425" y="5848350"/>
            <a:ext cx="3838575" cy="209550"/>
          </a:xfrm>
          <a:prstGeom prst="rect">
            <a:avLst/>
          </a:prstGeom>
          <a:noFill/>
          <a:ln w="0">
            <a:noFill/>
          </a:ln>
        </p:spPr>
        <p:txBody>
          <a:bodyPr wrap="none" lIns="0" tIns="0" rIns="0" bIns="0">
            <a:noAutofit/>
          </a:bodyPr>
          <a:lstStyle>
            <a:defPPr>
              <a:defRPr sz="1163"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b="0">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[β</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2</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tanh(</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W</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u</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 </a:t>
            </a:r>
            <a:r>
              <a:rPr kumimoji="0" sz="1163" b="1" i="0" u="none" strike="noStrike" kern="1200" cap="none" spc="0" normalizeH="0" baseline="0" noProof="0">
                <a:ln>
                  <a:noFill/>
                </a:ln>
                <a:solidFill>
                  <a:srgbClr val="1D1D1B"/>
                </a:solidFill>
                <a:effectLst/>
                <a:uLnTx/>
                <a:uFillTx/>
                <a:latin typeface="Microsoft YaHei"/>
                <a:ea typeface="Microsoft YaHei"/>
                <a:cs typeface="Microsoft YaHei"/>
              </a:rPr>
              <a:t>x</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/β</a:t>
            </a:r>
            <a:r>
              <a:rPr kumimoji="0" sz="814" b="0" i="0" u="none" strike="noStrike" kern="1200" cap="none" spc="0" normalizeH="0" baseline="-25000" noProof="0">
                <a:ln>
                  <a:noFill/>
                </a:ln>
                <a:solidFill>
                  <a:srgbClr val="1D1D1B"/>
                </a:solidFill>
                <a:effectLst/>
                <a:uLnTx/>
                <a:uFillTx/>
                <a:latin typeface="Microsoft YaHei"/>
                <a:ea typeface="Microsoft YaHei"/>
                <a:cs typeface="Microsoft YaHei"/>
              </a:rPr>
              <a:t>2</a:t>
            </a: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a:t>
            </a:r>
          </a:p>
        </p:txBody>
      </p:sp>
      <p:sp>
        <p:nvSpPr>
          <p:cNvPr id="1005" name="MathCompare_6">
            <a:extLst>
              <a:ext uri="{FF2B5EF4-FFF2-40B4-BE49-F238E27FC236}">
                <a16:creationId xmlns:a16="http://schemas.microsoft.com/office/drawing/2014/main" id="{2F70CC62-606D-4E84-83C8-DB70CC1132D3}"/>
              </a:ext>
            </a:extLst>
          </p:cNvPr>
          <p:cNvSpPr>
            <a:spLocks noGrp="1"/>
          </p:cNvSpPr>
          <p:nvPr/>
        </p:nvSpPr>
        <p:spPr>
          <a:xfrm>
            <a:off x="733425" y="6067425"/>
            <a:ext cx="3838575" cy="190500"/>
          </a:xfrm>
          <a:prstGeom prst="rect">
            <a:avLst/>
          </a:prstGeom>
          <a:noFill/>
          <a:ln w="0">
            <a:noFill/>
          </a:ln>
        </p:spPr>
        <p:txBody>
          <a:bodyPr wrap="none" lIns="0" tIns="0" rIns="0" bIns="0">
            <a:noAutofit/>
          </a:bodyPr>
          <a:lstStyle>
            <a:defPPr>
              <a:defRPr sz="1050"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1D1D1B"/>
                </a:solidFill>
                <a:latin typeface="Microsoft YaHei"/>
                <a:ea typeface="Microsoft YaHei"/>
                <a:cs typeface="Microsoft YaHei"/>
              </a:defRPr>
            </a:pPr>
            <a:r>
              <a:rPr kumimoji="0" sz="1050" b="0" i="0" u="none" strike="noStrike" kern="1200" cap="none" spc="0" normalizeH="0" baseline="0" noProof="0" dirty="0">
                <a:ln>
                  <a:noFill/>
                </a:ln>
                <a:solidFill>
                  <a:srgbClr val="1D1D1B"/>
                </a:solidFill>
                <a:effectLst/>
                <a:uLnTx/>
                <a:uFillTx/>
                <a:latin typeface="Microsoft YaHei"/>
                <a:ea typeface="Microsoft YaHei"/>
                <a:cs typeface="Microsoft YaHei"/>
              </a:rPr>
              <a:t>β</a:t>
            </a:r>
            <a:r>
              <a:rPr kumimoji="0" sz="735" b="0" i="0" u="none" strike="noStrike" kern="1200" cap="none" spc="0" normalizeH="0" baseline="-25000" noProof="0" dirty="0">
                <a:ln>
                  <a:noFill/>
                </a:ln>
                <a:solidFill>
                  <a:srgbClr val="1D1D1B"/>
                </a:solidFill>
                <a:effectLst/>
                <a:uLnTx/>
                <a:uFillTx/>
                <a:latin typeface="Microsoft YaHei"/>
                <a:ea typeface="Microsoft YaHei"/>
                <a:cs typeface="Microsoft YaHei"/>
              </a:rPr>
              <a:t>1</a:t>
            </a:r>
            <a:r>
              <a:rPr kumimoji="0" sz="1050" b="0" i="0" u="none" strike="noStrike" kern="1200" cap="none" spc="0" normalizeH="0" baseline="0" noProof="0" dirty="0">
                <a:ln>
                  <a:noFill/>
                </a:ln>
                <a:solidFill>
                  <a:srgbClr val="1D1D1B"/>
                </a:solidFill>
                <a:effectLst/>
                <a:uLnTx/>
                <a:uFillTx/>
                <a:latin typeface="Microsoft YaHei"/>
                <a:ea typeface="Microsoft YaHei"/>
                <a:cs typeface="Microsoft YaHei"/>
              </a:rPr>
              <a:t>=4，β</a:t>
            </a:r>
            <a:r>
              <a:rPr kumimoji="0" sz="735" b="0" i="0" u="none" strike="noStrike" kern="1200" cap="none" spc="0" normalizeH="0" baseline="-25000" noProof="0" dirty="0">
                <a:ln>
                  <a:noFill/>
                </a:ln>
                <a:solidFill>
                  <a:srgbClr val="1D1D1B"/>
                </a:solidFill>
                <a:effectLst/>
                <a:uLnTx/>
                <a:uFillTx/>
                <a:latin typeface="Microsoft YaHei"/>
                <a:ea typeface="Microsoft YaHei"/>
                <a:cs typeface="Microsoft YaHei"/>
              </a:rPr>
              <a:t>2</a:t>
            </a:r>
            <a:r>
              <a:rPr kumimoji="0" sz="1050" b="0" i="0" u="none" strike="noStrike" kern="1200" cap="none" spc="0" normalizeH="0" baseline="0" noProof="0" dirty="0">
                <a:ln>
                  <a:noFill/>
                </a:ln>
                <a:solidFill>
                  <a:srgbClr val="1D1D1B"/>
                </a:solidFill>
                <a:effectLst/>
                <a:uLnTx/>
                <a:uFillTx/>
                <a:latin typeface="Microsoft YaHei"/>
                <a:ea typeface="Microsoft YaHei"/>
                <a:cs typeface="Microsoft YaHei"/>
              </a:rPr>
              <a:t>=25；g=</a:t>
            </a:r>
            <a:r>
              <a:rPr kumimoji="0" sz="1050" b="1" i="0" u="none" strike="noStrike" kern="1200" cap="none" spc="0" normalizeH="0" baseline="0" noProof="0" dirty="0" err="1">
                <a:ln>
                  <a:noFill/>
                </a:ln>
                <a:solidFill>
                  <a:srgbClr val="1D1D1B"/>
                </a:solidFill>
                <a:effectLst/>
                <a:uLnTx/>
                <a:uFillTx/>
                <a:latin typeface="Microsoft YaHei"/>
                <a:ea typeface="Microsoft YaHei"/>
                <a:cs typeface="Microsoft YaHei"/>
              </a:rPr>
              <a:t>W</a:t>
            </a:r>
            <a:r>
              <a:rPr kumimoji="0" sz="735" b="0" i="0" u="none" strike="noStrike" kern="1200" cap="none" spc="0" normalizeH="0" baseline="-25000" noProof="0" dirty="0" err="1">
                <a:ln>
                  <a:noFill/>
                </a:ln>
                <a:solidFill>
                  <a:srgbClr val="1D1D1B"/>
                </a:solidFill>
                <a:effectLst/>
                <a:uLnTx/>
                <a:uFillTx/>
                <a:latin typeface="Microsoft YaHei"/>
                <a:ea typeface="Microsoft YaHei"/>
                <a:cs typeface="Microsoft YaHei"/>
              </a:rPr>
              <a:t>g</a:t>
            </a:r>
            <a:r>
              <a:rPr kumimoji="0" sz="1050" b="0" i="0" u="none" strike="noStrike" kern="1200" cap="none" spc="0" normalizeH="0" baseline="0" noProof="0" dirty="0">
                <a:ln>
                  <a:noFill/>
                </a:ln>
                <a:solidFill>
                  <a:srgbClr val="1D1D1B"/>
                </a:solidFill>
                <a:effectLst/>
                <a:uLnTx/>
                <a:uFillTx/>
                <a:latin typeface="Microsoft YaHei"/>
                <a:ea typeface="Microsoft YaHei"/>
                <a:cs typeface="Microsoft YaHei"/>
              </a:rPr>
              <a:t> </a:t>
            </a:r>
            <a:r>
              <a:rPr kumimoji="0" sz="1050" b="1" i="0" u="none" strike="noStrike" kern="1200" cap="none" spc="0" normalizeH="0" baseline="0" noProof="0" dirty="0" err="1">
                <a:ln>
                  <a:noFill/>
                </a:ln>
                <a:solidFill>
                  <a:srgbClr val="1D1D1B"/>
                </a:solidFill>
                <a:effectLst/>
                <a:uLnTx/>
                <a:uFillTx/>
                <a:latin typeface="Microsoft YaHei"/>
                <a:ea typeface="Microsoft YaHei"/>
                <a:cs typeface="Microsoft YaHei"/>
              </a:rPr>
              <a:t>x</a:t>
            </a:r>
            <a:r>
              <a:rPr kumimoji="0" sz="1050" b="0" i="0" u="none" strike="noStrike" kern="1200" cap="none" spc="0" normalizeH="0" baseline="0" noProof="0" dirty="0" err="1">
                <a:ln>
                  <a:noFill/>
                </a:ln>
                <a:solidFill>
                  <a:srgbClr val="1D1D1B"/>
                </a:solidFill>
                <a:effectLst/>
                <a:uLnTx/>
                <a:uFillTx/>
                <a:latin typeface="Microsoft YaHei"/>
                <a:ea typeface="Microsoft YaHei"/>
                <a:cs typeface="Microsoft YaHei"/>
              </a:rPr>
              <a:t>，u</a:t>
            </a:r>
            <a:r>
              <a:rPr kumimoji="0" sz="1050" b="0" i="0" u="none" strike="noStrike" kern="1200" cap="none" spc="0" normalizeH="0" baseline="0" noProof="0" dirty="0">
                <a:ln>
                  <a:noFill/>
                </a:ln>
                <a:solidFill>
                  <a:srgbClr val="1D1D1B"/>
                </a:solidFill>
                <a:effectLst/>
                <a:uLnTx/>
                <a:uFillTx/>
                <a:latin typeface="Microsoft YaHei"/>
                <a:ea typeface="Microsoft YaHei"/>
                <a:cs typeface="Microsoft YaHei"/>
              </a:rPr>
              <a:t>=</a:t>
            </a:r>
            <a:r>
              <a:rPr kumimoji="0" sz="1050" b="1" i="0" u="none" strike="noStrike" kern="1200" cap="none" spc="0" normalizeH="0" baseline="0" noProof="0" dirty="0">
                <a:ln>
                  <a:noFill/>
                </a:ln>
                <a:solidFill>
                  <a:srgbClr val="1D1D1B"/>
                </a:solidFill>
                <a:effectLst/>
                <a:uLnTx/>
                <a:uFillTx/>
                <a:latin typeface="Microsoft YaHei"/>
                <a:ea typeface="Microsoft YaHei"/>
                <a:cs typeface="Microsoft YaHei"/>
              </a:rPr>
              <a:t>W</a:t>
            </a:r>
            <a:r>
              <a:rPr kumimoji="0" sz="735" b="0" i="0" u="none" strike="noStrike" kern="1200" cap="none" spc="0" normalizeH="0" baseline="-25000" noProof="0" dirty="0">
                <a:ln>
                  <a:noFill/>
                </a:ln>
                <a:solidFill>
                  <a:srgbClr val="1D1D1B"/>
                </a:solidFill>
                <a:effectLst/>
                <a:uLnTx/>
                <a:uFillTx/>
                <a:latin typeface="Microsoft YaHei"/>
                <a:ea typeface="Microsoft YaHei"/>
                <a:cs typeface="Microsoft YaHei"/>
              </a:rPr>
              <a:t>u</a:t>
            </a:r>
            <a:r>
              <a:rPr kumimoji="0" sz="1050" b="0" i="0" u="none" strike="noStrike" kern="1200" cap="none" spc="0" normalizeH="0" baseline="0" noProof="0" dirty="0">
                <a:ln>
                  <a:noFill/>
                </a:ln>
                <a:solidFill>
                  <a:srgbClr val="1D1D1B"/>
                </a:solidFill>
                <a:effectLst/>
                <a:uLnTx/>
                <a:uFillTx/>
                <a:latin typeface="Microsoft YaHei"/>
                <a:ea typeface="Microsoft YaHei"/>
                <a:cs typeface="Microsoft YaHei"/>
              </a:rPr>
              <a:t> </a:t>
            </a:r>
            <a:r>
              <a:rPr kumimoji="0" sz="1050" b="1" i="0" u="none" strike="noStrike" kern="1200" cap="none" spc="0" normalizeH="0" baseline="0" noProof="0" dirty="0">
                <a:ln>
                  <a:noFill/>
                </a:ln>
                <a:solidFill>
                  <a:srgbClr val="1D1D1B"/>
                </a:solidFill>
                <a:effectLst/>
                <a:uLnTx/>
                <a:uFillTx/>
                <a:latin typeface="Microsoft YaHei"/>
                <a:ea typeface="Microsoft YaHei"/>
                <a:cs typeface="Microsoft YaHei"/>
              </a:rPr>
              <a:t>x</a:t>
            </a:r>
          </a:p>
        </p:txBody>
      </p:sp>
      <p:sp>
        <p:nvSpPr>
          <p:cNvPr id="1006" name="MathCompare_7">
            <a:extLst>
              <a:ext uri="{FF2B5EF4-FFF2-40B4-BE49-F238E27FC236}">
                <a16:creationId xmlns:a16="http://schemas.microsoft.com/office/drawing/2014/main" id="{6A56ECB2-7DBE-4AEB-BB50-3650D471B035}"/>
              </a:ext>
            </a:extLst>
          </p:cNvPr>
          <p:cNvSpPr>
            <a:spLocks noGrp="1"/>
          </p:cNvSpPr>
          <p:nvPr/>
        </p:nvSpPr>
        <p:spPr>
          <a:xfrm>
            <a:off x="733425" y="6248400"/>
            <a:ext cx="3838575" cy="171450"/>
          </a:xfrm>
          <a:prstGeom prst="rect">
            <a:avLst/>
          </a:prstGeom>
          <a:noFill/>
          <a:ln w="0">
            <a:noFill/>
          </a:ln>
        </p:spPr>
        <p:txBody>
          <a:bodyPr wrap="none" lIns="0" tIns="0" rIns="0" bIns="0">
            <a:noAutofit/>
          </a:bodyPr>
          <a:lstStyle>
            <a:defPPr>
              <a:defRPr sz="1050" b="0">
                <a:solidFill>
                  <a:srgbClr val="666666"/>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666666"/>
                </a:solidFill>
                <a:latin typeface="Microsoft YaHei"/>
                <a:ea typeface="Microsoft YaHei"/>
                <a:cs typeface="Microsoft YaHei"/>
              </a:defRPr>
            </a:pPr>
            <a:r>
              <a:rPr kumimoji="0" sz="1050" b="0" i="0" u="none" strike="noStrike" kern="1200" cap="none" spc="0" normalizeH="0" baseline="0" noProof="0">
                <a:ln>
                  <a:noFill/>
                </a:ln>
                <a:solidFill>
                  <a:srgbClr val="666666"/>
                </a:solidFill>
                <a:effectLst/>
                <a:uLnTx/>
                <a:uFillTx/>
                <a:latin typeface="Microsoft YaHei"/>
                <a:ea typeface="Microsoft YaHei"/>
                <a:cs typeface="Microsoft YaHei"/>
              </a:rPr>
              <a:t>Gate、Up 每坐标各新增 1 次 tanh</a:t>
            </a:r>
          </a:p>
        </p:txBody>
      </p:sp>
      <p:sp>
        <p:nvSpPr>
          <p:cNvPr id="1600" name="SiTUAdapt_1">
            <a:extLst>
              <a:ext uri="{FF2B5EF4-FFF2-40B4-BE49-F238E27FC236}">
                <a16:creationId xmlns:a16="http://schemas.microsoft.com/office/drawing/2014/main" id="{25A124E7-707D-4B9D-B70F-F89A383626FE}"/>
              </a:ext>
            </a:extLst>
          </p:cNvPr>
          <p:cNvSpPr>
            <a:spLocks noGrp="1"/>
          </p:cNvSpPr>
          <p:nvPr/>
        </p:nvSpPr>
        <p:spPr>
          <a:xfrm>
            <a:off x="4772025" y="2362200"/>
            <a:ext cx="6686550" cy="238125"/>
          </a:xfrm>
          <a:prstGeom prst="rect">
            <a:avLst/>
          </a:prstGeom>
          <a:noFill/>
          <a:ln w="0">
            <a:noFill/>
          </a:ln>
        </p:spPr>
        <p:txBody>
          <a:bodyPr wrap="none" lIns="0" tIns="0" rIns="0" bIns="0">
            <a:noAutofit/>
          </a:bodyPr>
          <a:lstStyle>
            <a:defPPr>
              <a:defRPr sz="1500"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C7000B"/>
                </a:solidFill>
                <a:latin typeface="Microsoft YaHei"/>
                <a:ea typeface="Microsoft YaHei"/>
                <a:cs typeface="Microsoft YaHei"/>
              </a:defRPr>
            </a:pPr>
            <a:r>
              <a:rPr kumimoji="0" sz="1500" b="1" i="0" u="none" strike="noStrike" kern="1200" cap="none" spc="0" normalizeH="0" baseline="0" noProof="0">
                <a:ln>
                  <a:noFill/>
                </a:ln>
                <a:solidFill>
                  <a:srgbClr val="C7000B"/>
                </a:solidFill>
                <a:effectLst/>
                <a:uLnTx/>
                <a:uFillTx/>
                <a:latin typeface="Microsoft YaHei"/>
                <a:ea typeface="Microsoft YaHei"/>
                <a:cs typeface="Microsoft YaHei"/>
              </a:rPr>
              <a:t>从激活放大风险到分层幅值控制</a:t>
            </a:r>
          </a:p>
        </p:txBody>
      </p:sp>
      <p:sp>
        <p:nvSpPr>
          <p:cNvPr id="1601" name="SiTUAdapt_2">
            <a:extLst>
              <a:ext uri="{FF2B5EF4-FFF2-40B4-BE49-F238E27FC236}">
                <a16:creationId xmlns:a16="http://schemas.microsoft.com/office/drawing/2014/main" id="{BC8B1462-1D53-4173-8CCA-3F4A8B2885AF}"/>
              </a:ext>
            </a:extLst>
          </p:cNvPr>
          <p:cNvSpPr>
            <a:spLocks noGrp="1"/>
          </p:cNvSpPr>
          <p:nvPr/>
        </p:nvSpPr>
        <p:spPr>
          <a:xfrm>
            <a:off x="4772025" y="2676525"/>
            <a:ext cx="3143250" cy="495300"/>
          </a:xfrm>
          <a:prstGeom prst="rect">
            <a:avLst/>
          </a:prstGeom>
          <a:solidFill>
            <a:srgbClr val="F0F0F0"/>
          </a:solidFill>
          <a:ln w="7620">
            <a:solidFill>
              <a:srgbClr val="9C9C9C"/>
            </a:solidFill>
          </a:ln>
        </p:spPr>
        <p:txBody>
          <a:bodyPr wrap="none" lIns="66675" tIns="66675" rIns="66675" bIns="66675" anchor="ctr">
            <a:noAutofit/>
          </a:bodyPr>
          <a:lstStyle>
            <a:defPPr>
              <a:defRPr sz="120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a:ln>
                  <a:noFill/>
                </a:ln>
                <a:solidFill>
                  <a:srgbClr val="1D1D1B"/>
                </a:solidFill>
                <a:effectLst/>
                <a:uLnTx/>
                <a:uFillTx/>
                <a:latin typeface="Microsoft YaHei"/>
                <a:ea typeface="Microsoft YaHei"/>
                <a:cs typeface="Microsoft YaHei"/>
              </a:rPr>
              <a:t>额外投影加深矩阵乘链</a:t>
            </a:r>
          </a:p>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a:ln>
                  <a:noFill/>
                </a:ln>
                <a:solidFill>
                  <a:srgbClr val="1D1D1B"/>
                </a:solidFill>
                <a:effectLst/>
                <a:uLnTx/>
                <a:uFillTx/>
                <a:latin typeface="Microsoft YaHei"/>
                <a:ea typeface="Microsoft YaHei"/>
                <a:cs typeface="Microsoft YaHei"/>
              </a:rPr>
              <a:t>SwiGLU 的两支无界</a:t>
            </a:r>
          </a:p>
        </p:txBody>
      </p:sp>
      <p:sp>
        <p:nvSpPr>
          <p:cNvPr id="1602" name="SiTUAdapt_3">
            <a:extLst>
              <a:ext uri="{FF2B5EF4-FFF2-40B4-BE49-F238E27FC236}">
                <a16:creationId xmlns:a16="http://schemas.microsoft.com/office/drawing/2014/main" id="{6650A5F0-6D3A-4CC2-9C83-1B32EF46DD0D}"/>
              </a:ext>
            </a:extLst>
          </p:cNvPr>
          <p:cNvSpPr>
            <a:spLocks noGrp="1"/>
          </p:cNvSpPr>
          <p:nvPr/>
        </p:nvSpPr>
        <p:spPr>
          <a:xfrm>
            <a:off x="7991475" y="2857500"/>
            <a:ext cx="219075" cy="133350"/>
          </a:xfrm>
          <a:prstGeom prst="rightArrow">
            <a:avLst/>
          </a:prstGeom>
          <a:solidFill>
            <a:srgbClr val="777777"/>
          </a:solidFill>
          <a:ln w="0">
            <a:noFill/>
          </a:ln>
        </p:spPr>
      </p:sp>
      <p:sp>
        <p:nvSpPr>
          <p:cNvPr id="1603" name="SiTUAdapt_4">
            <a:extLst>
              <a:ext uri="{FF2B5EF4-FFF2-40B4-BE49-F238E27FC236}">
                <a16:creationId xmlns:a16="http://schemas.microsoft.com/office/drawing/2014/main" id="{AE210F99-3590-496A-B605-CDE2762C29E2}"/>
              </a:ext>
            </a:extLst>
          </p:cNvPr>
          <p:cNvSpPr>
            <a:spLocks noGrp="1"/>
          </p:cNvSpPr>
          <p:nvPr/>
        </p:nvSpPr>
        <p:spPr>
          <a:xfrm>
            <a:off x="8286750" y="2676525"/>
            <a:ext cx="3171825" cy="495300"/>
          </a:xfrm>
          <a:prstGeom prst="rect">
            <a:avLst/>
          </a:prstGeom>
          <a:solidFill>
            <a:srgbClr val="F0F0F0"/>
          </a:solidFill>
          <a:ln w="7620">
            <a:solidFill>
              <a:srgbClr val="9C9C9C"/>
            </a:solidFill>
          </a:ln>
        </p:spPr>
        <p:txBody>
          <a:bodyPr wrap="none" lIns="66675" tIns="66675" rIns="66675" bIns="66675" anchor="ctr">
            <a:noAutofit/>
          </a:bodyPr>
          <a:lstStyle>
            <a:defPPr>
              <a:defRPr sz="120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a:ln>
                  <a:noFill/>
                </a:ln>
                <a:solidFill>
                  <a:srgbClr val="1D1D1B"/>
                </a:solidFill>
                <a:effectLst/>
                <a:uLnTx/>
                <a:uFillTx/>
                <a:latin typeface="Microsoft YaHei"/>
                <a:ea typeface="Microsoft YaHei"/>
                <a:cs typeface="Microsoft YaHei"/>
              </a:rPr>
              <a:t>两支大幅值相乘</a:t>
            </a:r>
          </a:p>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a:ln>
                  <a:noFill/>
                </a:ln>
                <a:solidFill>
                  <a:srgbClr val="1D1D1B"/>
                </a:solidFill>
                <a:effectLst/>
                <a:uLnTx/>
                <a:uFillTx/>
                <a:latin typeface="Microsoft YaHei"/>
                <a:ea typeface="Microsoft YaHei"/>
                <a:cs typeface="Microsoft YaHei"/>
              </a:rPr>
              <a:t>放大路由分支内部异常激活</a:t>
            </a:r>
          </a:p>
        </p:txBody>
      </p:sp>
      <p:sp>
        <p:nvSpPr>
          <p:cNvPr id="1604" name="SiTUAdapt_5">
            <a:extLst>
              <a:ext uri="{FF2B5EF4-FFF2-40B4-BE49-F238E27FC236}">
                <a16:creationId xmlns:a16="http://schemas.microsoft.com/office/drawing/2014/main" id="{7E78C8C8-6689-4EEF-85AD-C9D896E92476}"/>
              </a:ext>
            </a:extLst>
          </p:cNvPr>
          <p:cNvSpPr>
            <a:spLocks noGrp="1"/>
          </p:cNvSpPr>
          <p:nvPr/>
        </p:nvSpPr>
        <p:spPr>
          <a:xfrm>
            <a:off x="9867900" y="3171825"/>
            <a:ext cx="0" cy="104775"/>
          </a:xfrm>
          <a:prstGeom prst="line">
            <a:avLst/>
          </a:prstGeom>
          <a:noFill/>
          <a:ln w="14288">
            <a:solidFill>
              <a:srgbClr val="777777"/>
            </a:solidFill>
          </a:ln>
        </p:spPr>
      </p:sp>
      <p:sp>
        <p:nvSpPr>
          <p:cNvPr id="1605" name="SiTUAdapt_6">
            <a:extLst>
              <a:ext uri="{FF2B5EF4-FFF2-40B4-BE49-F238E27FC236}">
                <a16:creationId xmlns:a16="http://schemas.microsoft.com/office/drawing/2014/main" id="{0C988D81-54F1-4FF5-B8E9-D50D84DF6BC8}"/>
              </a:ext>
            </a:extLst>
          </p:cNvPr>
          <p:cNvSpPr>
            <a:spLocks noGrp="1"/>
          </p:cNvSpPr>
          <p:nvPr/>
        </p:nvSpPr>
        <p:spPr>
          <a:xfrm>
            <a:off x="6343650" y="3276600"/>
            <a:ext cx="3524250" cy="0"/>
          </a:xfrm>
          <a:prstGeom prst="line">
            <a:avLst/>
          </a:prstGeom>
          <a:noFill/>
          <a:ln w="14288">
            <a:solidFill>
              <a:srgbClr val="777777"/>
            </a:solidFill>
          </a:ln>
        </p:spPr>
      </p:sp>
      <p:sp>
        <p:nvSpPr>
          <p:cNvPr id="1606" name="SiTUAdapt_7">
            <a:extLst>
              <a:ext uri="{FF2B5EF4-FFF2-40B4-BE49-F238E27FC236}">
                <a16:creationId xmlns:a16="http://schemas.microsoft.com/office/drawing/2014/main" id="{E5E31CDC-235C-46DD-BC79-98C439924F81}"/>
              </a:ext>
            </a:extLst>
          </p:cNvPr>
          <p:cNvSpPr>
            <a:spLocks noGrp="1"/>
          </p:cNvSpPr>
          <p:nvPr/>
        </p:nvSpPr>
        <p:spPr>
          <a:xfrm>
            <a:off x="6267450" y="3276600"/>
            <a:ext cx="152400" cy="133350"/>
          </a:xfrm>
          <a:prstGeom prst="downArrow">
            <a:avLst/>
          </a:prstGeom>
          <a:solidFill>
            <a:srgbClr val="777777"/>
          </a:solidFill>
          <a:ln w="0">
            <a:noFill/>
          </a:ln>
        </p:spPr>
      </p:sp>
      <p:sp>
        <p:nvSpPr>
          <p:cNvPr id="1607" name="SiTUAdapt_8">
            <a:extLst>
              <a:ext uri="{FF2B5EF4-FFF2-40B4-BE49-F238E27FC236}">
                <a16:creationId xmlns:a16="http://schemas.microsoft.com/office/drawing/2014/main" id="{8EB6F65D-2213-4647-925F-70D327A7D5B9}"/>
              </a:ext>
            </a:extLst>
          </p:cNvPr>
          <p:cNvSpPr>
            <a:spLocks noGrp="1"/>
          </p:cNvSpPr>
          <p:nvPr/>
        </p:nvSpPr>
        <p:spPr>
          <a:xfrm>
            <a:off x="4772025" y="3429000"/>
            <a:ext cx="3143250" cy="647700"/>
          </a:xfrm>
          <a:prstGeom prst="rect">
            <a:avLst/>
          </a:prstGeom>
          <a:solidFill>
            <a:srgbClr val="FFF2F2"/>
          </a:solidFill>
          <a:ln w="7620">
            <a:solidFill>
              <a:srgbClr val="C7000B"/>
            </a:solidFill>
          </a:ln>
        </p:spPr>
        <p:txBody>
          <a:bodyPr wrap="none" lIns="66675" tIns="66675" rIns="66675" bIns="66675" anchor="ctr">
            <a:noAutofit/>
          </a:bodyPr>
          <a:lstStyle>
            <a:defPPr>
              <a:defRPr sz="120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dirty="0">
                <a:ln>
                  <a:noFill/>
                </a:ln>
                <a:solidFill>
                  <a:srgbClr val="1D1D1B"/>
                </a:solidFill>
                <a:effectLst/>
                <a:uLnTx/>
                <a:uFillTx/>
                <a:latin typeface="Microsoft YaHei"/>
                <a:ea typeface="Microsoft YaHei"/>
                <a:cs typeface="Microsoft YaHei"/>
              </a:rPr>
              <a:t>tanh 幅度≤1，0&lt;sigmoid&lt;1</a:t>
            </a:r>
          </a:p>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dirty="0" err="1">
                <a:ln>
                  <a:noFill/>
                </a:ln>
                <a:solidFill>
                  <a:srgbClr val="1D1D1B"/>
                </a:solidFill>
                <a:effectLst/>
                <a:uLnTx/>
                <a:uFillTx/>
                <a:latin typeface="Microsoft YaHei"/>
                <a:ea typeface="Microsoft YaHei"/>
                <a:cs typeface="Microsoft YaHei"/>
              </a:rPr>
              <a:t>处理后</a:t>
            </a:r>
            <a:r>
              <a:rPr kumimoji="0" sz="1200" b="0" i="0" u="none" strike="noStrike" kern="1200" cap="none" spc="0" normalizeH="0" baseline="0" noProof="0" dirty="0">
                <a:ln>
                  <a:noFill/>
                </a:ln>
                <a:solidFill>
                  <a:srgbClr val="1D1D1B"/>
                </a:solidFill>
                <a:effectLst/>
                <a:uLnTx/>
                <a:uFillTx/>
                <a:latin typeface="Microsoft YaHei"/>
                <a:ea typeface="Microsoft YaHei"/>
                <a:cs typeface="Microsoft YaHei"/>
              </a:rPr>
              <a:t> |Gate|≤4、|Up|≤25</a:t>
            </a:r>
          </a:p>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dirty="0">
                <a:ln>
                  <a:noFill/>
                </a:ln>
                <a:solidFill>
                  <a:srgbClr val="1D1D1B"/>
                </a:solidFill>
                <a:effectLst/>
                <a:uLnTx/>
                <a:uFillTx/>
                <a:latin typeface="Microsoft YaHei"/>
                <a:ea typeface="Microsoft YaHei"/>
                <a:cs typeface="Microsoft YaHei"/>
              </a:rPr>
              <a:t>|</a:t>
            </a:r>
            <a:r>
              <a:rPr kumimoji="0" sz="1200" b="0" i="0" u="none" strike="noStrike" kern="1200" cap="none" spc="0" normalizeH="0" baseline="0" noProof="0" dirty="0" err="1">
                <a:ln>
                  <a:noFill/>
                </a:ln>
                <a:solidFill>
                  <a:srgbClr val="1D1D1B"/>
                </a:solidFill>
                <a:effectLst/>
                <a:uLnTx/>
                <a:uFillTx/>
                <a:latin typeface="Microsoft YaHei"/>
                <a:ea typeface="Microsoft YaHei"/>
                <a:cs typeface="Microsoft YaHei"/>
              </a:rPr>
              <a:t>Gate×Up</a:t>
            </a:r>
            <a:r>
              <a:rPr kumimoji="0" sz="1200" b="0" i="0" u="none" strike="noStrike" kern="1200" cap="none" spc="0" normalizeH="0" baseline="0" noProof="0" dirty="0">
                <a:ln>
                  <a:noFill/>
                </a:ln>
                <a:solidFill>
                  <a:srgbClr val="1D1D1B"/>
                </a:solidFill>
                <a:effectLst/>
                <a:uLnTx/>
                <a:uFillTx/>
                <a:latin typeface="Microsoft YaHei"/>
                <a:ea typeface="Microsoft YaHei"/>
                <a:cs typeface="Microsoft YaHei"/>
              </a:rPr>
              <a:t>|≤100（专家输出 Linear 前）</a:t>
            </a:r>
          </a:p>
        </p:txBody>
      </p:sp>
      <p:sp>
        <p:nvSpPr>
          <p:cNvPr id="1608" name="SiTUAdapt_9">
            <a:extLst>
              <a:ext uri="{FF2B5EF4-FFF2-40B4-BE49-F238E27FC236}">
                <a16:creationId xmlns:a16="http://schemas.microsoft.com/office/drawing/2014/main" id="{628EA413-DAB7-4CD8-B01D-2FBC648A5FCC}"/>
              </a:ext>
            </a:extLst>
          </p:cNvPr>
          <p:cNvSpPr>
            <a:spLocks noGrp="1"/>
          </p:cNvSpPr>
          <p:nvPr/>
        </p:nvSpPr>
        <p:spPr>
          <a:xfrm>
            <a:off x="7991475" y="3676650"/>
            <a:ext cx="219075" cy="133350"/>
          </a:xfrm>
          <a:prstGeom prst="rightArrow">
            <a:avLst/>
          </a:prstGeom>
          <a:solidFill>
            <a:srgbClr val="777777"/>
          </a:solidFill>
          <a:ln w="0">
            <a:noFill/>
          </a:ln>
        </p:spPr>
      </p:sp>
      <p:sp>
        <p:nvSpPr>
          <p:cNvPr id="1609" name="SiTUAdapt_10">
            <a:extLst>
              <a:ext uri="{FF2B5EF4-FFF2-40B4-BE49-F238E27FC236}">
                <a16:creationId xmlns:a16="http://schemas.microsoft.com/office/drawing/2014/main" id="{67B79774-743B-4D9B-A701-573075B862E5}"/>
              </a:ext>
            </a:extLst>
          </p:cNvPr>
          <p:cNvSpPr>
            <a:spLocks noGrp="1"/>
          </p:cNvSpPr>
          <p:nvPr/>
        </p:nvSpPr>
        <p:spPr>
          <a:xfrm>
            <a:off x="8286750" y="3429000"/>
            <a:ext cx="3171825" cy="647700"/>
          </a:xfrm>
          <a:prstGeom prst="rect">
            <a:avLst/>
          </a:prstGeom>
          <a:solidFill>
            <a:srgbClr val="F0F0F0"/>
          </a:solidFill>
          <a:ln w="7620">
            <a:solidFill>
              <a:srgbClr val="9C9C9C"/>
            </a:solidFill>
          </a:ln>
        </p:spPr>
        <p:txBody>
          <a:bodyPr wrap="none" lIns="66675" tIns="66675" rIns="66675" bIns="66675" anchor="ctr">
            <a:noAutofit/>
          </a:bodyPr>
          <a:lstStyle>
            <a:defPPr>
              <a:defRPr sz="120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a:ln>
                  <a:noFill/>
                </a:ln>
                <a:solidFill>
                  <a:srgbClr val="1D1D1B"/>
                </a:solidFill>
                <a:effectLst/>
                <a:uLnTx/>
                <a:uFillTx/>
                <a:latin typeface="Microsoft YaHei"/>
                <a:ea typeface="Microsoft YaHei"/>
                <a:cs typeface="Microsoft YaHei"/>
              </a:rPr>
              <a:t>近零处近似 SwiGLU</a:t>
            </a:r>
          </a:p>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a:ln>
                  <a:noFill/>
                </a:ln>
                <a:solidFill>
                  <a:srgbClr val="1D1D1B"/>
                </a:solidFill>
                <a:effectLst/>
                <a:uLnTx/>
                <a:uFillTx/>
                <a:latin typeface="Microsoft YaHei"/>
                <a:ea typeface="Microsoft YaHei"/>
                <a:cs typeface="Microsoft YaHei"/>
              </a:rPr>
              <a:t>保留局部响应</a:t>
            </a:r>
          </a:p>
          <a:p>
            <a:pPr marL="0" marR="0" lvl="0" indent="0" algn="l" defTabSz="914400" rtl="0" eaLnBrk="1" fontAlgn="auto" latinLnBrk="0" hangingPunct="1">
              <a:lnSpc>
                <a:spcPct val="100000"/>
              </a:lnSpc>
              <a:spcBef>
                <a:spcPts val="0"/>
              </a:spcBef>
              <a:spcAft>
                <a:spcPts val="0"/>
              </a:spcAft>
              <a:buClrTx/>
              <a:buSzTx/>
              <a:buFontTx/>
              <a:buNone/>
              <a:tabLst/>
              <a:defRPr sz="1200">
                <a:solidFill>
                  <a:srgbClr val="1D1D1B"/>
                </a:solidFill>
                <a:latin typeface="Microsoft YaHei"/>
                <a:ea typeface="Microsoft YaHei"/>
                <a:cs typeface="Microsoft YaHei"/>
              </a:defRPr>
            </a:pPr>
            <a:r>
              <a:rPr kumimoji="0" sz="1200" b="0" i="0" u="none" strike="noStrike" kern="1200" cap="none" spc="0" normalizeH="0" baseline="0" noProof="0">
                <a:ln>
                  <a:noFill/>
                </a:ln>
                <a:solidFill>
                  <a:srgbClr val="1D1D1B"/>
                </a:solidFill>
                <a:effectLst/>
                <a:uLnTx/>
                <a:uFillTx/>
                <a:latin typeface="Microsoft YaHei"/>
                <a:ea typeface="Microsoft YaHei"/>
                <a:cs typeface="Microsoft YaHei"/>
              </a:rPr>
              <a:t>平滑限幅，不使用硬截断</a:t>
            </a:r>
          </a:p>
        </p:txBody>
      </p:sp>
      <p:sp>
        <p:nvSpPr>
          <p:cNvPr id="1610" name="SiTUAdapt_11">
            <a:extLst>
              <a:ext uri="{FF2B5EF4-FFF2-40B4-BE49-F238E27FC236}">
                <a16:creationId xmlns:a16="http://schemas.microsoft.com/office/drawing/2014/main" id="{6B7209C6-B0CC-4F6D-84E8-ABD5E15301A1}"/>
              </a:ext>
            </a:extLst>
          </p:cNvPr>
          <p:cNvSpPr>
            <a:spLocks noGrp="1"/>
          </p:cNvSpPr>
          <p:nvPr/>
        </p:nvSpPr>
        <p:spPr>
          <a:xfrm>
            <a:off x="4772025" y="4219575"/>
            <a:ext cx="6686550" cy="200025"/>
          </a:xfrm>
          <a:prstGeom prst="rect">
            <a:avLst/>
          </a:prstGeom>
          <a:noFill/>
          <a:ln w="0">
            <a:noFill/>
          </a:ln>
        </p:spPr>
        <p:txBody>
          <a:bodyPr wrap="none" lIns="0" tIns="0" rIns="0" bIns="0">
            <a:noAutofit/>
          </a:bodyPr>
          <a:lstStyle>
            <a:defPPr>
              <a:defRPr sz="1200" b="1">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1D1D1B"/>
                </a:solidFill>
                <a:latin typeface="Microsoft YaHei"/>
                <a:ea typeface="Microsoft YaHei"/>
                <a:cs typeface="Microsoft YaHei"/>
              </a:defRPr>
            </a:pPr>
            <a:r>
              <a:rPr kumimoji="0" sz="1200" b="1" i="0" u="none" strike="noStrike" kern="1200" cap="none" spc="0" normalizeH="0" baseline="0" noProof="0">
                <a:ln>
                  <a:noFill/>
                </a:ln>
                <a:solidFill>
                  <a:srgbClr val="1D1D1B"/>
                </a:solidFill>
                <a:effectLst/>
                <a:uLnTx/>
                <a:uFillTx/>
                <a:latin typeface="Microsoft YaHei"/>
                <a:ea typeface="Microsoft YaHei"/>
                <a:cs typeface="Microsoft YaHei"/>
              </a:rPr>
              <a:t>互补位置：专家内控乘积，聚合后控尺度</a:t>
            </a:r>
          </a:p>
        </p:txBody>
      </p:sp>
      <p:sp>
        <p:nvSpPr>
          <p:cNvPr id="1611" name="SiTUAdapt_12">
            <a:extLst>
              <a:ext uri="{FF2B5EF4-FFF2-40B4-BE49-F238E27FC236}">
                <a16:creationId xmlns:a16="http://schemas.microsoft.com/office/drawing/2014/main" id="{2B18E58A-3E8A-4AE3-88F5-5033DBE245FC}"/>
              </a:ext>
            </a:extLst>
          </p:cNvPr>
          <p:cNvSpPr>
            <a:spLocks noGrp="1"/>
          </p:cNvSpPr>
          <p:nvPr/>
        </p:nvSpPr>
        <p:spPr>
          <a:xfrm>
            <a:off x="4772025" y="4667250"/>
            <a:ext cx="2000250" cy="476250"/>
          </a:xfrm>
          <a:prstGeom prst="rect">
            <a:avLst/>
          </a:prstGeom>
          <a:solidFill>
            <a:srgbClr val="F0F0F0"/>
          </a:solidFill>
          <a:ln w="7620">
            <a:solidFill>
              <a:srgbClr val="9C9C9C"/>
            </a:solidFill>
          </a:ln>
        </p:spPr>
        <p:txBody>
          <a:bodyPr wrap="none" lIns="66675" tIns="66675" rIns="66675" bIns="66675" anchor="ctr">
            <a:noAutofit/>
          </a:bodyPr>
          <a:lstStyle>
            <a:defPPr>
              <a:defRPr sz="1163">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专家内部</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SiTU → 输出 Linear</a:t>
            </a:r>
          </a:p>
        </p:txBody>
      </p:sp>
      <p:sp>
        <p:nvSpPr>
          <p:cNvPr id="1612" name="SiTUAdapt_13">
            <a:extLst>
              <a:ext uri="{FF2B5EF4-FFF2-40B4-BE49-F238E27FC236}">
                <a16:creationId xmlns:a16="http://schemas.microsoft.com/office/drawing/2014/main" id="{9883328B-ECB6-4AAA-B47B-BD823D53E426}"/>
              </a:ext>
            </a:extLst>
          </p:cNvPr>
          <p:cNvSpPr>
            <a:spLocks noGrp="1"/>
          </p:cNvSpPr>
          <p:nvPr/>
        </p:nvSpPr>
        <p:spPr>
          <a:xfrm>
            <a:off x="6819900" y="4838700"/>
            <a:ext cx="190500" cy="133350"/>
          </a:xfrm>
          <a:prstGeom prst="rightArrow">
            <a:avLst/>
          </a:prstGeom>
          <a:solidFill>
            <a:srgbClr val="777777"/>
          </a:solidFill>
          <a:ln w="0">
            <a:noFill/>
          </a:ln>
        </p:spPr>
      </p:sp>
      <p:sp>
        <p:nvSpPr>
          <p:cNvPr id="1613" name="SiTUAdapt_14">
            <a:extLst>
              <a:ext uri="{FF2B5EF4-FFF2-40B4-BE49-F238E27FC236}">
                <a16:creationId xmlns:a16="http://schemas.microsoft.com/office/drawing/2014/main" id="{8E1CAAE2-6F41-4E76-8BED-AB6EB2EBB697}"/>
              </a:ext>
            </a:extLst>
          </p:cNvPr>
          <p:cNvSpPr>
            <a:spLocks noGrp="1"/>
          </p:cNvSpPr>
          <p:nvPr/>
        </p:nvSpPr>
        <p:spPr>
          <a:xfrm>
            <a:off x="7058025" y="4667250"/>
            <a:ext cx="1238250" cy="476250"/>
          </a:xfrm>
          <a:prstGeom prst="rect">
            <a:avLst/>
          </a:prstGeom>
          <a:solidFill>
            <a:srgbClr val="F0F0F0"/>
          </a:solidFill>
          <a:ln w="7620">
            <a:solidFill>
              <a:srgbClr val="9C9C9C"/>
            </a:solidFill>
          </a:ln>
        </p:spPr>
        <p:txBody>
          <a:bodyPr wrap="none" lIns="66675" tIns="66675" rIns="66675" bIns="66675" anchor="ctr">
            <a:noAutofit/>
          </a:bodyPr>
          <a:lstStyle>
            <a:defPPr>
              <a:defRPr sz="1163">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路由结果</a:t>
            </a: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a:ln>
                  <a:noFill/>
                </a:ln>
                <a:solidFill>
                  <a:srgbClr val="1D1D1B"/>
                </a:solidFill>
                <a:effectLst/>
                <a:uLnTx/>
                <a:uFillTx/>
                <a:latin typeface="Microsoft YaHei"/>
                <a:ea typeface="Microsoft YaHei"/>
                <a:cs typeface="Microsoft YaHei"/>
              </a:rPr>
              <a:t>加权聚合</a:t>
            </a:r>
          </a:p>
        </p:txBody>
      </p:sp>
      <p:sp>
        <p:nvSpPr>
          <p:cNvPr id="1614" name="SiTUAdapt_15">
            <a:extLst>
              <a:ext uri="{FF2B5EF4-FFF2-40B4-BE49-F238E27FC236}">
                <a16:creationId xmlns:a16="http://schemas.microsoft.com/office/drawing/2014/main" id="{2E3D1BA0-AC7C-44A6-9928-AC21880E7F0D}"/>
              </a:ext>
            </a:extLst>
          </p:cNvPr>
          <p:cNvSpPr>
            <a:spLocks noGrp="1"/>
          </p:cNvSpPr>
          <p:nvPr/>
        </p:nvSpPr>
        <p:spPr>
          <a:xfrm>
            <a:off x="8343900" y="4838700"/>
            <a:ext cx="190500" cy="133350"/>
          </a:xfrm>
          <a:prstGeom prst="rightArrow">
            <a:avLst/>
          </a:prstGeom>
          <a:solidFill>
            <a:srgbClr val="777777"/>
          </a:solidFill>
          <a:ln w="0">
            <a:noFill/>
          </a:ln>
        </p:spPr>
      </p:sp>
      <p:sp>
        <p:nvSpPr>
          <p:cNvPr id="1615" name="SiTUAdapt_16">
            <a:extLst>
              <a:ext uri="{FF2B5EF4-FFF2-40B4-BE49-F238E27FC236}">
                <a16:creationId xmlns:a16="http://schemas.microsoft.com/office/drawing/2014/main" id="{9E1BF62A-98BF-4C6B-936C-463E9CB8BA02}"/>
              </a:ext>
            </a:extLst>
          </p:cNvPr>
          <p:cNvSpPr>
            <a:spLocks noGrp="1"/>
          </p:cNvSpPr>
          <p:nvPr/>
        </p:nvSpPr>
        <p:spPr>
          <a:xfrm>
            <a:off x="8582025" y="4667250"/>
            <a:ext cx="2876550" cy="476250"/>
          </a:xfrm>
          <a:prstGeom prst="rect">
            <a:avLst/>
          </a:prstGeom>
          <a:solidFill>
            <a:srgbClr val="FFF2F2"/>
          </a:solidFill>
          <a:ln w="7620">
            <a:solidFill>
              <a:srgbClr val="C7000B"/>
            </a:solidFill>
          </a:ln>
        </p:spPr>
        <p:txBody>
          <a:bodyPr wrap="none" lIns="66675" tIns="66675" rIns="66675" bIns="66675" anchor="ctr">
            <a:noAutofit/>
          </a:bodyPr>
          <a:lstStyle>
            <a:defPPr>
              <a:defRPr sz="1163">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dirty="0" err="1">
                <a:ln>
                  <a:noFill/>
                </a:ln>
                <a:solidFill>
                  <a:srgbClr val="1D1D1B"/>
                </a:solidFill>
                <a:effectLst/>
                <a:uLnTx/>
                <a:uFillTx/>
                <a:latin typeface="Microsoft YaHei"/>
                <a:ea typeface="Microsoft YaHei"/>
                <a:cs typeface="Microsoft YaHei"/>
              </a:rPr>
              <a:t>RMSNorm</a:t>
            </a:r>
            <a:endParaRPr kumimoji="0" sz="1163" b="0" i="0" u="none" strike="noStrike" kern="1200" cap="none" spc="0" normalizeH="0" baseline="0" noProof="0" dirty="0">
              <a:ln>
                <a:noFill/>
              </a:ln>
              <a:solidFill>
                <a:srgbClr val="1D1D1B"/>
              </a:solidFill>
              <a:effectLst/>
              <a:uLnTx/>
              <a:uFillTx/>
              <a:latin typeface="Microsoft YaHei"/>
              <a:ea typeface="Microsoft YaHei"/>
              <a:cs typeface="Microsoft YaHei"/>
            </a:endParaRPr>
          </a:p>
          <a:p>
            <a:pPr marL="0" marR="0" lvl="0" indent="0" algn="l" defTabSz="914400" rtl="0" eaLnBrk="1" fontAlgn="auto" latinLnBrk="0" hangingPunct="1">
              <a:lnSpc>
                <a:spcPct val="100000"/>
              </a:lnSpc>
              <a:spcBef>
                <a:spcPts val="0"/>
              </a:spcBef>
              <a:spcAft>
                <a:spcPts val="0"/>
              </a:spcAft>
              <a:buClrTx/>
              <a:buSzTx/>
              <a:buFontTx/>
              <a:buNone/>
              <a:tabLst/>
              <a:defRPr sz="1163">
                <a:solidFill>
                  <a:srgbClr val="1D1D1B"/>
                </a:solidFill>
                <a:latin typeface="Microsoft YaHei"/>
                <a:ea typeface="Microsoft YaHei"/>
                <a:cs typeface="Microsoft YaHei"/>
              </a:defRPr>
            </a:pPr>
            <a:r>
              <a:rPr kumimoji="0" sz="1163" b="0" i="0" u="none" strike="noStrike" kern="1200" cap="none" spc="0" normalizeH="0" baseline="0" noProof="0" dirty="0" err="1">
                <a:ln>
                  <a:noFill/>
                </a:ln>
                <a:solidFill>
                  <a:srgbClr val="1D1D1B"/>
                </a:solidFill>
                <a:effectLst/>
                <a:uLnTx/>
                <a:uFillTx/>
                <a:latin typeface="Microsoft YaHei"/>
                <a:ea typeface="Microsoft YaHei"/>
                <a:cs typeface="Microsoft YaHei"/>
              </a:rPr>
              <a:t>控制聚合后尺度，再做上投影</a:t>
            </a:r>
            <a:endParaRPr kumimoji="0" sz="1163" b="0" i="0" u="none" strike="noStrike" kern="1200" cap="none" spc="0" normalizeH="0" baseline="0" noProof="0" dirty="0">
              <a:ln>
                <a:noFill/>
              </a:ln>
              <a:solidFill>
                <a:srgbClr val="1D1D1B"/>
              </a:solidFill>
              <a:effectLst/>
              <a:uLnTx/>
              <a:uFillTx/>
              <a:latin typeface="Microsoft YaHei"/>
              <a:ea typeface="Microsoft YaHei"/>
              <a:cs typeface="Microsoft YaHei"/>
            </a:endParaRPr>
          </a:p>
        </p:txBody>
      </p:sp>
      <p:sp>
        <p:nvSpPr>
          <p:cNvPr id="1616" name="SiTUAdapt_17">
            <a:extLst>
              <a:ext uri="{FF2B5EF4-FFF2-40B4-BE49-F238E27FC236}">
                <a16:creationId xmlns:a16="http://schemas.microsoft.com/office/drawing/2014/main" id="{D388AE92-BEDE-435C-8921-19BF893B2E74}"/>
              </a:ext>
            </a:extLst>
          </p:cNvPr>
          <p:cNvSpPr>
            <a:spLocks noGrp="1"/>
          </p:cNvSpPr>
          <p:nvPr/>
        </p:nvSpPr>
        <p:spPr>
          <a:xfrm>
            <a:off x="4772025" y="5257800"/>
            <a:ext cx="6686550" cy="238125"/>
          </a:xfrm>
          <a:prstGeom prst="rect">
            <a:avLst/>
          </a:prstGeom>
          <a:noFill/>
          <a:ln w="0">
            <a:noFill/>
          </a:ln>
        </p:spPr>
        <p:txBody>
          <a:bodyPr wrap="none" lIns="0" tIns="0" rIns="0" bIns="0">
            <a:noAutofit/>
          </a:bodyPr>
          <a:lstStyle>
            <a:defPPr>
              <a:defRPr sz="1500"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C7000B"/>
                </a:solidFill>
                <a:latin typeface="Microsoft YaHei"/>
                <a:ea typeface="Microsoft YaHei"/>
                <a:cs typeface="Microsoft YaHei"/>
              </a:defRPr>
            </a:pPr>
            <a:r>
              <a:rPr kumimoji="0" sz="1500" b="1" i="0" u="none" strike="noStrike" kern="1200" cap="none" spc="0" normalizeH="0" baseline="0" noProof="0">
                <a:ln>
                  <a:noFill/>
                </a:ln>
                <a:solidFill>
                  <a:srgbClr val="C7000B"/>
                </a:solidFill>
                <a:effectLst/>
                <a:uLnTx/>
                <a:uFillTx/>
                <a:latin typeface="Microsoft YaHei"/>
                <a:ea typeface="Microsoft YaHei"/>
                <a:cs typeface="Microsoft YaHei"/>
              </a:rPr>
              <a:t>昇腾适配</a:t>
            </a:r>
          </a:p>
        </p:txBody>
      </p:sp>
      <p:sp>
        <p:nvSpPr>
          <p:cNvPr id="1617" name="SiTUAdapt_18">
            <a:extLst>
              <a:ext uri="{FF2B5EF4-FFF2-40B4-BE49-F238E27FC236}">
                <a16:creationId xmlns:a16="http://schemas.microsoft.com/office/drawing/2014/main" id="{66F49B95-D9A8-4519-B8F6-8E0C28659C7B}"/>
              </a:ext>
            </a:extLst>
          </p:cNvPr>
          <p:cNvSpPr>
            <a:spLocks noGrp="1"/>
          </p:cNvSpPr>
          <p:nvPr/>
        </p:nvSpPr>
        <p:spPr>
          <a:xfrm>
            <a:off x="4772025" y="5553075"/>
            <a:ext cx="6686550" cy="752475"/>
          </a:xfrm>
          <a:prstGeom prst="rect">
            <a:avLst/>
          </a:prstGeom>
          <a:solidFill>
            <a:srgbClr val="F0F0F0"/>
          </a:solidFill>
          <a:ln w="7620">
            <a:solidFill>
              <a:srgbClr val="9C9C9C"/>
            </a:solidFill>
          </a:ln>
        </p:spPr>
        <p:txBody>
          <a:bodyPr wrap="none" lIns="66675" tIns="66675" rIns="66675" bIns="66675" anchor="ctr">
            <a:noAutofit/>
          </a:bodyPr>
          <a:lstStyle>
            <a:defPPr>
              <a:defRPr sz="1238">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238">
                <a:solidFill>
                  <a:srgbClr val="1D1D1B"/>
                </a:solidFill>
                <a:latin typeface="Microsoft YaHei"/>
                <a:ea typeface="Microsoft YaHei"/>
                <a:cs typeface="Microsoft YaHei"/>
              </a:defRPr>
            </a:pPr>
            <a:r>
              <a:rPr kumimoji="0" sz="1238" b="0" i="0" u="none" strike="noStrike" kern="1200" cap="none" spc="0" normalizeH="0" baseline="0" noProof="0">
                <a:ln>
                  <a:noFill/>
                </a:ln>
                <a:solidFill>
                  <a:srgbClr val="1D1D1B"/>
                </a:solidFill>
                <a:effectLst/>
                <a:uLnTx/>
                <a:uFillTx/>
                <a:latin typeface="Microsoft YaHei"/>
                <a:ea typeface="Microsoft YaHei"/>
                <a:cs typeface="Microsoft YaHei"/>
              </a:rPr>
              <a:t>适配对应的 SiTU-GLU 算子，替换原 SwiGLU 激活计算。</a:t>
            </a:r>
          </a:p>
        </p:txBody>
      </p:sp>
      <p:sp>
        <p:nvSpPr>
          <p:cNvPr id="1900" name="ComplementExplanation">
            <a:extLst>
              <a:ext uri="{FF2B5EF4-FFF2-40B4-BE49-F238E27FC236}">
                <a16:creationId xmlns:a16="http://schemas.microsoft.com/office/drawing/2014/main" id="{4F917365-7E09-4312-9D24-398079972A81}"/>
              </a:ext>
            </a:extLst>
          </p:cNvPr>
          <p:cNvSpPr>
            <a:spLocks noGrp="1"/>
          </p:cNvSpPr>
          <p:nvPr/>
        </p:nvSpPr>
        <p:spPr>
          <a:xfrm>
            <a:off x="4772025" y="4448175"/>
            <a:ext cx="6686550" cy="171450"/>
          </a:xfrm>
          <a:prstGeom prst="rect">
            <a:avLst/>
          </a:prstGeom>
          <a:noFill/>
          <a:ln w="0">
            <a:noFill/>
          </a:ln>
        </p:spPr>
        <p:txBody>
          <a:bodyPr wrap="none" lIns="0" tIns="0" rIns="0" bIns="0">
            <a:noAutofit/>
          </a:bodyPr>
          <a:lstStyle>
            <a:defPPr>
              <a:defRPr sz="1013">
                <a:solidFill>
                  <a:srgbClr val="666666"/>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013">
                <a:solidFill>
                  <a:srgbClr val="666666"/>
                </a:solidFill>
                <a:latin typeface="Microsoft YaHei"/>
                <a:ea typeface="Microsoft YaHei"/>
                <a:cs typeface="Microsoft YaHei"/>
              </a:defRPr>
            </a:pPr>
            <a:r>
              <a:rPr kumimoji="0" sz="1013" b="0" i="0" u="none" strike="noStrike" kern="1200" cap="none" spc="0" normalizeH="0" baseline="0" noProof="0">
                <a:ln>
                  <a:noFill/>
                </a:ln>
                <a:solidFill>
                  <a:srgbClr val="666666"/>
                </a:solidFill>
                <a:effectLst/>
                <a:uLnTx/>
                <a:uFillTx/>
                <a:latin typeface="Microsoft YaHei"/>
                <a:ea typeface="Microsoft YaHei"/>
                <a:cs typeface="Microsoft YaHei"/>
              </a:rPr>
              <a:t>SiTU 限制专家内 Gate×Up 放大；RMSNorm 归一化聚合后的幅度，再做 latent up 投影</a:t>
            </a:r>
          </a:p>
        </p:txBody>
      </p:sp>
      <p:sp>
        <p:nvSpPr>
          <p:cNvPr id="36" name="文本框 35">
            <a:extLst>
              <a:ext uri="{FF2B5EF4-FFF2-40B4-BE49-F238E27FC236}">
                <a16:creationId xmlns:a16="http://schemas.microsoft.com/office/drawing/2014/main" id="{0F1E0DEB-F9C0-4085-9BB8-B8E1D2B33C7A}"/>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宋泽宇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00886374</a:t>
            </a:r>
          </a:p>
        </p:txBody>
      </p:sp>
    </p:spTree>
    <p:extLst>
      <p:ext uri="{BB962C8B-B14F-4D97-AF65-F5344CB8AC3E}">
        <p14:creationId xmlns:p14="http://schemas.microsoft.com/office/powerpoint/2010/main" val="1173242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33425" y="342900"/>
            <a:ext cx="10725150" cy="447675"/>
          </a:xfrm>
          <a:prstGeom prst="rect">
            <a:avLst/>
          </a:prstGeom>
        </p:spPr>
        <p:txBody>
          <a:bodyPr lIns="0" tIns="0" rIns="0" bIns="0" anchor="t">
            <a:noAutofit/>
          </a:bodyPr>
          <a:lstStyle>
            <a:lvl1pPr marL="0" indent="0" algn="l">
              <a:lnSpc>
                <a:spcPts val="3430"/>
              </a:lnSpc>
              <a:spcBef>
                <a:spcPts val="0"/>
              </a:spcBef>
              <a:buNone/>
              <a:defRPr sz="3200" baseline="0">
                <a:solidFill>
                  <a:schemeClr val="tx1"/>
                </a:solidFill>
                <a:latin typeface="Microsoft YaHei"/>
                <a:ea typeface="Microsoft YaHei"/>
                <a:cs typeface="Microsoft YaHei"/>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pPr>
              <a:buNone/>
              <a:defRPr sz="2250" b="1">
                <a:solidFill>
                  <a:srgbClr val="C7000B"/>
                </a:solidFill>
                <a:latin typeface="Microsoft YaHei"/>
                <a:ea typeface="Microsoft YaHei"/>
                <a:cs typeface="Microsoft YaHei"/>
              </a:defRPr>
            </a:pPr>
            <a:r>
              <a:rPr sz="2250" b="1">
                <a:solidFill>
                  <a:srgbClr val="C7000B"/>
                </a:solidFill>
                <a:latin typeface="Microsoft YaHei"/>
                <a:ea typeface="Microsoft YaHei"/>
                <a:cs typeface="Microsoft YaHei"/>
              </a:rPr>
              <a:t>Stable LatentMoE（4/4）：Quantile Balancing 的训练均衡</a:t>
            </a:r>
            <a:endParaRPr/>
          </a:p>
        </p:txBody>
      </p:sp>
      <p:sp>
        <p:nvSpPr>
          <p:cNvPr id="2" name="Content Placeholder 2">
            <a:extLst>
              <a:ext uri="{FF2B5EF4-FFF2-40B4-BE49-F238E27FC236}">
                <a16:creationId xmlns:a16="http://schemas.microsoft.com/office/drawing/2014/main" id="{8A4EAA63-3827-DA40-B921-C01084B9DA87}"/>
              </a:ext>
            </a:extLst>
          </p:cNvPr>
          <p:cNvSpPr>
            <a:spLocks noGrp="1"/>
          </p:cNvSpPr>
          <p:nvPr>
            <p:ph idx="10" hasCustomPrompt="1"/>
          </p:nvPr>
        </p:nvSpPr>
        <p:spPr>
          <a:prstGeom prst="rect">
            <a:avLst/>
          </a:prstGeom>
        </p:spPr>
        <p:txBody>
          <a:bodyPr lIns="0" tIns="0" rIns="0" bIns="0"/>
          <a:lstStyle>
            <a:lvl1pPr marL="12373" indent="0">
              <a:lnSpc>
                <a:spcPct val="100000"/>
              </a:lnSpc>
              <a:spcBef>
                <a:spcPts val="0"/>
              </a:spcBef>
              <a:buFontTx/>
              <a:buNone/>
              <a:tabLst>
                <a:tab pos="1208420" algn="ctr"/>
              </a:tabLst>
              <a:defRPr sz="1800" baseline="0">
                <a:solidFill>
                  <a:schemeClr val="tx1"/>
                </a:solidFill>
                <a:latin typeface="Microsoft YaHei"/>
                <a:ea typeface="Microsoft YaHei"/>
                <a:cs typeface="Microsoft YaHei"/>
              </a:defRPr>
            </a:lvl1pPr>
            <a:lvl2pPr marL="525850" indent="-171159">
              <a:buFont typeface="Arial"/>
              <a:buChar char="•"/>
              <a:tabLst>
                <a:tab pos="1208420" algn="ctr"/>
              </a:tabLst>
              <a:defRPr sz="1299" baseline="0"/>
            </a:lvl2pPr>
            <a:lvl3pPr marL="525850" indent="-171159">
              <a:buFont typeface="Arial"/>
              <a:buChar char="•"/>
              <a:tabLst>
                <a:tab pos="1208420" algn="ctr"/>
              </a:tabLst>
              <a:defRPr sz="1299" baseline="0"/>
            </a:lvl3pPr>
            <a:lvl4pPr marL="525850" indent="-171159">
              <a:buFont typeface="Arial"/>
              <a:buChar char="•"/>
              <a:tabLst>
                <a:tab pos="1208420" algn="ctr"/>
              </a:tabLst>
              <a:defRPr sz="1299" baseline="0"/>
            </a:lvl4pPr>
            <a:lvl5pPr marL="525850" indent="-171159">
              <a:buFont typeface="Arial"/>
              <a:buChar char="•"/>
              <a:tabLst>
                <a:tab pos="1208420" algn="ctr"/>
              </a:tabLst>
              <a:defRPr sz="1299" baseline="0"/>
            </a:lvl5pPr>
          </a:lstStyle>
          <a:p>
            <a:pPr lvl="0">
              <a:buNone/>
            </a:pPr>
            <a:endParaRPr/>
          </a:p>
        </p:txBody>
      </p:sp>
      <p:sp>
        <p:nvSpPr>
          <p:cNvPr id="3" name="条带-0j3vr6-77">
            <a:extLst>
              <a:ext uri="{FF2B5EF4-FFF2-40B4-BE49-F238E27FC236}">
                <a16:creationId xmlns:a16="http://schemas.microsoft.com/office/drawing/2014/main" id="{D2C48A7B-FDD6-4ECC-9B53-4B3098FF9534}"/>
              </a:ext>
            </a:extLst>
          </p:cNvPr>
          <p:cNvSpPr>
            <a:spLocks noGrp="1"/>
          </p:cNvSpPr>
          <p:nvPr/>
        </p:nvSpPr>
        <p:spPr>
          <a:xfrm>
            <a:off x="733425" y="952500"/>
            <a:ext cx="10725150" cy="1257300"/>
          </a:xfrm>
          <a:prstGeom prst="rect">
            <a:avLst/>
          </a:prstGeom>
          <a:solidFill>
            <a:srgbClr val="EEEEEE"/>
          </a:solidFill>
          <a:ln w="0">
            <a:noFill/>
          </a:ln>
        </p:spPr>
      </p:sp>
      <p:sp>
        <p:nvSpPr>
          <p:cNvPr id="4" name="条带-0j3vr6-77">
            <a:extLst>
              <a:ext uri="{FF2B5EF4-FFF2-40B4-BE49-F238E27FC236}">
                <a16:creationId xmlns:a16="http://schemas.microsoft.com/office/drawing/2014/main" id="{BCC28162-7727-4B77-AC84-E69733EAEA9B}"/>
              </a:ext>
            </a:extLst>
          </p:cNvPr>
          <p:cNvSpPr>
            <a:spLocks noGrp="1"/>
          </p:cNvSpPr>
          <p:nvPr/>
        </p:nvSpPr>
        <p:spPr>
          <a:xfrm>
            <a:off x="733425" y="952500"/>
            <a:ext cx="762000" cy="1257300"/>
          </a:xfrm>
          <a:prstGeom prst="rect">
            <a:avLst/>
          </a:prstGeom>
          <a:solidFill>
            <a:srgbClr val="C7000B"/>
          </a:solidFill>
          <a:ln w="0">
            <a:noFill/>
          </a:ln>
        </p:spPr>
      </p:sp>
      <p:sp>
        <p:nvSpPr>
          <p:cNvPr id="5" name="分析&#10;结论">
            <a:extLst>
              <a:ext uri="{FF2B5EF4-FFF2-40B4-BE49-F238E27FC236}">
                <a16:creationId xmlns:a16="http://schemas.microsoft.com/office/drawing/2014/main" id="{E45946DC-6FD1-459C-A4FC-4E2AACB1E3C2}"/>
              </a:ext>
            </a:extLst>
          </p:cNvPr>
          <p:cNvSpPr>
            <a:spLocks noGrp="1"/>
          </p:cNvSpPr>
          <p:nvPr/>
        </p:nvSpPr>
        <p:spPr>
          <a:xfrm>
            <a:off x="809625" y="1333500"/>
            <a:ext cx="609600" cy="504825"/>
          </a:xfrm>
          <a:prstGeom prst="rect">
            <a:avLst/>
          </a:prstGeom>
          <a:noFill/>
          <a:ln w="0">
            <a:noFill/>
          </a:ln>
        </p:spPr>
        <p:txBody>
          <a:bodyPr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75" b="1">
                <a:solidFill>
                  <a:srgbClr val="FFFFFF"/>
                </a:solidFill>
                <a:latin typeface="Microsoft YaHei"/>
                <a:ea typeface="Microsoft YaHei"/>
                <a:cs typeface="Microsoft YaHei"/>
              </a:defRPr>
            </a:pPr>
            <a:r>
              <a:rPr kumimoji="0" sz="1575" b="1" i="0" u="none" strike="noStrike" kern="1200" cap="none" spc="0" normalizeH="0" baseline="0" noProof="0">
                <a:ln>
                  <a:noFill/>
                </a:ln>
                <a:solidFill>
                  <a:srgbClr val="FFFFFF"/>
                </a:solidFill>
                <a:effectLst/>
                <a:uLnTx/>
                <a:uFillTx/>
                <a:latin typeface="Microsoft YaHei"/>
                <a:ea typeface="Microsoft YaHei"/>
                <a:cs typeface="Microsoft YaHei"/>
              </a:rPr>
              <a:t>分析</a:t>
            </a:r>
          </a:p>
          <a:p>
            <a:pPr marL="0" marR="0" lvl="0" indent="0" algn="ctr" defTabSz="914400" rtl="0" eaLnBrk="1" fontAlgn="auto" latinLnBrk="0" hangingPunct="1">
              <a:lnSpc>
                <a:spcPct val="100000"/>
              </a:lnSpc>
              <a:spcBef>
                <a:spcPts val="0"/>
              </a:spcBef>
              <a:spcAft>
                <a:spcPts val="0"/>
              </a:spcAft>
              <a:buClrTx/>
              <a:buSzTx/>
              <a:buFontTx/>
              <a:buNone/>
              <a:tabLst/>
              <a:defRPr sz="1575" b="1">
                <a:solidFill>
                  <a:srgbClr val="FFFFFF"/>
                </a:solidFill>
                <a:latin typeface="Microsoft YaHei"/>
                <a:ea typeface="Microsoft YaHei"/>
                <a:cs typeface="Microsoft YaHei"/>
              </a:defRPr>
            </a:pPr>
            <a:r>
              <a:rPr kumimoji="0" sz="1575" b="1" i="0" u="none" strike="noStrike" kern="1200" cap="none" spc="0" normalizeH="0" baseline="0" noProof="0">
                <a:ln>
                  <a:noFill/>
                </a:ln>
                <a:solidFill>
                  <a:srgbClr val="FFFFFF"/>
                </a:solidFill>
                <a:effectLst/>
                <a:uLnTx/>
                <a:uFillTx/>
                <a:latin typeface="Microsoft YaHei"/>
                <a:ea typeface="Microsoft YaHei"/>
                <a:cs typeface="Microsoft YaHei"/>
              </a:rPr>
              <a:t>结论</a:t>
            </a:r>
          </a:p>
        </p:txBody>
      </p:sp>
      <p:sp>
        <p:nvSpPr>
          <p:cNvPr id="6" name="RMSNorm 放在路由专家聚合后、上投影前，抑制分支尺度变">
            <a:extLst>
              <a:ext uri="{FF2B5EF4-FFF2-40B4-BE49-F238E27FC236}">
                <a16:creationId xmlns:a16="http://schemas.microsoft.com/office/drawing/2014/main" id="{061B0440-12A8-41EC-87AF-863F4AC14BB7}"/>
              </a:ext>
            </a:extLst>
          </p:cNvPr>
          <p:cNvSpPr>
            <a:spLocks noGrp="1"/>
          </p:cNvSpPr>
          <p:nvPr/>
        </p:nvSpPr>
        <p:spPr>
          <a:xfrm>
            <a:off x="1657350" y="1057275"/>
            <a:ext cx="9658350" cy="1047750"/>
          </a:xfrm>
          <a:prstGeom prst="rect">
            <a:avLst/>
          </a:prstGeom>
          <a:noFill/>
          <a:ln w="0">
            <a:noFill/>
          </a:ln>
        </p:spPr>
        <p:txBody>
          <a:bodyPr lIns="0" tIns="0" rIns="0" bIns="0" anchor="ctr">
            <a:noAutofit/>
          </a:bodyPr>
          <a:lstStyle/>
          <a:p>
            <a:pPr marL="139700" marR="0" lvl="0" indent="-76200" algn="l" defTabSz="914400" rtl="0" eaLnBrk="1" fontAlgn="auto" latinLnBrk="0" hangingPunct="1">
              <a:lnSpc>
                <a:spcPts val="1450"/>
              </a:lnSpc>
              <a:spcBef>
                <a:spcPts val="0"/>
              </a:spcBef>
              <a:spcAft>
                <a:spcPts val="30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Quantile Balancing 以</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全局批量分位数校准专家偏置</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，替代固定步长更新；偏置只影响选专家，不进入混合权重</a:t>
            </a:r>
          </a:p>
          <a:p>
            <a:pPr marL="139700" marR="0" lvl="0" indent="-76200" algn="l" defTabSz="914400" rtl="0" eaLnBrk="1" fontAlgn="auto" latinLnBrk="0" hangingPunct="1">
              <a:lnSpc>
                <a:spcPts val="1450"/>
              </a:lnSpc>
              <a:spcBef>
                <a:spcPts val="0"/>
              </a:spcBef>
              <a:spcAft>
                <a:spcPts val="300"/>
              </a:spcAft>
              <a:buClrTx/>
              <a:buSzTx/>
              <a:buFont typeface="Microsoft YaHei"/>
              <a:buChar char="•"/>
              <a:tabLst/>
              <a:defRPr sz="1313" b="0">
                <a:solidFill>
                  <a:srgbClr val="1D1D1B"/>
                </a:solidFill>
                <a:latin typeface="Microsoft YaHei"/>
                <a:ea typeface="Microsoft YaHei"/>
                <a:cs typeface="Microsoft YaHei"/>
              </a:defRPr>
            </a:pP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K3 训练用 Top-17</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 取门槛，</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仍派发 16 个专家</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直方图 All-Reduce</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 替代全量 margin 收集，核心是 Vector 统计与整数归约</a:t>
            </a:r>
          </a:p>
          <a:p>
            <a:pPr marL="139700" marR="0" lvl="0" indent="-76200" algn="l" defTabSz="914400" rtl="0" eaLnBrk="1" fontAlgn="auto" latinLnBrk="0" hangingPunct="1">
              <a:lnSpc>
                <a:spcPts val="1450"/>
              </a:lnSpc>
              <a:spcBef>
                <a:spcPts val="0"/>
              </a:spcBef>
              <a:spcAft>
                <a:spcPts val="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新偏置</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下一训练步生效</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推理时冻结</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；部署不新增在线分位数更新或全局统计同步</a:t>
            </a:r>
          </a:p>
        </p:txBody>
      </p:sp>
      <p:pic>
        <p:nvPicPr>
          <p:cNvPr id="29" name="图片 28" descr="Kimi K3 Figure 5, full original panels (a), (b), and (c), without the paper caption."/>
          <p:cNvPicPr>
            <a:picLocks noChangeAspect="1"/>
          </p:cNvPicPr>
          <p:nvPr/>
        </p:nvPicPr>
        <p:blipFill>
          <a:blip r:embed="rId3"/>
          <a:stretch/>
        </p:blipFill>
        <p:spPr>
          <a:xfrm>
            <a:off x="1666875" y="2333625"/>
            <a:ext cx="8858250" cy="2637472"/>
          </a:xfrm>
          <a:prstGeom prst="rect">
            <a:avLst/>
          </a:prstGeom>
        </p:spPr>
      </p:pic>
      <p:sp>
        <p:nvSpPr>
          <p:cNvPr id="2000" name="QB_Full_Caption">
            <a:extLst>
              <a:ext uri="{FF2B5EF4-FFF2-40B4-BE49-F238E27FC236}">
                <a16:creationId xmlns:a16="http://schemas.microsoft.com/office/drawing/2014/main" id="{30C15B4C-8775-45DF-AE18-C357E0F8970C}"/>
              </a:ext>
            </a:extLst>
          </p:cNvPr>
          <p:cNvSpPr>
            <a:spLocks noGrp="1"/>
          </p:cNvSpPr>
          <p:nvPr/>
        </p:nvSpPr>
        <p:spPr>
          <a:xfrm>
            <a:off x="733425" y="5029200"/>
            <a:ext cx="10725150" cy="390525"/>
          </a:xfrm>
          <a:prstGeom prst="rect">
            <a:avLst/>
          </a:prstGeom>
          <a:noFill/>
          <a:ln w="0">
            <a:noFill/>
          </a:ln>
        </p:spPr>
        <p:txBody>
          <a:bodyPr wrap="none" lIns="0" tIns="0" rIns="0" bIns="0">
            <a:noAutofit/>
          </a:bodyPr>
          <a:lstStyle>
            <a:defPPr>
              <a:defRPr sz="1050" b="0">
                <a:solidFill>
                  <a:srgbClr val="666666"/>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666666"/>
                </a:solidFill>
                <a:latin typeface="Microsoft YaHei"/>
                <a:ea typeface="Microsoft YaHei"/>
                <a:cs typeface="Microsoft YaHei"/>
              </a:defRPr>
            </a:pPr>
            <a:r>
              <a:rPr kumimoji="0" sz="1050" b="0" i="0" u="none" strike="noStrike" kern="1200" cap="none" spc="0" normalizeH="0" baseline="0" noProof="0">
                <a:ln>
                  <a:noFill/>
                </a:ln>
                <a:solidFill>
                  <a:srgbClr val="666666"/>
                </a:solidFill>
                <a:effectLst/>
                <a:uLnTx/>
                <a:uFillTx/>
                <a:latin typeface="Microsoft YaHei"/>
                <a:ea typeface="Microsoft YaHei"/>
                <a:cs typeface="Microsoft YaHei"/>
              </a:rPr>
              <a:t>A：原始负载 (4,3,1,0)；B：按专家 margin 的目标分位点估计 bias 调整，再按 token 选 TopK；C：示例负载 (2,2,2,2)。</a:t>
            </a:r>
          </a:p>
          <a:p>
            <a:pPr marL="0" marR="0" lvl="0" indent="0" algn="l" defTabSz="914400" rtl="0" eaLnBrk="1" fontAlgn="auto" latinLnBrk="0" hangingPunct="1">
              <a:lnSpc>
                <a:spcPct val="100000"/>
              </a:lnSpc>
              <a:spcBef>
                <a:spcPts val="0"/>
              </a:spcBef>
              <a:spcAft>
                <a:spcPts val="0"/>
              </a:spcAft>
              <a:buClrTx/>
              <a:buSzTx/>
              <a:buFontTx/>
              <a:buNone/>
              <a:tabLst/>
              <a:defRPr sz="1050" b="0">
                <a:solidFill>
                  <a:srgbClr val="666666"/>
                </a:solidFill>
                <a:latin typeface="Microsoft YaHei"/>
                <a:ea typeface="Microsoft YaHei"/>
                <a:cs typeface="Microsoft YaHei"/>
              </a:defRPr>
            </a:pPr>
            <a:r>
              <a:rPr kumimoji="0" sz="1050" b="0" i="0" u="none" strike="noStrike" kern="1200" cap="none" spc="0" normalizeH="0" baseline="0" noProof="0">
                <a:ln>
                  <a:noFill/>
                </a:ln>
                <a:solidFill>
                  <a:srgbClr val="666666"/>
                </a:solidFill>
                <a:effectLst/>
                <a:uLnTx/>
                <a:uFillTx/>
                <a:latin typeface="Microsoft YaHei"/>
                <a:ea typeface="Microsoft YaHei"/>
                <a:cs typeface="Microsoft YaHei"/>
              </a:rPr>
              <a:t>图示 8 token / 4 专家 / Top-1；C 的红色连线标出改变的分配。实际 bias 下一训练步生效，不保证一步精确均衡。</a:t>
            </a:r>
          </a:p>
        </p:txBody>
      </p:sp>
      <p:sp>
        <p:nvSpPr>
          <p:cNvPr id="2001" name="QB_Ascend_Title">
            <a:extLst>
              <a:ext uri="{FF2B5EF4-FFF2-40B4-BE49-F238E27FC236}">
                <a16:creationId xmlns:a16="http://schemas.microsoft.com/office/drawing/2014/main" id="{B1E382C9-0C95-411E-8586-3D3E329DCDD8}"/>
              </a:ext>
            </a:extLst>
          </p:cNvPr>
          <p:cNvSpPr>
            <a:spLocks noGrp="1"/>
          </p:cNvSpPr>
          <p:nvPr/>
        </p:nvSpPr>
        <p:spPr>
          <a:xfrm>
            <a:off x="733425" y="5476875"/>
            <a:ext cx="10725150" cy="238125"/>
          </a:xfrm>
          <a:prstGeom prst="rect">
            <a:avLst/>
          </a:prstGeom>
          <a:noFill/>
          <a:ln w="0">
            <a:noFill/>
          </a:ln>
        </p:spPr>
        <p:txBody>
          <a:bodyPr wrap="none" lIns="0" tIns="0" rIns="0" bIns="0">
            <a:noAutofit/>
          </a:bodyPr>
          <a:lstStyle>
            <a:defPPr>
              <a:defRPr sz="1500"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C7000B"/>
                </a:solidFill>
                <a:latin typeface="Microsoft YaHei"/>
                <a:ea typeface="Microsoft YaHei"/>
                <a:cs typeface="Microsoft YaHei"/>
              </a:defRPr>
            </a:pPr>
            <a:r>
              <a:rPr kumimoji="0" lang="zh-CN" altLang="en-US" sz="1500" b="1" i="0" u="none" strike="noStrike" kern="1200" cap="none" spc="0" normalizeH="0" baseline="0" noProof="0" dirty="0">
                <a:ln>
                  <a:noFill/>
                </a:ln>
                <a:solidFill>
                  <a:srgbClr val="C7000B"/>
                </a:solidFill>
                <a:effectLst/>
                <a:uLnTx/>
                <a:uFillTx/>
                <a:latin typeface="Microsoft YaHei"/>
                <a:ea typeface="Microsoft YaHei"/>
                <a:cs typeface="Microsoft YaHei"/>
              </a:rPr>
              <a:t>趋势</a:t>
            </a:r>
            <a:r>
              <a:rPr kumimoji="0" sz="1500" b="1" i="0" u="none" strike="noStrike" kern="1200" cap="none" spc="0" normalizeH="0" baseline="0" noProof="0" dirty="0" err="1">
                <a:ln>
                  <a:noFill/>
                </a:ln>
                <a:solidFill>
                  <a:srgbClr val="C7000B"/>
                </a:solidFill>
                <a:effectLst/>
                <a:uLnTx/>
                <a:uFillTx/>
                <a:latin typeface="Microsoft YaHei"/>
                <a:ea typeface="Microsoft YaHei"/>
                <a:cs typeface="Microsoft YaHei"/>
              </a:rPr>
              <a:t>洞察</a:t>
            </a:r>
            <a:endParaRPr kumimoji="0" sz="1500" b="1" i="0" u="none" strike="noStrike" kern="1200" cap="none" spc="0" normalizeH="0" baseline="0" noProof="0" dirty="0">
              <a:ln>
                <a:noFill/>
              </a:ln>
              <a:solidFill>
                <a:srgbClr val="C7000B"/>
              </a:solidFill>
              <a:effectLst/>
              <a:uLnTx/>
              <a:uFillTx/>
              <a:latin typeface="Microsoft YaHei"/>
              <a:ea typeface="Microsoft YaHei"/>
              <a:cs typeface="Microsoft YaHei"/>
            </a:endParaRPr>
          </a:p>
        </p:txBody>
      </p:sp>
      <p:sp>
        <p:nvSpPr>
          <p:cNvPr id="2002" name="QB_Ascend_Body">
            <a:extLst>
              <a:ext uri="{FF2B5EF4-FFF2-40B4-BE49-F238E27FC236}">
                <a16:creationId xmlns:a16="http://schemas.microsoft.com/office/drawing/2014/main" id="{8EF66EB5-DB12-430C-B0CD-EEC5BE121C36}"/>
              </a:ext>
            </a:extLst>
          </p:cNvPr>
          <p:cNvSpPr>
            <a:spLocks noGrp="1"/>
          </p:cNvSpPr>
          <p:nvPr/>
        </p:nvSpPr>
        <p:spPr>
          <a:xfrm>
            <a:off x="733425" y="5781675"/>
            <a:ext cx="10725150" cy="600075"/>
          </a:xfrm>
          <a:prstGeom prst="rect">
            <a:avLst/>
          </a:prstGeom>
          <a:noFill/>
          <a:ln w="0">
            <a:noFill/>
          </a:ln>
        </p:spPr>
        <p:txBody>
          <a:bodyPr wrap="none" lIns="0" tIns="0" rIns="0" bIns="0">
            <a:noAutofit/>
          </a:bodyPr>
          <a:lstStyle>
            <a:defPPr>
              <a:defRPr sz="1313"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趋势分析：以分数 / margin 分布估计 bias，替代固定步长反馈；后续路由可探索分布驱动的自适应校准。</a:t>
            </a:r>
          </a:p>
          <a:p>
            <a:pPr marL="0" marR="0" lvl="0" indent="0" algn="l" defTabSz="914400" rtl="0" eaLnBrk="1" fontAlgn="auto" latinLnBrk="0" hangingPunct="1">
              <a:lnSpc>
                <a:spcPct val="100000"/>
              </a:lnSpc>
              <a:spcBef>
                <a:spcPts val="0"/>
              </a:spcBef>
              <a:spcAft>
                <a:spcPts val="0"/>
              </a:spcAft>
              <a:buClrTx/>
              <a:buSzTx/>
              <a:buFontTx/>
              <a:buNone/>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昇腾训练抓手：分布统计、分位数阈值估计、跨卡计数归约；探索统计更新融合 / 同步重叠。</a:t>
            </a:r>
          </a:p>
        </p:txBody>
      </p:sp>
      <p:sp>
        <p:nvSpPr>
          <p:cNvPr id="12" name="文本框 11">
            <a:extLst>
              <a:ext uri="{FF2B5EF4-FFF2-40B4-BE49-F238E27FC236}">
                <a16:creationId xmlns:a16="http://schemas.microsoft.com/office/drawing/2014/main" id="{9D524740-E5CF-41F5-927F-35C00F895BF9}"/>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宋泽宇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00886374</a:t>
            </a:r>
          </a:p>
        </p:txBody>
      </p:sp>
    </p:spTree>
    <p:extLst>
      <p:ext uri="{BB962C8B-B14F-4D97-AF65-F5344CB8AC3E}">
        <p14:creationId xmlns:p14="http://schemas.microsoft.com/office/powerpoint/2010/main" val="302764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
            <a:extLst>
              <a:ext uri="{FF2B5EF4-FFF2-40B4-BE49-F238E27FC236}">
                <a16:creationId xmlns:a16="http://schemas.microsoft.com/office/drawing/2014/main" id="{D2A38214-5857-FC4E-B923-056100E16BCA}"/>
              </a:ext>
            </a:extLst>
          </p:cNvPr>
          <p:cNvSpPr>
            <a:spLocks noGrp="1"/>
          </p:cNvSpPr>
          <p:nvPr>
            <p:ph type="subTitle" idx="1" hasCustomPrompt="1"/>
          </p:nvPr>
        </p:nvSpPr>
        <p:spPr>
          <a:xfrm>
            <a:off x="733425" y="342900"/>
            <a:ext cx="10725150" cy="447675"/>
          </a:xfrm>
          <a:prstGeom prst="rect">
            <a:avLst/>
          </a:prstGeom>
        </p:spPr>
        <p:txBody>
          <a:bodyPr lIns="0" tIns="0" rIns="0" bIns="0" anchor="t">
            <a:noAutofit/>
          </a:bodyPr>
          <a:lstStyle>
            <a:lvl1pPr marL="0" indent="0" algn="l">
              <a:lnSpc>
                <a:spcPts val="3430"/>
              </a:lnSpc>
              <a:spcBef>
                <a:spcPts val="0"/>
              </a:spcBef>
              <a:buNone/>
              <a:defRPr sz="3200" baseline="0">
                <a:solidFill>
                  <a:schemeClr val="tx1"/>
                </a:solidFill>
                <a:latin typeface="Microsoft YaHei"/>
                <a:ea typeface="Microsoft YaHei"/>
                <a:cs typeface="Microsoft YaHei"/>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pPr>
              <a:buNone/>
              <a:defRPr sz="2250" b="1">
                <a:solidFill>
                  <a:srgbClr val="C7000B"/>
                </a:solidFill>
                <a:latin typeface="Microsoft YaHei"/>
                <a:ea typeface="Microsoft YaHei"/>
                <a:cs typeface="Microsoft YaHei"/>
              </a:defRPr>
            </a:pPr>
            <a:r>
              <a:rPr sz="2250" b="1">
                <a:solidFill>
                  <a:srgbClr val="C7000B"/>
                </a:solidFill>
                <a:latin typeface="Microsoft YaHei"/>
                <a:ea typeface="Microsoft YaHei"/>
                <a:cs typeface="Microsoft YaHei"/>
              </a:rPr>
              <a:t>Fleet 调度：缓存复用、故障重算与分级准入</a:t>
            </a:r>
            <a:endParaRPr/>
          </a:p>
        </p:txBody>
      </p:sp>
      <p:sp>
        <p:nvSpPr>
          <p:cNvPr id="3" name="条带-mro3gq-77">
            <a:extLst>
              <a:ext uri="{FF2B5EF4-FFF2-40B4-BE49-F238E27FC236}">
                <a16:creationId xmlns:a16="http://schemas.microsoft.com/office/drawing/2014/main" id="{8AF2E222-AF77-4E78-BD7B-BC93B3E3945B}"/>
              </a:ext>
            </a:extLst>
          </p:cNvPr>
          <p:cNvSpPr>
            <a:spLocks noGrp="1"/>
          </p:cNvSpPr>
          <p:nvPr/>
        </p:nvSpPr>
        <p:spPr>
          <a:xfrm>
            <a:off x="733425" y="952500"/>
            <a:ext cx="10725150" cy="1257300"/>
          </a:xfrm>
          <a:prstGeom prst="rect">
            <a:avLst/>
          </a:prstGeom>
          <a:solidFill>
            <a:srgbClr val="EEEEEE"/>
          </a:solidFill>
          <a:ln w="0">
            <a:noFill/>
          </a:ln>
        </p:spPr>
      </p:sp>
      <p:sp>
        <p:nvSpPr>
          <p:cNvPr id="4" name="条带-mro3gq-77">
            <a:extLst>
              <a:ext uri="{FF2B5EF4-FFF2-40B4-BE49-F238E27FC236}">
                <a16:creationId xmlns:a16="http://schemas.microsoft.com/office/drawing/2014/main" id="{645E3063-85E2-48A6-BBFC-A0F9216F8D0D}"/>
              </a:ext>
            </a:extLst>
          </p:cNvPr>
          <p:cNvSpPr>
            <a:spLocks noGrp="1"/>
          </p:cNvSpPr>
          <p:nvPr/>
        </p:nvSpPr>
        <p:spPr>
          <a:xfrm>
            <a:off x="733425" y="952500"/>
            <a:ext cx="762000" cy="1257300"/>
          </a:xfrm>
          <a:prstGeom prst="rect">
            <a:avLst/>
          </a:prstGeom>
          <a:solidFill>
            <a:srgbClr val="C7000B"/>
          </a:solidFill>
          <a:ln w="0">
            <a:noFill/>
          </a:ln>
        </p:spPr>
      </p:sp>
      <p:sp>
        <p:nvSpPr>
          <p:cNvPr id="5" name="分析&#10;结论">
            <a:extLst>
              <a:ext uri="{FF2B5EF4-FFF2-40B4-BE49-F238E27FC236}">
                <a16:creationId xmlns:a16="http://schemas.microsoft.com/office/drawing/2014/main" id="{6686BC4F-8AE5-4A3C-A348-E2C5B9B34171}"/>
              </a:ext>
            </a:extLst>
          </p:cNvPr>
          <p:cNvSpPr>
            <a:spLocks noGrp="1"/>
          </p:cNvSpPr>
          <p:nvPr/>
        </p:nvSpPr>
        <p:spPr>
          <a:xfrm>
            <a:off x="809625" y="1333500"/>
            <a:ext cx="609600" cy="504825"/>
          </a:xfrm>
          <a:prstGeom prst="rect">
            <a:avLst/>
          </a:prstGeom>
          <a:noFill/>
          <a:ln w="0">
            <a:noFill/>
          </a:ln>
        </p:spPr>
        <p:txBody>
          <a:bodyPr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75" b="1">
                <a:solidFill>
                  <a:srgbClr val="FFFFFF"/>
                </a:solidFill>
                <a:latin typeface="Microsoft YaHei"/>
                <a:ea typeface="Microsoft YaHei"/>
                <a:cs typeface="Microsoft YaHei"/>
              </a:defRPr>
            </a:pPr>
            <a:r>
              <a:rPr kumimoji="0" sz="1575" b="1" i="0" u="none" strike="noStrike" kern="1200" cap="none" spc="0" normalizeH="0" baseline="0" noProof="0">
                <a:ln>
                  <a:noFill/>
                </a:ln>
                <a:solidFill>
                  <a:srgbClr val="FFFFFF"/>
                </a:solidFill>
                <a:effectLst/>
                <a:uLnTx/>
                <a:uFillTx/>
                <a:latin typeface="Microsoft YaHei"/>
                <a:ea typeface="Microsoft YaHei"/>
                <a:cs typeface="Microsoft YaHei"/>
              </a:rPr>
              <a:t>分析</a:t>
            </a:r>
          </a:p>
          <a:p>
            <a:pPr marL="0" marR="0" lvl="0" indent="0" algn="ctr" defTabSz="914400" rtl="0" eaLnBrk="1" fontAlgn="auto" latinLnBrk="0" hangingPunct="1">
              <a:lnSpc>
                <a:spcPct val="100000"/>
              </a:lnSpc>
              <a:spcBef>
                <a:spcPts val="0"/>
              </a:spcBef>
              <a:spcAft>
                <a:spcPts val="0"/>
              </a:spcAft>
              <a:buClrTx/>
              <a:buSzTx/>
              <a:buFontTx/>
              <a:buNone/>
              <a:tabLst/>
              <a:defRPr sz="1575" b="1">
                <a:solidFill>
                  <a:srgbClr val="FFFFFF"/>
                </a:solidFill>
                <a:latin typeface="Microsoft YaHei"/>
                <a:ea typeface="Microsoft YaHei"/>
                <a:cs typeface="Microsoft YaHei"/>
              </a:defRPr>
            </a:pPr>
            <a:r>
              <a:rPr kumimoji="0" sz="1575" b="1" i="0" u="none" strike="noStrike" kern="1200" cap="none" spc="0" normalizeH="0" baseline="0" noProof="0">
                <a:ln>
                  <a:noFill/>
                </a:ln>
                <a:solidFill>
                  <a:srgbClr val="FFFFFF"/>
                </a:solidFill>
                <a:effectLst/>
                <a:uLnTx/>
                <a:uFillTx/>
                <a:latin typeface="Microsoft YaHei"/>
                <a:ea typeface="Microsoft YaHei"/>
                <a:cs typeface="Microsoft YaHei"/>
              </a:rPr>
              <a:t>结论</a:t>
            </a:r>
          </a:p>
        </p:txBody>
      </p:sp>
      <p:sp>
        <p:nvSpPr>
          <p:cNvPr id="6" name="Fleet 是在线推理集群调度。主集群优先复用会话缓存，冷备">
            <a:extLst>
              <a:ext uri="{FF2B5EF4-FFF2-40B4-BE49-F238E27FC236}">
                <a16:creationId xmlns:a16="http://schemas.microsoft.com/office/drawing/2014/main" id="{F3C59DF3-A62F-46FC-BAAA-C1F9ABD526A4}"/>
              </a:ext>
            </a:extLst>
          </p:cNvPr>
          <p:cNvSpPr>
            <a:spLocks noGrp="1"/>
          </p:cNvSpPr>
          <p:nvPr/>
        </p:nvSpPr>
        <p:spPr>
          <a:xfrm>
            <a:off x="1657350" y="1057275"/>
            <a:ext cx="9658350" cy="1047750"/>
          </a:xfrm>
          <a:prstGeom prst="rect">
            <a:avLst/>
          </a:prstGeom>
          <a:noFill/>
          <a:ln w="0">
            <a:noFill/>
          </a:ln>
        </p:spPr>
        <p:txBody>
          <a:bodyPr lIns="0" tIns="0" rIns="0" bIns="0" anchor="ctr">
            <a:noAutofit/>
          </a:bodyPr>
          <a:lstStyle/>
          <a:p>
            <a:pPr marL="139700" marR="0" lvl="0" indent="-76200" algn="l" defTabSz="914400" rtl="0" eaLnBrk="1" fontAlgn="auto" latinLnBrk="0" hangingPunct="1">
              <a:lnSpc>
                <a:spcPts val="1450"/>
              </a:lnSpc>
              <a:spcBef>
                <a:spcPts val="0"/>
              </a:spcBef>
              <a:spcAft>
                <a:spcPts val="30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会话优先回到缓存所在集群，</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复用长前缀</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；不同请求类分配独立预算，</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保护短请求 TTFT</a:t>
            </a:r>
          </a:p>
          <a:p>
            <a:pPr marL="139700" marR="0" lvl="0" indent="-76200" algn="l" defTabSz="914400" rtl="0" eaLnBrk="1" fontAlgn="auto" latinLnBrk="0" hangingPunct="1">
              <a:lnSpc>
                <a:spcPts val="1450"/>
              </a:lnSpc>
              <a:spcBef>
                <a:spcPts val="0"/>
              </a:spcBef>
              <a:spcAft>
                <a:spcPts val="300"/>
              </a:spcAft>
              <a:buClrTx/>
              <a:buSzTx/>
              <a:buFont typeface="Microsoft YaHei"/>
              <a:buChar char="•"/>
              <a:tabLst/>
              <a:defRPr sz="1313" b="0">
                <a:solidFill>
                  <a:srgbClr val="1D1D1B"/>
                </a:solidFill>
                <a:latin typeface="Microsoft YaHei"/>
                <a:ea typeface="Microsoft YaHei"/>
                <a:cs typeface="Microsoft YaHei"/>
              </a:defRPr>
            </a:pP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冷备不保存该会话前缀</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，故障接管需重做 prefill；备集群分散安排，把</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恢复重算摊到多个集群</a:t>
            </a:r>
          </a:p>
          <a:p>
            <a:pPr marL="139700" marR="0" lvl="0" indent="-76200" algn="l" defTabSz="914400" rtl="0" eaLnBrk="1" fontAlgn="auto" latinLnBrk="0" hangingPunct="1">
              <a:lnSpc>
                <a:spcPts val="1450"/>
              </a:lnSpc>
              <a:spcBef>
                <a:spcPts val="0"/>
              </a:spcBef>
              <a:spcAft>
                <a:spcPts val="0"/>
              </a:spcAft>
              <a:buClrTx/>
              <a:buSzTx/>
              <a:buFont typeface="Microsoft YaHei"/>
              <a:buChar char="•"/>
              <a:tabLst/>
              <a:defRPr sz="1313" b="0">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昇腾适配应</a:t>
            </a:r>
            <a:r>
              <a:rPr kumimoji="0" sz="1313" b="1" i="0" u="none" strike="noStrike" kern="1200" cap="none" spc="0" normalizeH="0" baseline="0" noProof="0">
                <a:ln>
                  <a:noFill/>
                </a:ln>
                <a:solidFill>
                  <a:srgbClr val="C7000B"/>
                </a:solidFill>
                <a:effectLst/>
                <a:uLnTx/>
                <a:uFillTx/>
                <a:latin typeface="Microsoft YaHei"/>
                <a:ea typeface="Microsoft YaHei"/>
                <a:cs typeface="Microsoft YaHei"/>
              </a:rPr>
              <a:t>联动会话亲和、预算准入与故障重算</a:t>
            </a: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，并结合实际计算 / 缓存代价设计准入指标</a:t>
            </a:r>
          </a:p>
        </p:txBody>
      </p:sp>
      <p:sp>
        <p:nvSpPr>
          <p:cNvPr id="8" name="会话请求">
            <a:extLst>
              <a:ext uri="{FF2B5EF4-FFF2-40B4-BE49-F238E27FC236}">
                <a16:creationId xmlns:a16="http://schemas.microsoft.com/office/drawing/2014/main" id="{884FA7DD-2D5D-4952-8863-79C73227F800}"/>
              </a:ext>
            </a:extLst>
          </p:cNvPr>
          <p:cNvSpPr>
            <a:spLocks noGrp="1"/>
          </p:cNvSpPr>
          <p:nvPr/>
        </p:nvSpPr>
        <p:spPr>
          <a:xfrm>
            <a:off x="733425" y="2590800"/>
            <a:ext cx="952500" cy="409575"/>
          </a:xfrm>
          <a:prstGeom prst="roundRect">
            <a:avLst>
              <a:gd name="adj" fmla="val 9302"/>
            </a:avLst>
          </a:prstGeom>
          <a:solidFill>
            <a:srgbClr val="FFFFFF"/>
          </a:solidFill>
          <a:ln w="9525">
            <a:solidFill>
              <a:srgbClr val="555555"/>
            </a:solidFill>
          </a:ln>
        </p:spPr>
        <p:txBody>
          <a:bodyPr lIns="47625" tIns="28575" rIns="47625" bIns="28575"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5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会话请求</a:t>
            </a:r>
          </a:p>
        </p:txBody>
      </p:sp>
      <p:sp>
        <p:nvSpPr>
          <p:cNvPr id="9" name="分类 + 准入&#10;独立类别预算">
            <a:extLst>
              <a:ext uri="{FF2B5EF4-FFF2-40B4-BE49-F238E27FC236}">
                <a16:creationId xmlns:a16="http://schemas.microsoft.com/office/drawing/2014/main" id="{8043FE9A-B73F-43F3-8FFF-05A02032FF87}"/>
              </a:ext>
            </a:extLst>
          </p:cNvPr>
          <p:cNvSpPr>
            <a:spLocks noGrp="1"/>
          </p:cNvSpPr>
          <p:nvPr/>
        </p:nvSpPr>
        <p:spPr>
          <a:xfrm>
            <a:off x="1971675" y="2486025"/>
            <a:ext cx="1390650" cy="628650"/>
          </a:xfrm>
          <a:prstGeom prst="roundRect">
            <a:avLst>
              <a:gd name="adj" fmla="val 6061"/>
            </a:avLst>
          </a:prstGeom>
          <a:solidFill>
            <a:srgbClr val="FFF0C5"/>
          </a:solidFill>
          <a:ln w="9525">
            <a:solidFill>
              <a:srgbClr val="555555"/>
            </a:solidFill>
          </a:ln>
        </p:spPr>
        <p:txBody>
          <a:bodyPr lIns="47625" tIns="28575" rIns="47625" bIns="28575"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13">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分类 + 准入</a:t>
            </a:r>
          </a:p>
          <a:p>
            <a:pPr marL="0" marR="0" lvl="0" indent="0" algn="ctr" defTabSz="914400" rtl="0" eaLnBrk="1" fontAlgn="auto" latinLnBrk="0" hangingPunct="1">
              <a:lnSpc>
                <a:spcPct val="100000"/>
              </a:lnSpc>
              <a:spcBef>
                <a:spcPts val="0"/>
              </a:spcBef>
              <a:spcAft>
                <a:spcPts val="0"/>
              </a:spcAft>
              <a:buClrTx/>
              <a:buSzTx/>
              <a:buFontTx/>
              <a:buNone/>
              <a:tabLst/>
              <a:defRPr sz="1313">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独立类别预算</a:t>
            </a:r>
          </a:p>
        </p:txBody>
      </p:sp>
      <p:sp>
        <p:nvSpPr>
          <p:cNvPr id="10" name="一致性哈希&#10;会话主备映射">
            <a:extLst>
              <a:ext uri="{FF2B5EF4-FFF2-40B4-BE49-F238E27FC236}">
                <a16:creationId xmlns:a16="http://schemas.microsoft.com/office/drawing/2014/main" id="{731993C5-2900-44F7-828F-C7962DA4711C}"/>
              </a:ext>
            </a:extLst>
          </p:cNvPr>
          <p:cNvSpPr>
            <a:spLocks noGrp="1"/>
          </p:cNvSpPr>
          <p:nvPr/>
        </p:nvSpPr>
        <p:spPr>
          <a:xfrm>
            <a:off x="1971675" y="3438525"/>
            <a:ext cx="1390650" cy="561975"/>
          </a:xfrm>
          <a:prstGeom prst="roundRect">
            <a:avLst>
              <a:gd name="adj" fmla="val 6780"/>
            </a:avLst>
          </a:prstGeom>
          <a:solidFill>
            <a:srgbClr val="D7EEF3"/>
          </a:solidFill>
          <a:ln w="9525">
            <a:solidFill>
              <a:srgbClr val="555555"/>
            </a:solidFill>
          </a:ln>
        </p:spPr>
        <p:txBody>
          <a:bodyPr lIns="47625" tIns="28575" rIns="47625" bIns="28575"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13">
                <a:solidFill>
                  <a:srgbClr val="1D1D1B"/>
                </a:solidFill>
                <a:latin typeface="Microsoft YaHei"/>
                <a:ea typeface="Microsoft YaHei"/>
                <a:cs typeface="Microsoft YaHei"/>
              </a:defRPr>
            </a:pPr>
            <a:r>
              <a:rPr kumimoji="0" sz="1313" b="0" i="0" u="none" strike="noStrike" kern="1200" cap="none" spc="0" normalizeH="0" baseline="0" noProof="0" dirty="0" err="1">
                <a:ln>
                  <a:noFill/>
                </a:ln>
                <a:solidFill>
                  <a:srgbClr val="1D1D1B"/>
                </a:solidFill>
                <a:effectLst/>
                <a:uLnTx/>
                <a:uFillTx/>
                <a:latin typeface="Microsoft YaHei"/>
                <a:ea typeface="Microsoft YaHei"/>
                <a:cs typeface="Microsoft YaHei"/>
              </a:rPr>
              <a:t>一致性哈希</a:t>
            </a:r>
            <a:endParaRPr kumimoji="0" sz="1313" b="0" i="0" u="none" strike="noStrike" kern="1200" cap="none" spc="0" normalizeH="0" baseline="0" noProof="0" dirty="0">
              <a:ln>
                <a:noFill/>
              </a:ln>
              <a:solidFill>
                <a:srgbClr val="1D1D1B"/>
              </a:solidFill>
              <a:effectLst/>
              <a:uLnTx/>
              <a:uFillTx/>
              <a:latin typeface="Microsoft YaHei"/>
              <a:ea typeface="Microsoft YaHei"/>
              <a:cs typeface="Microsoft YaHei"/>
            </a:endParaRPr>
          </a:p>
          <a:p>
            <a:pPr marL="0" marR="0" lvl="0" indent="0" algn="ctr" defTabSz="914400" rtl="0" eaLnBrk="1" fontAlgn="auto" latinLnBrk="0" hangingPunct="1">
              <a:lnSpc>
                <a:spcPct val="100000"/>
              </a:lnSpc>
              <a:spcBef>
                <a:spcPts val="0"/>
              </a:spcBef>
              <a:spcAft>
                <a:spcPts val="0"/>
              </a:spcAft>
              <a:buClrTx/>
              <a:buSzTx/>
              <a:buFontTx/>
              <a:buNone/>
              <a:tabLst/>
              <a:defRPr sz="1313">
                <a:solidFill>
                  <a:srgbClr val="1D1D1B"/>
                </a:solidFill>
                <a:latin typeface="Microsoft YaHei"/>
                <a:ea typeface="Microsoft YaHei"/>
                <a:cs typeface="Microsoft YaHei"/>
              </a:defRPr>
            </a:pPr>
            <a:r>
              <a:rPr kumimoji="0" sz="1313" b="0" i="0" u="none" strike="noStrike" kern="1200" cap="none" spc="0" normalizeH="0" baseline="0" noProof="0" dirty="0" err="1">
                <a:ln>
                  <a:noFill/>
                </a:ln>
                <a:solidFill>
                  <a:srgbClr val="1D1D1B"/>
                </a:solidFill>
                <a:effectLst/>
                <a:uLnTx/>
                <a:uFillTx/>
                <a:latin typeface="Microsoft YaHei"/>
                <a:ea typeface="Microsoft YaHei"/>
                <a:cs typeface="Microsoft YaHei"/>
              </a:rPr>
              <a:t>会话主备映射</a:t>
            </a:r>
            <a:endParaRPr kumimoji="0" sz="1313" b="0" i="0" u="none" strike="noStrike" kern="1200" cap="none" spc="0" normalizeH="0" baseline="0" noProof="0" dirty="0">
              <a:ln>
                <a:noFill/>
              </a:ln>
              <a:solidFill>
                <a:srgbClr val="1D1D1B"/>
              </a:solidFill>
              <a:effectLst/>
              <a:uLnTx/>
              <a:uFillTx/>
              <a:latin typeface="Microsoft YaHei"/>
              <a:ea typeface="Microsoft YaHei"/>
              <a:cs typeface="Microsoft YaHei"/>
            </a:endParaRPr>
          </a:p>
        </p:txBody>
      </p:sp>
      <p:sp>
        <p:nvSpPr>
          <p:cNvPr id="11" name="主集群&#10;命中后增量 prefill">
            <a:extLst>
              <a:ext uri="{FF2B5EF4-FFF2-40B4-BE49-F238E27FC236}">
                <a16:creationId xmlns:a16="http://schemas.microsoft.com/office/drawing/2014/main" id="{4CC18B2A-6872-4AA2-9D04-9E52B70218A8}"/>
              </a:ext>
            </a:extLst>
          </p:cNvPr>
          <p:cNvSpPr>
            <a:spLocks noGrp="1"/>
          </p:cNvSpPr>
          <p:nvPr/>
        </p:nvSpPr>
        <p:spPr>
          <a:xfrm>
            <a:off x="3695700" y="2486025"/>
            <a:ext cx="1504950" cy="628650"/>
          </a:xfrm>
          <a:prstGeom prst="roundRect">
            <a:avLst>
              <a:gd name="adj" fmla="val 6061"/>
            </a:avLst>
          </a:prstGeom>
          <a:solidFill>
            <a:srgbClr val="E5EDDD"/>
          </a:solidFill>
          <a:ln w="9525">
            <a:solidFill>
              <a:srgbClr val="555555"/>
            </a:solidFill>
          </a:ln>
        </p:spPr>
        <p:txBody>
          <a:bodyPr lIns="47625" tIns="28575" rIns="47625" bIns="28575"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75">
                <a:solidFill>
                  <a:srgbClr val="1D1D1B"/>
                </a:solidFill>
                <a:latin typeface="Microsoft YaHei"/>
                <a:ea typeface="Microsoft YaHei"/>
                <a:cs typeface="Microsoft YaHei"/>
              </a:defRPr>
            </a:pPr>
            <a:r>
              <a:rPr kumimoji="0" sz="1275" b="0" i="0" u="none" strike="noStrike" kern="1200" cap="none" spc="0" normalizeH="0" baseline="0" noProof="0">
                <a:ln>
                  <a:noFill/>
                </a:ln>
                <a:solidFill>
                  <a:srgbClr val="1D1D1B"/>
                </a:solidFill>
                <a:effectLst/>
                <a:uLnTx/>
                <a:uFillTx/>
                <a:latin typeface="Microsoft YaHei"/>
                <a:ea typeface="Microsoft YaHei"/>
                <a:cs typeface="Microsoft YaHei"/>
              </a:rPr>
              <a:t>主集群</a:t>
            </a:r>
          </a:p>
          <a:p>
            <a:pPr marL="0" marR="0" lvl="0" indent="0" algn="ctr" defTabSz="914400" rtl="0" eaLnBrk="1" fontAlgn="auto" latinLnBrk="0" hangingPunct="1">
              <a:lnSpc>
                <a:spcPct val="100000"/>
              </a:lnSpc>
              <a:spcBef>
                <a:spcPts val="0"/>
              </a:spcBef>
              <a:spcAft>
                <a:spcPts val="0"/>
              </a:spcAft>
              <a:buClrTx/>
              <a:buSzTx/>
              <a:buFontTx/>
              <a:buNone/>
              <a:tabLst/>
              <a:defRPr sz="1275">
                <a:solidFill>
                  <a:srgbClr val="1D1D1B"/>
                </a:solidFill>
                <a:latin typeface="Microsoft YaHei"/>
                <a:ea typeface="Microsoft YaHei"/>
                <a:cs typeface="Microsoft YaHei"/>
              </a:defRPr>
            </a:pPr>
            <a:r>
              <a:rPr kumimoji="0" sz="1275" b="0" i="0" u="none" strike="noStrike" kern="1200" cap="none" spc="0" normalizeH="0" baseline="0" noProof="0">
                <a:ln>
                  <a:noFill/>
                </a:ln>
                <a:solidFill>
                  <a:srgbClr val="1D1D1B"/>
                </a:solidFill>
                <a:effectLst/>
                <a:uLnTx/>
                <a:uFillTx/>
                <a:latin typeface="Microsoft YaHei"/>
                <a:ea typeface="Microsoft YaHei"/>
                <a:cs typeface="Microsoft YaHei"/>
              </a:rPr>
              <a:t>命中后增量 prefill</a:t>
            </a:r>
          </a:p>
        </p:txBody>
      </p:sp>
      <p:sp>
        <p:nvSpPr>
          <p:cNvPr id="12" name="冷备集群&#10;故障后重新 prefill">
            <a:extLst>
              <a:ext uri="{FF2B5EF4-FFF2-40B4-BE49-F238E27FC236}">
                <a16:creationId xmlns:a16="http://schemas.microsoft.com/office/drawing/2014/main" id="{23A14E52-675A-41B9-9015-583CF780C257}"/>
              </a:ext>
            </a:extLst>
          </p:cNvPr>
          <p:cNvSpPr>
            <a:spLocks noGrp="1"/>
          </p:cNvSpPr>
          <p:nvPr/>
        </p:nvSpPr>
        <p:spPr>
          <a:xfrm>
            <a:off x="3695700" y="3438525"/>
            <a:ext cx="1504950" cy="561975"/>
          </a:xfrm>
          <a:prstGeom prst="roundRect">
            <a:avLst>
              <a:gd name="adj" fmla="val 6780"/>
            </a:avLst>
          </a:prstGeom>
          <a:solidFill>
            <a:srgbClr val="EEEEEE"/>
          </a:solidFill>
          <a:ln w="9525">
            <a:solidFill>
              <a:srgbClr val="555555"/>
            </a:solidFill>
          </a:ln>
        </p:spPr>
        <p:txBody>
          <a:bodyPr lIns="47625" tIns="28575" rIns="47625" bIns="28575"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75">
                <a:solidFill>
                  <a:srgbClr val="1D1D1B"/>
                </a:solidFill>
                <a:latin typeface="Microsoft YaHei"/>
                <a:ea typeface="Microsoft YaHei"/>
                <a:cs typeface="Microsoft YaHei"/>
              </a:defRPr>
            </a:pPr>
            <a:r>
              <a:rPr kumimoji="0" sz="1275" b="0" i="0" u="none" strike="noStrike" kern="1200" cap="none" spc="0" normalizeH="0" baseline="0" noProof="0">
                <a:ln>
                  <a:noFill/>
                </a:ln>
                <a:solidFill>
                  <a:srgbClr val="1D1D1B"/>
                </a:solidFill>
                <a:effectLst/>
                <a:uLnTx/>
                <a:uFillTx/>
                <a:latin typeface="Microsoft YaHei"/>
                <a:ea typeface="Microsoft YaHei"/>
                <a:cs typeface="Microsoft YaHei"/>
              </a:rPr>
              <a:t>冷备集群</a:t>
            </a:r>
          </a:p>
          <a:p>
            <a:pPr marL="0" marR="0" lvl="0" indent="0" algn="ctr" defTabSz="914400" rtl="0" eaLnBrk="1" fontAlgn="auto" latinLnBrk="0" hangingPunct="1">
              <a:lnSpc>
                <a:spcPct val="100000"/>
              </a:lnSpc>
              <a:spcBef>
                <a:spcPts val="0"/>
              </a:spcBef>
              <a:spcAft>
                <a:spcPts val="0"/>
              </a:spcAft>
              <a:buClrTx/>
              <a:buSzTx/>
              <a:buFontTx/>
              <a:buNone/>
              <a:tabLst/>
              <a:defRPr sz="1275">
                <a:solidFill>
                  <a:srgbClr val="1D1D1B"/>
                </a:solidFill>
                <a:latin typeface="Microsoft YaHei"/>
                <a:ea typeface="Microsoft YaHei"/>
                <a:cs typeface="Microsoft YaHei"/>
              </a:defRPr>
            </a:pPr>
            <a:r>
              <a:rPr kumimoji="0" sz="1275" b="0" i="0" u="none" strike="noStrike" kern="1200" cap="none" spc="0" normalizeH="0" baseline="0" noProof="0">
                <a:ln>
                  <a:noFill/>
                </a:ln>
                <a:solidFill>
                  <a:srgbClr val="1D1D1B"/>
                </a:solidFill>
                <a:effectLst/>
                <a:uLnTx/>
                <a:uFillTx/>
                <a:latin typeface="Microsoft YaHei"/>
                <a:ea typeface="Microsoft YaHei"/>
                <a:cs typeface="Microsoft YaHei"/>
              </a:rPr>
              <a:t>故障后重新 prefill</a:t>
            </a:r>
          </a:p>
        </p:txBody>
      </p:sp>
      <p:cxnSp>
        <p:nvCxnSpPr>
          <p:cNvPr id="114" name="连接符: 肘形 113"/>
          <p:cNvCxnSpPr>
            <a:stCxn id="8" idx="3"/>
            <a:endCxn id="9" idx="1"/>
          </p:cNvCxnSpPr>
          <p:nvPr/>
        </p:nvCxnSpPr>
        <p:spPr>
          <a:xfrm>
            <a:off x="1685925" y="2795588"/>
            <a:ext cx="285750" cy="4763"/>
          </a:xfrm>
          <a:prstGeom prst="bentConnector3">
            <a:avLst>
              <a:gd name="adj1" fmla="val 50000"/>
            </a:avLst>
          </a:prstGeom>
          <a:ln w="9525">
            <a:solidFill>
              <a:srgbClr val="1D1D1B"/>
            </a:solidFill>
            <a:prstDash val="solid"/>
            <a:tailEnd type="triangle" w="sm" len="sm"/>
          </a:ln>
        </p:spPr>
      </p:cxnSp>
      <p:cxnSp>
        <p:nvCxnSpPr>
          <p:cNvPr id="115" name="直接箭头连接符 114"/>
          <p:cNvCxnSpPr>
            <a:stCxn id="9" idx="2"/>
            <a:endCxn id="10" idx="0"/>
          </p:cNvCxnSpPr>
          <p:nvPr/>
        </p:nvCxnSpPr>
        <p:spPr>
          <a:xfrm>
            <a:off x="2667000" y="3114675"/>
            <a:ext cx="0" cy="323850"/>
          </a:xfrm>
          <a:prstGeom prst="straightConnector1">
            <a:avLst/>
          </a:prstGeom>
          <a:ln w="9525">
            <a:solidFill>
              <a:srgbClr val="1D1D1B"/>
            </a:solidFill>
            <a:prstDash val="solid"/>
            <a:tailEnd type="triangle" w="sm" len="sm"/>
          </a:ln>
        </p:spPr>
      </p:cxnSp>
      <p:cxnSp>
        <p:nvCxnSpPr>
          <p:cNvPr id="116" name="连接符: 肘形 115"/>
          <p:cNvCxnSpPr>
            <a:stCxn id="10" idx="3"/>
            <a:endCxn id="11" idx="1"/>
          </p:cNvCxnSpPr>
          <p:nvPr/>
        </p:nvCxnSpPr>
        <p:spPr>
          <a:xfrm flipV="1">
            <a:off x="3362325" y="2800350"/>
            <a:ext cx="333375" cy="919163"/>
          </a:xfrm>
          <a:prstGeom prst="bentConnector3">
            <a:avLst>
              <a:gd name="adj1" fmla="val 50000"/>
            </a:avLst>
          </a:prstGeom>
          <a:ln w="9525">
            <a:solidFill>
              <a:srgbClr val="1D1D1B"/>
            </a:solidFill>
            <a:prstDash val="solid"/>
            <a:tailEnd type="triangle" w="sm" len="sm"/>
          </a:ln>
        </p:spPr>
      </p:cxnSp>
      <p:cxnSp>
        <p:nvCxnSpPr>
          <p:cNvPr id="117" name="直接箭头连接符 116"/>
          <p:cNvCxnSpPr>
            <a:stCxn id="10" idx="3"/>
            <a:endCxn id="12" idx="1"/>
          </p:cNvCxnSpPr>
          <p:nvPr/>
        </p:nvCxnSpPr>
        <p:spPr>
          <a:xfrm>
            <a:off x="3362325" y="3719513"/>
            <a:ext cx="333375" cy="0"/>
          </a:xfrm>
          <a:prstGeom prst="straightConnector1">
            <a:avLst/>
          </a:prstGeom>
          <a:ln w="9525">
            <a:solidFill>
              <a:srgbClr val="1D1D1B"/>
            </a:solidFill>
            <a:prstDash val="solid"/>
            <a:tailEnd type="triangle" w="sm" len="sm"/>
          </a:ln>
        </p:spPr>
      </p:cxnSp>
      <p:cxnSp>
        <p:nvCxnSpPr>
          <p:cNvPr id="118" name="直接箭头连接符 117"/>
          <p:cNvCxnSpPr>
            <a:stCxn id="11" idx="2"/>
            <a:endCxn id="12" idx="0"/>
          </p:cNvCxnSpPr>
          <p:nvPr/>
        </p:nvCxnSpPr>
        <p:spPr>
          <a:xfrm>
            <a:off x="4448175" y="3114675"/>
            <a:ext cx="0" cy="323850"/>
          </a:xfrm>
          <a:prstGeom prst="straightConnector1">
            <a:avLst/>
          </a:prstGeom>
          <a:ln w="9525">
            <a:solidFill>
              <a:srgbClr val="1D1D1B"/>
            </a:solidFill>
            <a:prstDash val="dash"/>
            <a:tailEnd type="triangle" w="sm" len="sm"/>
          </a:ln>
        </p:spPr>
      </p:cxnSp>
      <p:sp>
        <p:nvSpPr>
          <p:cNvPr id="18" name="备集群不保存会话前缀；各会话的备集群分散，&#10;把故障恢复的 p">
            <a:extLst>
              <a:ext uri="{FF2B5EF4-FFF2-40B4-BE49-F238E27FC236}">
                <a16:creationId xmlns:a16="http://schemas.microsoft.com/office/drawing/2014/main" id="{8A10D26D-DE13-452B-B858-D3236EAA73BB}"/>
              </a:ext>
            </a:extLst>
          </p:cNvPr>
          <p:cNvSpPr>
            <a:spLocks noGrp="1"/>
          </p:cNvSpPr>
          <p:nvPr/>
        </p:nvSpPr>
        <p:spPr>
          <a:xfrm>
            <a:off x="733425" y="4181475"/>
            <a:ext cx="4552950" cy="4381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13">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备集群不保存该会话前缀；各会话的备集群分散，</a:t>
            </a:r>
          </a:p>
          <a:p>
            <a:pPr marL="0" marR="0" lvl="0" indent="0" algn="l" defTabSz="914400" rtl="0" eaLnBrk="1" fontAlgn="auto" latinLnBrk="0" hangingPunct="1">
              <a:lnSpc>
                <a:spcPct val="100000"/>
              </a:lnSpc>
              <a:spcBef>
                <a:spcPts val="0"/>
              </a:spcBef>
              <a:spcAft>
                <a:spcPts val="0"/>
              </a:spcAft>
              <a:buClrTx/>
              <a:buSzTx/>
              <a:buFontTx/>
              <a:buNone/>
              <a:tabLst/>
              <a:defRPr sz="1313">
                <a:solidFill>
                  <a:srgbClr val="1D1D1B"/>
                </a:solidFill>
                <a:latin typeface="Microsoft YaHei"/>
                <a:ea typeface="Microsoft YaHei"/>
                <a:cs typeface="Microsoft YaHei"/>
              </a:defRPr>
            </a:pPr>
            <a:r>
              <a:rPr kumimoji="0" sz="1313" b="0" i="0" u="none" strike="noStrike" kern="1200" cap="none" spc="0" normalizeH="0" baseline="0" noProof="0">
                <a:ln>
                  <a:noFill/>
                </a:ln>
                <a:solidFill>
                  <a:srgbClr val="1D1D1B"/>
                </a:solidFill>
                <a:effectLst/>
                <a:uLnTx/>
                <a:uFillTx/>
                <a:latin typeface="Microsoft YaHei"/>
                <a:ea typeface="Microsoft YaHei"/>
                <a:cs typeface="Microsoft YaHei"/>
              </a:rPr>
              <a:t>把故障恢复的 prefill 负载摊到多个集群</a:t>
            </a:r>
          </a:p>
        </p:txBody>
      </p:sp>
      <p:pic>
        <p:nvPicPr>
          <p:cNvPr id="120" name="图片 119"/>
          <p:cNvPicPr>
            <a:picLocks noChangeAspect="1"/>
          </p:cNvPicPr>
          <p:nvPr/>
        </p:nvPicPr>
        <p:blipFill>
          <a:blip r:embed="rId3"/>
          <a:stretch/>
        </p:blipFill>
        <p:spPr>
          <a:xfrm>
            <a:off x="838885" y="4686300"/>
            <a:ext cx="4342030" cy="1381125"/>
          </a:xfrm>
          <a:prstGeom prst="rect">
            <a:avLst/>
          </a:prstGeom>
        </p:spPr>
      </p:pic>
      <p:sp>
        <p:nvSpPr>
          <p:cNvPr id="20" name="Fig.12：可复用边界需同时具备 MLA 缓存与 KDA ">
            <a:extLst>
              <a:ext uri="{FF2B5EF4-FFF2-40B4-BE49-F238E27FC236}">
                <a16:creationId xmlns:a16="http://schemas.microsoft.com/office/drawing/2014/main" id="{5A05C61F-A7CA-4BC3-8A8C-6C883E7EDCD3}"/>
              </a:ext>
            </a:extLst>
          </p:cNvPr>
          <p:cNvSpPr>
            <a:spLocks noGrp="1"/>
          </p:cNvSpPr>
          <p:nvPr/>
        </p:nvSpPr>
        <p:spPr>
          <a:xfrm>
            <a:off x="733425" y="6096000"/>
            <a:ext cx="4552950" cy="209550"/>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050">
                <a:solidFill>
                  <a:srgbClr val="666666"/>
                </a:solidFill>
                <a:latin typeface="Microsoft YaHei"/>
                <a:ea typeface="Microsoft YaHei"/>
                <a:cs typeface="Microsoft YaHei"/>
              </a:defRPr>
            </a:pPr>
            <a:r>
              <a:rPr kumimoji="0" sz="1050" b="0" i="0" u="none" strike="noStrike" kern="1200" cap="none" spc="0" normalizeH="0" baseline="0" noProof="0">
                <a:ln>
                  <a:noFill/>
                </a:ln>
                <a:solidFill>
                  <a:srgbClr val="666666"/>
                </a:solidFill>
                <a:effectLst/>
                <a:uLnTx/>
                <a:uFillTx/>
                <a:latin typeface="Microsoft YaHei"/>
                <a:ea typeface="Microsoft YaHei"/>
                <a:cs typeface="Microsoft YaHei"/>
              </a:rPr>
              <a:t>论文示例：可复用边界同时具备 MLA 缓存与 KDA 状态</a:t>
            </a:r>
          </a:p>
        </p:txBody>
      </p:sp>
      <p:graphicFrame>
        <p:nvGraphicFramePr>
          <p:cNvPr id="122" name="表格 121"/>
          <p:cNvGraphicFramePr/>
          <p:nvPr/>
        </p:nvGraphicFramePr>
        <p:xfrm>
          <a:off x="5600700" y="2324100"/>
          <a:ext cx="5857875" cy="1438275"/>
        </p:xfrm>
        <a:graphic>
          <a:graphicData uri="http://schemas.openxmlformats.org/drawingml/2006/table">
            <a:tbl>
              <a:tblPr/>
              <a:tblGrid>
                <a:gridCol w="1190625">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tblGrid>
              <a:tr h="479425">
                <a:tc>
                  <a:txBody>
                    <a:bodyPr/>
                    <a:lstStyle/>
                    <a:p>
                      <a:r>
                        <a:rPr sz="1313" b="1">
                          <a:solidFill>
                            <a:srgbClr val="1D1D1B"/>
                          </a:solidFill>
                          <a:latin typeface="Microsoft YaHei"/>
                          <a:ea typeface="Microsoft YaHei"/>
                          <a:cs typeface="Microsoft YaHei"/>
                        </a:rPr>
                        <a:t>机制</a:t>
                      </a:r>
                    </a:p>
                  </a:txBody>
                  <a:tcPr marL="76200" marR="76200" marT="38100" marB="38100" anchor="ctr">
                    <a:lnL w="7620">
                      <a:solidFill>
                        <a:srgbClr val="888888"/>
                      </a:solidFill>
                      <a:prstDash val="solid"/>
                    </a:lnL>
                    <a:lnR w="6191">
                      <a:solidFill>
                        <a:srgbClr val="A9A9A9"/>
                      </a:solidFill>
                      <a:prstDash val="solid"/>
                    </a:lnR>
                    <a:lnT w="7620">
                      <a:solidFill>
                        <a:srgbClr val="888888"/>
                      </a:solidFill>
                      <a:prstDash val="solid"/>
                    </a:lnT>
                    <a:lnB w="6191">
                      <a:solidFill>
                        <a:srgbClr val="A9A9A9"/>
                      </a:solidFill>
                      <a:prstDash val="solid"/>
                    </a:lnB>
                    <a:solidFill>
                      <a:srgbClr val="E8E8E8"/>
                    </a:solidFill>
                  </a:tcPr>
                </a:tc>
                <a:tc>
                  <a:txBody>
                    <a:bodyPr/>
                    <a:lstStyle/>
                    <a:p>
                      <a:r>
                        <a:rPr sz="1313" b="1">
                          <a:solidFill>
                            <a:srgbClr val="1D1D1B"/>
                          </a:solidFill>
                          <a:latin typeface="Microsoft YaHei"/>
                          <a:ea typeface="Microsoft YaHei"/>
                          <a:cs typeface="Microsoft YaHei"/>
                        </a:rPr>
                        <a:t>调度行为与影响</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7620">
                      <a:solidFill>
                        <a:srgbClr val="888888"/>
                      </a:solidFill>
                      <a:prstDash val="solid"/>
                    </a:lnT>
                    <a:lnB w="6191">
                      <a:solidFill>
                        <a:srgbClr val="A9A9A9"/>
                      </a:solidFill>
                      <a:prstDash val="solid"/>
                    </a:lnB>
                    <a:solidFill>
                      <a:srgbClr val="E8E8E8"/>
                    </a:solidFill>
                  </a:tcPr>
                </a:tc>
                <a:extLst>
                  <a:ext uri="{0D108BD9-81ED-4DB2-BD59-A6C34878D82A}">
                    <a16:rowId xmlns:a16="http://schemas.microsoft.com/office/drawing/2014/main" val="10000"/>
                  </a:ext>
                </a:extLst>
              </a:tr>
              <a:tr h="479425">
                <a:tc>
                  <a:txBody>
                    <a:bodyPr/>
                    <a:lstStyle/>
                    <a:p>
                      <a:r>
                        <a:rPr sz="1313">
                          <a:solidFill>
                            <a:srgbClr val="1D1D1B"/>
                          </a:solidFill>
                          <a:latin typeface="Microsoft YaHei"/>
                          <a:ea typeface="Microsoft YaHei"/>
                          <a:cs typeface="Microsoft YaHei"/>
                        </a:rPr>
                        <a:t>缓存亲和</a:t>
                      </a:r>
                    </a:p>
                  </a:txBody>
                  <a:tcPr marL="76200" marR="76200" marT="38100" marB="38100" anchor="ctr">
                    <a:lnL w="7620">
                      <a:solidFill>
                        <a:srgbClr val="888888"/>
                      </a:solidFill>
                      <a:prstDash val="solid"/>
                    </a:lnL>
                    <a:lnR w="6191">
                      <a:solidFill>
                        <a:srgbClr val="A9A9A9"/>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tc>
                  <a:txBody>
                    <a:bodyPr/>
                    <a:lstStyle/>
                    <a:p>
                      <a:r>
                        <a:rPr sz="1313">
                          <a:solidFill>
                            <a:srgbClr val="1D1D1B"/>
                          </a:solidFill>
                          <a:latin typeface="Microsoft YaHei"/>
                          <a:ea typeface="Microsoft YaHei"/>
                          <a:cs typeface="Microsoft YaHei"/>
                        </a:rPr>
                        <a:t>会话固定主集群，减少跨集群大缓存搬移</a:t>
                      </a:r>
                    </a:p>
                    <a:p>
                      <a:r>
                        <a:rPr sz="1313">
                          <a:solidFill>
                            <a:srgbClr val="1D1D1B"/>
                          </a:solidFill>
                          <a:latin typeface="Microsoft YaHei"/>
                          <a:ea typeface="Microsoft YaHei"/>
                          <a:cs typeface="Microsoft YaHei"/>
                        </a:rPr>
                        <a:t>一致性哈希指定冷备，分散故障重算</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6191" cap="flat" cmpd="sng" algn="ctr">
                      <a:solidFill>
                        <a:srgbClr val="A9A9A9"/>
                      </a:solidFill>
                      <a:prstDash val="solid"/>
                      <a:round/>
                      <a:headEnd type="none" w="med" len="med"/>
                      <a:tailEnd type="none" w="med" len="med"/>
                    </a:lnT>
                    <a:lnB w="6191">
                      <a:solidFill>
                        <a:srgbClr val="A9A9A9"/>
                      </a:solidFill>
                      <a:prstDash val="solid"/>
                    </a:lnB>
                    <a:solidFill>
                      <a:srgbClr val="FFFFFF"/>
                    </a:solidFill>
                  </a:tcPr>
                </a:tc>
                <a:extLst>
                  <a:ext uri="{0D108BD9-81ED-4DB2-BD59-A6C34878D82A}">
                    <a16:rowId xmlns:a16="http://schemas.microsoft.com/office/drawing/2014/main" val="10001"/>
                  </a:ext>
                </a:extLst>
              </a:tr>
              <a:tr h="479425">
                <a:tc>
                  <a:txBody>
                    <a:bodyPr/>
                    <a:lstStyle/>
                    <a:p>
                      <a:r>
                        <a:rPr sz="1313">
                          <a:solidFill>
                            <a:srgbClr val="1D1D1B"/>
                          </a:solidFill>
                          <a:latin typeface="Microsoft YaHei"/>
                          <a:ea typeface="Microsoft YaHei"/>
                          <a:cs typeface="Microsoft YaHei"/>
                        </a:rPr>
                        <a:t>预算准入</a:t>
                      </a:r>
                    </a:p>
                  </a:txBody>
                  <a:tcPr marL="76200" marR="76200" marT="38100" marB="38100" anchor="ctr">
                    <a:lnL w="7620">
                      <a:solidFill>
                        <a:srgbClr val="888888"/>
                      </a:solidFill>
                      <a:prstDash val="solid"/>
                    </a:lnL>
                    <a:lnR w="6191">
                      <a:solidFill>
                        <a:srgbClr val="A9A9A9"/>
                      </a:solidFill>
                      <a:prstDash val="solid"/>
                    </a:lnR>
                    <a:lnT w="6191" cap="flat" cmpd="sng" algn="ctr">
                      <a:solidFill>
                        <a:srgbClr val="A9A9A9"/>
                      </a:solidFill>
                      <a:prstDash val="solid"/>
                      <a:round/>
                      <a:headEnd type="none" w="med" len="med"/>
                      <a:tailEnd type="none" w="med" len="med"/>
                    </a:lnT>
                    <a:lnB w="7620">
                      <a:solidFill>
                        <a:srgbClr val="888888"/>
                      </a:solidFill>
                      <a:prstDash val="solid"/>
                    </a:lnB>
                    <a:solidFill>
                      <a:srgbClr val="F1F1F1"/>
                    </a:solidFill>
                  </a:tcPr>
                </a:tc>
                <a:tc>
                  <a:txBody>
                    <a:bodyPr/>
                    <a:lstStyle/>
                    <a:p>
                      <a:r>
                        <a:rPr sz="1313">
                          <a:solidFill>
                            <a:srgbClr val="1D1D1B"/>
                          </a:solidFill>
                          <a:latin typeface="Microsoft YaHei"/>
                          <a:ea typeface="Microsoft YaHei"/>
                          <a:cs typeface="Microsoft YaHei"/>
                        </a:rPr>
                        <a:t>不同请求类独立预算，限制长请求突发</a:t>
                      </a:r>
                    </a:p>
                    <a:p>
                      <a:r>
                        <a:rPr sz="1313">
                          <a:solidFill>
                            <a:srgbClr val="1D1D1B"/>
                          </a:solidFill>
                          <a:latin typeface="Microsoft YaHei"/>
                          <a:ea typeface="Microsoft YaHei"/>
                          <a:cs typeface="Microsoft YaHei"/>
                        </a:rPr>
                        <a:t>QPS 均衡无法代表真实计算与缓存负载</a:t>
                      </a:r>
                    </a:p>
                  </a:txBody>
                  <a:tcPr marL="76200" marR="76200" marT="38100" marB="38100" anchor="ctr">
                    <a:lnL w="6191" cap="flat" cmpd="sng" algn="ctr">
                      <a:solidFill>
                        <a:srgbClr val="A9A9A9"/>
                      </a:solidFill>
                      <a:prstDash val="solid"/>
                      <a:round/>
                      <a:headEnd type="none" w="med" len="med"/>
                      <a:tailEnd type="none" w="med" len="med"/>
                    </a:lnL>
                    <a:lnR w="7620">
                      <a:solidFill>
                        <a:srgbClr val="888888"/>
                      </a:solidFill>
                      <a:prstDash val="solid"/>
                    </a:lnR>
                    <a:lnT w="6191" cap="flat" cmpd="sng" algn="ctr">
                      <a:solidFill>
                        <a:srgbClr val="A9A9A9"/>
                      </a:solidFill>
                      <a:prstDash val="solid"/>
                      <a:round/>
                      <a:headEnd type="none" w="med" len="med"/>
                      <a:tailEnd type="none" w="med" len="med"/>
                    </a:lnT>
                    <a:lnB w="7620">
                      <a:solidFill>
                        <a:srgbClr val="888888"/>
                      </a:solidFill>
                      <a:prstDash val="solid"/>
                    </a:lnB>
                    <a:solidFill>
                      <a:srgbClr val="F1F1F1"/>
                    </a:solidFill>
                  </a:tcPr>
                </a:tc>
                <a:extLst>
                  <a:ext uri="{0D108BD9-81ED-4DB2-BD59-A6C34878D82A}">
                    <a16:rowId xmlns:a16="http://schemas.microsoft.com/office/drawing/2014/main" val="10002"/>
                  </a:ext>
                </a:extLst>
              </a:tr>
            </a:tbl>
          </a:graphicData>
        </a:graphic>
      </p:graphicFrame>
      <p:sp>
        <p:nvSpPr>
          <p:cNvPr id="1008" name="矩形 1007">
            <a:extLst>
              <a:ext uri="{FF2B5EF4-FFF2-40B4-BE49-F238E27FC236}">
                <a16:creationId xmlns:a16="http://schemas.microsoft.com/office/drawing/2014/main" id="{EA02C369-54C9-4BDC-A7EA-F37201BA7758}"/>
              </a:ext>
            </a:extLst>
          </p:cNvPr>
          <p:cNvSpPr>
            <a:spLocks noGrp="1"/>
          </p:cNvSpPr>
          <p:nvPr/>
        </p:nvSpPr>
        <p:spPr>
          <a:xfrm>
            <a:off x="5600700" y="3933825"/>
            <a:ext cx="5857875" cy="257175"/>
          </a:xfrm>
          <a:prstGeom prst="rect">
            <a:avLst/>
          </a:prstGeom>
          <a:noFill/>
          <a:ln w="0">
            <a:noFill/>
          </a:ln>
        </p:spPr>
        <p:txBody>
          <a:bodyPr wrap="none" lIns="0" tIns="0" rIns="0" bIns="0">
            <a:noAutofit/>
          </a:bodyPr>
          <a:lstStyle>
            <a:defPPr>
              <a:defRPr sz="1500"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C7000B"/>
                </a:solidFill>
                <a:latin typeface="Microsoft YaHei"/>
                <a:ea typeface="Microsoft YaHei"/>
                <a:cs typeface="Microsoft YaHei"/>
              </a:defRPr>
            </a:pPr>
            <a:r>
              <a:rPr kumimoji="0" sz="1500" b="1" i="0" u="none" strike="noStrike" kern="1200" cap="none" spc="0" normalizeH="0" baseline="0" noProof="0">
                <a:ln>
                  <a:noFill/>
                </a:ln>
                <a:solidFill>
                  <a:srgbClr val="C7000B"/>
                </a:solidFill>
                <a:effectLst/>
                <a:uLnTx/>
                <a:uFillTx/>
                <a:latin typeface="Microsoft YaHei"/>
                <a:ea typeface="Microsoft YaHei"/>
                <a:cs typeface="Microsoft YaHei"/>
              </a:rPr>
              <a:t>趋势分析</a:t>
            </a:r>
          </a:p>
        </p:txBody>
      </p:sp>
      <p:sp>
        <p:nvSpPr>
          <p:cNvPr id="1002" name="矩形 1001">
            <a:extLst>
              <a:ext uri="{FF2B5EF4-FFF2-40B4-BE49-F238E27FC236}">
                <a16:creationId xmlns:a16="http://schemas.microsoft.com/office/drawing/2014/main" id="{0134605B-316F-4794-8F50-C36004922C60}"/>
              </a:ext>
            </a:extLst>
          </p:cNvPr>
          <p:cNvSpPr>
            <a:spLocks noGrp="1"/>
          </p:cNvSpPr>
          <p:nvPr/>
        </p:nvSpPr>
        <p:spPr>
          <a:xfrm>
            <a:off x="5600700" y="4229100"/>
            <a:ext cx="5857875" cy="247650"/>
          </a:xfrm>
          <a:prstGeom prst="rect">
            <a:avLst/>
          </a:prstGeom>
          <a:noFill/>
          <a:ln w="0">
            <a:noFill/>
          </a:ln>
        </p:spPr>
        <p:txBody>
          <a:bodyPr wrap="none" lIns="0" tIns="0" rIns="0" bIns="0">
            <a:noAutofit/>
          </a:bodyPr>
          <a:lstStyle>
            <a:defPPr>
              <a:defRPr sz="1425"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C7000B"/>
                </a:solidFill>
                <a:latin typeface="Microsoft YaHei"/>
                <a:ea typeface="Microsoft YaHei"/>
                <a:cs typeface="Microsoft YaHei"/>
              </a:defRPr>
            </a:pPr>
            <a:r>
              <a:rPr kumimoji="0" sz="1425" b="1" i="0" u="none" strike="noStrike" kern="1200" cap="none" spc="0" normalizeH="0" baseline="0" noProof="0">
                <a:ln>
                  <a:noFill/>
                </a:ln>
                <a:solidFill>
                  <a:srgbClr val="C7000B"/>
                </a:solidFill>
                <a:effectLst/>
                <a:uLnTx/>
                <a:uFillTx/>
                <a:latin typeface="Microsoft YaHei"/>
                <a:ea typeface="Microsoft YaHei"/>
                <a:cs typeface="Microsoft YaHei"/>
              </a:rPr>
              <a:t>缓存位置进入调度决策</a:t>
            </a:r>
          </a:p>
        </p:txBody>
      </p:sp>
      <p:sp>
        <p:nvSpPr>
          <p:cNvPr id="1003" name="矩形 1002">
            <a:extLst>
              <a:ext uri="{FF2B5EF4-FFF2-40B4-BE49-F238E27FC236}">
                <a16:creationId xmlns:a16="http://schemas.microsoft.com/office/drawing/2014/main" id="{43DCD342-E416-4D50-9E72-D0AF15377C82}"/>
              </a:ext>
            </a:extLst>
          </p:cNvPr>
          <p:cNvSpPr>
            <a:spLocks noGrp="1"/>
          </p:cNvSpPr>
          <p:nvPr/>
        </p:nvSpPr>
        <p:spPr>
          <a:xfrm>
            <a:off x="5600700" y="4495800"/>
            <a:ext cx="5857875" cy="419100"/>
          </a:xfrm>
          <a:prstGeom prst="rect">
            <a:avLst/>
          </a:prstGeom>
          <a:noFill/>
          <a:ln w="0">
            <a:noFill/>
          </a:ln>
        </p:spPr>
        <p:txBody>
          <a:bodyPr wrap="none" lIns="0" tIns="0" rIns="0" bIns="0">
            <a:noAutofit/>
          </a:bodyPr>
          <a:lstStyle>
            <a:defPPr>
              <a:defRPr sz="1350"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长上下文 / 多轮 Agent 依赖状态复用，</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布局缓存目录与状态感知路由接口。</a:t>
            </a:r>
          </a:p>
        </p:txBody>
      </p:sp>
      <p:sp>
        <p:nvSpPr>
          <p:cNvPr id="1004" name="矩形 1003">
            <a:extLst>
              <a:ext uri="{FF2B5EF4-FFF2-40B4-BE49-F238E27FC236}">
                <a16:creationId xmlns:a16="http://schemas.microsoft.com/office/drawing/2014/main" id="{845DF1AA-5213-4197-AFCF-72ABECA90CCE}"/>
              </a:ext>
            </a:extLst>
          </p:cNvPr>
          <p:cNvSpPr>
            <a:spLocks noGrp="1"/>
          </p:cNvSpPr>
          <p:nvPr/>
        </p:nvSpPr>
        <p:spPr>
          <a:xfrm>
            <a:off x="5600700" y="4972050"/>
            <a:ext cx="5857875" cy="247650"/>
          </a:xfrm>
          <a:prstGeom prst="rect">
            <a:avLst/>
          </a:prstGeom>
          <a:noFill/>
          <a:ln w="0">
            <a:noFill/>
          </a:ln>
        </p:spPr>
        <p:txBody>
          <a:bodyPr wrap="none" lIns="0" tIns="0" rIns="0" bIns="0">
            <a:noAutofit/>
          </a:bodyPr>
          <a:lstStyle>
            <a:defPPr>
              <a:defRPr sz="1425"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C7000B"/>
                </a:solidFill>
                <a:latin typeface="Microsoft YaHei"/>
                <a:ea typeface="Microsoft YaHei"/>
                <a:cs typeface="Microsoft YaHei"/>
              </a:defRPr>
            </a:pPr>
            <a:r>
              <a:rPr kumimoji="0" sz="1425" b="1" i="0" u="none" strike="noStrike" kern="1200" cap="none" spc="0" normalizeH="0" baseline="0" noProof="0">
                <a:ln>
                  <a:noFill/>
                </a:ln>
                <a:solidFill>
                  <a:srgbClr val="C7000B"/>
                </a:solidFill>
                <a:effectLst/>
                <a:uLnTx/>
                <a:uFillTx/>
                <a:latin typeface="Microsoft YaHei"/>
                <a:ea typeface="Microsoft YaHei"/>
                <a:cs typeface="Microsoft YaHei"/>
              </a:rPr>
              <a:t>故障恢复需要独立预算</a:t>
            </a:r>
          </a:p>
        </p:txBody>
      </p:sp>
      <p:sp>
        <p:nvSpPr>
          <p:cNvPr id="1005" name="矩形 1004">
            <a:extLst>
              <a:ext uri="{FF2B5EF4-FFF2-40B4-BE49-F238E27FC236}">
                <a16:creationId xmlns:a16="http://schemas.microsoft.com/office/drawing/2014/main" id="{542A63AE-22EC-4EF9-BB6C-DA88D52D6D17}"/>
              </a:ext>
            </a:extLst>
          </p:cNvPr>
          <p:cNvSpPr>
            <a:spLocks noGrp="1"/>
          </p:cNvSpPr>
          <p:nvPr/>
        </p:nvSpPr>
        <p:spPr>
          <a:xfrm>
            <a:off x="5600700" y="5238750"/>
            <a:ext cx="5857875" cy="419100"/>
          </a:xfrm>
          <a:prstGeom prst="rect">
            <a:avLst/>
          </a:prstGeom>
          <a:noFill/>
          <a:ln w="0">
            <a:noFill/>
          </a:ln>
        </p:spPr>
        <p:txBody>
          <a:bodyPr wrap="none" lIns="0" tIns="0" rIns="0" bIns="0">
            <a:noAutofit/>
          </a:bodyPr>
          <a:lstStyle>
            <a:defPPr>
              <a:defRPr sz="1350"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主备会话映射联动恢复 prefill 分散与限流，</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以恢复预算约束 SLO 风险。</a:t>
            </a:r>
          </a:p>
        </p:txBody>
      </p:sp>
      <p:sp>
        <p:nvSpPr>
          <p:cNvPr id="1006" name="矩形 1005">
            <a:extLst>
              <a:ext uri="{FF2B5EF4-FFF2-40B4-BE49-F238E27FC236}">
                <a16:creationId xmlns:a16="http://schemas.microsoft.com/office/drawing/2014/main" id="{8BD5703E-9D1A-42C7-A04B-7E20C9933311}"/>
              </a:ext>
            </a:extLst>
          </p:cNvPr>
          <p:cNvSpPr>
            <a:spLocks noGrp="1"/>
          </p:cNvSpPr>
          <p:nvPr/>
        </p:nvSpPr>
        <p:spPr>
          <a:xfrm>
            <a:off x="5600700" y="5715000"/>
            <a:ext cx="5857875" cy="247650"/>
          </a:xfrm>
          <a:prstGeom prst="rect">
            <a:avLst/>
          </a:prstGeom>
          <a:noFill/>
          <a:ln w="0">
            <a:noFill/>
          </a:ln>
        </p:spPr>
        <p:txBody>
          <a:bodyPr wrap="none" lIns="0" tIns="0" rIns="0" bIns="0">
            <a:noAutofit/>
          </a:bodyPr>
          <a:lstStyle>
            <a:defPPr>
              <a:defRPr sz="1425" b="1">
                <a:solidFill>
                  <a:srgbClr val="C7000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425" b="1">
                <a:solidFill>
                  <a:srgbClr val="C7000B"/>
                </a:solidFill>
                <a:latin typeface="Microsoft YaHei"/>
                <a:ea typeface="Microsoft YaHei"/>
                <a:cs typeface="Microsoft YaHei"/>
              </a:defRPr>
            </a:pPr>
            <a:r>
              <a:rPr kumimoji="0" sz="1425" b="1" i="0" u="none" strike="noStrike" kern="1200" cap="none" spc="0" normalizeH="0" baseline="0" noProof="0">
                <a:ln>
                  <a:noFill/>
                </a:ln>
                <a:solidFill>
                  <a:srgbClr val="C7000B"/>
                </a:solidFill>
                <a:effectLst/>
                <a:uLnTx/>
                <a:uFillTx/>
                <a:latin typeface="Microsoft YaHei"/>
                <a:ea typeface="Microsoft YaHei"/>
                <a:cs typeface="Microsoft YaHei"/>
              </a:rPr>
              <a:t>分级准入转向成本感知</a:t>
            </a:r>
          </a:p>
        </p:txBody>
      </p:sp>
      <p:sp>
        <p:nvSpPr>
          <p:cNvPr id="1007" name="矩形 1006">
            <a:extLst>
              <a:ext uri="{FF2B5EF4-FFF2-40B4-BE49-F238E27FC236}">
                <a16:creationId xmlns:a16="http://schemas.microsoft.com/office/drawing/2014/main" id="{F0365806-D446-4F69-8838-2BAC7CD49CCB}"/>
              </a:ext>
            </a:extLst>
          </p:cNvPr>
          <p:cNvSpPr>
            <a:spLocks noGrp="1"/>
          </p:cNvSpPr>
          <p:nvPr/>
        </p:nvSpPr>
        <p:spPr>
          <a:xfrm>
            <a:off x="5600700" y="5981700"/>
            <a:ext cx="5857875" cy="400050"/>
          </a:xfrm>
          <a:prstGeom prst="rect">
            <a:avLst/>
          </a:prstGeom>
          <a:noFill/>
          <a:ln w="0">
            <a:noFill/>
          </a:ln>
        </p:spPr>
        <p:txBody>
          <a:bodyPr wrap="none" lIns="0" tIns="0" rIns="0" bIns="0">
            <a:noAutofit/>
          </a:bodyPr>
          <a:lstStyle>
            <a:defPPr>
              <a:defRPr sz="1350" b="0">
                <a:solidFill>
                  <a:srgbClr val="1D1D1B"/>
                </a:solidFill>
                <a:latin typeface="Microsoft YaHei"/>
                <a:ea typeface="Microsoft YaHei"/>
                <a:cs typeface="Microsoft YaHei"/>
              </a:defRPr>
            </a:defPPr>
          </a:lstStyle>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以未命中 prefill 与缓存占用估计请求成本，</a:t>
            </a:r>
          </a:p>
          <a:p>
            <a:pPr marL="0" marR="0" lvl="0" indent="0" algn="l" defTabSz="914400" rtl="0" eaLnBrk="1" fontAlgn="auto" latinLnBrk="0" hangingPunct="1">
              <a:lnSpc>
                <a:spcPct val="100000"/>
              </a:lnSpc>
              <a:spcBef>
                <a:spcPts val="0"/>
              </a:spcBef>
              <a:spcAft>
                <a:spcPts val="0"/>
              </a:spcAft>
              <a:buClrTx/>
              <a:buSzTx/>
              <a:buFontTx/>
              <a:buNone/>
              <a:tabLst/>
              <a:defRPr sz="1350" b="0">
                <a:solidFill>
                  <a:srgbClr val="1D1D1B"/>
                </a:solidFill>
                <a:latin typeface="Microsoft YaHei"/>
                <a:ea typeface="Microsoft YaHei"/>
                <a:cs typeface="Microsoft YaHei"/>
              </a:defRPr>
            </a:pPr>
            <a:r>
              <a:rPr kumimoji="0" sz="1350" b="0" i="0" u="none" strike="noStrike" kern="1200" cap="none" spc="0" normalizeH="0" baseline="0" noProof="0">
                <a:ln>
                  <a:noFill/>
                </a:ln>
                <a:solidFill>
                  <a:srgbClr val="1D1D1B"/>
                </a:solidFill>
                <a:effectLst/>
                <a:uLnTx/>
                <a:uFillTx/>
                <a:latin typeface="Microsoft YaHei"/>
                <a:ea typeface="Microsoft YaHei"/>
                <a:cs typeface="Microsoft YaHei"/>
              </a:rPr>
              <a:t>保护短请求 TTFT。</a:t>
            </a:r>
          </a:p>
        </p:txBody>
      </p:sp>
      <p:sp>
        <p:nvSpPr>
          <p:cNvPr id="28" name="文本框 27">
            <a:extLst>
              <a:ext uri="{FF2B5EF4-FFF2-40B4-BE49-F238E27FC236}">
                <a16:creationId xmlns:a16="http://schemas.microsoft.com/office/drawing/2014/main" id="{F0E9B32C-454B-4E9F-8AB2-3813A1370C5D}"/>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宋泽宇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00886374</a:t>
            </a:r>
          </a:p>
        </p:txBody>
      </p:sp>
    </p:spTree>
    <p:extLst>
      <p:ext uri="{BB962C8B-B14F-4D97-AF65-F5344CB8AC3E}">
        <p14:creationId xmlns:p14="http://schemas.microsoft.com/office/powerpoint/2010/main" val="1284154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p:cNvPicPr>
            <a:picLocks noChangeAspect="1"/>
          </p:cNvPicPr>
          <p:nvPr/>
        </p:nvPicPr>
        <p:blipFill>
          <a:blip r:embed="rId3"/>
          <a:stretch>
            <a:fillRect/>
          </a:stretch>
        </p:blipFill>
        <p:spPr>
          <a:xfrm>
            <a:off x="6501989" y="2707119"/>
            <a:ext cx="5032062" cy="2840958"/>
          </a:xfrm>
          <a:prstGeom prst="rect">
            <a:avLst/>
          </a:prstGeom>
        </p:spPr>
      </p:pic>
      <p:sp>
        <p:nvSpPr>
          <p:cNvPr id="2" name="TextBox 1"/>
          <p:cNvSpPr txBox="1"/>
          <p:nvPr/>
        </p:nvSpPr>
        <p:spPr>
          <a:xfrm>
            <a:off x="136800" y="72000"/>
            <a:ext cx="12060000" cy="381964"/>
          </a:xfrm>
          <a:prstGeom prst="rect">
            <a:avLst/>
          </a:prstGeom>
          <a:noFill/>
        </p:spPr>
        <p:txBody>
          <a:bodyPr wrap="square" lIns="0" tIns="0" rIns="0" bIns="0" anchor="t">
            <a:spAutoFit/>
          </a:bodyPr>
          <a:lstStyle/>
          <a:p>
            <a:pPr>
              <a:lnSpc>
                <a:spcPts val="3430"/>
              </a:lnSpc>
            </a:pPr>
            <a:r>
              <a:rPr b="1" i="0" dirty="0">
                <a:solidFill>
                  <a:srgbClr val="C00000"/>
                </a:solidFill>
                <a:latin typeface="微软雅黑"/>
                <a:ea typeface="微软雅黑"/>
              </a:rPr>
              <a:t>Per-Head Muon</a:t>
            </a:r>
            <a:r>
              <a:rPr lang="zh-CN" altLang="en-US" b="1" i="0" dirty="0">
                <a:solidFill>
                  <a:srgbClr val="C00000"/>
                </a:solidFill>
                <a:latin typeface="微软雅黑"/>
                <a:ea typeface="微软雅黑"/>
              </a:rPr>
              <a:t>优化器</a:t>
            </a:r>
            <a:r>
              <a:rPr lang="zh-CN" altLang="en-US" b="1" dirty="0">
                <a:solidFill>
                  <a:srgbClr val="C00000"/>
                </a:solidFill>
                <a:latin typeface="微软雅黑"/>
                <a:ea typeface="微软雅黑"/>
              </a:rPr>
              <a:t>：逐注意力头独立正交化，均衡头更新尺度</a:t>
            </a:r>
            <a:endParaRPr b="1" dirty="0">
              <a:solidFill>
                <a:srgbClr val="C00000"/>
              </a:solidFill>
              <a:latin typeface="微软雅黑"/>
              <a:ea typeface="微软雅黑"/>
            </a:endParaRPr>
          </a:p>
        </p:txBody>
      </p:sp>
      <p:sp>
        <p:nvSpPr>
          <p:cNvPr id="6" name="Rectangle 5"/>
          <p:cNvSpPr/>
          <p:nvPr/>
        </p:nvSpPr>
        <p:spPr>
          <a:xfrm>
            <a:off x="173355" y="626110"/>
            <a:ext cx="863600" cy="177039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7200" rIns="18000" bIns="7200" rtlCol="0" anchor="ctr"/>
          <a:lstStyle/>
          <a:p>
            <a:pPr algn="ctr">
              <a:lnSpc>
                <a:spcPct val="100000"/>
              </a:lnSpc>
            </a:pPr>
            <a:r>
              <a:rPr lang="zh-CN" altLang="en-US" sz="1600" b="1" i="0" dirty="0">
                <a:solidFill>
                  <a:srgbClr val="FFFFFF"/>
                </a:solidFill>
                <a:latin typeface="微软雅黑"/>
                <a:ea typeface="微软雅黑"/>
              </a:rPr>
              <a:t>分析结论</a:t>
            </a:r>
            <a:endParaRPr sz="1600" b="1" i="0" dirty="0">
              <a:solidFill>
                <a:srgbClr val="FFFFFF"/>
              </a:solidFill>
              <a:latin typeface="微软雅黑"/>
              <a:ea typeface="微软雅黑"/>
            </a:endParaRPr>
          </a:p>
        </p:txBody>
      </p:sp>
      <p:sp>
        <p:nvSpPr>
          <p:cNvPr id="7" name="Rectangle 6"/>
          <p:cNvSpPr/>
          <p:nvPr/>
        </p:nvSpPr>
        <p:spPr>
          <a:xfrm>
            <a:off x="1040400" y="612000"/>
            <a:ext cx="10742400" cy="178450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30400" y="675039"/>
            <a:ext cx="10562400" cy="1668021"/>
          </a:xfrm>
          <a:prstGeom prst="rect">
            <a:avLst/>
          </a:prstGeom>
          <a:noFill/>
        </p:spPr>
        <p:txBody>
          <a:bodyPr wrap="square" lIns="0" tIns="0" rIns="0" bIns="0" anchor="t">
            <a:spAutoFit/>
          </a:bodyPr>
          <a:lstStyle/>
          <a:p>
            <a:pPr marL="285750" indent="-285750">
              <a:lnSpc>
                <a:spcPct val="122000"/>
              </a:lnSpc>
              <a:spcAft>
                <a:spcPts val="700"/>
              </a:spcAft>
              <a:buFont typeface="Wingdings" panose="05000000000000000000" pitchFamily="2" charset="2"/>
              <a:buChar char="Ø"/>
            </a:pPr>
            <a:r>
              <a:rPr lang="zh-CN" altLang="en-US" sz="1400" dirty="0">
                <a:solidFill>
                  <a:srgbClr val="000000"/>
                </a:solidFill>
                <a:latin typeface="微软雅黑"/>
                <a:ea typeface="微软雅黑"/>
              </a:rPr>
              <a:t>改进点（相比</a:t>
            </a:r>
            <a:r>
              <a:rPr lang="en-US" altLang="zh-CN" sz="1400" dirty="0">
                <a:solidFill>
                  <a:srgbClr val="000000"/>
                </a:solidFill>
                <a:latin typeface="微软雅黑"/>
                <a:ea typeface="微软雅黑"/>
              </a:rPr>
              <a:t>Muon</a:t>
            </a:r>
            <a:r>
              <a:rPr lang="zh-CN" altLang="en-US" sz="1400" dirty="0">
                <a:solidFill>
                  <a:srgbClr val="000000"/>
                </a:solidFill>
                <a:latin typeface="微软雅黑"/>
                <a:ea typeface="微软雅黑"/>
              </a:rPr>
              <a:t>优化器）：</a:t>
            </a:r>
            <a:r>
              <a:rPr lang="zh-CN" altLang="en-US" sz="1400" dirty="0">
                <a:latin typeface="微软雅黑"/>
                <a:ea typeface="微软雅黑"/>
              </a:rPr>
              <a:t>不再对完整 </a:t>
            </a:r>
            <a:r>
              <a:rPr lang="en-US" altLang="zh-CN" sz="1400" dirty="0">
                <a:latin typeface="微软雅黑"/>
                <a:ea typeface="微软雅黑"/>
              </a:rPr>
              <a:t>Q</a:t>
            </a:r>
            <a:r>
              <a:rPr lang="zh-CN" altLang="en-US" sz="1400" dirty="0">
                <a:latin typeface="微软雅黑"/>
                <a:ea typeface="微软雅黑"/>
              </a:rPr>
              <a:t>、</a:t>
            </a:r>
            <a:r>
              <a:rPr lang="en-US" altLang="zh-CN" sz="1400" dirty="0">
                <a:latin typeface="微软雅黑"/>
                <a:ea typeface="微软雅黑"/>
              </a:rPr>
              <a:t>K</a:t>
            </a:r>
            <a:r>
              <a:rPr lang="zh-CN" altLang="en-US" sz="1400" dirty="0">
                <a:latin typeface="微软雅黑"/>
                <a:ea typeface="微软雅黑"/>
              </a:rPr>
              <a:t>、</a:t>
            </a:r>
            <a:r>
              <a:rPr lang="en-US" altLang="zh-CN" sz="1400" dirty="0">
                <a:latin typeface="微软雅黑"/>
                <a:ea typeface="微软雅黑"/>
              </a:rPr>
              <a:t>V</a:t>
            </a:r>
            <a:r>
              <a:rPr lang="zh-CN" altLang="en-US" sz="1400" dirty="0">
                <a:latin typeface="微软雅黑"/>
                <a:ea typeface="微软雅黑"/>
              </a:rPr>
              <a:t>的投影矩阵整体正交化，沿着头维度切分</a:t>
            </a:r>
            <a:r>
              <a:rPr lang="en-US" altLang="zh-CN" sz="1400" dirty="0">
                <a:latin typeface="微软雅黑"/>
                <a:ea typeface="微软雅黑"/>
              </a:rPr>
              <a:t>Q</a:t>
            </a:r>
            <a:r>
              <a:rPr lang="zh-CN" altLang="en-US" sz="1400" dirty="0">
                <a:latin typeface="微软雅黑"/>
                <a:ea typeface="微软雅黑"/>
              </a:rPr>
              <a:t>、</a:t>
            </a:r>
            <a:r>
              <a:rPr lang="en-US" altLang="zh-CN" sz="1400" dirty="0">
                <a:latin typeface="微软雅黑"/>
                <a:ea typeface="微软雅黑"/>
              </a:rPr>
              <a:t>K</a:t>
            </a:r>
            <a:r>
              <a:rPr lang="zh-CN" altLang="en-US" sz="1400" dirty="0">
                <a:latin typeface="微软雅黑"/>
                <a:ea typeface="微软雅黑"/>
              </a:rPr>
              <a:t>、</a:t>
            </a:r>
            <a:r>
              <a:rPr lang="en-US" altLang="zh-CN" sz="1400" dirty="0">
                <a:latin typeface="微软雅黑"/>
                <a:ea typeface="微软雅黑"/>
              </a:rPr>
              <a:t>V</a:t>
            </a:r>
            <a:r>
              <a:rPr lang="zh-CN" altLang="en-US" sz="1400" dirty="0">
                <a:latin typeface="微软雅黑"/>
                <a:ea typeface="微软雅黑"/>
              </a:rPr>
              <a:t>的动量矩阵，分别对每个块的头做 </a:t>
            </a:r>
            <a:r>
              <a:rPr lang="en-US" altLang="zh-CN" sz="1400" dirty="0">
                <a:latin typeface="微软雅黑"/>
                <a:ea typeface="微软雅黑"/>
              </a:rPr>
              <a:t>Newton-Schulz</a:t>
            </a:r>
            <a:r>
              <a:rPr lang="zh-CN" altLang="en-US" sz="1400" dirty="0">
                <a:latin typeface="微软雅黑"/>
                <a:ea typeface="微软雅黑"/>
              </a:rPr>
              <a:t>正交化</a:t>
            </a:r>
            <a:endParaRPr lang="en-US" altLang="zh-CN" sz="1400" dirty="0">
              <a:latin typeface="微软雅黑"/>
              <a:ea typeface="微软雅黑"/>
            </a:endParaRPr>
          </a:p>
          <a:p>
            <a:pPr marL="285750" indent="-285750">
              <a:lnSpc>
                <a:spcPct val="125000"/>
              </a:lnSpc>
              <a:buFont typeface="Wingdings" panose="05000000000000000000" pitchFamily="2" charset="2"/>
              <a:buChar char="Ø"/>
            </a:pPr>
            <a:r>
              <a:rPr lang="zh-CN" altLang="en-US" sz="1400" dirty="0">
                <a:solidFill>
                  <a:srgbClr val="000000"/>
                </a:solidFill>
                <a:latin typeface="微软雅黑"/>
                <a:ea typeface="微软雅黑"/>
              </a:rPr>
              <a:t>优势：</a:t>
            </a:r>
            <a:endParaRPr lang="en-US" altLang="zh-CN" sz="1400" dirty="0">
              <a:solidFill>
                <a:srgbClr val="000000"/>
              </a:solidFill>
              <a:latin typeface="微软雅黑"/>
              <a:ea typeface="微软雅黑"/>
            </a:endParaRPr>
          </a:p>
          <a:p>
            <a:pPr marL="742950" lvl="1" indent="-285750">
              <a:lnSpc>
                <a:spcPct val="125000"/>
              </a:lnSpc>
              <a:buFont typeface="Wingdings" panose="05000000000000000000" pitchFamily="2" charset="2"/>
              <a:buChar char="u"/>
            </a:pPr>
            <a:r>
              <a:rPr lang="zh-CN" altLang="en-US" sz="1400" dirty="0">
                <a:solidFill>
                  <a:srgbClr val="000000"/>
                </a:solidFill>
                <a:latin typeface="微软雅黑"/>
                <a:ea typeface="微软雅黑"/>
              </a:rPr>
              <a:t>头间更新尺度均衡</a:t>
            </a:r>
            <a:r>
              <a:rPr lang="en-US" altLang="zh-CN" sz="1400" dirty="0">
                <a:solidFill>
                  <a:srgbClr val="000000"/>
                </a:solidFill>
                <a:latin typeface="微软雅黑"/>
                <a:ea typeface="微软雅黑"/>
              </a:rPr>
              <a:t>——</a:t>
            </a:r>
            <a:r>
              <a:rPr lang="zh-CN" altLang="en-US" sz="1400" dirty="0">
                <a:solidFill>
                  <a:srgbClr val="000000"/>
                </a:solidFill>
                <a:latin typeface="微软雅黑"/>
                <a:ea typeface="微软雅黑"/>
              </a:rPr>
              <a:t>防止梯度或动量规模较大的头会主导共享更新方向，实现各头正交化均衡更新、更平衡的学习动态，在更大规模下提高了训练的稳定性</a:t>
            </a:r>
            <a:endParaRPr lang="en-US" altLang="zh-CN" sz="1400" dirty="0">
              <a:solidFill>
                <a:srgbClr val="000000"/>
              </a:solidFill>
              <a:latin typeface="微软雅黑"/>
              <a:ea typeface="微软雅黑"/>
            </a:endParaRPr>
          </a:p>
          <a:p>
            <a:pPr marL="742950" lvl="1" indent="-285750">
              <a:lnSpc>
                <a:spcPct val="125000"/>
              </a:lnSpc>
              <a:buFont typeface="Wingdings" panose="05000000000000000000" pitchFamily="2" charset="2"/>
              <a:buChar char="u"/>
            </a:pPr>
            <a:r>
              <a:rPr lang="zh-CN" altLang="en-US" sz="1400" dirty="0">
                <a:solidFill>
                  <a:srgbClr val="000000"/>
                </a:solidFill>
                <a:latin typeface="微软雅黑"/>
                <a:ea typeface="微软雅黑"/>
              </a:rPr>
              <a:t>降低优化器开销</a:t>
            </a:r>
            <a:r>
              <a:rPr lang="en-US" altLang="zh-CN" sz="1400" dirty="0">
                <a:solidFill>
                  <a:srgbClr val="000000"/>
                </a:solidFill>
                <a:latin typeface="微软雅黑"/>
                <a:ea typeface="微软雅黑"/>
              </a:rPr>
              <a:t>——</a:t>
            </a:r>
            <a:r>
              <a:rPr lang="zh-CN" altLang="en-US" sz="1400" dirty="0">
                <a:solidFill>
                  <a:srgbClr val="000000"/>
                </a:solidFill>
                <a:latin typeface="微软雅黑"/>
                <a:ea typeface="微软雅黑"/>
              </a:rPr>
              <a:t>逐头进行</a:t>
            </a:r>
            <a:r>
              <a:rPr lang="en-US" altLang="zh-CN" sz="1400" dirty="0">
                <a:latin typeface="微软雅黑"/>
                <a:ea typeface="微软雅黑"/>
              </a:rPr>
              <a:t>Newton-Schulz</a:t>
            </a:r>
            <a:r>
              <a:rPr lang="zh-CN" altLang="en-US" sz="1400" dirty="0">
                <a:latin typeface="微软雅黑"/>
                <a:ea typeface="微软雅黑"/>
              </a:rPr>
              <a:t>正交化的开销低于整个投影矩阵正交化。</a:t>
            </a:r>
            <a:endParaRPr lang="zh-CN" altLang="en-US" sz="1400" dirty="0">
              <a:solidFill>
                <a:srgbClr val="000000"/>
              </a:solidFill>
              <a:latin typeface="微软雅黑"/>
              <a:ea typeface="微软雅黑"/>
            </a:endParaRPr>
          </a:p>
        </p:txBody>
      </p:sp>
      <p:pic>
        <p:nvPicPr>
          <p:cNvPr id="15" name="图片 14"/>
          <p:cNvPicPr>
            <a:picLocks noChangeAspect="1"/>
          </p:cNvPicPr>
          <p:nvPr/>
        </p:nvPicPr>
        <p:blipFill>
          <a:blip r:embed="rId4"/>
          <a:srcRect l="1477" r="2830"/>
          <a:stretch>
            <a:fillRect/>
          </a:stretch>
        </p:blipFill>
        <p:spPr>
          <a:xfrm>
            <a:off x="1130400" y="2554544"/>
            <a:ext cx="4535479" cy="1184898"/>
          </a:xfrm>
          <a:prstGeom prst="rect">
            <a:avLst/>
          </a:prstGeom>
        </p:spPr>
      </p:pic>
      <p:sp>
        <p:nvSpPr>
          <p:cNvPr id="23" name="文本框 22"/>
          <p:cNvSpPr txBox="1"/>
          <p:nvPr/>
        </p:nvSpPr>
        <p:spPr>
          <a:xfrm>
            <a:off x="1966510" y="3700785"/>
            <a:ext cx="3446738" cy="261610"/>
          </a:xfrm>
          <a:prstGeom prst="rect">
            <a:avLst/>
          </a:prstGeom>
          <a:noFill/>
        </p:spPr>
        <p:txBody>
          <a:bodyPr wrap="square">
            <a:spAutoFit/>
          </a:bodyPr>
          <a:lstStyle/>
          <a:p>
            <a:r>
              <a:rPr lang="en-US" altLang="zh-CN" sz="1100" i="0" dirty="0">
                <a:solidFill>
                  <a:srgbClr val="000000"/>
                </a:solidFill>
                <a:effectLst/>
                <a:latin typeface="+mj-ea"/>
                <a:ea typeface="+mj-ea"/>
              </a:rPr>
              <a:t>GLM-5</a:t>
            </a:r>
            <a:r>
              <a:rPr lang="zh-CN" altLang="en-US" sz="1100" i="0" dirty="0">
                <a:solidFill>
                  <a:srgbClr val="000000"/>
                </a:solidFill>
                <a:effectLst/>
                <a:latin typeface="+mj-ea"/>
                <a:ea typeface="+mj-ea"/>
              </a:rPr>
              <a:t>，</a:t>
            </a:r>
            <a:r>
              <a:rPr lang="en-US" altLang="zh-CN" sz="1100" i="0" dirty="0">
                <a:solidFill>
                  <a:srgbClr val="000000"/>
                </a:solidFill>
                <a:effectLst/>
                <a:latin typeface="+mj-ea"/>
                <a:ea typeface="+mj-ea"/>
              </a:rPr>
              <a:t>arXiv:2602.15763 §2.1——K3 </a:t>
            </a:r>
            <a:r>
              <a:rPr lang="zh-CN" altLang="en-US" sz="1100" i="0" dirty="0">
                <a:solidFill>
                  <a:srgbClr val="000000"/>
                </a:solidFill>
                <a:effectLst/>
                <a:latin typeface="+mj-ea"/>
                <a:ea typeface="+mj-ea"/>
              </a:rPr>
              <a:t>引文 </a:t>
            </a:r>
            <a:r>
              <a:rPr lang="en-US" altLang="zh-CN" sz="1100" i="0" dirty="0">
                <a:solidFill>
                  <a:srgbClr val="000000"/>
                </a:solidFill>
                <a:effectLst/>
                <a:latin typeface="+mj-ea"/>
                <a:ea typeface="+mj-ea"/>
              </a:rPr>
              <a:t>[146]</a:t>
            </a:r>
            <a:endParaRPr lang="zh-CN" altLang="en-US" sz="1100" dirty="0">
              <a:latin typeface="+mj-ea"/>
              <a:ea typeface="+mj-ea"/>
            </a:endParaRPr>
          </a:p>
        </p:txBody>
      </p:sp>
      <p:sp>
        <p:nvSpPr>
          <p:cNvPr id="31" name="文本框 30"/>
          <p:cNvSpPr txBox="1"/>
          <p:nvPr/>
        </p:nvSpPr>
        <p:spPr>
          <a:xfrm>
            <a:off x="641076" y="3981203"/>
            <a:ext cx="6331223" cy="496226"/>
          </a:xfrm>
          <a:prstGeom prst="rect">
            <a:avLst/>
          </a:prstGeom>
          <a:noFill/>
        </p:spPr>
        <p:txBody>
          <a:bodyPr wrap="square">
            <a:spAutoFit/>
          </a:bodyPr>
          <a:lstStyle/>
          <a:p>
            <a:pPr>
              <a:lnSpc>
                <a:spcPct val="125000"/>
              </a:lnSpc>
            </a:pPr>
            <a:r>
              <a:rPr lang="en-US" altLang="zh-CN" sz="1100" dirty="0">
                <a:latin typeface="+mj-ea"/>
                <a:ea typeface="+mj-ea"/>
              </a:rPr>
              <a:t>GLM-5</a:t>
            </a:r>
            <a:r>
              <a:rPr lang="zh-CN" altLang="en-US" sz="1100" dirty="0">
                <a:latin typeface="+mj-ea"/>
                <a:ea typeface="+mj-ea"/>
              </a:rPr>
              <a:t>“逐头正交化（</a:t>
            </a:r>
            <a:r>
              <a:rPr lang="en-US" altLang="zh-CN" sz="1100" dirty="0">
                <a:latin typeface="+mj-ea"/>
                <a:ea typeface="+mj-ea"/>
              </a:rPr>
              <a:t>Muon Split</a:t>
            </a:r>
            <a:r>
              <a:rPr lang="zh-CN" altLang="en-US" sz="1100" dirty="0">
                <a:latin typeface="+mj-ea"/>
                <a:ea typeface="+mj-ea"/>
              </a:rPr>
              <a:t>）”单独隔离实验，只把优化器从整矩阵改成逐头，得分上：</a:t>
            </a:r>
            <a:r>
              <a:rPr lang="en-US" altLang="zh-CN" sz="1100" dirty="0">
                <a:latin typeface="+mj-ea"/>
                <a:ea typeface="+mj-ea"/>
              </a:rPr>
              <a:t>C-Eval +2.4</a:t>
            </a:r>
            <a:r>
              <a:rPr lang="zh-CN" altLang="en-US" sz="1100" dirty="0">
                <a:latin typeface="+mj-ea"/>
                <a:ea typeface="+mj-ea"/>
              </a:rPr>
              <a:t>、</a:t>
            </a:r>
            <a:r>
              <a:rPr lang="en-US" altLang="zh-CN" sz="1100" dirty="0">
                <a:latin typeface="+mj-ea"/>
                <a:ea typeface="+mj-ea"/>
              </a:rPr>
              <a:t>BBH +2.9</a:t>
            </a:r>
            <a:r>
              <a:rPr lang="zh-CN" altLang="en-US" sz="1100" dirty="0">
                <a:latin typeface="+mj-ea"/>
                <a:ea typeface="+mj-ea"/>
              </a:rPr>
              <a:t>、</a:t>
            </a:r>
            <a:r>
              <a:rPr lang="en-US" altLang="zh-CN" sz="1100" dirty="0" err="1">
                <a:latin typeface="+mj-ea"/>
                <a:ea typeface="+mj-ea"/>
              </a:rPr>
              <a:t>HumanEval</a:t>
            </a:r>
            <a:r>
              <a:rPr lang="en-US" altLang="zh-CN" sz="1100" dirty="0">
                <a:latin typeface="+mj-ea"/>
                <a:ea typeface="+mj-ea"/>
              </a:rPr>
              <a:t> +3.2</a:t>
            </a:r>
            <a:r>
              <a:rPr lang="zh-CN" altLang="en-US" sz="1100" dirty="0">
                <a:latin typeface="+mj-ea"/>
                <a:ea typeface="+mj-ea"/>
              </a:rPr>
              <a:t>、</a:t>
            </a:r>
            <a:r>
              <a:rPr lang="en-US" altLang="zh-CN" sz="1100" dirty="0">
                <a:latin typeface="+mj-ea"/>
                <a:ea typeface="+mj-ea"/>
              </a:rPr>
              <a:t>RACE +2.1</a:t>
            </a:r>
            <a:r>
              <a:rPr lang="zh-CN" altLang="en-US" sz="1100" dirty="0">
                <a:latin typeface="+mj-ea"/>
                <a:ea typeface="+mj-ea"/>
              </a:rPr>
              <a:t>、</a:t>
            </a:r>
            <a:r>
              <a:rPr lang="en-US" altLang="zh-CN" sz="1100" dirty="0">
                <a:latin typeface="+mj-ea"/>
                <a:ea typeface="+mj-ea"/>
              </a:rPr>
              <a:t>MMLU +1.0</a:t>
            </a:r>
            <a:r>
              <a:rPr lang="zh-CN" altLang="en-US" sz="1100" dirty="0">
                <a:latin typeface="+mj-ea"/>
                <a:ea typeface="+mj-ea"/>
              </a:rPr>
              <a:t>（</a:t>
            </a:r>
            <a:r>
              <a:rPr lang="en-US" altLang="zh-CN" sz="1100" dirty="0">
                <a:latin typeface="+mj-ea"/>
                <a:ea typeface="+mj-ea"/>
              </a:rPr>
              <a:t>GSM8K −1.2 </a:t>
            </a:r>
            <a:r>
              <a:rPr lang="zh-CN" altLang="en-US" sz="1100" dirty="0">
                <a:latin typeface="+mj-ea"/>
                <a:ea typeface="+mj-ea"/>
              </a:rPr>
              <a:t>基本持平）</a:t>
            </a:r>
            <a:endParaRPr lang="en-US" altLang="zh-CN" sz="1100" dirty="0">
              <a:solidFill>
                <a:srgbClr val="000000"/>
              </a:solidFill>
              <a:latin typeface="+mj-ea"/>
              <a:ea typeface="+mj-ea"/>
            </a:endParaRPr>
          </a:p>
        </p:txBody>
      </p:sp>
      <p:sp>
        <p:nvSpPr>
          <p:cNvPr id="33" name="文本框 32"/>
          <p:cNvSpPr txBox="1"/>
          <p:nvPr/>
        </p:nvSpPr>
        <p:spPr>
          <a:xfrm>
            <a:off x="2038360" y="6115195"/>
            <a:ext cx="3536654" cy="261610"/>
          </a:xfrm>
          <a:prstGeom prst="rect">
            <a:avLst/>
          </a:prstGeom>
          <a:noFill/>
        </p:spPr>
        <p:txBody>
          <a:bodyPr wrap="square">
            <a:spAutoFit/>
          </a:bodyPr>
          <a:lstStyle/>
          <a:p>
            <a:r>
              <a:rPr lang="en-US" altLang="zh-CN" sz="1100" dirty="0">
                <a:latin typeface="+mj-ea"/>
                <a:ea typeface="+mj-ea"/>
              </a:rPr>
              <a:t>GPT-2</a:t>
            </a:r>
            <a:r>
              <a:rPr lang="zh-CN" altLang="en-US" sz="1100" dirty="0">
                <a:latin typeface="+mj-ea"/>
                <a:ea typeface="+mj-ea"/>
              </a:rPr>
              <a:t>，</a:t>
            </a:r>
            <a:r>
              <a:rPr lang="en-US" altLang="zh-CN" sz="1100" dirty="0">
                <a:latin typeface="+mj-ea"/>
                <a:ea typeface="+mj-ea"/>
                <a:hlinkClick r:id="rId5"/>
              </a:rPr>
              <a:t>https://arxiv.org/html/2605.08933v1</a:t>
            </a:r>
            <a:endParaRPr lang="en-US" altLang="zh-CN" sz="1100" dirty="0">
              <a:latin typeface="+mj-ea"/>
              <a:ea typeface="+mj-ea"/>
            </a:endParaRPr>
          </a:p>
        </p:txBody>
      </p:sp>
      <p:pic>
        <p:nvPicPr>
          <p:cNvPr id="35" name="图片 34"/>
          <p:cNvPicPr>
            <a:picLocks noChangeAspect="1"/>
          </p:cNvPicPr>
          <p:nvPr/>
        </p:nvPicPr>
        <p:blipFill>
          <a:blip r:embed="rId6"/>
          <a:stretch>
            <a:fillRect/>
          </a:stretch>
        </p:blipFill>
        <p:spPr>
          <a:xfrm>
            <a:off x="1229578" y="4413895"/>
            <a:ext cx="5018940" cy="1746808"/>
          </a:xfrm>
          <a:prstGeom prst="rect">
            <a:avLst/>
          </a:prstGeom>
        </p:spPr>
      </p:pic>
      <p:sp>
        <p:nvSpPr>
          <p:cNvPr id="37" name="文本框 36"/>
          <p:cNvSpPr txBox="1"/>
          <p:nvPr/>
        </p:nvSpPr>
        <p:spPr>
          <a:xfrm>
            <a:off x="237134" y="6421545"/>
            <a:ext cx="7139105" cy="261610"/>
          </a:xfrm>
          <a:prstGeom prst="rect">
            <a:avLst/>
          </a:prstGeom>
          <a:noFill/>
        </p:spPr>
        <p:txBody>
          <a:bodyPr wrap="square">
            <a:spAutoFit/>
          </a:bodyPr>
          <a:lstStyle/>
          <a:p>
            <a:r>
              <a:rPr lang="en-US" altLang="zh-CN" sz="1100" dirty="0">
                <a:latin typeface="+mj-ea"/>
                <a:ea typeface="+mj-ea"/>
              </a:rPr>
              <a:t>GPT-2 Small </a:t>
            </a:r>
            <a:r>
              <a:rPr lang="zh-CN" altLang="en-US" sz="1100" dirty="0">
                <a:latin typeface="+mj-ea"/>
                <a:ea typeface="+mj-ea"/>
              </a:rPr>
              <a:t>模型（</a:t>
            </a:r>
            <a:r>
              <a:rPr lang="en-US" altLang="zh-CN" sz="1100" dirty="0">
                <a:latin typeface="+mj-ea"/>
                <a:ea typeface="+mj-ea"/>
              </a:rPr>
              <a:t>1.24</a:t>
            </a:r>
            <a:r>
              <a:rPr lang="zh-CN" altLang="en-US" sz="1100" dirty="0">
                <a:latin typeface="+mj-ea"/>
                <a:ea typeface="+mj-ea"/>
              </a:rPr>
              <a:t>亿参数）中，合适的分组策略在验证损失上优于全 </a:t>
            </a:r>
            <a:r>
              <a:rPr lang="en-US" altLang="zh-CN" sz="1100" dirty="0">
                <a:latin typeface="+mj-ea"/>
                <a:ea typeface="+mj-ea"/>
              </a:rPr>
              <a:t>QKV Muon </a:t>
            </a:r>
            <a:r>
              <a:rPr lang="zh-CN" altLang="en-US" sz="1100" dirty="0">
                <a:latin typeface="+mj-ea"/>
                <a:ea typeface="+mj-ea"/>
              </a:rPr>
              <a:t>和完全逐头 </a:t>
            </a:r>
            <a:r>
              <a:rPr lang="en-US" altLang="zh-CN" sz="1100" dirty="0" err="1">
                <a:latin typeface="+mj-ea"/>
                <a:ea typeface="+mj-ea"/>
              </a:rPr>
              <a:t>MuonSplit</a:t>
            </a:r>
            <a:endParaRPr lang="zh-CN" altLang="en-US" sz="1100" dirty="0">
              <a:latin typeface="+mj-ea"/>
              <a:ea typeface="+mj-ea"/>
            </a:endParaRPr>
          </a:p>
        </p:txBody>
      </p:sp>
      <p:sp>
        <p:nvSpPr>
          <p:cNvPr id="13" name="文本框 12">
            <a:extLst>
              <a:ext uri="{FF2B5EF4-FFF2-40B4-BE49-F238E27FC236}">
                <a16:creationId xmlns:a16="http://schemas.microsoft.com/office/drawing/2014/main" id="{AD231DAD-37D8-46A6-83C5-79A30AAA8A13}"/>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徐天舒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00854977</a:t>
            </a:r>
          </a:p>
        </p:txBody>
      </p:sp>
      <p:sp>
        <p:nvSpPr>
          <p:cNvPr id="5" name="文本框 4">
            <a:extLst>
              <a:ext uri="{FF2B5EF4-FFF2-40B4-BE49-F238E27FC236}">
                <a16:creationId xmlns:a16="http://schemas.microsoft.com/office/drawing/2014/main" id="{0CEC9391-7A55-4E1B-9C4A-D75F4910E2B9}"/>
              </a:ext>
            </a:extLst>
          </p:cNvPr>
          <p:cNvSpPr txBox="1"/>
          <p:nvPr/>
        </p:nvSpPr>
        <p:spPr>
          <a:xfrm>
            <a:off x="3689879" y="2584821"/>
            <a:ext cx="7282763" cy="369332"/>
          </a:xfrm>
          <a:prstGeom prst="rect">
            <a:avLst/>
          </a:prstGeom>
          <a:noFill/>
        </p:spPr>
        <p:txBody>
          <a:bodyPr wrap="none" rtlCol="0">
            <a:spAutoFit/>
          </a:bodyPr>
          <a:lstStyle/>
          <a:p>
            <a:r>
              <a:rPr lang="zh-CN" altLang="en-US" dirty="0"/>
              <a:t>聚焦</a:t>
            </a:r>
            <a:r>
              <a:rPr lang="en-US" altLang="zh-CN" dirty="0"/>
              <a:t>Muon</a:t>
            </a:r>
            <a:r>
              <a:rPr lang="zh-CN" altLang="en-US" dirty="0"/>
              <a:t>优化器的技术，从</a:t>
            </a:r>
            <a:r>
              <a:rPr lang="en-US" altLang="zh-CN" dirty="0"/>
              <a:t>KIMI</a:t>
            </a:r>
            <a:r>
              <a:rPr lang="zh-CN" altLang="en-US" dirty="0"/>
              <a:t>出发，降到整个</a:t>
            </a:r>
            <a:r>
              <a:rPr lang="en-US" altLang="zh-CN" dirty="0"/>
              <a:t>Muon</a:t>
            </a:r>
            <a:r>
              <a:rPr lang="zh-CN" altLang="en-US" dirty="0"/>
              <a:t>优化的理论介绍</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70578"/>
            <a:ext cx="12267344" cy="550607"/>
          </a:xfrm>
          <a:prstGeom prst="rect">
            <a:avLst/>
          </a:prstGeom>
          <a:noFill/>
          <a:ln>
            <a:noFill/>
          </a:ln>
        </p:spPr>
        <p:txBody>
          <a:bodyPr rot="0" wrap="square" lIns="78038" tIns="39019" rIns="78038" bIns="39019" anchor="ctr"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000" b="1" i="0" u="none" strike="noStrike" kern="1200" cap="none" spc="0" normalizeH="0" baseline="0" noProof="0" dirty="0">
                <a:ln>
                  <a:noFill/>
                </a:ln>
                <a:solidFill>
                  <a:srgbClr val="990000"/>
                </a:solidFill>
                <a:effectLst/>
                <a:uLnTx/>
                <a:uFillTx/>
                <a:latin typeface="微软雅黑"/>
                <a:ea typeface="微软雅黑"/>
                <a:cs typeface="+mn-cs"/>
              </a:rPr>
              <a:t>训练部署方案：预训练/SFT step 流水线与长时程 Agent RL</a:t>
            </a:r>
          </a:p>
        </p:txBody>
      </p:sp>
      <p:sp>
        <p:nvSpPr>
          <p:cNvPr id="3" name="RedTag"/>
          <p:cNvSpPr/>
          <p:nvPr/>
        </p:nvSpPr>
        <p:spPr>
          <a:xfrm>
            <a:off x="200678" y="680000"/>
            <a:ext cx="582097" cy="760000"/>
          </a:xfrm>
          <a:prstGeom prst="rect">
            <a:avLst/>
          </a:prstGeom>
          <a:solidFill>
            <a:srgbClr val="C7000B"/>
          </a:solidFill>
          <a:ln>
            <a:noFill/>
          </a:ln>
        </p:spPr>
        <p:txBody>
          <a:bodyPr rot="0" wrap="square" lIns="91440" tIns="30000" rIns="91440" bIns="30000" anchor="ctr" compatLnSpc="1">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微软雅黑"/>
                <a:ea typeface="微软雅黑"/>
                <a:cs typeface="+mn-cs"/>
              </a:rPr>
              <a:t>核心观点</a:t>
            </a:r>
          </a:p>
        </p:txBody>
      </p:sp>
      <p:sp>
        <p:nvSpPr>
          <p:cNvPr id="4" name="ConclBox"/>
          <p:cNvSpPr/>
          <p:nvPr/>
        </p:nvSpPr>
        <p:spPr>
          <a:xfrm>
            <a:off x="782775" y="680000"/>
            <a:ext cx="11217957" cy="760000"/>
          </a:xfrm>
          <a:prstGeom prst="rect">
            <a:avLst/>
          </a:prstGeom>
          <a:solidFill>
            <a:srgbClr val="F2F2F2"/>
          </a:solidFill>
          <a:ln>
            <a:noFill/>
          </a:ln>
        </p:spPr>
        <p:txBody>
          <a:bodyPr rot="0" wrap="square" lIns="120000" tIns="30000" rIns="91440" bIns="30000" anchor="ctr" compatLnSpc="1">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100" b="0" i="0" u="none" strike="noStrike" kern="1200" cap="none" spc="0" normalizeH="0" baseline="0" noProof="0" dirty="0">
                <a:ln>
                  <a:noFill/>
                </a:ln>
                <a:solidFill>
                  <a:srgbClr val="1D1D1A"/>
                </a:solidFill>
                <a:effectLst/>
                <a:uLnTx/>
                <a:uFillTx/>
                <a:latin typeface="微软雅黑"/>
                <a:ea typeface="微软雅黑"/>
                <a:cs typeface="+mn-cs"/>
              </a:rPr>
              <a:t>93 层 KDA:MLA=3:1 混合——四分之三层采用 KDA「状态摘要」机制、四分之一保留 MLA 精读，自研 FlashKDA 补齐算子生态（prefill 提速 2.22×）；</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100" b="0" i="0" u="none" strike="noStrike" kern="1200" cap="none" spc="0" normalizeH="0" baseline="0" noProof="0" dirty="0">
                <a:ln>
                  <a:noFill/>
                </a:ln>
                <a:solidFill>
                  <a:srgbClr val="1D1D1A"/>
                </a:solidFill>
                <a:effectLst/>
                <a:uLnTx/>
                <a:uFillTx/>
                <a:latin typeface="微软雅黑"/>
                <a:ea typeface="微软雅黑"/>
                <a:cs typeface="+mn-cs"/>
              </a:rPr>
              <a:t>MoonEP 在线预测热点、复制热门专家到空闲机器，负载恒定不 OOM；</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100" b="0" i="0" u="none" strike="noStrike" kern="1200" cap="none" spc="0" normalizeH="0" baseline="0" noProof="0" dirty="0">
                <a:ln>
                  <a:noFill/>
                </a:ln>
                <a:solidFill>
                  <a:srgbClr val="1D1D1A"/>
                </a:solidFill>
                <a:effectLst/>
                <a:uLnTx/>
                <a:uFillTx/>
                <a:latin typeface="微软雅黑"/>
                <a:ea typeface="微软雅黑"/>
                <a:cs typeface="+mn-cs"/>
              </a:rPr>
              <a:t>AgentENV 外置 KV 池＋沙箱 pause/fork，支撑数小时长程 RL。</a:t>
            </a:r>
          </a:p>
        </p:txBody>
      </p:sp>
      <p:sp>
        <p:nvSpPr>
          <p:cNvPr id="5" name="Panel"/>
          <p:cNvSpPr/>
          <p:nvPr/>
        </p:nvSpPr>
        <p:spPr>
          <a:xfrm>
            <a:off x="204337" y="1666680"/>
            <a:ext cx="5850000" cy="4276920"/>
          </a:xfrm>
          <a:prstGeom prst="rect">
            <a:avLst/>
          </a:prstGeom>
          <a:solidFill>
            <a:srgbClr val="FFFFFF"/>
          </a:solidFill>
          <a:ln w="9525">
            <a:solidFill>
              <a:srgbClr val="C8C8C8"/>
            </a:solidFill>
          </a:ln>
        </p:spPr>
      </p:sp>
      <p:sp>
        <p:nvSpPr>
          <p:cNvPr id="6" name="Panel"/>
          <p:cNvSpPr/>
          <p:nvPr/>
        </p:nvSpPr>
        <p:spPr>
          <a:xfrm>
            <a:off x="6204337" y="1666680"/>
            <a:ext cx="5790000" cy="4276920"/>
          </a:xfrm>
          <a:prstGeom prst="rect">
            <a:avLst/>
          </a:prstGeom>
          <a:solidFill>
            <a:srgbClr val="FFFFFF"/>
          </a:solidFill>
          <a:ln w="9525">
            <a:solidFill>
              <a:srgbClr val="C8C8C8"/>
            </a:solidFill>
          </a:ln>
        </p:spPr>
      </p:sp>
      <p:sp>
        <p:nvSpPr>
          <p:cNvPr id="7" name="Panel"/>
          <p:cNvSpPr/>
          <p:nvPr/>
        </p:nvSpPr>
        <p:spPr>
          <a:xfrm>
            <a:off x="204337" y="6024920"/>
            <a:ext cx="11790000" cy="341760"/>
          </a:xfrm>
          <a:prstGeom prst="rect">
            <a:avLst/>
          </a:prstGeom>
          <a:solidFill>
            <a:srgbClr val="FFFFFF"/>
          </a:solidFill>
          <a:ln w="9525">
            <a:solidFill>
              <a:srgbClr val="C8C8C8"/>
            </a:solidFill>
          </a:ln>
        </p:spPr>
      </p:sp>
      <p:sp>
        <p:nvSpPr>
          <p:cNvPr id="8" name="Chip 预训练 / SFT"/>
          <p:cNvSpPr/>
          <p:nvPr/>
        </p:nvSpPr>
        <p:spPr>
          <a:xfrm>
            <a:off x="2254337" y="1526680"/>
            <a:ext cx="1750000" cy="280000"/>
          </a:xfrm>
          <a:prstGeom prst="rect">
            <a:avLst/>
          </a:prstGeom>
          <a:solidFill>
            <a:srgbClr val="E8E8E8"/>
          </a:solidFill>
          <a:ln>
            <a:no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C00000"/>
                </a:solidFill>
                <a:effectLst/>
                <a:uLnTx/>
                <a:uFillTx/>
                <a:latin typeface="微软雅黑"/>
                <a:ea typeface="微软雅黑"/>
                <a:cs typeface="+mn-cs"/>
              </a:rPr>
              <a:t>预训练 / SFT</a:t>
            </a:r>
          </a:p>
        </p:txBody>
      </p:sp>
      <p:sp>
        <p:nvSpPr>
          <p:cNvPr id="9" name="TextBox 9"/>
          <p:cNvSpPr txBox="1"/>
          <p:nvPr/>
        </p:nvSpPr>
        <p:spPr>
          <a:xfrm>
            <a:off x="450000" y="1876680"/>
            <a:ext cx="54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1" i="0" u="none" strike="noStrike" kern="1200" cap="none" spc="0" normalizeH="0" baseline="0" noProof="0" dirty="0">
                <a:ln>
                  <a:noFill/>
                </a:ln>
                <a:solidFill>
                  <a:srgbClr val="1D1D1A"/>
                </a:solidFill>
                <a:effectLst/>
                <a:uLnTx/>
                <a:uFillTx/>
                <a:latin typeface="微软雅黑"/>
                <a:ea typeface="微软雅黑"/>
                <a:cs typeface="+mn-cs"/>
              </a:rPr>
              <a:t>单 step 流水线：新算子适配 KDA→FlashKDA；896 专家负载均衡→MoonEP</a:t>
            </a:r>
          </a:p>
        </p:txBody>
      </p:sp>
      <p:sp>
        <p:nvSpPr>
          <p:cNvPr id="11" name="TextBox 11"/>
          <p:cNvSpPr txBox="1"/>
          <p:nvPr/>
        </p:nvSpPr>
        <p:spPr>
          <a:xfrm>
            <a:off x="300000" y="2386680"/>
            <a:ext cx="1000000" cy="200000"/>
          </a:xfrm>
          <a:prstGeom prst="rect">
            <a:avLst/>
          </a:prstGeom>
          <a:noFill/>
          <a:ln>
            <a:noFill/>
          </a:ln>
        </p:spPr>
        <p:txBody>
          <a:bodyPr rot="0" wrap="square" lIns="91440" tIns="45720" rIns="91440" bIns="4572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D1D1A"/>
                </a:solidFill>
                <a:effectLst/>
                <a:uLnTx/>
                <a:uFillTx/>
                <a:latin typeface="微软雅黑"/>
                <a:ea typeface="微软雅黑"/>
                <a:cs typeface="+mn-cs"/>
              </a:rPr>
              <a:t>● ● ● ● ●</a:t>
            </a:r>
          </a:p>
        </p:txBody>
      </p:sp>
      <p:sp>
        <p:nvSpPr>
          <p:cNvPr id="12" name="Module Tokens (micro-batch)"/>
          <p:cNvSpPr/>
          <p:nvPr/>
        </p:nvSpPr>
        <p:spPr>
          <a:xfrm>
            <a:off x="300000" y="2606680"/>
            <a:ext cx="1000000" cy="300000"/>
          </a:xfrm>
          <a:prstGeom prst="roundRect">
            <a:avLst/>
          </a:prstGeom>
          <a:solidFill>
            <a:srgbClr val="F2F2F2"/>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Tokens (micro-batch)</a:t>
            </a:r>
          </a:p>
        </p:txBody>
      </p:sp>
      <p:sp>
        <p:nvSpPr>
          <p:cNvPr id="13" name="Zone93"/>
          <p:cNvSpPr/>
          <p:nvPr/>
        </p:nvSpPr>
        <p:spPr>
          <a:xfrm>
            <a:off x="1600000" y="2266680"/>
            <a:ext cx="2300000" cy="1079997"/>
          </a:xfrm>
          <a:prstGeom prst="rect">
            <a:avLst/>
          </a:prstGeom>
          <a:solidFill>
            <a:srgbClr val="F7E5D2">
              <a:alpha val="20000"/>
            </a:srgbClr>
          </a:solidFill>
          <a:ln>
            <a:noFill/>
          </a:ln>
        </p:spPr>
      </p:sp>
      <p:sp>
        <p:nvSpPr>
          <p:cNvPr id="14" name="TextBox 14"/>
          <p:cNvSpPr txBox="1"/>
          <p:nvPr/>
        </p:nvSpPr>
        <p:spPr>
          <a:xfrm>
            <a:off x="1665000" y="2316680"/>
            <a:ext cx="2100000" cy="27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50" b="1" i="0" u="none" strike="noStrike" kern="1200" cap="none" spc="0" normalizeH="0" baseline="0" noProof="0" dirty="0">
                <a:ln>
                  <a:noFill/>
                </a:ln>
                <a:solidFill>
                  <a:srgbClr val="1D1D1A"/>
                </a:solidFill>
                <a:effectLst/>
                <a:uLnTx/>
                <a:uFillTx/>
                <a:latin typeface="微软雅黑"/>
                <a:ea typeface="微软雅黑"/>
                <a:cs typeface="+mn-cs"/>
              </a:rPr>
              <a:t>Transformer 层 ×93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FF0000"/>
                </a:solidFill>
                <a:effectLst/>
                <a:uLnTx/>
                <a:uFillTx/>
                <a:latin typeface="微软雅黑"/>
                <a:ea typeface="微软雅黑"/>
                <a:cs typeface="+mn-cs"/>
              </a:rPr>
              <a:t>KDA : MLA = 3 : 1</a:t>
            </a:r>
          </a:p>
        </p:txBody>
      </p:sp>
      <p:sp>
        <p:nvSpPr>
          <p:cNvPr id="15" name="Module KDA"/>
          <p:cNvSpPr/>
          <p:nvPr/>
        </p:nvSpPr>
        <p:spPr>
          <a:xfrm>
            <a:off x="1665000" y="2666680"/>
            <a:ext cx="520000" cy="260000"/>
          </a:xfrm>
          <a:prstGeom prst="roundRect">
            <a:avLst/>
          </a:prstGeom>
          <a:solidFill>
            <a:srgbClr val="ED6D00">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KDA</a:t>
            </a:r>
          </a:p>
        </p:txBody>
      </p:sp>
      <p:sp>
        <p:nvSpPr>
          <p:cNvPr id="16" name="Module KDA"/>
          <p:cNvSpPr/>
          <p:nvPr/>
        </p:nvSpPr>
        <p:spPr>
          <a:xfrm>
            <a:off x="2215000" y="2666680"/>
            <a:ext cx="520000" cy="260000"/>
          </a:xfrm>
          <a:prstGeom prst="roundRect">
            <a:avLst/>
          </a:prstGeom>
          <a:solidFill>
            <a:srgbClr val="ED6D00">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KDA</a:t>
            </a:r>
          </a:p>
        </p:txBody>
      </p:sp>
      <p:sp>
        <p:nvSpPr>
          <p:cNvPr id="17" name="Module KDA"/>
          <p:cNvSpPr/>
          <p:nvPr/>
        </p:nvSpPr>
        <p:spPr>
          <a:xfrm>
            <a:off x="2765000" y="2666680"/>
            <a:ext cx="520000" cy="260000"/>
          </a:xfrm>
          <a:prstGeom prst="roundRect">
            <a:avLst/>
          </a:prstGeom>
          <a:solidFill>
            <a:srgbClr val="ED6D00">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KDA</a:t>
            </a:r>
          </a:p>
        </p:txBody>
      </p:sp>
      <p:sp>
        <p:nvSpPr>
          <p:cNvPr id="18" name="Module MLA"/>
          <p:cNvSpPr/>
          <p:nvPr/>
        </p:nvSpPr>
        <p:spPr>
          <a:xfrm>
            <a:off x="3315000" y="2666680"/>
            <a:ext cx="520000" cy="260000"/>
          </a:xfrm>
          <a:prstGeom prst="roundRect">
            <a:avLst/>
          </a:prstGeom>
          <a:solidFill>
            <a:srgbClr val="E9002F">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MLA</a:t>
            </a:r>
          </a:p>
        </p:txBody>
      </p:sp>
      <p:sp>
        <p:nvSpPr>
          <p:cNvPr id="19" name="GreyNote"/>
          <p:cNvSpPr txBox="1"/>
          <p:nvPr/>
        </p:nvSpPr>
        <p:spPr>
          <a:xfrm>
            <a:off x="1665000" y="3026680"/>
            <a:ext cx="2170000" cy="20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chunkwise 并行＋下界衰减 · KCP 序列并行</a:t>
            </a:r>
          </a:p>
        </p:txBody>
      </p:sp>
      <p:sp>
        <p:nvSpPr>
          <p:cNvPr id="20" name="ZoneMoE"/>
          <p:cNvSpPr/>
          <p:nvPr/>
        </p:nvSpPr>
        <p:spPr>
          <a:xfrm>
            <a:off x="4200000" y="2266680"/>
            <a:ext cx="1750000" cy="1079997"/>
          </a:xfrm>
          <a:prstGeom prst="rect">
            <a:avLst/>
          </a:prstGeom>
          <a:solidFill>
            <a:srgbClr val="F7E5D2">
              <a:alpha val="20000"/>
            </a:srgbClr>
          </a:solidFill>
          <a:ln>
            <a:noFill/>
          </a:ln>
        </p:spPr>
      </p:sp>
      <p:sp>
        <p:nvSpPr>
          <p:cNvPr id="21" name="TextBox 21"/>
          <p:cNvSpPr txBox="1"/>
          <p:nvPr/>
        </p:nvSpPr>
        <p:spPr>
          <a:xfrm>
            <a:off x="4265000" y="2316680"/>
            <a:ext cx="1620000" cy="27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50" b="1" i="0" u="none" strike="noStrike" kern="1200" cap="none" spc="0" normalizeH="0" baseline="0" noProof="0" dirty="0">
                <a:ln>
                  <a:noFill/>
                </a:ln>
                <a:solidFill>
                  <a:srgbClr val="1D1D1A"/>
                </a:solidFill>
                <a:effectLst/>
                <a:uLnTx/>
                <a:uFillTx/>
                <a:latin typeface="微软雅黑"/>
                <a:ea typeface="微软雅黑"/>
                <a:cs typeface="+mn-cs"/>
              </a:rPr>
              <a:t>MoE 通信：896 专家</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FF0000"/>
                </a:solidFill>
                <a:effectLst/>
                <a:uLnTx/>
                <a:uFillTx/>
                <a:latin typeface="微软雅黑"/>
                <a:ea typeface="微软雅黑"/>
                <a:cs typeface="+mn-cs"/>
              </a:rPr>
              <a:t>token 只请 16 位</a:t>
            </a:r>
          </a:p>
        </p:txBody>
      </p:sp>
      <p:sp>
        <p:nvSpPr>
          <p:cNvPr id="22" name="Module Router"/>
          <p:cNvSpPr/>
          <p:nvPr/>
        </p:nvSpPr>
        <p:spPr>
          <a:xfrm>
            <a:off x="4265000" y="2666680"/>
            <a:ext cx="430000" cy="260000"/>
          </a:xfrm>
          <a:prstGeom prst="roundRect">
            <a:avLst/>
          </a:prstGeom>
          <a:solidFill>
            <a:srgbClr val="E9002F">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Router</a:t>
            </a:r>
          </a:p>
        </p:txBody>
      </p:sp>
      <p:sp>
        <p:nvSpPr>
          <p:cNvPr id="23" name="Module E0"/>
          <p:cNvSpPr/>
          <p:nvPr/>
        </p:nvSpPr>
        <p:spPr>
          <a:xfrm>
            <a:off x="4740000" y="2666680"/>
            <a:ext cx="420000" cy="260000"/>
          </a:xfrm>
          <a:prstGeom prst="roundRect">
            <a:avLst/>
          </a:prstGeom>
          <a:solidFill>
            <a:srgbClr val="30B5C5">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E0</a:t>
            </a:r>
          </a:p>
        </p:txBody>
      </p:sp>
      <p:sp>
        <p:nvSpPr>
          <p:cNvPr id="24" name="Module E1"/>
          <p:cNvSpPr/>
          <p:nvPr/>
        </p:nvSpPr>
        <p:spPr>
          <a:xfrm>
            <a:off x="5190000" y="2666680"/>
            <a:ext cx="420000" cy="260000"/>
          </a:xfrm>
          <a:prstGeom prst="roundRect">
            <a:avLst/>
          </a:prstGeom>
          <a:solidFill>
            <a:srgbClr val="30B5C5">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E1</a:t>
            </a:r>
          </a:p>
        </p:txBody>
      </p:sp>
      <p:sp>
        <p:nvSpPr>
          <p:cNvPr id="25" name="TextBox 25"/>
          <p:cNvSpPr txBox="1"/>
          <p:nvPr/>
        </p:nvSpPr>
        <p:spPr>
          <a:xfrm>
            <a:off x="5630000" y="2696680"/>
            <a:ext cx="260000" cy="200000"/>
          </a:xfrm>
          <a:prstGeom prst="rect">
            <a:avLst/>
          </a:prstGeom>
          <a:noFill/>
          <a:ln>
            <a:noFill/>
          </a:ln>
        </p:spPr>
        <p:txBody>
          <a:bodyPr rot="0" wrap="square" lIns="91440" tIns="45720" rIns="91440" bIns="4572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a:t>
            </a:r>
          </a:p>
        </p:txBody>
      </p:sp>
      <p:sp>
        <p:nvSpPr>
          <p:cNvPr id="26" name="GreyNote"/>
          <p:cNvSpPr txBox="1"/>
          <p:nvPr/>
        </p:nvSpPr>
        <p:spPr>
          <a:xfrm>
            <a:off x="4265000" y="3026680"/>
            <a:ext cx="1620000" cy="20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Dispatch/Combine · 零拷贝 · 静态形状</a:t>
            </a:r>
          </a:p>
        </p:txBody>
      </p:sp>
      <p:cxnSp>
        <p:nvCxnSpPr>
          <p:cNvPr id="27" name="Connector 27"/>
          <p:cNvCxnSpPr/>
          <p:nvPr/>
        </p:nvCxnSpPr>
        <p:spPr>
          <a:xfrm>
            <a:off x="1300000" y="2756680"/>
            <a:ext cx="300000" cy="1"/>
          </a:xfrm>
          <a:prstGeom prst="straightConnector1">
            <a:avLst/>
          </a:prstGeom>
          <a:ln w="9525">
            <a:solidFill>
              <a:srgbClr val="1D1D1A"/>
            </a:solidFill>
            <a:tailEnd type="triangle" w="med" len="med"/>
          </a:ln>
        </p:spPr>
      </p:cxnSp>
      <p:cxnSp>
        <p:nvCxnSpPr>
          <p:cNvPr id="28" name="Connector 28"/>
          <p:cNvCxnSpPr/>
          <p:nvPr/>
        </p:nvCxnSpPr>
        <p:spPr>
          <a:xfrm>
            <a:off x="3900000" y="2756680"/>
            <a:ext cx="300000" cy="1"/>
          </a:xfrm>
          <a:prstGeom prst="straightConnector1">
            <a:avLst/>
          </a:prstGeom>
          <a:ln w="9525">
            <a:solidFill>
              <a:srgbClr val="1D1D1A"/>
            </a:solidFill>
            <a:tailEnd type="triangle" w="med" len="med"/>
          </a:ln>
        </p:spPr>
      </p:cxnSp>
      <p:sp>
        <p:nvSpPr>
          <p:cNvPr id="30" name="TextBox 30"/>
          <p:cNvSpPr txBox="1"/>
          <p:nvPr/>
        </p:nvSpPr>
        <p:spPr>
          <a:xfrm>
            <a:off x="500000" y="3465220"/>
            <a:ext cx="54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1" i="0" u="none" strike="noStrike" kern="1200" cap="none" spc="0" normalizeH="0" baseline="0" noProof="0" dirty="0">
                <a:ln>
                  <a:noFill/>
                </a:ln>
                <a:solidFill>
                  <a:srgbClr val="1D1D1A"/>
                </a:solidFill>
                <a:effectLst/>
                <a:uLnTx/>
                <a:uFillTx/>
                <a:latin typeface="微软雅黑"/>
                <a:ea typeface="微软雅黑"/>
                <a:cs typeface="+mn-cs"/>
              </a:rPr>
              <a:t>新算子内核适配　</a:t>
            </a:r>
            <a:r>
              <a:rPr kumimoji="0" lang="zh-CN" altLang="en-US" sz="1150" b="1" i="0" u="none" strike="noStrike" kern="1200" cap="none" spc="0" normalizeH="0" baseline="0" noProof="0" dirty="0">
                <a:ln>
                  <a:noFill/>
                </a:ln>
                <a:solidFill>
                  <a:srgbClr val="FF0000"/>
                </a:solidFill>
                <a:effectLst/>
                <a:uLnTx/>
                <a:uFillTx/>
                <a:latin typeface="微软雅黑"/>
                <a:ea typeface="微软雅黑"/>
                <a:cs typeface="+mn-cs"/>
              </a:rPr>
              <a:t>KDA → FlashKDA</a:t>
            </a:r>
          </a:p>
        </p:txBody>
      </p:sp>
      <p:sp>
        <p:nvSpPr>
          <p:cNvPr id="31" name="TextBox 31"/>
          <p:cNvSpPr txBox="1"/>
          <p:nvPr/>
        </p:nvSpPr>
        <p:spPr>
          <a:xfrm>
            <a:off x="500000" y="3735220"/>
            <a:ext cx="5300000" cy="43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D1D1A"/>
                </a:solidFill>
                <a:effectLst/>
                <a:uLnTx/>
                <a:uFillTx/>
                <a:latin typeface="微软雅黑"/>
                <a:ea typeface="微软雅黑"/>
                <a:cs typeface="+mn-cs"/>
              </a:rPr>
              <a:t>93 层中四分之三采用 KDA「状态摘要」机制、四分之一保留 MLA 全注意力。KDA 属新算子、无现成高性能内核，需自研实现。</a:t>
            </a:r>
          </a:p>
        </p:txBody>
      </p:sp>
      <p:sp>
        <p:nvSpPr>
          <p:cNvPr id="32" name="YellowNote"/>
          <p:cNvSpPr txBox="1"/>
          <p:nvPr/>
        </p:nvSpPr>
        <p:spPr>
          <a:xfrm>
            <a:off x="500000" y="4174530"/>
            <a:ext cx="545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FF0000"/>
                </a:solidFill>
                <a:effectLst/>
                <a:highlight>
                  <a:srgbClr val="FFFF00"/>
                </a:highlight>
                <a:uLnTx/>
                <a:uFillTx/>
                <a:latin typeface="微软雅黑"/>
                <a:ea typeface="微软雅黑"/>
                <a:cs typeface="+mn-cs"/>
              </a:rPr>
              <a:t>FlashKDA（开源）：prefill 较 FLA 提速 2.22×，安装 flash-linear-attention 后自动启用</a:t>
            </a:r>
          </a:p>
        </p:txBody>
      </p:sp>
      <p:sp>
        <p:nvSpPr>
          <p:cNvPr id="33" name="Circle 2"/>
          <p:cNvSpPr/>
          <p:nvPr/>
        </p:nvSpPr>
        <p:spPr>
          <a:xfrm>
            <a:off x="300000" y="4598340"/>
            <a:ext cx="150000" cy="145000"/>
          </a:xfrm>
          <a:prstGeom prst="ellipse">
            <a:avLst/>
          </a:prstGeom>
          <a:solidFill>
            <a:srgbClr val="E9002F"/>
          </a:solidFill>
          <a:ln>
            <a:noFill/>
          </a:ln>
        </p:spPr>
        <p:txBody>
          <a:bodyPr rot="0" wrap="square" lIns="0" tIns="0" rIns="0" bIns="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00" b="1" i="0" u="none" strike="noStrike" kern="1200" cap="none" spc="0" normalizeH="0" baseline="0" noProof="0" dirty="0">
                <a:ln>
                  <a:noFill/>
                </a:ln>
                <a:solidFill>
                  <a:srgbClr val="FFFFFF"/>
                </a:solidFill>
                <a:effectLst/>
                <a:uLnTx/>
                <a:uFillTx/>
                <a:latin typeface="微软雅黑"/>
                <a:ea typeface="微软雅黑"/>
                <a:cs typeface="+mn-cs"/>
              </a:rPr>
              <a:t>2</a:t>
            </a:r>
          </a:p>
        </p:txBody>
      </p:sp>
      <p:sp>
        <p:nvSpPr>
          <p:cNvPr id="34" name="TextBox 34"/>
          <p:cNvSpPr txBox="1"/>
          <p:nvPr/>
        </p:nvSpPr>
        <p:spPr>
          <a:xfrm>
            <a:off x="500000" y="4548060"/>
            <a:ext cx="54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1" i="0" u="none" strike="noStrike" kern="1200" cap="none" spc="0" normalizeH="0" baseline="0" noProof="0" dirty="0">
                <a:ln>
                  <a:noFill/>
                </a:ln>
                <a:solidFill>
                  <a:srgbClr val="1D1D1A"/>
                </a:solidFill>
                <a:effectLst/>
                <a:uLnTx/>
                <a:uFillTx/>
                <a:latin typeface="微软雅黑"/>
                <a:ea typeface="微软雅黑"/>
                <a:cs typeface="+mn-cs"/>
              </a:rPr>
              <a:t>896 个专家的负载均衡　</a:t>
            </a:r>
            <a:r>
              <a:rPr kumimoji="0" lang="zh-CN" altLang="en-US" sz="1150" b="1" i="0" u="none" strike="noStrike" kern="1200" cap="none" spc="0" normalizeH="0" baseline="0" noProof="0" dirty="0">
                <a:ln>
                  <a:noFill/>
                </a:ln>
                <a:solidFill>
                  <a:srgbClr val="FF0000"/>
                </a:solidFill>
                <a:effectLst/>
                <a:uLnTx/>
                <a:uFillTx/>
                <a:latin typeface="微软雅黑"/>
                <a:ea typeface="微软雅黑"/>
                <a:cs typeface="+mn-cs"/>
              </a:rPr>
              <a:t>MoE 通信 → MoonEP</a:t>
            </a:r>
            <a:endParaRPr kumimoji="0" lang="zh-CN" altLang="en-US" sz="1150" b="1" i="0" u="none" strike="noStrike" kern="1200" cap="none" spc="0" normalizeH="0" baseline="0" noProof="0" dirty="0">
              <a:ln>
                <a:noFill/>
              </a:ln>
              <a:solidFill>
                <a:srgbClr val="FF0000"/>
              </a:solidFill>
              <a:effectLst/>
              <a:highlight>
                <a:srgbClr val="FFFF00"/>
              </a:highlight>
              <a:uLnTx/>
              <a:uFillTx/>
              <a:latin typeface="微软雅黑"/>
              <a:ea typeface="微软雅黑"/>
              <a:cs typeface="+mn-cs"/>
            </a:endParaRPr>
          </a:p>
        </p:txBody>
      </p:sp>
      <p:sp>
        <p:nvSpPr>
          <p:cNvPr id="35" name="TextBox 35"/>
          <p:cNvSpPr txBox="1"/>
          <p:nvPr/>
        </p:nvSpPr>
        <p:spPr>
          <a:xfrm>
            <a:off x="2936240" y="4814740"/>
            <a:ext cx="3013760" cy="20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红＝热点 H · 灰＝普通专家 · 青＝副本 R ｜ 虚线＝H 复制为 R</a:t>
            </a:r>
          </a:p>
        </p:txBody>
      </p:sp>
      <p:sp>
        <p:nvSpPr>
          <p:cNvPr id="36" name="TextBox 36"/>
          <p:cNvSpPr txBox="1"/>
          <p:nvPr/>
        </p:nvSpPr>
        <p:spPr>
          <a:xfrm>
            <a:off x="491726" y="4849640"/>
            <a:ext cx="2450000" cy="50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D1D1A"/>
                </a:solidFill>
                <a:effectLst/>
                <a:uLnTx/>
                <a:uFillTx/>
                <a:latin typeface="微软雅黑"/>
                <a:ea typeface="微软雅黑"/>
                <a:cs typeface="+mn-cs"/>
              </a:rPr>
              <a:t>每 token 仅激活 16/896 个专家，热点过载使静态分发失效；MoonEP 预测热点、复制热门专家，负载恒定不 OOM。</a:t>
            </a:r>
          </a:p>
        </p:txBody>
      </p:sp>
      <p:sp>
        <p:nvSpPr>
          <p:cNvPr id="45" name="Chip Agent RL"/>
          <p:cNvSpPr/>
          <p:nvPr/>
        </p:nvSpPr>
        <p:spPr>
          <a:xfrm>
            <a:off x="8399337" y="1526680"/>
            <a:ext cx="1400000" cy="280000"/>
          </a:xfrm>
          <a:prstGeom prst="rect">
            <a:avLst/>
          </a:prstGeom>
          <a:solidFill>
            <a:srgbClr val="E8E8E8"/>
          </a:solidFill>
          <a:ln>
            <a:no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C00000"/>
                </a:solidFill>
                <a:effectLst/>
                <a:uLnTx/>
                <a:uFillTx/>
                <a:latin typeface="微软雅黑"/>
                <a:ea typeface="微软雅黑"/>
                <a:cs typeface="+mn-cs"/>
              </a:rPr>
              <a:t>Agent RL</a:t>
            </a:r>
          </a:p>
        </p:txBody>
      </p:sp>
      <p:sp>
        <p:nvSpPr>
          <p:cNvPr id="46" name="TextBox 46"/>
          <p:cNvSpPr txBox="1"/>
          <p:nvPr/>
        </p:nvSpPr>
        <p:spPr>
          <a:xfrm>
            <a:off x="6450000" y="1876680"/>
            <a:ext cx="53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1" i="0" u="none" strike="noStrike" kern="1200" cap="none" spc="0" normalizeH="0" baseline="0" noProof="0" dirty="0">
                <a:ln>
                  <a:noFill/>
                </a:ln>
                <a:solidFill>
                  <a:srgbClr val="1D1D1A"/>
                </a:solidFill>
                <a:effectLst/>
                <a:uLnTx/>
                <a:uFillTx/>
                <a:latin typeface="微软雅黑"/>
                <a:ea typeface="微软雅黑"/>
                <a:cs typeface="+mn-cs"/>
              </a:rPr>
              <a:t>数小时级长时程任务：长程 rollout ＋ 沙箱 pause/fork（AgentENV）</a:t>
            </a:r>
          </a:p>
        </p:txBody>
      </p:sp>
      <p:sp>
        <p:nvSpPr>
          <p:cNvPr id="47" name="Module Trainer"/>
          <p:cNvSpPr/>
          <p:nvPr/>
        </p:nvSpPr>
        <p:spPr>
          <a:xfrm>
            <a:off x="6350000" y="2186680"/>
            <a:ext cx="1200000" cy="300000"/>
          </a:xfrm>
          <a:prstGeom prst="roundRect">
            <a:avLst/>
          </a:prstGeom>
          <a:solidFill>
            <a:srgbClr val="F2F2F2"/>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1D1D1A"/>
                </a:solidFill>
                <a:effectLst/>
                <a:uLnTx/>
                <a:uFillTx/>
                <a:latin typeface="微软雅黑"/>
                <a:ea typeface="微软雅黑"/>
                <a:cs typeface="+mn-cs"/>
              </a:rPr>
              <a:t>Trainer</a:t>
            </a:r>
          </a:p>
        </p:txBody>
      </p:sp>
      <p:sp>
        <p:nvSpPr>
          <p:cNvPr id="48" name="KVPool"/>
          <p:cNvSpPr/>
          <p:nvPr/>
        </p:nvSpPr>
        <p:spPr>
          <a:xfrm>
            <a:off x="10650000" y="2186680"/>
            <a:ext cx="1250000" cy="300000"/>
          </a:xfrm>
          <a:prstGeom prst="roundRect">
            <a:avLst/>
          </a:prstGeom>
          <a:solidFill>
            <a:srgbClr val="FCC800">
              <a:alpha val="20000"/>
            </a:srgbClr>
          </a:solidFill>
          <a:ln w="9525">
            <a:solidFill>
              <a:srgbClr val="1D1D1A"/>
            </a:solidFill>
          </a:ln>
        </p:spPr>
        <p:txBody>
          <a:bodyPr rot="0" wrap="square" lIns="18000" tIns="6000" rIns="18000" bIns="6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1D1D1A"/>
                </a:solidFill>
                <a:effectLst/>
                <a:uLnTx/>
                <a:uFillTx/>
                <a:latin typeface="微软雅黑"/>
                <a:ea typeface="微软雅黑"/>
                <a:cs typeface="+mn-cs"/>
              </a:rPr>
              <a:t>外部 KV Cache 池</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0" i="0" u="none" strike="noStrike" kern="1200" cap="none" spc="0" normalizeH="0" baseline="0" noProof="0" dirty="0">
                <a:ln>
                  <a:noFill/>
                </a:ln>
                <a:solidFill>
                  <a:srgbClr val="1D1D1A"/>
                </a:solidFill>
                <a:effectLst/>
                <a:uLnTx/>
                <a:uFillTx/>
                <a:latin typeface="微软雅黑"/>
                <a:ea typeface="微软雅黑"/>
                <a:cs typeface="+mn-cs"/>
              </a:rPr>
              <a:t>状态外置 · 自动节流</a:t>
            </a:r>
          </a:p>
        </p:txBody>
      </p:sp>
      <p:cxnSp>
        <p:nvCxnSpPr>
          <p:cNvPr id="49" name="Connector 49"/>
          <p:cNvCxnSpPr/>
          <p:nvPr/>
        </p:nvCxnSpPr>
        <p:spPr>
          <a:xfrm>
            <a:off x="7550000" y="2266680"/>
            <a:ext cx="3100000" cy="1"/>
          </a:xfrm>
          <a:prstGeom prst="straightConnector1">
            <a:avLst/>
          </a:prstGeom>
          <a:ln w="9525">
            <a:solidFill>
              <a:srgbClr val="1D1D1A"/>
            </a:solidFill>
            <a:tailEnd type="triangle" w="med" len="med"/>
          </a:ln>
        </p:spPr>
      </p:cxnSp>
      <p:cxnSp>
        <p:nvCxnSpPr>
          <p:cNvPr id="50" name="Connector 50"/>
          <p:cNvCxnSpPr/>
          <p:nvPr/>
        </p:nvCxnSpPr>
        <p:spPr>
          <a:xfrm flipH="1">
            <a:off x="7550000" y="2416680"/>
            <a:ext cx="3100000" cy="1"/>
          </a:xfrm>
          <a:prstGeom prst="straightConnector1">
            <a:avLst/>
          </a:prstGeom>
          <a:ln w="9525">
            <a:solidFill>
              <a:srgbClr val="1D1D1A"/>
            </a:solidFill>
            <a:tailEnd type="triangle" w="med" len="med"/>
          </a:ln>
        </p:spPr>
      </p:cxnSp>
      <p:sp>
        <p:nvSpPr>
          <p:cNvPr id="51" name="ZoneWorkers"/>
          <p:cNvSpPr/>
          <p:nvPr/>
        </p:nvSpPr>
        <p:spPr>
          <a:xfrm>
            <a:off x="6350000" y="2706680"/>
            <a:ext cx="5450000" cy="640000"/>
          </a:xfrm>
          <a:prstGeom prst="rect">
            <a:avLst/>
          </a:prstGeom>
          <a:solidFill>
            <a:srgbClr val="F7E5D2">
              <a:alpha val="20000"/>
            </a:srgbClr>
          </a:solidFill>
          <a:ln>
            <a:noFill/>
          </a:ln>
        </p:spPr>
      </p:sp>
      <p:sp>
        <p:nvSpPr>
          <p:cNvPr id="52" name="TextBox 52"/>
          <p:cNvSpPr txBox="1"/>
          <p:nvPr/>
        </p:nvSpPr>
        <p:spPr>
          <a:xfrm>
            <a:off x="6430000" y="2746680"/>
            <a:ext cx="5300000" cy="20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50" b="1" i="0" u="none" strike="noStrike" kern="1200" cap="none" spc="0" normalizeH="0" baseline="0" noProof="0" dirty="0">
                <a:ln>
                  <a:noFill/>
                </a:ln>
                <a:solidFill>
                  <a:srgbClr val="1D1D1A"/>
                </a:solidFill>
                <a:effectLst/>
                <a:uLnTx/>
                <a:uFillTx/>
                <a:latin typeface="微软雅黑"/>
                <a:ea typeface="微软雅黑"/>
                <a:cs typeface="+mn-cs"/>
              </a:rPr>
              <a:t>Rollout Workers · 长时程任务（RL，数小时级）</a:t>
            </a:r>
          </a:p>
        </p:txBody>
      </p:sp>
      <p:sp>
        <p:nvSpPr>
          <p:cNvPr id="53" name="Module GPU · RL"/>
          <p:cNvSpPr/>
          <p:nvPr/>
        </p:nvSpPr>
        <p:spPr>
          <a:xfrm>
            <a:off x="6530000" y="3026680"/>
            <a:ext cx="700000" cy="230000"/>
          </a:xfrm>
          <a:prstGeom prst="roundRect">
            <a:avLst/>
          </a:prstGeom>
          <a:solidFill>
            <a:srgbClr val="30B5C5">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GPU · RL</a:t>
            </a:r>
          </a:p>
        </p:txBody>
      </p:sp>
      <p:sp>
        <p:nvSpPr>
          <p:cNvPr id="54" name="Module GPU · RL"/>
          <p:cNvSpPr/>
          <p:nvPr/>
        </p:nvSpPr>
        <p:spPr>
          <a:xfrm>
            <a:off x="7330000" y="3026680"/>
            <a:ext cx="700000" cy="230000"/>
          </a:xfrm>
          <a:prstGeom prst="roundRect">
            <a:avLst/>
          </a:prstGeom>
          <a:solidFill>
            <a:srgbClr val="30B5C5">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GPU · RL</a:t>
            </a:r>
          </a:p>
        </p:txBody>
      </p:sp>
      <p:cxnSp>
        <p:nvCxnSpPr>
          <p:cNvPr id="55" name="Connector 55"/>
          <p:cNvCxnSpPr/>
          <p:nvPr/>
        </p:nvCxnSpPr>
        <p:spPr>
          <a:xfrm flipV="1">
            <a:off x="6970000" y="2486680"/>
            <a:ext cx="1" cy="220000"/>
          </a:xfrm>
          <a:prstGeom prst="straightConnector1">
            <a:avLst/>
          </a:prstGeom>
          <a:ln w="9525">
            <a:solidFill>
              <a:srgbClr val="1D1D1A"/>
            </a:solidFill>
            <a:headEnd type="triangle" w="med" len="med"/>
            <a:tailEnd type="triangle" w="med" len="med"/>
          </a:ln>
        </p:spPr>
      </p:cxnSp>
      <p:sp>
        <p:nvSpPr>
          <p:cNvPr id="56" name="GreyNote"/>
          <p:cNvSpPr txBox="1"/>
          <p:nvPr/>
        </p:nvSpPr>
        <p:spPr>
          <a:xfrm>
            <a:off x="7120000" y="2506680"/>
            <a:ext cx="1500000" cy="16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50" b="0" i="0" u="none" strike="noStrike" kern="1200" cap="none" spc="0" normalizeH="0" baseline="0" noProof="0" dirty="0">
                <a:ln>
                  <a:noFill/>
                </a:ln>
                <a:solidFill>
                  <a:srgbClr val="1D1D1A"/>
                </a:solidFill>
                <a:effectLst/>
                <a:uLnTx/>
                <a:uFillTx/>
                <a:latin typeface="微软雅黑"/>
                <a:ea typeface="微软雅黑"/>
                <a:cs typeface="+mn-cs"/>
              </a:rPr>
              <a:t>rollout ↔ policy 更新</a:t>
            </a:r>
          </a:p>
        </p:txBody>
      </p:sp>
      <p:sp>
        <p:nvSpPr>
          <p:cNvPr id="57" name="Module sandbox·firecracker"/>
          <p:cNvSpPr/>
          <p:nvPr/>
        </p:nvSpPr>
        <p:spPr>
          <a:xfrm>
            <a:off x="6350000" y="3466680"/>
            <a:ext cx="1650000" cy="280000"/>
          </a:xfrm>
          <a:prstGeom prst="roundRect">
            <a:avLst/>
          </a:prstGeom>
          <a:solidFill>
            <a:srgbClr val="F2F2F2"/>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sandbox·firecracker</a:t>
            </a:r>
          </a:p>
        </p:txBody>
      </p:sp>
      <p:sp>
        <p:nvSpPr>
          <p:cNvPr id="58" name="Module 沙箱2 已暂停·留状态"/>
          <p:cNvSpPr/>
          <p:nvPr/>
        </p:nvSpPr>
        <p:spPr>
          <a:xfrm>
            <a:off x="8300000" y="3466680"/>
            <a:ext cx="1650000" cy="280000"/>
          </a:xfrm>
          <a:prstGeom prst="roundRect">
            <a:avLst/>
          </a:prstGeom>
          <a:solidFill>
            <a:srgbClr val="61B230">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沙箱2 已暂停·留状态</a:t>
            </a:r>
          </a:p>
        </p:txBody>
      </p:sp>
      <p:sp>
        <p:nvSpPr>
          <p:cNvPr id="59" name="Module 沙箱2′ fork 副本"/>
          <p:cNvSpPr/>
          <p:nvPr/>
        </p:nvSpPr>
        <p:spPr>
          <a:xfrm>
            <a:off x="10250000" y="3466680"/>
            <a:ext cx="1650000" cy="280000"/>
          </a:xfrm>
          <a:prstGeom prst="roundRect">
            <a:avLst/>
          </a:prstGeom>
          <a:solidFill>
            <a:srgbClr val="61B230">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沙箱2′ fork 副本</a:t>
            </a:r>
          </a:p>
        </p:txBody>
      </p:sp>
      <p:cxnSp>
        <p:nvCxnSpPr>
          <p:cNvPr id="60" name="Connector 60"/>
          <p:cNvCxnSpPr/>
          <p:nvPr/>
        </p:nvCxnSpPr>
        <p:spPr>
          <a:xfrm>
            <a:off x="9950000" y="3606680"/>
            <a:ext cx="300000" cy="1"/>
          </a:xfrm>
          <a:prstGeom prst="straightConnector1">
            <a:avLst/>
          </a:prstGeom>
          <a:ln w="9525">
            <a:solidFill>
              <a:srgbClr val="1D1D1A"/>
            </a:solidFill>
            <a:prstDash val="dash"/>
            <a:tailEnd type="triangle" w="med" len="med"/>
          </a:ln>
        </p:spPr>
      </p:cxnSp>
      <p:sp>
        <p:nvSpPr>
          <p:cNvPr id="61" name="GreyNote"/>
          <p:cNvSpPr txBox="1"/>
          <p:nvPr/>
        </p:nvSpPr>
        <p:spPr>
          <a:xfrm>
            <a:off x="6350000" y="3846680"/>
            <a:ext cx="5450000" cy="38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pause&amp;lt;100ms · resume&amp;lt;50ms · partial rollout 只回放出错片段</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150 万镜像随取 · 内存超卖比 9.6 倍</a:t>
            </a:r>
          </a:p>
        </p:txBody>
      </p:sp>
      <p:sp>
        <p:nvSpPr>
          <p:cNvPr id="62" name="YellowNote"/>
          <p:cNvSpPr txBox="1"/>
          <p:nvPr/>
        </p:nvSpPr>
        <p:spPr>
          <a:xfrm>
            <a:off x="6300000" y="4259250"/>
            <a:ext cx="55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FF0000"/>
                </a:solidFill>
                <a:effectLst/>
                <a:highlight>
                  <a:srgbClr val="FFFF00"/>
                </a:highlight>
                <a:uLnTx/>
                <a:uFillTx/>
                <a:latin typeface="微软雅黑"/>
                <a:ea typeface="微软雅黑"/>
                <a:cs typeface="+mn-cs"/>
              </a:rPr>
              <a:t>AgentENV 沙箱平台（开源）· kvcache-ai/AgentENV · E2B 兼容 HTTP API</a:t>
            </a:r>
          </a:p>
        </p:txBody>
      </p:sp>
      <p:sp>
        <p:nvSpPr>
          <p:cNvPr id="64" name="TextBox 64"/>
          <p:cNvSpPr txBox="1"/>
          <p:nvPr/>
        </p:nvSpPr>
        <p:spPr>
          <a:xfrm>
            <a:off x="6520000" y="4548060"/>
            <a:ext cx="50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1" i="0" u="none" strike="noStrike" kern="1200" cap="none" spc="0" normalizeH="0" baseline="0" noProof="0" dirty="0">
                <a:ln>
                  <a:noFill/>
                </a:ln>
                <a:solidFill>
                  <a:srgbClr val="1D1D1A"/>
                </a:solidFill>
                <a:effectLst/>
                <a:uLnTx/>
                <a:uFillTx/>
                <a:latin typeface="微软雅黑"/>
                <a:ea typeface="微软雅黑"/>
                <a:cs typeface="+mn-cs"/>
              </a:rPr>
              <a:t>长时程 RL 的训练支撑　</a:t>
            </a:r>
            <a:r>
              <a:rPr kumimoji="0" lang="zh-CN" altLang="en-US" sz="1150" b="1" i="0" u="none" strike="noStrike" kern="1200" cap="none" spc="0" normalizeH="0" baseline="0" noProof="0" dirty="0">
                <a:ln>
                  <a:noFill/>
                </a:ln>
                <a:solidFill>
                  <a:srgbClr val="FF0000"/>
                </a:solidFill>
                <a:effectLst/>
                <a:uLnTx/>
                <a:uFillTx/>
                <a:latin typeface="微软雅黑"/>
                <a:ea typeface="微软雅黑"/>
                <a:cs typeface="+mn-cs"/>
              </a:rPr>
              <a:t>长程 rollout → AgentENV</a:t>
            </a:r>
          </a:p>
        </p:txBody>
      </p:sp>
      <p:sp>
        <p:nvSpPr>
          <p:cNvPr id="65" name="TextBox 65"/>
          <p:cNvSpPr txBox="1"/>
          <p:nvPr/>
        </p:nvSpPr>
        <p:spPr>
          <a:xfrm>
            <a:off x="6520000" y="4816680"/>
            <a:ext cx="5100000" cy="58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D1D1A"/>
                </a:solidFill>
                <a:effectLst/>
                <a:uLnTx/>
                <a:uFillTx/>
                <a:latin typeface="微软雅黑"/>
                <a:ea typeface="微软雅黑"/>
                <a:cs typeface="+mn-cs"/>
              </a:rPr>
              <a:t>1M 上下文下单次任务常达数小时：中间状态存放于外置 KV 池，训练与执行互不阻塞；沙箱支持毫秒级暂停、恢复与复制，出错时仅从断点回放（partial rollout），无需整体重跑。</a:t>
            </a:r>
          </a:p>
        </p:txBody>
      </p:sp>
      <p:sp>
        <p:nvSpPr>
          <p:cNvPr id="66" name="GreyNote"/>
          <p:cNvSpPr txBox="1"/>
          <p:nvPr/>
        </p:nvSpPr>
        <p:spPr>
          <a:xfrm>
            <a:off x="6300000" y="5456680"/>
            <a:ext cx="5500000" cy="33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K2/K2.5 时期：全 MLA 有现成内核、1T 规模静态分发即可满足、RL 任务较短，普通容器即可承载；上一代出错后需整体重跑</a:t>
            </a:r>
          </a:p>
        </p:txBody>
      </p:sp>
      <p:sp>
        <p:nvSpPr>
          <p:cNvPr id="67" name="TextBox 67"/>
          <p:cNvSpPr txBox="1"/>
          <p:nvPr/>
        </p:nvSpPr>
        <p:spPr>
          <a:xfrm>
            <a:off x="320000" y="6096680"/>
            <a:ext cx="10800000" cy="260000"/>
          </a:xfrm>
          <a:prstGeom prst="rect">
            <a:avLst/>
          </a:prstGeom>
          <a:noFill/>
          <a:ln>
            <a:noFill/>
          </a:ln>
        </p:spPr>
        <p:txBody>
          <a:bodyPr rot="0" wrap="square" lIns="91440" tIns="45720" rIns="91440" bIns="45720" anchor="ctr"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1D1D1A"/>
                </a:solidFill>
                <a:effectLst/>
                <a:uLnTx/>
                <a:uFillTx/>
                <a:latin typeface="微软雅黑"/>
                <a:ea typeface="微软雅黑"/>
                <a:cs typeface="+mn-cs"/>
              </a:rPr>
              <a:t>K3 训练形态：</a:t>
            </a:r>
            <a:r>
              <a:rPr kumimoji="0" lang="zh-CN" altLang="en-US" sz="1000" b="0" i="0" u="none" strike="noStrike" kern="1200" cap="none" spc="0" normalizeH="0" baseline="0" noProof="0" dirty="0">
                <a:ln>
                  <a:noFill/>
                </a:ln>
                <a:solidFill>
                  <a:srgbClr val="1D1D1A"/>
                </a:solidFill>
                <a:effectLst/>
                <a:uLnTx/>
                <a:uFillTx/>
                <a:latin typeface="微软雅黑"/>
                <a:ea typeface="微软雅黑"/>
                <a:cs typeface="+mn-cs"/>
              </a:rPr>
              <a:t>预训练/SFT step 流水线 ＋ Agent RL 长程 rollout；算子／通信／沙箱分别由 FlashKDA、MoonEP、AgentENV 承担</a:t>
            </a:r>
          </a:p>
        </p:txBody>
      </p:sp>
      <p:sp>
        <p:nvSpPr>
          <p:cNvPr id="68" name="YellowNote MoonEP"/>
          <p:cNvSpPr txBox="1"/>
          <p:nvPr/>
        </p:nvSpPr>
        <p:spPr>
          <a:xfrm>
            <a:off x="500000" y="5712285"/>
            <a:ext cx="5358274" cy="200000"/>
          </a:xfrm>
          <a:prstGeom prst="rect">
            <a:avLst/>
          </a:prstGeom>
          <a:noFill/>
          <a:ln>
            <a:noFill/>
          </a:ln>
        </p:spPr>
        <p:txBody>
          <a:bodyPr rot="0" wrap="square" lIns="91440" tIns="18000" rIns="91440" bIns="1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50" b="1" i="0" u="none" strike="noStrike" kern="1200" cap="none" spc="0" normalizeH="0" baseline="0" noProof="0" dirty="0">
                <a:ln>
                  <a:noFill/>
                </a:ln>
                <a:solidFill>
                  <a:srgbClr val="FF0000"/>
                </a:solidFill>
                <a:effectLst/>
                <a:highlight>
                  <a:srgbClr val="FFFF00"/>
                </a:highlight>
                <a:uLnTx/>
                <a:uFillTx/>
                <a:latin typeface="微软雅黑"/>
                <a:ea typeface="微软雅黑"/>
                <a:cs typeface="+mn-cs"/>
              </a:rPr>
              <a:t>MoonEP（开源）：Dispatch / Combine · 零拷贝 · 静态形状 · 梯度归约回 home rank</a:t>
            </a:r>
          </a:p>
        </p:txBody>
      </p:sp>
      <p:sp>
        <p:nvSpPr>
          <p:cNvPr id="69" name="Card R0"/>
          <p:cNvSpPr/>
          <p:nvPr/>
        </p:nvSpPr>
        <p:spPr>
          <a:xfrm>
            <a:off x="2950000" y="5156900"/>
            <a:ext cx="700000" cy="280000"/>
          </a:xfrm>
          <a:prstGeom prst="rect">
            <a:avLst/>
          </a:prstGeom>
          <a:solidFill>
            <a:srgbClr val="FFFFFF"/>
          </a:solidFill>
          <a:ln w="9525">
            <a:solidFill>
              <a:srgbClr val="1D1D1A"/>
            </a:solidFill>
          </a:ln>
        </p:spPr>
      </p:sp>
      <p:sp>
        <p:nvSpPr>
          <p:cNvPr id="70" name="TextBox 3"/>
          <p:cNvSpPr txBox="1"/>
          <p:nvPr/>
        </p:nvSpPr>
        <p:spPr>
          <a:xfrm>
            <a:off x="2950000" y="5168900"/>
            <a:ext cx="700000" cy="90000"/>
          </a:xfrm>
          <a:prstGeom prst="rect">
            <a:avLst/>
          </a:prstGeom>
          <a:noFill/>
          <a:ln>
            <a:noFill/>
          </a:ln>
        </p:spPr>
        <p:txBody>
          <a:bodyPr rot="0" wrap="square" lIns="16000" tIns="8000" rIns="16000" bIns="800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00" b="1" i="0" u="none" strike="noStrike" kern="1200" cap="none" spc="0" normalizeH="0" baseline="0" noProof="0" dirty="0">
                <a:ln>
                  <a:noFill/>
                </a:ln>
                <a:solidFill>
                  <a:srgbClr val="1D1D1A"/>
                </a:solidFill>
                <a:effectLst/>
                <a:uLnTx/>
                <a:uFillTx/>
                <a:latin typeface="微软雅黑"/>
                <a:ea typeface="微软雅黑"/>
                <a:cs typeface="+mn-cs"/>
              </a:rPr>
              <a:t>Rank 0</a:t>
            </a:r>
          </a:p>
        </p:txBody>
      </p:sp>
      <p:sp>
        <p:nvSpPr>
          <p:cNvPr id="71" name="Slot 0-0"/>
          <p:cNvSpPr/>
          <p:nvPr/>
        </p:nvSpPr>
        <p:spPr>
          <a:xfrm>
            <a:off x="3020000" y="5286900"/>
            <a:ext cx="130000" cy="130000"/>
          </a:xfrm>
          <a:prstGeom prst="rect">
            <a:avLst/>
          </a:prstGeom>
          <a:solidFill>
            <a:srgbClr val="F2F2F4"/>
          </a:solidFill>
          <a:ln w="6350">
            <a:solidFill>
              <a:srgbClr val="1D1D1A"/>
            </a:solidFill>
          </a:ln>
        </p:spPr>
      </p:sp>
      <p:sp>
        <p:nvSpPr>
          <p:cNvPr id="72" name="Slot 0-1"/>
          <p:cNvSpPr/>
          <p:nvPr/>
        </p:nvSpPr>
        <p:spPr>
          <a:xfrm>
            <a:off x="3163000" y="5286900"/>
            <a:ext cx="130000" cy="130000"/>
          </a:xfrm>
          <a:prstGeom prst="rect">
            <a:avLst/>
          </a:prstGeom>
          <a:solidFill>
            <a:srgbClr val="F2F2F4"/>
          </a:solidFill>
          <a:ln w="6350">
            <a:solidFill>
              <a:srgbClr val="1D1D1A"/>
            </a:solidFill>
          </a:ln>
        </p:spPr>
      </p:sp>
      <p:sp>
        <p:nvSpPr>
          <p:cNvPr id="73" name="Slot 0-2"/>
          <p:cNvSpPr/>
          <p:nvPr/>
        </p:nvSpPr>
        <p:spPr>
          <a:xfrm>
            <a:off x="3306000" y="5286900"/>
            <a:ext cx="130000" cy="130000"/>
          </a:xfrm>
          <a:prstGeom prst="rect">
            <a:avLst/>
          </a:prstGeom>
          <a:solidFill>
            <a:srgbClr val="F2F2F4"/>
          </a:solidFill>
          <a:ln w="6350">
            <a:solidFill>
              <a:srgbClr val="1D1D1A"/>
            </a:solidFill>
          </a:ln>
        </p:spPr>
      </p:sp>
      <p:sp>
        <p:nvSpPr>
          <p:cNvPr id="74" name="Slot 0-3"/>
          <p:cNvSpPr/>
          <p:nvPr/>
        </p:nvSpPr>
        <p:spPr>
          <a:xfrm>
            <a:off x="3449000" y="5286900"/>
            <a:ext cx="130000" cy="130000"/>
          </a:xfrm>
          <a:prstGeom prst="rect">
            <a:avLst/>
          </a:prstGeom>
          <a:solidFill>
            <a:srgbClr val="E9002F">
              <a:alpha val="20000"/>
            </a:srgbClr>
          </a:solidFill>
          <a:ln w="12700">
            <a:solidFill>
              <a:srgbClr val="C00000"/>
            </a:solidFill>
          </a:ln>
        </p:spPr>
        <p:txBody>
          <a:bodyPr rot="0" wrap="square" lIns="0" tIns="0" rIns="0" bIns="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 b="1" i="0" u="none" strike="noStrike" kern="1200" cap="none" spc="0" normalizeH="0" baseline="0" noProof="0" dirty="0">
                <a:ln>
                  <a:noFill/>
                </a:ln>
                <a:solidFill>
                  <a:srgbClr val="C00000"/>
                </a:solidFill>
                <a:effectLst/>
                <a:uLnTx/>
                <a:uFillTx/>
                <a:latin typeface="微软雅黑"/>
                <a:ea typeface="微软雅黑"/>
                <a:cs typeface="+mn-cs"/>
              </a:rPr>
              <a:t>H</a:t>
            </a:r>
          </a:p>
        </p:txBody>
      </p:sp>
      <p:sp>
        <p:nvSpPr>
          <p:cNvPr id="75" name="TextBox 8"/>
          <p:cNvSpPr txBox="1"/>
          <p:nvPr/>
        </p:nvSpPr>
        <p:spPr>
          <a:xfrm>
            <a:off x="2950000" y="5553543"/>
            <a:ext cx="700000" cy="100000"/>
          </a:xfrm>
          <a:prstGeom prst="rect">
            <a:avLst/>
          </a:prstGeom>
          <a:noFill/>
          <a:ln>
            <a:noFill/>
          </a:ln>
        </p:spPr>
        <p:txBody>
          <a:bodyPr rot="0" wrap="square" lIns="16000" tIns="8000" rIns="16000" bIns="800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1" i="0" u="none" strike="noStrike" kern="1200" cap="none" spc="0" normalizeH="0" baseline="0" noProof="0" dirty="0">
                <a:ln>
                  <a:noFill/>
                </a:ln>
                <a:solidFill>
                  <a:srgbClr val="61B230"/>
                </a:solidFill>
                <a:effectLst/>
                <a:uLnTx/>
                <a:uFillTx/>
                <a:latin typeface="微软雅黑"/>
                <a:ea typeface="微软雅黑"/>
                <a:cs typeface="+mn-cs"/>
              </a:rPr>
              <a:t>恒定 S×K ✓</a:t>
            </a:r>
          </a:p>
        </p:txBody>
      </p:sp>
      <p:sp>
        <p:nvSpPr>
          <p:cNvPr id="76" name="Card R1"/>
          <p:cNvSpPr/>
          <p:nvPr/>
        </p:nvSpPr>
        <p:spPr>
          <a:xfrm>
            <a:off x="3735000" y="5156900"/>
            <a:ext cx="700000" cy="280000"/>
          </a:xfrm>
          <a:prstGeom prst="rect">
            <a:avLst/>
          </a:prstGeom>
          <a:solidFill>
            <a:srgbClr val="FFFFFF"/>
          </a:solidFill>
          <a:ln w="9525">
            <a:solidFill>
              <a:srgbClr val="1D1D1A"/>
            </a:solidFill>
          </a:ln>
        </p:spPr>
      </p:sp>
      <p:sp>
        <p:nvSpPr>
          <p:cNvPr id="77" name="TextBox 10"/>
          <p:cNvSpPr txBox="1"/>
          <p:nvPr/>
        </p:nvSpPr>
        <p:spPr>
          <a:xfrm>
            <a:off x="3735000" y="5168900"/>
            <a:ext cx="700000" cy="90000"/>
          </a:xfrm>
          <a:prstGeom prst="rect">
            <a:avLst/>
          </a:prstGeom>
          <a:noFill/>
          <a:ln>
            <a:noFill/>
          </a:ln>
        </p:spPr>
        <p:txBody>
          <a:bodyPr rot="0" wrap="square" lIns="16000" tIns="8000" rIns="16000" bIns="800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00" b="1" i="0" u="none" strike="noStrike" kern="1200" cap="none" spc="0" normalizeH="0" baseline="0" noProof="0" dirty="0">
                <a:ln>
                  <a:noFill/>
                </a:ln>
                <a:solidFill>
                  <a:srgbClr val="1D1D1A"/>
                </a:solidFill>
                <a:effectLst/>
                <a:uLnTx/>
                <a:uFillTx/>
                <a:latin typeface="微软雅黑"/>
                <a:ea typeface="微软雅黑"/>
                <a:cs typeface="+mn-cs"/>
              </a:rPr>
              <a:t>Rank 1</a:t>
            </a:r>
          </a:p>
        </p:txBody>
      </p:sp>
      <p:sp>
        <p:nvSpPr>
          <p:cNvPr id="78" name="Slot 1-0"/>
          <p:cNvSpPr/>
          <p:nvPr/>
        </p:nvSpPr>
        <p:spPr>
          <a:xfrm>
            <a:off x="3805000" y="5286900"/>
            <a:ext cx="130000" cy="130000"/>
          </a:xfrm>
          <a:prstGeom prst="rect">
            <a:avLst/>
          </a:prstGeom>
          <a:solidFill>
            <a:srgbClr val="F2F2F4"/>
          </a:solidFill>
          <a:ln w="6350">
            <a:solidFill>
              <a:srgbClr val="1D1D1A"/>
            </a:solidFill>
          </a:ln>
        </p:spPr>
      </p:sp>
      <p:sp>
        <p:nvSpPr>
          <p:cNvPr id="79" name="Slot 1-1"/>
          <p:cNvSpPr/>
          <p:nvPr/>
        </p:nvSpPr>
        <p:spPr>
          <a:xfrm>
            <a:off x="3948000" y="5286900"/>
            <a:ext cx="130000" cy="130000"/>
          </a:xfrm>
          <a:prstGeom prst="rect">
            <a:avLst/>
          </a:prstGeom>
          <a:solidFill>
            <a:srgbClr val="F2F2F4"/>
          </a:solidFill>
          <a:ln w="6350">
            <a:solidFill>
              <a:srgbClr val="1D1D1A"/>
            </a:solidFill>
          </a:ln>
        </p:spPr>
      </p:sp>
      <p:sp>
        <p:nvSpPr>
          <p:cNvPr id="80" name="Slot 1-2"/>
          <p:cNvSpPr/>
          <p:nvPr/>
        </p:nvSpPr>
        <p:spPr>
          <a:xfrm>
            <a:off x="4091000" y="5286900"/>
            <a:ext cx="130000" cy="130000"/>
          </a:xfrm>
          <a:prstGeom prst="rect">
            <a:avLst/>
          </a:prstGeom>
          <a:solidFill>
            <a:srgbClr val="F2F2F4"/>
          </a:solidFill>
          <a:ln w="6350">
            <a:solidFill>
              <a:srgbClr val="1D1D1A"/>
            </a:solidFill>
          </a:ln>
        </p:spPr>
      </p:sp>
      <p:sp>
        <p:nvSpPr>
          <p:cNvPr id="81" name="Slot 1-3"/>
          <p:cNvSpPr/>
          <p:nvPr/>
        </p:nvSpPr>
        <p:spPr>
          <a:xfrm>
            <a:off x="4234000" y="5286900"/>
            <a:ext cx="130000" cy="130000"/>
          </a:xfrm>
          <a:prstGeom prst="rect">
            <a:avLst/>
          </a:prstGeom>
          <a:solidFill>
            <a:srgbClr val="F2F2F4"/>
          </a:solidFill>
          <a:ln w="6350">
            <a:solidFill>
              <a:srgbClr val="1D1D1A"/>
            </a:solidFill>
          </a:ln>
        </p:spPr>
      </p:sp>
      <p:sp>
        <p:nvSpPr>
          <p:cNvPr id="82" name="TextBox 15"/>
          <p:cNvSpPr txBox="1"/>
          <p:nvPr/>
        </p:nvSpPr>
        <p:spPr>
          <a:xfrm>
            <a:off x="3735000" y="5553543"/>
            <a:ext cx="700000" cy="100000"/>
          </a:xfrm>
          <a:prstGeom prst="rect">
            <a:avLst/>
          </a:prstGeom>
          <a:noFill/>
          <a:ln>
            <a:noFill/>
          </a:ln>
        </p:spPr>
        <p:txBody>
          <a:bodyPr rot="0" wrap="square" lIns="16000" tIns="8000" rIns="16000" bIns="800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1" i="0" u="none" strike="noStrike" kern="1200" cap="none" spc="0" normalizeH="0" baseline="0" noProof="0" dirty="0">
                <a:ln>
                  <a:noFill/>
                </a:ln>
                <a:solidFill>
                  <a:srgbClr val="61B230"/>
                </a:solidFill>
                <a:effectLst/>
                <a:uLnTx/>
                <a:uFillTx/>
                <a:latin typeface="微软雅黑"/>
                <a:ea typeface="微软雅黑"/>
                <a:cs typeface="+mn-cs"/>
              </a:rPr>
              <a:t>恒定 S×K ✓</a:t>
            </a:r>
          </a:p>
        </p:txBody>
      </p:sp>
      <p:sp>
        <p:nvSpPr>
          <p:cNvPr id="83" name="Card R2"/>
          <p:cNvSpPr/>
          <p:nvPr/>
        </p:nvSpPr>
        <p:spPr>
          <a:xfrm>
            <a:off x="4520000" y="5156900"/>
            <a:ext cx="700000" cy="280000"/>
          </a:xfrm>
          <a:prstGeom prst="rect">
            <a:avLst/>
          </a:prstGeom>
          <a:solidFill>
            <a:srgbClr val="FFFFFF"/>
          </a:solidFill>
          <a:ln w="9525">
            <a:solidFill>
              <a:srgbClr val="1D1D1A"/>
            </a:solidFill>
          </a:ln>
        </p:spPr>
      </p:sp>
      <p:sp>
        <p:nvSpPr>
          <p:cNvPr id="84" name="TextBox 17"/>
          <p:cNvSpPr txBox="1"/>
          <p:nvPr/>
        </p:nvSpPr>
        <p:spPr>
          <a:xfrm>
            <a:off x="4520000" y="5168900"/>
            <a:ext cx="700000" cy="90000"/>
          </a:xfrm>
          <a:prstGeom prst="rect">
            <a:avLst/>
          </a:prstGeom>
          <a:noFill/>
          <a:ln>
            <a:noFill/>
          </a:ln>
        </p:spPr>
        <p:txBody>
          <a:bodyPr rot="0" wrap="square" lIns="16000" tIns="8000" rIns="16000" bIns="800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00" b="1" i="0" u="none" strike="noStrike" kern="1200" cap="none" spc="0" normalizeH="0" baseline="0" noProof="0" dirty="0">
                <a:ln>
                  <a:noFill/>
                </a:ln>
                <a:solidFill>
                  <a:srgbClr val="1D1D1A"/>
                </a:solidFill>
                <a:effectLst/>
                <a:uLnTx/>
                <a:uFillTx/>
                <a:latin typeface="微软雅黑"/>
                <a:ea typeface="微软雅黑"/>
                <a:cs typeface="+mn-cs"/>
              </a:rPr>
              <a:t>Rank 2</a:t>
            </a:r>
          </a:p>
        </p:txBody>
      </p:sp>
      <p:sp>
        <p:nvSpPr>
          <p:cNvPr id="85" name="Slot 2-0"/>
          <p:cNvSpPr/>
          <p:nvPr/>
        </p:nvSpPr>
        <p:spPr>
          <a:xfrm>
            <a:off x="4590000" y="5286900"/>
            <a:ext cx="130000" cy="130000"/>
          </a:xfrm>
          <a:prstGeom prst="rect">
            <a:avLst/>
          </a:prstGeom>
          <a:solidFill>
            <a:srgbClr val="F2F2F4"/>
          </a:solidFill>
          <a:ln w="6350">
            <a:solidFill>
              <a:srgbClr val="1D1D1A"/>
            </a:solidFill>
          </a:ln>
        </p:spPr>
      </p:sp>
      <p:sp>
        <p:nvSpPr>
          <p:cNvPr id="86" name="Slot 2-1"/>
          <p:cNvSpPr/>
          <p:nvPr/>
        </p:nvSpPr>
        <p:spPr>
          <a:xfrm>
            <a:off x="4733000" y="5286900"/>
            <a:ext cx="130000" cy="130000"/>
          </a:xfrm>
          <a:prstGeom prst="rect">
            <a:avLst/>
          </a:prstGeom>
          <a:solidFill>
            <a:srgbClr val="F2F2F4"/>
          </a:solidFill>
          <a:ln w="6350">
            <a:solidFill>
              <a:srgbClr val="1D1D1A"/>
            </a:solidFill>
          </a:ln>
        </p:spPr>
      </p:sp>
      <p:sp>
        <p:nvSpPr>
          <p:cNvPr id="87" name="Slot 2-2"/>
          <p:cNvSpPr/>
          <p:nvPr/>
        </p:nvSpPr>
        <p:spPr>
          <a:xfrm>
            <a:off x="4876000" y="5286900"/>
            <a:ext cx="130000" cy="130000"/>
          </a:xfrm>
          <a:prstGeom prst="rect">
            <a:avLst/>
          </a:prstGeom>
          <a:solidFill>
            <a:srgbClr val="F2F2F4"/>
          </a:solidFill>
          <a:ln w="6350">
            <a:solidFill>
              <a:srgbClr val="1D1D1A"/>
            </a:solidFill>
          </a:ln>
        </p:spPr>
      </p:sp>
      <p:sp>
        <p:nvSpPr>
          <p:cNvPr id="88" name="Slot 2-3"/>
          <p:cNvSpPr/>
          <p:nvPr/>
        </p:nvSpPr>
        <p:spPr>
          <a:xfrm>
            <a:off x="5019000" y="5286900"/>
            <a:ext cx="130000" cy="130000"/>
          </a:xfrm>
          <a:prstGeom prst="rect">
            <a:avLst/>
          </a:prstGeom>
          <a:solidFill>
            <a:srgbClr val="F2F2F4"/>
          </a:solidFill>
          <a:ln w="6350">
            <a:solidFill>
              <a:srgbClr val="1D1D1A"/>
            </a:solidFill>
          </a:ln>
        </p:spPr>
      </p:sp>
      <p:sp>
        <p:nvSpPr>
          <p:cNvPr id="89" name="TextBox 22"/>
          <p:cNvSpPr txBox="1"/>
          <p:nvPr/>
        </p:nvSpPr>
        <p:spPr>
          <a:xfrm>
            <a:off x="4520000" y="5553543"/>
            <a:ext cx="700000" cy="100000"/>
          </a:xfrm>
          <a:prstGeom prst="rect">
            <a:avLst/>
          </a:prstGeom>
          <a:noFill/>
          <a:ln>
            <a:noFill/>
          </a:ln>
        </p:spPr>
        <p:txBody>
          <a:bodyPr rot="0" wrap="square" lIns="16000" tIns="8000" rIns="16000" bIns="800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1" i="0" u="none" strike="noStrike" kern="1200" cap="none" spc="0" normalizeH="0" baseline="0" noProof="0" dirty="0">
                <a:ln>
                  <a:noFill/>
                </a:ln>
                <a:solidFill>
                  <a:srgbClr val="61B230"/>
                </a:solidFill>
                <a:effectLst/>
                <a:uLnTx/>
                <a:uFillTx/>
                <a:latin typeface="微软雅黑"/>
                <a:ea typeface="微软雅黑"/>
                <a:cs typeface="+mn-cs"/>
              </a:rPr>
              <a:t>恒定 S×K ✓</a:t>
            </a:r>
          </a:p>
        </p:txBody>
      </p:sp>
      <p:sp>
        <p:nvSpPr>
          <p:cNvPr id="90" name="Card R3"/>
          <p:cNvSpPr/>
          <p:nvPr/>
        </p:nvSpPr>
        <p:spPr>
          <a:xfrm>
            <a:off x="5305000" y="5156900"/>
            <a:ext cx="700000" cy="280000"/>
          </a:xfrm>
          <a:prstGeom prst="rect">
            <a:avLst/>
          </a:prstGeom>
          <a:solidFill>
            <a:srgbClr val="FFFFFF"/>
          </a:solidFill>
          <a:ln w="9525">
            <a:solidFill>
              <a:srgbClr val="1D1D1A"/>
            </a:solidFill>
          </a:ln>
        </p:spPr>
      </p:sp>
      <p:sp>
        <p:nvSpPr>
          <p:cNvPr id="91" name="TextBox 24"/>
          <p:cNvSpPr txBox="1"/>
          <p:nvPr/>
        </p:nvSpPr>
        <p:spPr>
          <a:xfrm>
            <a:off x="5305000" y="5168900"/>
            <a:ext cx="700000" cy="90000"/>
          </a:xfrm>
          <a:prstGeom prst="rect">
            <a:avLst/>
          </a:prstGeom>
          <a:noFill/>
          <a:ln>
            <a:noFill/>
          </a:ln>
        </p:spPr>
        <p:txBody>
          <a:bodyPr rot="0" wrap="square" lIns="16000" tIns="8000" rIns="16000" bIns="800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00" b="1" i="0" u="none" strike="noStrike" kern="1200" cap="none" spc="0" normalizeH="0" baseline="0" noProof="0" dirty="0">
                <a:ln>
                  <a:noFill/>
                </a:ln>
                <a:solidFill>
                  <a:srgbClr val="1D1D1A"/>
                </a:solidFill>
                <a:effectLst/>
                <a:uLnTx/>
                <a:uFillTx/>
                <a:latin typeface="微软雅黑"/>
                <a:ea typeface="微软雅黑"/>
                <a:cs typeface="+mn-cs"/>
              </a:rPr>
              <a:t>Rank 3</a:t>
            </a:r>
          </a:p>
        </p:txBody>
      </p:sp>
      <p:sp>
        <p:nvSpPr>
          <p:cNvPr id="92" name="Slot 3-0"/>
          <p:cNvSpPr/>
          <p:nvPr/>
        </p:nvSpPr>
        <p:spPr>
          <a:xfrm>
            <a:off x="5375000" y="5286900"/>
            <a:ext cx="130000" cy="130000"/>
          </a:xfrm>
          <a:prstGeom prst="rect">
            <a:avLst/>
          </a:prstGeom>
          <a:solidFill>
            <a:srgbClr val="F2F2F4"/>
          </a:solidFill>
          <a:ln w="6350">
            <a:solidFill>
              <a:srgbClr val="1D1D1A"/>
            </a:solidFill>
          </a:ln>
        </p:spPr>
      </p:sp>
      <p:sp>
        <p:nvSpPr>
          <p:cNvPr id="93" name="Slot 3-1"/>
          <p:cNvSpPr/>
          <p:nvPr/>
        </p:nvSpPr>
        <p:spPr>
          <a:xfrm>
            <a:off x="5518000" y="5286900"/>
            <a:ext cx="130000" cy="130000"/>
          </a:xfrm>
          <a:prstGeom prst="rect">
            <a:avLst/>
          </a:prstGeom>
          <a:solidFill>
            <a:srgbClr val="F2F2F4"/>
          </a:solidFill>
          <a:ln w="6350">
            <a:solidFill>
              <a:srgbClr val="1D1D1A"/>
            </a:solidFill>
          </a:ln>
        </p:spPr>
      </p:sp>
      <p:sp>
        <p:nvSpPr>
          <p:cNvPr id="94" name="Slot 3-2"/>
          <p:cNvSpPr/>
          <p:nvPr/>
        </p:nvSpPr>
        <p:spPr>
          <a:xfrm>
            <a:off x="5661000" y="5286900"/>
            <a:ext cx="130000" cy="130000"/>
          </a:xfrm>
          <a:prstGeom prst="rect">
            <a:avLst/>
          </a:prstGeom>
          <a:solidFill>
            <a:srgbClr val="F2F2F4"/>
          </a:solidFill>
          <a:ln w="6350">
            <a:solidFill>
              <a:srgbClr val="1D1D1A"/>
            </a:solidFill>
          </a:ln>
        </p:spPr>
      </p:sp>
      <p:sp>
        <p:nvSpPr>
          <p:cNvPr id="95" name="Slot 3-3"/>
          <p:cNvSpPr/>
          <p:nvPr/>
        </p:nvSpPr>
        <p:spPr>
          <a:xfrm>
            <a:off x="5804000" y="5286900"/>
            <a:ext cx="130000" cy="130000"/>
          </a:xfrm>
          <a:prstGeom prst="rect">
            <a:avLst/>
          </a:prstGeom>
          <a:solidFill>
            <a:srgbClr val="30B5C5">
              <a:alpha val="20000"/>
            </a:srgbClr>
          </a:solidFill>
          <a:ln w="6350">
            <a:solidFill>
              <a:srgbClr val="1D1D1A"/>
            </a:solidFill>
            <a:prstDash val="dash"/>
          </a:ln>
        </p:spPr>
        <p:txBody>
          <a:bodyPr rot="0" wrap="square" lIns="0" tIns="0" rIns="0" bIns="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 b="1" i="0" u="none" strike="noStrike" kern="1200" cap="none" spc="0" normalizeH="0" baseline="0" noProof="0" dirty="0">
                <a:ln>
                  <a:noFill/>
                </a:ln>
                <a:solidFill>
                  <a:srgbClr val="1D1D1A"/>
                </a:solidFill>
                <a:effectLst/>
                <a:uLnTx/>
                <a:uFillTx/>
                <a:latin typeface="微软雅黑"/>
                <a:ea typeface="微软雅黑"/>
                <a:cs typeface="+mn-cs"/>
              </a:rPr>
              <a:t>R</a:t>
            </a:r>
          </a:p>
        </p:txBody>
      </p:sp>
      <p:sp>
        <p:nvSpPr>
          <p:cNvPr id="96" name="TextBox 29"/>
          <p:cNvSpPr txBox="1"/>
          <p:nvPr/>
        </p:nvSpPr>
        <p:spPr>
          <a:xfrm>
            <a:off x="5305000" y="5553543"/>
            <a:ext cx="700000" cy="100000"/>
          </a:xfrm>
          <a:prstGeom prst="rect">
            <a:avLst/>
          </a:prstGeom>
          <a:noFill/>
          <a:ln>
            <a:noFill/>
          </a:ln>
        </p:spPr>
        <p:txBody>
          <a:bodyPr rot="0" wrap="square" lIns="16000" tIns="8000" rIns="16000" bIns="8000" anchor="t"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1" i="0" u="none" strike="noStrike" kern="1200" cap="none" spc="0" normalizeH="0" baseline="0" noProof="0" dirty="0">
                <a:ln>
                  <a:noFill/>
                </a:ln>
                <a:solidFill>
                  <a:srgbClr val="61B230"/>
                </a:solidFill>
                <a:effectLst/>
                <a:uLnTx/>
                <a:uFillTx/>
                <a:latin typeface="微软雅黑"/>
                <a:ea typeface="微软雅黑"/>
                <a:cs typeface="+mn-cs"/>
              </a:rPr>
              <a:t>恒定 S×K ✓</a:t>
            </a:r>
          </a:p>
        </p:txBody>
      </p:sp>
      <p:cxnSp>
        <p:nvCxnSpPr>
          <p:cNvPr id="97" name="Connector 30"/>
          <p:cNvCxnSpPr>
            <a:cxnSpLocks/>
          </p:cNvCxnSpPr>
          <p:nvPr/>
        </p:nvCxnSpPr>
        <p:spPr>
          <a:xfrm flipH="1">
            <a:off x="3490000" y="5060110"/>
            <a:ext cx="245000" cy="206790"/>
          </a:xfrm>
          <a:prstGeom prst="straightConnector1">
            <a:avLst/>
          </a:prstGeom>
          <a:ln w="12700">
            <a:solidFill>
              <a:srgbClr val="C00000"/>
            </a:solidFill>
            <a:tailEnd type="triangle" w="med" len="med"/>
          </a:ln>
        </p:spPr>
      </p:cxnSp>
      <p:cxnSp>
        <p:nvCxnSpPr>
          <p:cNvPr id="98" name="Connector 31"/>
          <p:cNvCxnSpPr>
            <a:cxnSpLocks/>
          </p:cNvCxnSpPr>
          <p:nvPr/>
        </p:nvCxnSpPr>
        <p:spPr>
          <a:xfrm flipH="1">
            <a:off x="3514000" y="5072270"/>
            <a:ext cx="356000" cy="186055"/>
          </a:xfrm>
          <a:prstGeom prst="straightConnector1">
            <a:avLst/>
          </a:prstGeom>
          <a:ln w="12700">
            <a:solidFill>
              <a:srgbClr val="C00000"/>
            </a:solidFill>
            <a:tailEnd type="triangle" w="med" len="med"/>
          </a:ln>
        </p:spPr>
      </p:cxnSp>
      <p:sp>
        <p:nvSpPr>
          <p:cNvPr id="99" name="TextBox 32"/>
          <p:cNvSpPr txBox="1"/>
          <p:nvPr/>
        </p:nvSpPr>
        <p:spPr>
          <a:xfrm>
            <a:off x="3960000" y="5015000"/>
            <a:ext cx="800000" cy="140000"/>
          </a:xfrm>
          <a:prstGeom prst="rect">
            <a:avLst/>
          </a:prstGeom>
          <a:noFill/>
          <a:ln>
            <a:noFill/>
          </a:ln>
        </p:spPr>
        <p:txBody>
          <a:bodyPr rot="0" wrap="square" lIns="16000" tIns="8000" rIns="16000" bIns="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650" b="0" i="0" u="none" strike="noStrike" kern="1200" cap="none" spc="0" normalizeH="0" baseline="0" noProof="0" dirty="0">
                <a:ln>
                  <a:noFill/>
                </a:ln>
                <a:solidFill>
                  <a:srgbClr val="C00000"/>
                </a:solidFill>
                <a:effectLst/>
                <a:uLnTx/>
                <a:uFillTx/>
                <a:latin typeface="微软雅黑"/>
                <a:ea typeface="微软雅黑"/>
                <a:cs typeface="+mn-cs"/>
              </a:rPr>
              <a:t>token ●●●</a:t>
            </a:r>
          </a:p>
        </p:txBody>
      </p:sp>
      <p:cxnSp>
        <p:nvCxnSpPr>
          <p:cNvPr id="42" name="连接符: 肘形 41">
            <a:extLst>
              <a:ext uri="{FF2B5EF4-FFF2-40B4-BE49-F238E27FC236}">
                <a16:creationId xmlns:a16="http://schemas.microsoft.com/office/drawing/2014/main" id="{2BDFA396-F1C2-329A-3740-0402D1E31397}"/>
              </a:ext>
            </a:extLst>
          </p:cNvPr>
          <p:cNvCxnSpPr>
            <a:stCxn id="74" idx="2"/>
            <a:endCxn id="95" idx="2"/>
          </p:cNvCxnSpPr>
          <p:nvPr/>
        </p:nvCxnSpPr>
        <p:spPr>
          <a:xfrm rot="16200000" flipH="1">
            <a:off x="4691500" y="4239400"/>
            <a:ext cx="12700" cy="2355000"/>
          </a:xfrm>
          <a:prstGeom prst="bentConnector3">
            <a:avLst>
              <a:gd name="adj1" fmla="val 900000"/>
            </a:avLst>
          </a:prstGeom>
          <a:ln>
            <a:solidFill>
              <a:srgbClr val="221815"/>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122D8E3B-FFE7-455C-AF59-249C3B1A8CCB}"/>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郭帅磊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00968824</a:t>
            </a:r>
            <a:endParaRPr lang="zh-CN" altLang="en-US" dirty="0">
              <a:solidFill>
                <a:srgbClr val="FF0000"/>
              </a:solidFill>
              <a:highlight>
                <a:srgbClr val="FFFF00"/>
              </a:highlight>
            </a:endParaRPr>
          </a:p>
        </p:txBody>
      </p:sp>
      <p:sp>
        <p:nvSpPr>
          <p:cNvPr id="10" name="文本框 9">
            <a:extLst>
              <a:ext uri="{FF2B5EF4-FFF2-40B4-BE49-F238E27FC236}">
                <a16:creationId xmlns:a16="http://schemas.microsoft.com/office/drawing/2014/main" id="{E780B94A-4EDB-42D1-8688-88204A7DA50B}"/>
              </a:ext>
            </a:extLst>
          </p:cNvPr>
          <p:cNvSpPr txBox="1"/>
          <p:nvPr/>
        </p:nvSpPr>
        <p:spPr>
          <a:xfrm flipH="1">
            <a:off x="5350719" y="3466680"/>
            <a:ext cx="2649281" cy="276999"/>
          </a:xfrm>
          <a:prstGeom prst="rect">
            <a:avLst/>
          </a:prstGeom>
          <a:noFill/>
        </p:spPr>
        <p:txBody>
          <a:bodyPr wrap="square" lIns="0" tIns="0" rIns="0" bIns="0" rtlCol="0">
            <a:spAutoFit/>
          </a:bodyPr>
          <a:lstStyle/>
          <a:p>
            <a:pPr algn="l"/>
            <a:r>
              <a:rPr kumimoji="1" lang="zh-CN" altLang="en-US" dirty="0">
                <a:solidFill>
                  <a:srgbClr val="000000"/>
                </a:solidFill>
                <a:latin typeface="微软雅黑" panose="020B0503020204020204" pitchFamily="34" charset="-122"/>
                <a:ea typeface="微软雅黑" panose="020B0503020204020204" pitchFamily="34" charset="-122"/>
              </a:rPr>
              <a:t>颜色太艳丽，</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0" y="70578"/>
            <a:ext cx="12267344" cy="550607"/>
          </a:xfrm>
          <a:prstGeom prst="rect">
            <a:avLst/>
          </a:prstGeom>
          <a:noFill/>
          <a:ln>
            <a:noFill/>
          </a:ln>
        </p:spPr>
        <p:txBody>
          <a:bodyPr rot="0" wrap="square" lIns="78038" tIns="39019" rIns="78038" bIns="39019" anchor="ctr"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000" b="1" i="0" u="none" strike="noStrike" kern="1200" cap="none" spc="0" normalizeH="0" baseline="0" noProof="0" dirty="0">
                <a:ln>
                  <a:noFill/>
                </a:ln>
                <a:solidFill>
                  <a:srgbClr val="990000"/>
                </a:solidFill>
                <a:effectLst/>
                <a:uLnTx/>
                <a:uFillTx/>
                <a:latin typeface="微软雅黑"/>
                <a:ea typeface="微软雅黑"/>
                <a:cs typeface="+mn-cs"/>
              </a:rPr>
              <a:t>推理部署方案：O(1) 前缀缓存、MXFP4 量化与投机解码</a:t>
            </a:r>
          </a:p>
        </p:txBody>
      </p:sp>
      <p:sp>
        <p:nvSpPr>
          <p:cNvPr id="6" name="RedTag"/>
          <p:cNvSpPr/>
          <p:nvPr/>
        </p:nvSpPr>
        <p:spPr>
          <a:xfrm>
            <a:off x="200678" y="680000"/>
            <a:ext cx="582097" cy="760000"/>
          </a:xfrm>
          <a:prstGeom prst="rect">
            <a:avLst/>
          </a:prstGeom>
          <a:solidFill>
            <a:srgbClr val="C7000B"/>
          </a:solidFill>
          <a:ln>
            <a:noFill/>
          </a:ln>
        </p:spPr>
        <p:txBody>
          <a:bodyPr rot="0" wrap="square" lIns="91440" tIns="30000" rIns="91440" bIns="30000" anchor="ctr" compatLnSpc="1">
            <a:no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FFFFFF"/>
                </a:solidFill>
                <a:effectLst/>
                <a:uLnTx/>
                <a:uFillTx/>
                <a:latin typeface="微软雅黑"/>
                <a:ea typeface="微软雅黑"/>
                <a:cs typeface="+mn-cs"/>
              </a:rPr>
              <a:t>核心观点</a:t>
            </a:r>
          </a:p>
        </p:txBody>
      </p:sp>
      <p:sp>
        <p:nvSpPr>
          <p:cNvPr id="8" name="Panel"/>
          <p:cNvSpPr/>
          <p:nvPr/>
        </p:nvSpPr>
        <p:spPr>
          <a:xfrm>
            <a:off x="204337" y="1666680"/>
            <a:ext cx="5850000" cy="2480000"/>
          </a:xfrm>
          <a:prstGeom prst="rect">
            <a:avLst/>
          </a:prstGeom>
          <a:solidFill>
            <a:srgbClr val="FFFFFF"/>
          </a:solidFill>
          <a:ln w="9525">
            <a:solidFill>
              <a:srgbClr val="C8C8C8"/>
            </a:solidFill>
          </a:ln>
        </p:spPr>
      </p:sp>
      <p:sp>
        <p:nvSpPr>
          <p:cNvPr id="9" name="Panel"/>
          <p:cNvSpPr/>
          <p:nvPr/>
        </p:nvSpPr>
        <p:spPr>
          <a:xfrm>
            <a:off x="6204337" y="1666680"/>
            <a:ext cx="5790000" cy="2480000"/>
          </a:xfrm>
          <a:prstGeom prst="rect">
            <a:avLst/>
          </a:prstGeom>
          <a:solidFill>
            <a:srgbClr val="FFFFFF"/>
          </a:solidFill>
          <a:ln w="9525">
            <a:solidFill>
              <a:srgbClr val="C8C8C8"/>
            </a:solidFill>
          </a:ln>
        </p:spPr>
      </p:sp>
      <p:sp>
        <p:nvSpPr>
          <p:cNvPr id="10" name="Panel"/>
          <p:cNvSpPr/>
          <p:nvPr/>
        </p:nvSpPr>
        <p:spPr>
          <a:xfrm>
            <a:off x="204337" y="4340000"/>
            <a:ext cx="11790000" cy="1457110"/>
          </a:xfrm>
          <a:prstGeom prst="rect">
            <a:avLst/>
          </a:prstGeom>
          <a:solidFill>
            <a:srgbClr val="FFFFFF"/>
          </a:solidFill>
          <a:ln w="9525">
            <a:solidFill>
              <a:srgbClr val="C8C8C8"/>
            </a:solidFill>
          </a:ln>
        </p:spPr>
      </p:sp>
      <p:sp>
        <p:nvSpPr>
          <p:cNvPr id="11" name="Panel"/>
          <p:cNvSpPr/>
          <p:nvPr/>
        </p:nvSpPr>
        <p:spPr>
          <a:xfrm>
            <a:off x="204337" y="5837110"/>
            <a:ext cx="11790000" cy="552889"/>
          </a:xfrm>
          <a:prstGeom prst="rect">
            <a:avLst/>
          </a:prstGeom>
          <a:solidFill>
            <a:srgbClr val="FFFFFF"/>
          </a:solidFill>
          <a:ln w="9525">
            <a:solidFill>
              <a:srgbClr val="C8C8C8"/>
            </a:solidFill>
          </a:ln>
        </p:spPr>
      </p:sp>
      <p:sp>
        <p:nvSpPr>
          <p:cNvPr id="12" name="Chip 前缀缓存"/>
          <p:cNvSpPr/>
          <p:nvPr/>
        </p:nvSpPr>
        <p:spPr>
          <a:xfrm>
            <a:off x="2379337" y="1526680"/>
            <a:ext cx="1500000" cy="280000"/>
          </a:xfrm>
          <a:prstGeom prst="rect">
            <a:avLst/>
          </a:prstGeom>
          <a:solidFill>
            <a:srgbClr val="E8E8E8"/>
          </a:solidFill>
          <a:ln>
            <a:no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C00000"/>
                </a:solidFill>
                <a:effectLst/>
                <a:uLnTx/>
                <a:uFillTx/>
                <a:latin typeface="微软雅黑"/>
                <a:ea typeface="微软雅黑"/>
                <a:cs typeface="+mn-cs"/>
              </a:rPr>
              <a:t>前缀缓存</a:t>
            </a:r>
          </a:p>
        </p:txBody>
      </p:sp>
      <p:sp>
        <p:nvSpPr>
          <p:cNvPr id="13" name="TextBox 13"/>
          <p:cNvSpPr txBox="1"/>
          <p:nvPr/>
        </p:nvSpPr>
        <p:spPr>
          <a:xfrm>
            <a:off x="450000" y="1876680"/>
            <a:ext cx="54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1" i="0" u="none" strike="noStrike" kern="1200" cap="none" spc="0" normalizeH="0" baseline="0" noProof="0" dirty="0">
                <a:ln>
                  <a:noFill/>
                </a:ln>
                <a:solidFill>
                  <a:srgbClr val="1D1D1A"/>
                </a:solidFill>
                <a:effectLst/>
                <a:uLnTx/>
                <a:uFillTx/>
                <a:latin typeface="微软雅黑"/>
                <a:ea typeface="微软雅黑"/>
                <a:cs typeface="+mn-cs"/>
              </a:rPr>
              <a:t>前缀复用：KDA 感知前缀缓存</a:t>
            </a: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　● ● ● 请求 · 1M 多轮会话 · 绿＝前缀命中 · 白＝仅计算新增</a:t>
            </a:r>
          </a:p>
        </p:txBody>
      </p:sp>
      <p:sp>
        <p:nvSpPr>
          <p:cNvPr id="14" name="TextBox 14"/>
          <p:cNvSpPr txBox="1"/>
          <p:nvPr/>
        </p:nvSpPr>
        <p:spPr>
          <a:xfrm>
            <a:off x="300000" y="2211680"/>
            <a:ext cx="480000" cy="22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轮次 1</a:t>
            </a:r>
          </a:p>
        </p:txBody>
      </p:sp>
      <p:sp>
        <p:nvSpPr>
          <p:cNvPr id="15" name="Box 15"/>
          <p:cNvSpPr/>
          <p:nvPr/>
        </p:nvSpPr>
        <p:spPr>
          <a:xfrm>
            <a:off x="830000" y="2196680"/>
            <a:ext cx="300000" cy="200000"/>
          </a:xfrm>
          <a:prstGeom prst="rect">
            <a:avLst/>
          </a:prstGeom>
          <a:solidFill>
            <a:srgbClr val="FFFFFF"/>
          </a:solidFill>
          <a:ln w="9525">
            <a:solidFill>
              <a:srgbClr val="1D1D1A"/>
            </a:solidFill>
          </a:ln>
        </p:spPr>
      </p:sp>
      <p:sp>
        <p:nvSpPr>
          <p:cNvPr id="16" name="Box 16"/>
          <p:cNvSpPr/>
          <p:nvPr/>
        </p:nvSpPr>
        <p:spPr>
          <a:xfrm>
            <a:off x="1156000" y="2196680"/>
            <a:ext cx="300000" cy="200000"/>
          </a:xfrm>
          <a:prstGeom prst="rect">
            <a:avLst/>
          </a:prstGeom>
          <a:solidFill>
            <a:srgbClr val="FFFFFF"/>
          </a:solidFill>
          <a:ln w="9525">
            <a:solidFill>
              <a:srgbClr val="1D1D1A"/>
            </a:solidFill>
          </a:ln>
        </p:spPr>
      </p:sp>
      <p:sp>
        <p:nvSpPr>
          <p:cNvPr id="17" name="Box 17"/>
          <p:cNvSpPr/>
          <p:nvPr/>
        </p:nvSpPr>
        <p:spPr>
          <a:xfrm>
            <a:off x="1482000" y="2196680"/>
            <a:ext cx="300000" cy="200000"/>
          </a:xfrm>
          <a:prstGeom prst="rect">
            <a:avLst/>
          </a:prstGeom>
          <a:solidFill>
            <a:srgbClr val="FFFFFF"/>
          </a:solidFill>
          <a:ln w="9525">
            <a:solidFill>
              <a:srgbClr val="1D1D1A"/>
            </a:solidFill>
          </a:ln>
        </p:spPr>
      </p:sp>
      <p:sp>
        <p:nvSpPr>
          <p:cNvPr id="18" name="TextBox 18"/>
          <p:cNvSpPr txBox="1"/>
          <p:nvPr/>
        </p:nvSpPr>
        <p:spPr>
          <a:xfrm>
            <a:off x="300000" y="2456680"/>
            <a:ext cx="480000" cy="22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轮次 2</a:t>
            </a:r>
          </a:p>
        </p:txBody>
      </p:sp>
      <p:sp>
        <p:nvSpPr>
          <p:cNvPr id="19" name="Box 19"/>
          <p:cNvSpPr/>
          <p:nvPr/>
        </p:nvSpPr>
        <p:spPr>
          <a:xfrm>
            <a:off x="830000" y="2441680"/>
            <a:ext cx="300000" cy="200000"/>
          </a:xfrm>
          <a:prstGeom prst="rect">
            <a:avLst/>
          </a:prstGeom>
          <a:solidFill>
            <a:srgbClr val="61B230">
              <a:alpha val="20000"/>
            </a:srgbClr>
          </a:solidFill>
          <a:ln w="9525">
            <a:solidFill>
              <a:srgbClr val="1D1D1A"/>
            </a:solidFill>
          </a:ln>
        </p:spPr>
      </p:sp>
      <p:sp>
        <p:nvSpPr>
          <p:cNvPr id="20" name="Box 20"/>
          <p:cNvSpPr/>
          <p:nvPr/>
        </p:nvSpPr>
        <p:spPr>
          <a:xfrm>
            <a:off x="1156000" y="2441680"/>
            <a:ext cx="300000" cy="200000"/>
          </a:xfrm>
          <a:prstGeom prst="rect">
            <a:avLst/>
          </a:prstGeom>
          <a:solidFill>
            <a:srgbClr val="61B230">
              <a:alpha val="20000"/>
            </a:srgbClr>
          </a:solidFill>
          <a:ln w="9525">
            <a:solidFill>
              <a:srgbClr val="1D1D1A"/>
            </a:solidFill>
          </a:ln>
        </p:spPr>
      </p:sp>
      <p:sp>
        <p:nvSpPr>
          <p:cNvPr id="21" name="Box 21"/>
          <p:cNvSpPr/>
          <p:nvPr/>
        </p:nvSpPr>
        <p:spPr>
          <a:xfrm>
            <a:off x="1482000" y="2441680"/>
            <a:ext cx="300000" cy="200000"/>
          </a:xfrm>
          <a:prstGeom prst="rect">
            <a:avLst/>
          </a:prstGeom>
          <a:solidFill>
            <a:srgbClr val="61B230">
              <a:alpha val="20000"/>
            </a:srgbClr>
          </a:solidFill>
          <a:ln w="9525">
            <a:solidFill>
              <a:srgbClr val="1D1D1A"/>
            </a:solidFill>
          </a:ln>
        </p:spPr>
      </p:sp>
      <p:sp>
        <p:nvSpPr>
          <p:cNvPr id="22" name="Box 22"/>
          <p:cNvSpPr/>
          <p:nvPr/>
        </p:nvSpPr>
        <p:spPr>
          <a:xfrm>
            <a:off x="1808000" y="2441680"/>
            <a:ext cx="300000" cy="200000"/>
          </a:xfrm>
          <a:prstGeom prst="rect">
            <a:avLst/>
          </a:prstGeom>
          <a:solidFill>
            <a:srgbClr val="FFFFFF"/>
          </a:solidFill>
          <a:ln w="9525">
            <a:solidFill>
              <a:srgbClr val="1D1D1A"/>
            </a:solidFill>
          </a:ln>
        </p:spPr>
      </p:sp>
      <p:sp>
        <p:nvSpPr>
          <p:cNvPr id="23" name="TextBox 23"/>
          <p:cNvSpPr txBox="1"/>
          <p:nvPr/>
        </p:nvSpPr>
        <p:spPr>
          <a:xfrm>
            <a:off x="300000" y="2701680"/>
            <a:ext cx="480000" cy="22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轮次 3</a:t>
            </a:r>
          </a:p>
        </p:txBody>
      </p:sp>
      <p:sp>
        <p:nvSpPr>
          <p:cNvPr id="24" name="Box 24"/>
          <p:cNvSpPr/>
          <p:nvPr/>
        </p:nvSpPr>
        <p:spPr>
          <a:xfrm>
            <a:off x="830000" y="2686680"/>
            <a:ext cx="300000" cy="200000"/>
          </a:xfrm>
          <a:prstGeom prst="rect">
            <a:avLst/>
          </a:prstGeom>
          <a:solidFill>
            <a:srgbClr val="61B230">
              <a:alpha val="20000"/>
            </a:srgbClr>
          </a:solidFill>
          <a:ln w="9525">
            <a:solidFill>
              <a:srgbClr val="1D1D1A"/>
            </a:solidFill>
          </a:ln>
        </p:spPr>
      </p:sp>
      <p:sp>
        <p:nvSpPr>
          <p:cNvPr id="25" name="Box 25"/>
          <p:cNvSpPr/>
          <p:nvPr/>
        </p:nvSpPr>
        <p:spPr>
          <a:xfrm>
            <a:off x="1156000" y="2686680"/>
            <a:ext cx="300000" cy="200000"/>
          </a:xfrm>
          <a:prstGeom prst="rect">
            <a:avLst/>
          </a:prstGeom>
          <a:solidFill>
            <a:srgbClr val="61B230">
              <a:alpha val="20000"/>
            </a:srgbClr>
          </a:solidFill>
          <a:ln w="9525">
            <a:solidFill>
              <a:srgbClr val="1D1D1A"/>
            </a:solidFill>
          </a:ln>
        </p:spPr>
      </p:sp>
      <p:sp>
        <p:nvSpPr>
          <p:cNvPr id="26" name="Box 26"/>
          <p:cNvSpPr/>
          <p:nvPr/>
        </p:nvSpPr>
        <p:spPr>
          <a:xfrm>
            <a:off x="1482000" y="2686680"/>
            <a:ext cx="300000" cy="200000"/>
          </a:xfrm>
          <a:prstGeom prst="rect">
            <a:avLst/>
          </a:prstGeom>
          <a:solidFill>
            <a:srgbClr val="61B230">
              <a:alpha val="20000"/>
            </a:srgbClr>
          </a:solidFill>
          <a:ln w="9525">
            <a:solidFill>
              <a:srgbClr val="1D1D1A"/>
            </a:solidFill>
          </a:ln>
        </p:spPr>
      </p:sp>
      <p:sp>
        <p:nvSpPr>
          <p:cNvPr id="27" name="Box 27"/>
          <p:cNvSpPr/>
          <p:nvPr/>
        </p:nvSpPr>
        <p:spPr>
          <a:xfrm>
            <a:off x="1808000" y="2686680"/>
            <a:ext cx="300000" cy="200000"/>
          </a:xfrm>
          <a:prstGeom prst="rect">
            <a:avLst/>
          </a:prstGeom>
          <a:solidFill>
            <a:srgbClr val="61B230">
              <a:alpha val="20000"/>
            </a:srgbClr>
          </a:solidFill>
          <a:ln w="9525">
            <a:solidFill>
              <a:srgbClr val="1D1D1A"/>
            </a:solidFill>
          </a:ln>
        </p:spPr>
      </p:sp>
      <p:sp>
        <p:nvSpPr>
          <p:cNvPr id="28" name="Box 28"/>
          <p:cNvSpPr/>
          <p:nvPr/>
        </p:nvSpPr>
        <p:spPr>
          <a:xfrm>
            <a:off x="2134000" y="2686680"/>
            <a:ext cx="300000" cy="200000"/>
          </a:xfrm>
          <a:prstGeom prst="rect">
            <a:avLst/>
          </a:prstGeom>
          <a:solidFill>
            <a:srgbClr val="FFFFFF"/>
          </a:solidFill>
          <a:ln w="9525">
            <a:solidFill>
              <a:srgbClr val="1D1D1A"/>
            </a:solidFill>
          </a:ln>
        </p:spPr>
      </p:sp>
      <p:sp>
        <p:nvSpPr>
          <p:cNvPr id="29" name="TextBox 29"/>
          <p:cNvSpPr txBox="1"/>
          <p:nvPr/>
        </p:nvSpPr>
        <p:spPr>
          <a:xfrm>
            <a:off x="300000" y="2946680"/>
            <a:ext cx="480000" cy="22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轮次 4</a:t>
            </a:r>
          </a:p>
        </p:txBody>
      </p:sp>
      <p:sp>
        <p:nvSpPr>
          <p:cNvPr id="30" name="Box 30"/>
          <p:cNvSpPr/>
          <p:nvPr/>
        </p:nvSpPr>
        <p:spPr>
          <a:xfrm>
            <a:off x="830000" y="2931680"/>
            <a:ext cx="300000" cy="200000"/>
          </a:xfrm>
          <a:prstGeom prst="rect">
            <a:avLst/>
          </a:prstGeom>
          <a:solidFill>
            <a:srgbClr val="61B230">
              <a:alpha val="20000"/>
            </a:srgbClr>
          </a:solidFill>
          <a:ln w="9525">
            <a:solidFill>
              <a:srgbClr val="1D1D1A"/>
            </a:solidFill>
          </a:ln>
        </p:spPr>
      </p:sp>
      <p:sp>
        <p:nvSpPr>
          <p:cNvPr id="31" name="Box 31"/>
          <p:cNvSpPr/>
          <p:nvPr/>
        </p:nvSpPr>
        <p:spPr>
          <a:xfrm>
            <a:off x="1156000" y="2931680"/>
            <a:ext cx="300000" cy="200000"/>
          </a:xfrm>
          <a:prstGeom prst="rect">
            <a:avLst/>
          </a:prstGeom>
          <a:solidFill>
            <a:srgbClr val="61B230">
              <a:alpha val="20000"/>
            </a:srgbClr>
          </a:solidFill>
          <a:ln w="9525">
            <a:solidFill>
              <a:srgbClr val="1D1D1A"/>
            </a:solidFill>
          </a:ln>
        </p:spPr>
      </p:sp>
      <p:sp>
        <p:nvSpPr>
          <p:cNvPr id="32" name="Box 32"/>
          <p:cNvSpPr/>
          <p:nvPr/>
        </p:nvSpPr>
        <p:spPr>
          <a:xfrm>
            <a:off x="1482000" y="2931680"/>
            <a:ext cx="300000" cy="200000"/>
          </a:xfrm>
          <a:prstGeom prst="rect">
            <a:avLst/>
          </a:prstGeom>
          <a:solidFill>
            <a:srgbClr val="61B230">
              <a:alpha val="20000"/>
            </a:srgbClr>
          </a:solidFill>
          <a:ln w="9525">
            <a:solidFill>
              <a:srgbClr val="1D1D1A"/>
            </a:solidFill>
          </a:ln>
        </p:spPr>
      </p:sp>
      <p:sp>
        <p:nvSpPr>
          <p:cNvPr id="33" name="Box 33"/>
          <p:cNvSpPr/>
          <p:nvPr/>
        </p:nvSpPr>
        <p:spPr>
          <a:xfrm>
            <a:off x="1808000" y="2931680"/>
            <a:ext cx="300000" cy="200000"/>
          </a:xfrm>
          <a:prstGeom prst="rect">
            <a:avLst/>
          </a:prstGeom>
          <a:solidFill>
            <a:srgbClr val="61B230">
              <a:alpha val="20000"/>
            </a:srgbClr>
          </a:solidFill>
          <a:ln w="9525">
            <a:solidFill>
              <a:srgbClr val="1D1D1A"/>
            </a:solidFill>
          </a:ln>
        </p:spPr>
      </p:sp>
      <p:sp>
        <p:nvSpPr>
          <p:cNvPr id="34" name="Box 34"/>
          <p:cNvSpPr/>
          <p:nvPr/>
        </p:nvSpPr>
        <p:spPr>
          <a:xfrm>
            <a:off x="2134000" y="2931680"/>
            <a:ext cx="300000" cy="200000"/>
          </a:xfrm>
          <a:prstGeom prst="rect">
            <a:avLst/>
          </a:prstGeom>
          <a:solidFill>
            <a:srgbClr val="61B230">
              <a:alpha val="20000"/>
            </a:srgbClr>
          </a:solidFill>
          <a:ln w="9525">
            <a:solidFill>
              <a:srgbClr val="1D1D1A"/>
            </a:solidFill>
          </a:ln>
        </p:spPr>
      </p:sp>
      <p:sp>
        <p:nvSpPr>
          <p:cNvPr id="35" name="Box 35"/>
          <p:cNvSpPr/>
          <p:nvPr/>
        </p:nvSpPr>
        <p:spPr>
          <a:xfrm>
            <a:off x="2460000" y="2931680"/>
            <a:ext cx="300000" cy="200000"/>
          </a:xfrm>
          <a:prstGeom prst="rect">
            <a:avLst/>
          </a:prstGeom>
          <a:solidFill>
            <a:srgbClr val="FFFFFF"/>
          </a:solidFill>
          <a:ln w="9525">
            <a:solidFill>
              <a:srgbClr val="1D1D1A"/>
            </a:solidFill>
          </a:ln>
        </p:spPr>
      </p:sp>
      <p:cxnSp>
        <p:nvCxnSpPr>
          <p:cNvPr id="36" name="Connector 36"/>
          <p:cNvCxnSpPr/>
          <p:nvPr/>
        </p:nvCxnSpPr>
        <p:spPr>
          <a:xfrm>
            <a:off x="830000" y="3186680"/>
            <a:ext cx="2070000" cy="1"/>
          </a:xfrm>
          <a:prstGeom prst="straightConnector1">
            <a:avLst/>
          </a:prstGeom>
          <a:ln w="9525">
            <a:solidFill>
              <a:srgbClr val="1D1D1A"/>
            </a:solidFill>
            <a:tailEnd type="triangle" w="med" len="med"/>
          </a:ln>
        </p:spPr>
      </p:cxnSp>
      <p:sp>
        <p:nvSpPr>
          <p:cNvPr id="37" name="GreyNote"/>
          <p:cNvSpPr txBox="1"/>
          <p:nvPr/>
        </p:nvSpPr>
        <p:spPr>
          <a:xfrm>
            <a:off x="2160000" y="3230000"/>
            <a:ext cx="600000" cy="13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0" i="0" u="none" strike="noStrike" kern="1200" cap="none" spc="0" normalizeH="0" baseline="0" noProof="0" dirty="0">
                <a:ln>
                  <a:noFill/>
                </a:ln>
                <a:solidFill>
                  <a:srgbClr val="1D1D1A"/>
                </a:solidFill>
                <a:effectLst/>
                <a:uLnTx/>
                <a:uFillTx/>
                <a:latin typeface="微软雅黑"/>
                <a:ea typeface="微软雅黑"/>
                <a:cs typeface="+mn-cs"/>
              </a:rPr>
              <a:t>时间 →</a:t>
            </a:r>
          </a:p>
        </p:txBody>
      </p:sp>
      <p:sp>
        <p:nvSpPr>
          <p:cNvPr id="42" name="Chip QAT＋投机解码"/>
          <p:cNvSpPr/>
          <p:nvPr/>
        </p:nvSpPr>
        <p:spPr>
          <a:xfrm>
            <a:off x="7999337" y="1526680"/>
            <a:ext cx="2200000" cy="280000"/>
          </a:xfrm>
          <a:prstGeom prst="rect">
            <a:avLst/>
          </a:prstGeom>
          <a:solidFill>
            <a:srgbClr val="E8E8E8"/>
          </a:solidFill>
          <a:ln>
            <a:no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C00000"/>
                </a:solidFill>
                <a:effectLst/>
                <a:uLnTx/>
                <a:uFillTx/>
                <a:latin typeface="微软雅黑"/>
                <a:ea typeface="微软雅黑"/>
                <a:cs typeface="+mn-cs"/>
              </a:rPr>
              <a:t>QAT＋投机解码</a:t>
            </a:r>
          </a:p>
        </p:txBody>
      </p:sp>
      <p:sp>
        <p:nvSpPr>
          <p:cNvPr id="53" name="TextBox 53"/>
          <p:cNvSpPr txBox="1"/>
          <p:nvPr/>
        </p:nvSpPr>
        <p:spPr>
          <a:xfrm>
            <a:off x="6350000" y="3300000"/>
            <a:ext cx="5450000" cy="36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950" b="0" i="0" u="none" strike="noStrike" kern="1200" cap="none" spc="0" normalizeH="0" baseline="0" noProof="0" dirty="0">
                <a:ln>
                  <a:noFill/>
                </a:ln>
                <a:solidFill>
                  <a:srgbClr val="1D1D1A"/>
                </a:solidFill>
                <a:effectLst/>
                <a:uLnTx/>
                <a:uFillTx/>
                <a:latin typeface="微软雅黑"/>
                <a:ea typeface="微软雅黑"/>
                <a:cs typeface="+mn-cs"/>
              </a:rPr>
              <a:t>权重采用 MXFP4 量化并在训练阶段即量化感知（QAT），发布即 4-bit；两项均为成熟技术，K3 的工作是在 2.8T 规模将其工程化落地并保持精度无损。</a:t>
            </a:r>
          </a:p>
        </p:txBody>
      </p:sp>
      <p:sp>
        <p:nvSpPr>
          <p:cNvPr id="54" name="YellowNote"/>
          <p:cNvSpPr txBox="1"/>
          <p:nvPr/>
        </p:nvSpPr>
        <p:spPr>
          <a:xfrm>
            <a:off x="6350000" y="3720000"/>
            <a:ext cx="545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FF0000"/>
                </a:solidFill>
                <a:effectLst/>
                <a:highlight>
                  <a:srgbClr val="FFFF00"/>
                </a:highlight>
                <a:uLnTx/>
                <a:uFillTx/>
                <a:latin typeface="微软雅黑"/>
                <a:ea typeface="微软雅黑"/>
                <a:cs typeface="+mn-cs"/>
              </a:rPr>
              <a:t>Gated MLA / KDA decode 内核 · FlashKDA（开源） · fla 自动 dispatch · 训练推理同一内核</a:t>
            </a:r>
          </a:p>
        </p:txBody>
      </p:sp>
      <p:sp>
        <p:nvSpPr>
          <p:cNvPr id="56" name="Chip 统一分页＋机群调度"/>
          <p:cNvSpPr/>
          <p:nvPr/>
        </p:nvSpPr>
        <p:spPr>
          <a:xfrm>
            <a:off x="4499337" y="4200000"/>
            <a:ext cx="2600000" cy="280000"/>
          </a:xfrm>
          <a:prstGeom prst="rect">
            <a:avLst/>
          </a:prstGeom>
          <a:solidFill>
            <a:srgbClr val="E8E8E8"/>
          </a:solidFill>
          <a:ln>
            <a:no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C00000"/>
                </a:solidFill>
                <a:effectLst/>
                <a:uLnTx/>
                <a:uFillTx/>
                <a:latin typeface="微软雅黑"/>
                <a:ea typeface="微软雅黑"/>
                <a:cs typeface="+mn-cs"/>
              </a:rPr>
              <a:t>统一分页＋机群调度</a:t>
            </a:r>
          </a:p>
        </p:txBody>
      </p:sp>
      <p:sp>
        <p:nvSpPr>
          <p:cNvPr id="57" name="TextBox 57"/>
          <p:cNvSpPr txBox="1"/>
          <p:nvPr/>
        </p:nvSpPr>
        <p:spPr>
          <a:xfrm>
            <a:off x="450000" y="4530000"/>
            <a:ext cx="100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150" b="1" i="0" u="none" strike="noStrike" kern="1200" cap="none" spc="0" normalizeH="0" baseline="0" noProof="0" dirty="0">
                <a:ln>
                  <a:noFill/>
                </a:ln>
                <a:solidFill>
                  <a:srgbClr val="1D1D1A"/>
                </a:solidFill>
                <a:effectLst/>
                <a:uLnTx/>
                <a:uFillTx/>
                <a:latin typeface="微软雅黑"/>
                <a:ea typeface="微软雅黑"/>
                <a:cs typeface="+mn-cs"/>
              </a:rPr>
              <a:t>长会话跨节点接力：KDA 状态与 MLA KV 两类缓存统一分页、跨节点迁移</a:t>
            </a:r>
          </a:p>
        </p:txBody>
      </p:sp>
      <p:sp>
        <p:nvSpPr>
          <p:cNvPr id="58" name="Module 节点 1"/>
          <p:cNvSpPr/>
          <p:nvPr/>
        </p:nvSpPr>
        <p:spPr>
          <a:xfrm>
            <a:off x="491440" y="4820000"/>
            <a:ext cx="979337" cy="260000"/>
          </a:xfrm>
          <a:prstGeom prst="roundRect">
            <a:avLst/>
          </a:prstGeom>
          <a:solidFill>
            <a:srgbClr val="F2F2F2"/>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1D1D1A"/>
                </a:solidFill>
                <a:effectLst/>
                <a:uLnTx/>
                <a:uFillTx/>
                <a:latin typeface="微软雅黑"/>
                <a:ea typeface="微软雅黑"/>
                <a:cs typeface="+mn-cs"/>
              </a:rPr>
              <a:t>节点 1</a:t>
            </a:r>
          </a:p>
        </p:txBody>
      </p:sp>
      <p:sp>
        <p:nvSpPr>
          <p:cNvPr id="59" name="Module KDA 状态"/>
          <p:cNvSpPr/>
          <p:nvPr/>
        </p:nvSpPr>
        <p:spPr>
          <a:xfrm>
            <a:off x="491440" y="5120000"/>
            <a:ext cx="470082" cy="210000"/>
          </a:xfrm>
          <a:prstGeom prst="roundRect">
            <a:avLst/>
          </a:prstGeom>
          <a:solidFill>
            <a:srgbClr val="ED6D00">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0" i="0" u="none" strike="noStrike" kern="1200" cap="none" spc="0" normalizeH="0" baseline="0" noProof="0" dirty="0">
                <a:ln>
                  <a:noFill/>
                </a:ln>
                <a:solidFill>
                  <a:srgbClr val="1D1D1A"/>
                </a:solidFill>
                <a:effectLst/>
                <a:uLnTx/>
                <a:uFillTx/>
                <a:latin typeface="微软雅黑"/>
                <a:ea typeface="微软雅黑"/>
                <a:cs typeface="+mn-cs"/>
              </a:rPr>
              <a:t>KDA 状态</a:t>
            </a:r>
          </a:p>
        </p:txBody>
      </p:sp>
      <p:sp>
        <p:nvSpPr>
          <p:cNvPr id="60" name="Module MLA KV"/>
          <p:cNvSpPr/>
          <p:nvPr/>
        </p:nvSpPr>
        <p:spPr>
          <a:xfrm>
            <a:off x="1011440" y="5120000"/>
            <a:ext cx="470082" cy="210000"/>
          </a:xfrm>
          <a:prstGeom prst="roundRect">
            <a:avLst/>
          </a:prstGeom>
          <a:solidFill>
            <a:srgbClr val="E9002F">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0" i="0" u="none" strike="noStrike" kern="1200" cap="none" spc="0" normalizeH="0" baseline="0" noProof="0" dirty="0">
                <a:ln>
                  <a:noFill/>
                </a:ln>
                <a:solidFill>
                  <a:srgbClr val="1D1D1A"/>
                </a:solidFill>
                <a:effectLst/>
                <a:uLnTx/>
                <a:uFillTx/>
                <a:latin typeface="微软雅黑"/>
                <a:ea typeface="微软雅黑"/>
                <a:cs typeface="+mn-cs"/>
              </a:rPr>
              <a:t>MLA KV</a:t>
            </a:r>
          </a:p>
        </p:txBody>
      </p:sp>
      <p:cxnSp>
        <p:nvCxnSpPr>
          <p:cNvPr id="61" name="Connector 61"/>
          <p:cNvCxnSpPr>
            <a:cxnSpLocks/>
          </p:cNvCxnSpPr>
          <p:nvPr/>
        </p:nvCxnSpPr>
        <p:spPr>
          <a:xfrm>
            <a:off x="1491440" y="4950000"/>
            <a:ext cx="244834" cy="2"/>
          </a:xfrm>
          <a:prstGeom prst="straightConnector1">
            <a:avLst/>
          </a:prstGeom>
          <a:ln w="9525">
            <a:solidFill>
              <a:srgbClr val="1D1D1A"/>
            </a:solidFill>
            <a:tailEnd type="triangle" w="med" len="med"/>
          </a:ln>
        </p:spPr>
      </p:cxnSp>
      <p:sp>
        <p:nvSpPr>
          <p:cNvPr id="62" name="Module 节点 2"/>
          <p:cNvSpPr/>
          <p:nvPr/>
        </p:nvSpPr>
        <p:spPr>
          <a:xfrm>
            <a:off x="1741440" y="4820000"/>
            <a:ext cx="979337" cy="260000"/>
          </a:xfrm>
          <a:prstGeom prst="roundRect">
            <a:avLst/>
          </a:prstGeom>
          <a:solidFill>
            <a:srgbClr val="F2F2F2"/>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1D1D1A"/>
                </a:solidFill>
                <a:effectLst/>
                <a:uLnTx/>
                <a:uFillTx/>
                <a:latin typeface="微软雅黑"/>
                <a:ea typeface="微软雅黑"/>
                <a:cs typeface="+mn-cs"/>
              </a:rPr>
              <a:t>节点 2</a:t>
            </a:r>
          </a:p>
        </p:txBody>
      </p:sp>
      <p:sp>
        <p:nvSpPr>
          <p:cNvPr id="63" name="Module KDA 状态"/>
          <p:cNvSpPr/>
          <p:nvPr/>
        </p:nvSpPr>
        <p:spPr>
          <a:xfrm>
            <a:off x="1741440" y="5120000"/>
            <a:ext cx="470082" cy="210000"/>
          </a:xfrm>
          <a:prstGeom prst="roundRect">
            <a:avLst/>
          </a:prstGeom>
          <a:solidFill>
            <a:srgbClr val="ED6D00">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0" i="0" u="none" strike="noStrike" kern="1200" cap="none" spc="0" normalizeH="0" baseline="0" noProof="0" dirty="0">
                <a:ln>
                  <a:noFill/>
                </a:ln>
                <a:solidFill>
                  <a:srgbClr val="1D1D1A"/>
                </a:solidFill>
                <a:effectLst/>
                <a:uLnTx/>
                <a:uFillTx/>
                <a:latin typeface="微软雅黑"/>
                <a:ea typeface="微软雅黑"/>
                <a:cs typeface="+mn-cs"/>
              </a:rPr>
              <a:t>KDA 状态</a:t>
            </a:r>
          </a:p>
        </p:txBody>
      </p:sp>
      <p:sp>
        <p:nvSpPr>
          <p:cNvPr id="64" name="Module MLA KV"/>
          <p:cNvSpPr/>
          <p:nvPr/>
        </p:nvSpPr>
        <p:spPr>
          <a:xfrm>
            <a:off x="2261440" y="5120000"/>
            <a:ext cx="470082" cy="210000"/>
          </a:xfrm>
          <a:prstGeom prst="roundRect">
            <a:avLst/>
          </a:prstGeom>
          <a:solidFill>
            <a:srgbClr val="E9002F">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0" i="0" u="none" strike="noStrike" kern="1200" cap="none" spc="0" normalizeH="0" baseline="0" noProof="0" dirty="0">
                <a:ln>
                  <a:noFill/>
                </a:ln>
                <a:solidFill>
                  <a:srgbClr val="1D1D1A"/>
                </a:solidFill>
                <a:effectLst/>
                <a:uLnTx/>
                <a:uFillTx/>
                <a:latin typeface="微软雅黑"/>
                <a:ea typeface="微软雅黑"/>
                <a:cs typeface="+mn-cs"/>
              </a:rPr>
              <a:t>MLA KV</a:t>
            </a:r>
          </a:p>
        </p:txBody>
      </p:sp>
      <p:cxnSp>
        <p:nvCxnSpPr>
          <p:cNvPr id="65" name="Connector 65"/>
          <p:cNvCxnSpPr>
            <a:cxnSpLocks/>
          </p:cNvCxnSpPr>
          <p:nvPr/>
        </p:nvCxnSpPr>
        <p:spPr>
          <a:xfrm>
            <a:off x="2741440" y="4950000"/>
            <a:ext cx="244834" cy="2"/>
          </a:xfrm>
          <a:prstGeom prst="straightConnector1">
            <a:avLst/>
          </a:prstGeom>
          <a:ln w="9525">
            <a:solidFill>
              <a:srgbClr val="1D1D1A"/>
            </a:solidFill>
            <a:tailEnd type="triangle" w="med" len="med"/>
          </a:ln>
        </p:spPr>
      </p:cxnSp>
      <p:sp>
        <p:nvSpPr>
          <p:cNvPr id="66" name="Module 节点 3"/>
          <p:cNvSpPr/>
          <p:nvPr/>
        </p:nvSpPr>
        <p:spPr>
          <a:xfrm>
            <a:off x="2991440" y="4820000"/>
            <a:ext cx="979337" cy="260000"/>
          </a:xfrm>
          <a:prstGeom prst="roundRect">
            <a:avLst/>
          </a:prstGeom>
          <a:solidFill>
            <a:srgbClr val="F2F2F2"/>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1D1D1A"/>
                </a:solidFill>
                <a:effectLst/>
                <a:uLnTx/>
                <a:uFillTx/>
                <a:latin typeface="微软雅黑"/>
                <a:ea typeface="微软雅黑"/>
                <a:cs typeface="+mn-cs"/>
              </a:rPr>
              <a:t>节点 3</a:t>
            </a:r>
          </a:p>
        </p:txBody>
      </p:sp>
      <p:sp>
        <p:nvSpPr>
          <p:cNvPr id="67" name="Module KDA 状态"/>
          <p:cNvSpPr/>
          <p:nvPr/>
        </p:nvSpPr>
        <p:spPr>
          <a:xfrm>
            <a:off x="2991440" y="5120000"/>
            <a:ext cx="470082" cy="210000"/>
          </a:xfrm>
          <a:prstGeom prst="roundRect">
            <a:avLst/>
          </a:prstGeom>
          <a:solidFill>
            <a:srgbClr val="ED6D00">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0" i="0" u="none" strike="noStrike" kern="1200" cap="none" spc="0" normalizeH="0" baseline="0" noProof="0" dirty="0">
                <a:ln>
                  <a:noFill/>
                </a:ln>
                <a:solidFill>
                  <a:srgbClr val="1D1D1A"/>
                </a:solidFill>
                <a:effectLst/>
                <a:uLnTx/>
                <a:uFillTx/>
                <a:latin typeface="微软雅黑"/>
                <a:ea typeface="微软雅黑"/>
                <a:cs typeface="+mn-cs"/>
              </a:rPr>
              <a:t>KDA 状态</a:t>
            </a:r>
          </a:p>
        </p:txBody>
      </p:sp>
      <p:sp>
        <p:nvSpPr>
          <p:cNvPr id="68" name="Module MLA KV"/>
          <p:cNvSpPr/>
          <p:nvPr/>
        </p:nvSpPr>
        <p:spPr>
          <a:xfrm>
            <a:off x="3511440" y="5120000"/>
            <a:ext cx="470082" cy="210000"/>
          </a:xfrm>
          <a:prstGeom prst="roundRect">
            <a:avLst/>
          </a:prstGeom>
          <a:solidFill>
            <a:srgbClr val="E9002F">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50" b="0" i="0" u="none" strike="noStrike" kern="1200" cap="none" spc="0" normalizeH="0" baseline="0" noProof="0" dirty="0">
                <a:ln>
                  <a:noFill/>
                </a:ln>
                <a:solidFill>
                  <a:srgbClr val="1D1D1A"/>
                </a:solidFill>
                <a:effectLst/>
                <a:uLnTx/>
                <a:uFillTx/>
                <a:latin typeface="微软雅黑"/>
                <a:ea typeface="微软雅黑"/>
                <a:cs typeface="+mn-cs"/>
              </a:rPr>
              <a:t>MLA KV</a:t>
            </a:r>
          </a:p>
        </p:txBody>
      </p:sp>
      <p:sp>
        <p:nvSpPr>
          <p:cNvPr id="69" name="GreyNote"/>
          <p:cNvSpPr txBox="1"/>
          <p:nvPr/>
        </p:nvSpPr>
        <p:spPr>
          <a:xfrm>
            <a:off x="400000" y="5416940"/>
            <a:ext cx="3800000" cy="15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统一分页收益：按页分配与回收、减少碎片；跨节点迁移以页为单位</a:t>
            </a:r>
          </a:p>
        </p:txBody>
      </p:sp>
      <p:sp>
        <p:nvSpPr>
          <p:cNvPr id="70" name="GreyNote"/>
          <p:cNvSpPr txBox="1"/>
          <p:nvPr/>
        </p:nvSpPr>
        <p:spPr>
          <a:xfrm>
            <a:off x="370190" y="5590000"/>
            <a:ext cx="4179620" cy="17026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调度器只面向「页」，无需理解两类缓存语义（● ● ● 响应流式输出；服务栈未单独开源）</a:t>
            </a:r>
          </a:p>
        </p:txBody>
      </p:sp>
      <p:sp>
        <p:nvSpPr>
          <p:cNvPr id="71" name="TextBox 71"/>
          <p:cNvSpPr txBox="1"/>
          <p:nvPr/>
        </p:nvSpPr>
        <p:spPr>
          <a:xfrm>
            <a:off x="5447168" y="4867111"/>
            <a:ext cx="5600000" cy="60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1D1D1A"/>
                </a:solidFill>
                <a:effectLst/>
                <a:uLnTx/>
                <a:uFillTx/>
                <a:latin typeface="微软雅黑"/>
                <a:ea typeface="微软雅黑"/>
                <a:cs typeface="+mn-cs"/>
              </a:rPr>
              <a:t>FlashKDA 训练与推理采用同一内核，训练侧投入可直接复用于线上；会话过长时跨节点迁移，两类缓存统一分页管理。</a:t>
            </a:r>
          </a:p>
        </p:txBody>
      </p:sp>
      <p:sp>
        <p:nvSpPr>
          <p:cNvPr id="72" name="YellowNote"/>
          <p:cNvSpPr txBox="1"/>
          <p:nvPr/>
        </p:nvSpPr>
        <p:spPr>
          <a:xfrm>
            <a:off x="5450000" y="5477110"/>
            <a:ext cx="56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FF0000"/>
                </a:solidFill>
                <a:effectLst/>
                <a:highlight>
                  <a:srgbClr val="FFFF00"/>
                </a:highlight>
                <a:uLnTx/>
                <a:uFillTx/>
                <a:latin typeface="微软雅黑"/>
                <a:ea typeface="微软雅黑"/>
                <a:cs typeface="+mn-cs"/>
              </a:rPr>
              <a:t>机群级调度：长程 Agent 会话跨节点迁移 · 缓存统一分页</a:t>
            </a:r>
          </a:p>
        </p:txBody>
      </p:sp>
      <p:sp>
        <p:nvSpPr>
          <p:cNvPr id="73" name="TextBox 73"/>
          <p:cNvSpPr txBox="1"/>
          <p:nvPr/>
        </p:nvSpPr>
        <p:spPr>
          <a:xfrm>
            <a:off x="320000" y="5887111"/>
            <a:ext cx="10600000" cy="26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1D1D1A"/>
                </a:solidFill>
                <a:effectLst/>
                <a:uLnTx/>
                <a:uFillTx/>
                <a:latin typeface="微软雅黑"/>
                <a:ea typeface="微软雅黑"/>
                <a:cs typeface="+mn-cs"/>
              </a:rPr>
              <a:t>K3 推理形态：</a:t>
            </a:r>
            <a:r>
              <a:rPr kumimoji="0" lang="zh-CN" altLang="en-US" sz="1000" b="0" i="0" u="none" strike="noStrike" kern="1200" cap="none" spc="0" normalizeH="0" baseline="0" noProof="0" dirty="0">
                <a:ln>
                  <a:noFill/>
                </a:ln>
                <a:solidFill>
                  <a:srgbClr val="1D1D1A"/>
                </a:solidFill>
                <a:effectLst/>
                <a:uLnTx/>
                <a:uFillTx/>
                <a:latin typeface="微软雅黑"/>
                <a:ea typeface="微软雅黑"/>
                <a:cs typeface="+mn-cs"/>
              </a:rPr>
              <a:t>权重 MXFP4（发布即 4-bit）＋ EAGLE-3 式 draft；缓存/调度内置服务栈，decode 内核 FlashKDA（Gated MLA / KDA）</a:t>
            </a:r>
          </a:p>
        </p:txBody>
      </p:sp>
      <p:sp>
        <p:nvSpPr>
          <p:cNvPr id="74" name="GreyNote"/>
          <p:cNvSpPr txBox="1"/>
          <p:nvPr/>
        </p:nvSpPr>
        <p:spPr>
          <a:xfrm>
            <a:off x="320000" y="6127111"/>
            <a:ext cx="10600000" cy="24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1200" cap="none" spc="0" normalizeH="0" baseline="0" noProof="0" dirty="0">
                <a:ln>
                  <a:noFill/>
                </a:ln>
                <a:solidFill>
                  <a:srgbClr val="1D1D1A"/>
                </a:solidFill>
                <a:effectLst/>
                <a:uLnTx/>
                <a:uFillTx/>
                <a:latin typeface="微软雅黑"/>
                <a:ea typeface="微软雅黑"/>
                <a:cs typeface="+mn-cs"/>
              </a:rPr>
              <a:t>上一代推理形态：</a:t>
            </a:r>
            <a:r>
              <a:rPr kumimoji="0" lang="zh-CN" altLang="en-US" sz="1000" b="0" i="0" u="none" strike="noStrike" kern="1200" cap="none" spc="0" normalizeH="0" baseline="0" noProof="0" dirty="0">
                <a:ln>
                  <a:noFill/>
                </a:ln>
                <a:solidFill>
                  <a:srgbClr val="1D1D1A"/>
                </a:solidFill>
                <a:effectLst/>
                <a:uLnTx/>
                <a:uFillTx/>
                <a:latin typeface="微软雅黑"/>
                <a:ea typeface="微软雅黑"/>
                <a:cs typeface="+mn-cs"/>
              </a:rPr>
              <a:t>FP8、无 draft、128–256K 上下文；vLLM / SGLang 常规部署（8×H200）</a:t>
            </a:r>
          </a:p>
        </p:txBody>
      </p:sp>
      <p:sp>
        <p:nvSpPr>
          <p:cNvPr id="85" name="TextBox 12"/>
          <p:cNvSpPr txBox="1"/>
          <p:nvPr/>
        </p:nvSpPr>
        <p:spPr>
          <a:xfrm>
            <a:off x="6350000" y="2130000"/>
            <a:ext cx="1050000" cy="150000"/>
          </a:xfrm>
          <a:prstGeom prst="rect">
            <a:avLst/>
          </a:prstGeom>
          <a:noFill/>
          <a:ln>
            <a:noFill/>
          </a:ln>
        </p:spPr>
        <p:txBody>
          <a:bodyPr rot="0" wrap="square" lIns="91440" tIns="18000" rIns="91440" bIns="1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1D1D1A"/>
                </a:solidFill>
                <a:effectLst/>
                <a:uLnTx/>
                <a:uFillTx/>
                <a:latin typeface="微软雅黑"/>
                <a:ea typeface="微软雅黑"/>
                <a:cs typeface="+mn-cs"/>
              </a:rPr>
              <a:t>draft 小模型</a:t>
            </a:r>
          </a:p>
        </p:txBody>
      </p:sp>
      <p:sp>
        <p:nvSpPr>
          <p:cNvPr id="86" name="Box 13"/>
          <p:cNvSpPr/>
          <p:nvPr/>
        </p:nvSpPr>
        <p:spPr>
          <a:xfrm>
            <a:off x="7600000" y="2120000"/>
            <a:ext cx="410000" cy="150000"/>
          </a:xfrm>
          <a:prstGeom prst="rect">
            <a:avLst/>
          </a:prstGeom>
          <a:solidFill>
            <a:srgbClr val="30B5C5">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srgbClr val="1D1D1A"/>
                </a:solidFill>
                <a:effectLst/>
                <a:uLnTx/>
                <a:uFillTx/>
                <a:latin typeface="微软雅黑"/>
                <a:ea typeface="微软雅黑"/>
                <a:cs typeface="+mn-cs"/>
              </a:rPr>
              <a:t>t1</a:t>
            </a:r>
          </a:p>
        </p:txBody>
      </p:sp>
      <p:sp>
        <p:nvSpPr>
          <p:cNvPr id="87" name="Box 14"/>
          <p:cNvSpPr/>
          <p:nvPr/>
        </p:nvSpPr>
        <p:spPr>
          <a:xfrm>
            <a:off x="8060000" y="2120000"/>
            <a:ext cx="410000" cy="150000"/>
          </a:xfrm>
          <a:prstGeom prst="rect">
            <a:avLst/>
          </a:prstGeom>
          <a:solidFill>
            <a:srgbClr val="30B5C5">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srgbClr val="1D1D1A"/>
                </a:solidFill>
                <a:effectLst/>
                <a:uLnTx/>
                <a:uFillTx/>
                <a:latin typeface="微软雅黑"/>
                <a:ea typeface="微软雅黑"/>
                <a:cs typeface="+mn-cs"/>
              </a:rPr>
              <a:t>t2</a:t>
            </a:r>
          </a:p>
        </p:txBody>
      </p:sp>
      <p:sp>
        <p:nvSpPr>
          <p:cNvPr id="88" name="Box 15"/>
          <p:cNvSpPr/>
          <p:nvPr/>
        </p:nvSpPr>
        <p:spPr>
          <a:xfrm>
            <a:off x="8520000" y="2120000"/>
            <a:ext cx="410000" cy="150000"/>
          </a:xfrm>
          <a:prstGeom prst="rect">
            <a:avLst/>
          </a:prstGeom>
          <a:solidFill>
            <a:srgbClr val="30B5C5">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srgbClr val="1D1D1A"/>
                </a:solidFill>
                <a:effectLst/>
                <a:uLnTx/>
                <a:uFillTx/>
                <a:latin typeface="微软雅黑"/>
                <a:ea typeface="微软雅黑"/>
                <a:cs typeface="+mn-cs"/>
              </a:rPr>
              <a:t>t3</a:t>
            </a:r>
          </a:p>
        </p:txBody>
      </p:sp>
      <p:sp>
        <p:nvSpPr>
          <p:cNvPr id="89" name="Box 16"/>
          <p:cNvSpPr/>
          <p:nvPr/>
        </p:nvSpPr>
        <p:spPr>
          <a:xfrm>
            <a:off x="8980000" y="2120000"/>
            <a:ext cx="410000" cy="150000"/>
          </a:xfrm>
          <a:prstGeom prst="rect">
            <a:avLst/>
          </a:prstGeom>
          <a:solidFill>
            <a:srgbClr val="30B5C5">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srgbClr val="1D1D1A"/>
                </a:solidFill>
                <a:effectLst/>
                <a:uLnTx/>
                <a:uFillTx/>
                <a:latin typeface="微软雅黑"/>
                <a:ea typeface="微软雅黑"/>
                <a:cs typeface="+mn-cs"/>
              </a:rPr>
              <a:t>t4</a:t>
            </a:r>
          </a:p>
        </p:txBody>
      </p:sp>
      <p:sp>
        <p:nvSpPr>
          <p:cNvPr id="90" name="TextBox 17"/>
          <p:cNvSpPr txBox="1"/>
          <p:nvPr/>
        </p:nvSpPr>
        <p:spPr>
          <a:xfrm>
            <a:off x="9600000" y="2145000"/>
            <a:ext cx="2200000" cy="140000"/>
          </a:xfrm>
          <a:prstGeom prst="rect">
            <a:avLst/>
          </a:prstGeom>
          <a:noFill/>
          <a:ln>
            <a:noFill/>
          </a:ln>
        </p:spPr>
        <p:txBody>
          <a:bodyPr rot="0" wrap="square" lIns="91440" tIns="18000" rIns="91440" bIns="1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srgbClr val="1D1D1A"/>
                </a:solidFill>
                <a:effectLst/>
                <a:uLnTx/>
                <a:uFillTx/>
                <a:latin typeface="微软雅黑"/>
                <a:ea typeface="微软雅黑"/>
                <a:cs typeface="+mn-cs"/>
              </a:rPr>
              <a:t>逐步起草，开销小</a:t>
            </a:r>
          </a:p>
        </p:txBody>
      </p:sp>
      <p:cxnSp>
        <p:nvCxnSpPr>
          <p:cNvPr id="91" name="Connector 18"/>
          <p:cNvCxnSpPr/>
          <p:nvPr/>
        </p:nvCxnSpPr>
        <p:spPr>
          <a:xfrm>
            <a:off x="9450000" y="2300000"/>
            <a:ext cx="1" cy="200000"/>
          </a:xfrm>
          <a:prstGeom prst="straightConnector1">
            <a:avLst/>
          </a:prstGeom>
          <a:ln w="9525">
            <a:solidFill>
              <a:srgbClr val="1D1D1A"/>
            </a:solidFill>
            <a:tailEnd type="triangle" w="med" len="med"/>
          </a:ln>
        </p:spPr>
      </p:cxnSp>
      <p:sp>
        <p:nvSpPr>
          <p:cNvPr id="92" name="TextBox 19"/>
          <p:cNvSpPr txBox="1"/>
          <p:nvPr/>
        </p:nvSpPr>
        <p:spPr>
          <a:xfrm>
            <a:off x="7500000" y="2330000"/>
            <a:ext cx="1500000" cy="150000"/>
          </a:xfrm>
          <a:prstGeom prst="rect">
            <a:avLst/>
          </a:prstGeom>
          <a:noFill/>
          <a:ln>
            <a:noFill/>
          </a:ln>
        </p:spPr>
        <p:txBody>
          <a:bodyPr rot="0" wrap="square" lIns="91440" tIns="18000" rIns="91440" bIns="1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一次前向，同时验证 t1–t4</a:t>
            </a:r>
          </a:p>
        </p:txBody>
      </p:sp>
      <p:sp>
        <p:nvSpPr>
          <p:cNvPr id="93" name="TextBox 20"/>
          <p:cNvSpPr txBox="1"/>
          <p:nvPr/>
        </p:nvSpPr>
        <p:spPr>
          <a:xfrm>
            <a:off x="6350000" y="2530000"/>
            <a:ext cx="1050000" cy="150000"/>
          </a:xfrm>
          <a:prstGeom prst="rect">
            <a:avLst/>
          </a:prstGeom>
          <a:noFill/>
          <a:ln>
            <a:noFill/>
          </a:ln>
        </p:spPr>
        <p:txBody>
          <a:bodyPr rot="0" wrap="square" lIns="91440" tIns="18000" rIns="91440" bIns="1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1D1D1A"/>
                </a:solidFill>
                <a:effectLst/>
                <a:uLnTx/>
                <a:uFillTx/>
                <a:latin typeface="微软雅黑"/>
                <a:ea typeface="微软雅黑"/>
                <a:cs typeface="+mn-cs"/>
              </a:rPr>
              <a:t>target 大模型</a:t>
            </a:r>
          </a:p>
        </p:txBody>
      </p:sp>
      <p:sp>
        <p:nvSpPr>
          <p:cNvPr id="94" name="Box 21"/>
          <p:cNvSpPr/>
          <p:nvPr/>
        </p:nvSpPr>
        <p:spPr>
          <a:xfrm>
            <a:off x="7600000" y="2520000"/>
            <a:ext cx="1790000" cy="160000"/>
          </a:xfrm>
          <a:prstGeom prst="rect">
            <a:avLst/>
          </a:prstGeom>
          <a:solidFill>
            <a:srgbClr val="F2F2F2"/>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单次前向 · 批量验证</a:t>
            </a:r>
          </a:p>
        </p:txBody>
      </p:sp>
      <p:sp>
        <p:nvSpPr>
          <p:cNvPr id="95" name="TextBox 22"/>
          <p:cNvSpPr txBox="1"/>
          <p:nvPr/>
        </p:nvSpPr>
        <p:spPr>
          <a:xfrm>
            <a:off x="9600000" y="2545000"/>
            <a:ext cx="2200000" cy="140000"/>
          </a:xfrm>
          <a:prstGeom prst="rect">
            <a:avLst/>
          </a:prstGeom>
          <a:noFill/>
          <a:ln>
            <a:noFill/>
          </a:ln>
        </p:spPr>
        <p:txBody>
          <a:bodyPr rot="0" wrap="square" lIns="91440" tIns="18000" rIns="91440" bIns="1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srgbClr val="61B230"/>
                </a:solidFill>
                <a:effectLst/>
                <a:uLnTx/>
                <a:uFillTx/>
                <a:latin typeface="微软雅黑"/>
                <a:ea typeface="微软雅黑"/>
                <a:cs typeface="+mn-cs"/>
              </a:rPr>
              <a:t>多次猜测 · 一次验证</a:t>
            </a:r>
          </a:p>
        </p:txBody>
      </p:sp>
      <p:sp>
        <p:nvSpPr>
          <p:cNvPr id="96" name="TextBox 23"/>
          <p:cNvSpPr txBox="1"/>
          <p:nvPr/>
        </p:nvSpPr>
        <p:spPr>
          <a:xfrm>
            <a:off x="6350000" y="2790000"/>
            <a:ext cx="1050000" cy="150000"/>
          </a:xfrm>
          <a:prstGeom prst="rect">
            <a:avLst/>
          </a:prstGeom>
          <a:noFill/>
          <a:ln>
            <a:noFill/>
          </a:ln>
        </p:spPr>
        <p:txBody>
          <a:bodyPr rot="0" wrap="square" lIns="91440" tIns="18000" rIns="91440" bIns="1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800" b="1" i="0" u="none" strike="noStrike" kern="1200" cap="none" spc="0" normalizeH="0" baseline="0" noProof="0" dirty="0">
                <a:ln>
                  <a:noFill/>
                </a:ln>
                <a:solidFill>
                  <a:srgbClr val="1D1D1A"/>
                </a:solidFill>
                <a:effectLst/>
                <a:uLnTx/>
                <a:uFillTx/>
                <a:latin typeface="微软雅黑"/>
                <a:ea typeface="微软雅黑"/>
                <a:cs typeface="+mn-cs"/>
              </a:rPr>
              <a:t>验证结果</a:t>
            </a:r>
          </a:p>
        </p:txBody>
      </p:sp>
      <p:sp>
        <p:nvSpPr>
          <p:cNvPr id="97" name="Box 24"/>
          <p:cNvSpPr/>
          <p:nvPr/>
        </p:nvSpPr>
        <p:spPr>
          <a:xfrm>
            <a:off x="7600000" y="2780000"/>
            <a:ext cx="410000" cy="150000"/>
          </a:xfrm>
          <a:prstGeom prst="rect">
            <a:avLst/>
          </a:prstGeom>
          <a:solidFill>
            <a:srgbClr val="FFFFFF"/>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50" b="1" i="0" u="none" strike="noStrike" kern="1200" cap="none" spc="0" normalizeH="0" baseline="0" noProof="0" dirty="0">
                <a:ln>
                  <a:noFill/>
                </a:ln>
                <a:solidFill>
                  <a:srgbClr val="61B230"/>
                </a:solidFill>
                <a:effectLst/>
                <a:uLnTx/>
                <a:uFillTx/>
                <a:latin typeface="微软雅黑"/>
                <a:ea typeface="微软雅黑"/>
                <a:cs typeface="+mn-cs"/>
              </a:rPr>
              <a:t>✓</a:t>
            </a:r>
          </a:p>
        </p:txBody>
      </p:sp>
      <p:sp>
        <p:nvSpPr>
          <p:cNvPr id="98" name="Box 25"/>
          <p:cNvSpPr/>
          <p:nvPr/>
        </p:nvSpPr>
        <p:spPr>
          <a:xfrm>
            <a:off x="8060000" y="2780000"/>
            <a:ext cx="410000" cy="150000"/>
          </a:xfrm>
          <a:prstGeom prst="rect">
            <a:avLst/>
          </a:prstGeom>
          <a:solidFill>
            <a:srgbClr val="FFFFFF"/>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50" b="1" i="0" u="none" strike="noStrike" kern="1200" cap="none" spc="0" normalizeH="0" baseline="0" noProof="0" dirty="0">
                <a:ln>
                  <a:noFill/>
                </a:ln>
                <a:solidFill>
                  <a:srgbClr val="61B230"/>
                </a:solidFill>
                <a:effectLst/>
                <a:uLnTx/>
                <a:uFillTx/>
                <a:latin typeface="微软雅黑"/>
                <a:ea typeface="微软雅黑"/>
                <a:cs typeface="+mn-cs"/>
              </a:rPr>
              <a:t>✓</a:t>
            </a:r>
          </a:p>
        </p:txBody>
      </p:sp>
      <p:sp>
        <p:nvSpPr>
          <p:cNvPr id="99" name="Box 26"/>
          <p:cNvSpPr/>
          <p:nvPr/>
        </p:nvSpPr>
        <p:spPr>
          <a:xfrm>
            <a:off x="8520000" y="2780000"/>
            <a:ext cx="410000" cy="150000"/>
          </a:xfrm>
          <a:prstGeom prst="rect">
            <a:avLst/>
          </a:prstGeom>
          <a:solidFill>
            <a:srgbClr val="FFFFFF"/>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50" b="1" i="0" u="none" strike="noStrike" kern="1200" cap="none" spc="0" normalizeH="0" baseline="0" noProof="0" dirty="0">
                <a:ln>
                  <a:noFill/>
                </a:ln>
                <a:solidFill>
                  <a:srgbClr val="61B230"/>
                </a:solidFill>
                <a:effectLst/>
                <a:uLnTx/>
                <a:uFillTx/>
                <a:latin typeface="微软雅黑"/>
                <a:ea typeface="微软雅黑"/>
                <a:cs typeface="+mn-cs"/>
              </a:rPr>
              <a:t>✓</a:t>
            </a:r>
          </a:p>
        </p:txBody>
      </p:sp>
      <p:sp>
        <p:nvSpPr>
          <p:cNvPr id="100" name="Box 27"/>
          <p:cNvSpPr/>
          <p:nvPr/>
        </p:nvSpPr>
        <p:spPr>
          <a:xfrm>
            <a:off x="8980000" y="2780000"/>
            <a:ext cx="410000" cy="150000"/>
          </a:xfrm>
          <a:prstGeom prst="rect">
            <a:avLst/>
          </a:prstGeom>
          <a:solidFill>
            <a:srgbClr val="E9002F">
              <a:alpha val="20000"/>
            </a:srgbClr>
          </a:solidFill>
          <a:ln w="9525">
            <a:solidFill>
              <a:srgbClr val="1D1D1A"/>
            </a:solidFill>
          </a:ln>
        </p:spPr>
        <p:txBody>
          <a:bodyPr rot="0" wrap="square" lIns="18000" tIns="9000" rIns="18000" bIns="9000" anchor="ctr"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850" b="1" i="0" u="none" strike="noStrike" kern="1200" cap="none" spc="0" normalizeH="0" baseline="0" noProof="0" dirty="0">
                <a:ln>
                  <a:noFill/>
                </a:ln>
                <a:solidFill>
                  <a:srgbClr val="C00000"/>
                </a:solidFill>
                <a:effectLst/>
                <a:uLnTx/>
                <a:uFillTx/>
                <a:latin typeface="微软雅黑"/>
                <a:ea typeface="微软雅黑"/>
                <a:cs typeface="+mn-cs"/>
              </a:rPr>
              <a:t>✕</a:t>
            </a:r>
          </a:p>
        </p:txBody>
      </p:sp>
      <p:sp>
        <p:nvSpPr>
          <p:cNvPr id="101" name="TextBox 28"/>
          <p:cNvSpPr txBox="1"/>
          <p:nvPr/>
        </p:nvSpPr>
        <p:spPr>
          <a:xfrm>
            <a:off x="6350000" y="2980000"/>
            <a:ext cx="5450000" cy="300000"/>
          </a:xfrm>
          <a:prstGeom prst="rect">
            <a:avLst/>
          </a:prstGeom>
          <a:noFill/>
          <a:ln>
            <a:noFill/>
          </a:ln>
        </p:spPr>
        <p:txBody>
          <a:bodyPr rot="0" wrap="square" lIns="91440" tIns="18000" rIns="91440" bIns="1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50" b="0" i="0" u="none" strike="noStrike" kern="1200" cap="none" spc="0" normalizeH="0" baseline="0" noProof="0" dirty="0">
                <a:ln>
                  <a:noFill/>
                </a:ln>
                <a:solidFill>
                  <a:srgbClr val="1D1D1A"/>
                </a:solidFill>
                <a:effectLst/>
                <a:uLnTx/>
                <a:uFillTx/>
                <a:latin typeface="微软雅黑"/>
                <a:ea typeface="微软雅黑"/>
                <a:cs typeface="+mn-cs"/>
              </a:rPr>
              <a:t>✓ 接受 · ✕ 拒绝 → 仅回滚该位、从拒绝处重猜；lookahead 一致性损失：加速且不掉点（K2/K2.5：无 draft）</a:t>
            </a:r>
          </a:p>
        </p:txBody>
      </p:sp>
      <p:sp>
        <p:nvSpPr>
          <p:cNvPr id="122" name="ConclBox"/>
          <p:cNvSpPr/>
          <p:nvPr/>
        </p:nvSpPr>
        <p:spPr>
          <a:xfrm>
            <a:off x="782775" y="680000"/>
            <a:ext cx="11217957" cy="760000"/>
          </a:xfrm>
          <a:prstGeom prst="rect">
            <a:avLst/>
          </a:prstGeom>
          <a:solidFill>
            <a:srgbClr val="F2F2F2"/>
          </a:solidFill>
          <a:ln>
            <a:noFill/>
          </a:ln>
        </p:spPr>
        <p:txBody>
          <a:bodyPr rot="0" wrap="square" lIns="120000" tIns="30000" rIns="91440" bIns="30000" anchor="ctr" compatLnSpc="1">
            <a:no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100" b="0" i="0" u="none" strike="noStrike" kern="1200" cap="none" spc="0" normalizeH="0" baseline="0" noProof="0" dirty="0">
                <a:ln>
                  <a:noFill/>
                </a:ln>
                <a:solidFill>
                  <a:srgbClr val="1D1D1A"/>
                </a:solidFill>
                <a:effectLst/>
                <a:uLnTx/>
                <a:uFillTx/>
                <a:latin typeface="微软雅黑"/>
                <a:ea typeface="微软雅黑"/>
                <a:cs typeface="+mn-cs"/>
              </a:rPr>
              <a:t>KDA 状态大小不随上下文长度增长，多轮会话前缀仅存「一页状态＋少量 KV」，缓存成本 O(1)（上一代 MLA 为 O(L)；</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100" b="0" i="0" u="none" strike="noStrike" kern="1200" cap="none" spc="0" normalizeH="0" baseline="0" noProof="0" dirty="0">
                <a:ln>
                  <a:noFill/>
                </a:ln>
                <a:solidFill>
                  <a:srgbClr val="1D1D1A"/>
                </a:solidFill>
                <a:effectLst/>
                <a:uLnTx/>
                <a:uFillTx/>
                <a:latin typeface="微软雅黑"/>
                <a:ea typeface="微软雅黑"/>
                <a:cs typeface="+mn-cs"/>
              </a:rPr>
              <a:t>权重 MXFP4 QAT 于训练阶段即量化感知、发布即 4-bit，叠加 EAGLE-3 式投机解码，显存与算力双端降本且精度无损；</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100" b="0" i="0" u="none" strike="noStrike" kern="1200" cap="none" spc="0" normalizeH="0" baseline="0" noProof="0" dirty="0">
                <a:ln>
                  <a:noFill/>
                </a:ln>
                <a:solidFill>
                  <a:srgbClr val="1D1D1A"/>
                </a:solidFill>
                <a:effectLst/>
                <a:uLnTx/>
                <a:uFillTx/>
                <a:latin typeface="微软雅黑"/>
                <a:ea typeface="微软雅黑"/>
                <a:cs typeface="+mn-cs"/>
              </a:rPr>
              <a:t>KDA 状态与 MLA KV 两类缓存统一分页，长会话跨节点迁移。</a:t>
            </a:r>
          </a:p>
        </p:txBody>
      </p:sp>
      <p:sp>
        <p:nvSpPr>
          <p:cNvPr id="139" name="TextBox 18"/>
          <p:cNvSpPr txBox="1"/>
          <p:nvPr/>
        </p:nvSpPr>
        <p:spPr>
          <a:xfrm>
            <a:off x="300000" y="3620000"/>
            <a:ext cx="5600000" cy="420000"/>
          </a:xfrm>
          <a:prstGeom prst="rect">
            <a:avLst/>
          </a:prstGeom>
          <a:noFill/>
          <a:ln>
            <a:noFill/>
          </a:ln>
        </p:spPr>
        <p:txBody>
          <a:bodyPr rot="0" wrap="square" lIns="91440" tIns="45720" rIns="91440" bIns="45720" anchor="t" compatLnSpc="1">
            <a:noAutofit/>
          </a:bodyPr>
          <a:lstStyle/>
          <a:p>
            <a:pPr marL="0" marR="0" lvl="0" indent="0" algn="l" defTabSz="914400" rtl="0" eaLnBrk="1" fontAlgn="auto" latinLnBrk="0" hangingPunct="1">
              <a:lnSpc>
                <a:spcPct val="112000"/>
              </a:lnSpc>
              <a:spcBef>
                <a:spcPts val="0"/>
              </a:spcBef>
              <a:spcAft>
                <a:spcPts val="0"/>
              </a:spcAft>
              <a:buClrTx/>
              <a:buSzTx/>
              <a:buFontTx/>
              <a:buNone/>
              <a:tabLst/>
              <a:defRPr/>
            </a:pPr>
            <a:r>
              <a:rPr kumimoji="0" lang="zh-CN" altLang="en-US" sz="950" b="0" i="0" u="none" strike="noStrike" kern="1200" cap="none" spc="0" normalizeH="0" baseline="0" noProof="0" dirty="0">
                <a:ln>
                  <a:noFill/>
                </a:ln>
                <a:solidFill>
                  <a:srgbClr val="1D1D1A"/>
                </a:solidFill>
                <a:effectLst/>
                <a:uLnTx/>
                <a:uFillTx/>
                <a:latin typeface="微软雅黑"/>
                <a:ea typeface="微软雅黑"/>
                <a:cs typeface="+mn-cs"/>
              </a:rPr>
              <a:t>多轮对话的前缀（系统提示、工具说明、历史）逐轮相同；KDA 状态大小与序列长度无关，前缀仅需保存「一页状态＋少量 KV」——上一代 MLA 的完整 KV 在 1M 会话下缓存成本将不可接受。</a:t>
            </a:r>
          </a:p>
        </p:txBody>
      </p:sp>
      <p:sp>
        <p:nvSpPr>
          <p:cNvPr id="140" name="Box 2"/>
          <p:cNvSpPr/>
          <p:nvPr/>
        </p:nvSpPr>
        <p:spPr>
          <a:xfrm>
            <a:off x="3150000" y="2196680"/>
            <a:ext cx="280000" cy="200000"/>
          </a:xfrm>
          <a:prstGeom prst="rect">
            <a:avLst/>
          </a:prstGeom>
          <a:solidFill>
            <a:srgbClr val="E9002F">
              <a:alpha val="20000"/>
            </a:srgbClr>
          </a:solidFill>
          <a:ln w="6350">
            <a:solidFill>
              <a:srgbClr val="1D1D1A"/>
            </a:solidFill>
          </a:ln>
        </p:spPr>
      </p:sp>
      <p:sp>
        <p:nvSpPr>
          <p:cNvPr id="141" name="Box 3"/>
          <p:cNvSpPr/>
          <p:nvPr/>
        </p:nvSpPr>
        <p:spPr>
          <a:xfrm>
            <a:off x="4750000" y="2196680"/>
            <a:ext cx="700000" cy="200000"/>
          </a:xfrm>
          <a:prstGeom prst="rect">
            <a:avLst/>
          </a:prstGeom>
          <a:solidFill>
            <a:srgbClr val="ED6D00">
              <a:alpha val="20000"/>
            </a:srgbClr>
          </a:solidFill>
          <a:ln w="6350">
            <a:solidFill>
              <a:srgbClr val="1D1D1A"/>
            </a:solidFill>
          </a:ln>
        </p:spPr>
      </p:sp>
      <p:sp>
        <p:nvSpPr>
          <p:cNvPr id="142" name="Box 4"/>
          <p:cNvSpPr/>
          <p:nvPr/>
        </p:nvSpPr>
        <p:spPr>
          <a:xfrm>
            <a:off x="5480000" y="2196680"/>
            <a:ext cx="200000" cy="200000"/>
          </a:xfrm>
          <a:prstGeom prst="rect">
            <a:avLst/>
          </a:prstGeom>
          <a:solidFill>
            <a:srgbClr val="FFFFFF"/>
          </a:solidFill>
          <a:ln w="6350">
            <a:solidFill>
              <a:srgbClr val="1D1D1A"/>
            </a:solidFill>
          </a:ln>
        </p:spPr>
      </p:sp>
      <p:sp>
        <p:nvSpPr>
          <p:cNvPr id="143" name="Box 5"/>
          <p:cNvSpPr/>
          <p:nvPr/>
        </p:nvSpPr>
        <p:spPr>
          <a:xfrm>
            <a:off x="3150000" y="2441680"/>
            <a:ext cx="560000" cy="200000"/>
          </a:xfrm>
          <a:prstGeom prst="rect">
            <a:avLst/>
          </a:prstGeom>
          <a:solidFill>
            <a:srgbClr val="E9002F">
              <a:alpha val="20000"/>
            </a:srgbClr>
          </a:solidFill>
          <a:ln w="6350">
            <a:solidFill>
              <a:srgbClr val="1D1D1A"/>
            </a:solidFill>
          </a:ln>
        </p:spPr>
      </p:sp>
      <p:sp>
        <p:nvSpPr>
          <p:cNvPr id="144" name="Box 6"/>
          <p:cNvSpPr/>
          <p:nvPr/>
        </p:nvSpPr>
        <p:spPr>
          <a:xfrm>
            <a:off x="4750000" y="2441680"/>
            <a:ext cx="700000" cy="200000"/>
          </a:xfrm>
          <a:prstGeom prst="rect">
            <a:avLst/>
          </a:prstGeom>
          <a:solidFill>
            <a:srgbClr val="ED6D00">
              <a:alpha val="20000"/>
            </a:srgbClr>
          </a:solidFill>
          <a:ln w="6350">
            <a:solidFill>
              <a:srgbClr val="1D1D1A"/>
            </a:solidFill>
          </a:ln>
        </p:spPr>
      </p:sp>
      <p:sp>
        <p:nvSpPr>
          <p:cNvPr id="145" name="Box 7"/>
          <p:cNvSpPr/>
          <p:nvPr/>
        </p:nvSpPr>
        <p:spPr>
          <a:xfrm>
            <a:off x="5480000" y="2441680"/>
            <a:ext cx="200000" cy="200000"/>
          </a:xfrm>
          <a:prstGeom prst="rect">
            <a:avLst/>
          </a:prstGeom>
          <a:solidFill>
            <a:srgbClr val="FFFFFF"/>
          </a:solidFill>
          <a:ln w="6350">
            <a:solidFill>
              <a:srgbClr val="1D1D1A"/>
            </a:solidFill>
          </a:ln>
        </p:spPr>
      </p:sp>
      <p:sp>
        <p:nvSpPr>
          <p:cNvPr id="146" name="Box 8"/>
          <p:cNvSpPr/>
          <p:nvPr/>
        </p:nvSpPr>
        <p:spPr>
          <a:xfrm>
            <a:off x="3150000" y="2686680"/>
            <a:ext cx="840000" cy="200000"/>
          </a:xfrm>
          <a:prstGeom prst="rect">
            <a:avLst/>
          </a:prstGeom>
          <a:solidFill>
            <a:srgbClr val="E9002F">
              <a:alpha val="20000"/>
            </a:srgbClr>
          </a:solidFill>
          <a:ln w="6350">
            <a:solidFill>
              <a:srgbClr val="1D1D1A"/>
            </a:solidFill>
          </a:ln>
        </p:spPr>
      </p:sp>
      <p:sp>
        <p:nvSpPr>
          <p:cNvPr id="147" name="Box 9"/>
          <p:cNvSpPr/>
          <p:nvPr/>
        </p:nvSpPr>
        <p:spPr>
          <a:xfrm>
            <a:off x="4750000" y="2686680"/>
            <a:ext cx="700000" cy="200000"/>
          </a:xfrm>
          <a:prstGeom prst="rect">
            <a:avLst/>
          </a:prstGeom>
          <a:solidFill>
            <a:srgbClr val="ED6D00">
              <a:alpha val="20000"/>
            </a:srgbClr>
          </a:solidFill>
          <a:ln w="6350">
            <a:solidFill>
              <a:srgbClr val="1D1D1A"/>
            </a:solidFill>
          </a:ln>
        </p:spPr>
      </p:sp>
      <p:sp>
        <p:nvSpPr>
          <p:cNvPr id="148" name="Box 10"/>
          <p:cNvSpPr/>
          <p:nvPr/>
        </p:nvSpPr>
        <p:spPr>
          <a:xfrm>
            <a:off x="5480000" y="2686680"/>
            <a:ext cx="200000" cy="200000"/>
          </a:xfrm>
          <a:prstGeom prst="rect">
            <a:avLst/>
          </a:prstGeom>
          <a:solidFill>
            <a:srgbClr val="FFFFFF"/>
          </a:solidFill>
          <a:ln w="6350">
            <a:solidFill>
              <a:srgbClr val="1D1D1A"/>
            </a:solidFill>
          </a:ln>
        </p:spPr>
      </p:sp>
      <p:sp>
        <p:nvSpPr>
          <p:cNvPr id="149" name="Box 11"/>
          <p:cNvSpPr/>
          <p:nvPr/>
        </p:nvSpPr>
        <p:spPr>
          <a:xfrm>
            <a:off x="3150000" y="2931680"/>
            <a:ext cx="1120000" cy="200000"/>
          </a:xfrm>
          <a:prstGeom prst="rect">
            <a:avLst/>
          </a:prstGeom>
          <a:solidFill>
            <a:srgbClr val="E9002F">
              <a:alpha val="20000"/>
            </a:srgbClr>
          </a:solidFill>
          <a:ln w="6350">
            <a:solidFill>
              <a:srgbClr val="1D1D1A"/>
            </a:solidFill>
          </a:ln>
        </p:spPr>
      </p:sp>
      <p:sp>
        <p:nvSpPr>
          <p:cNvPr id="150" name="Box 12"/>
          <p:cNvSpPr/>
          <p:nvPr/>
        </p:nvSpPr>
        <p:spPr>
          <a:xfrm>
            <a:off x="4750000" y="2931680"/>
            <a:ext cx="700000" cy="200000"/>
          </a:xfrm>
          <a:prstGeom prst="rect">
            <a:avLst/>
          </a:prstGeom>
          <a:solidFill>
            <a:srgbClr val="ED6D00">
              <a:alpha val="20000"/>
            </a:srgbClr>
          </a:solidFill>
          <a:ln w="6350">
            <a:solidFill>
              <a:srgbClr val="1D1D1A"/>
            </a:solidFill>
          </a:ln>
        </p:spPr>
      </p:sp>
      <p:sp>
        <p:nvSpPr>
          <p:cNvPr id="151" name="Box 13"/>
          <p:cNvSpPr/>
          <p:nvPr/>
        </p:nvSpPr>
        <p:spPr>
          <a:xfrm>
            <a:off x="5480000" y="2931680"/>
            <a:ext cx="200000" cy="200000"/>
          </a:xfrm>
          <a:prstGeom prst="rect">
            <a:avLst/>
          </a:prstGeom>
          <a:solidFill>
            <a:srgbClr val="FFFFFF"/>
          </a:solidFill>
          <a:ln w="6350">
            <a:solidFill>
              <a:srgbClr val="1D1D1A"/>
            </a:solidFill>
          </a:ln>
        </p:spPr>
      </p:sp>
      <p:sp>
        <p:nvSpPr>
          <p:cNvPr id="152" name="TextBox 14"/>
          <p:cNvSpPr txBox="1"/>
          <p:nvPr/>
        </p:nvSpPr>
        <p:spPr>
          <a:xfrm>
            <a:off x="2941237" y="3290000"/>
            <a:ext cx="2400000" cy="140000"/>
          </a:xfrm>
          <a:prstGeom prst="rect">
            <a:avLst/>
          </a:prstGeom>
          <a:noFill/>
          <a:ln>
            <a:noFill/>
          </a:ln>
        </p:spPr>
        <p:txBody>
          <a:bodyPr rot="0" wrap="square" lIns="16000" tIns="8000" rIns="16000" bIns="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srgbClr val="C00000"/>
                </a:solidFill>
                <a:effectLst/>
                <a:uLnTx/>
                <a:uFillTx/>
                <a:latin typeface="微软雅黑"/>
                <a:ea typeface="微软雅黑"/>
                <a:cs typeface="+mn-cs"/>
              </a:rPr>
              <a:t>上一代 MLA：每轮变厚（全量留存），O(L) </a:t>
            </a:r>
            <a:r>
              <a:rPr kumimoji="0" lang="zh-CN" altLang="en-US" sz="700" b="1" i="0" u="none" strike="noStrike" kern="1200" cap="none" spc="0" normalizeH="0" baseline="0" noProof="0" dirty="0">
                <a:ln>
                  <a:noFill/>
                </a:ln>
                <a:solidFill>
                  <a:srgbClr val="C00000"/>
                </a:solidFill>
                <a:effectLst/>
                <a:uLnTx/>
                <a:uFillTx/>
                <a:latin typeface="微软雅黑"/>
                <a:ea typeface="微软雅黑"/>
                <a:cs typeface="+mn-cs"/>
              </a:rPr>
              <a:t>✗</a:t>
            </a:r>
          </a:p>
        </p:txBody>
      </p:sp>
      <p:sp>
        <p:nvSpPr>
          <p:cNvPr id="153" name="TextBox 15"/>
          <p:cNvSpPr txBox="1"/>
          <p:nvPr/>
        </p:nvSpPr>
        <p:spPr>
          <a:xfrm>
            <a:off x="4900000" y="3291520"/>
            <a:ext cx="1300000" cy="140000"/>
          </a:xfrm>
          <a:prstGeom prst="rect">
            <a:avLst/>
          </a:prstGeom>
          <a:noFill/>
          <a:ln>
            <a:noFill/>
          </a:ln>
        </p:spPr>
        <p:txBody>
          <a:bodyPr rot="0" wrap="square" lIns="16000" tIns="8000" rIns="16000" bIns="8000" anchor="t"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700" b="0" i="0" u="none" strike="noStrike" kern="1200" cap="none" spc="0" normalizeH="0" baseline="0" noProof="0" dirty="0">
                <a:ln>
                  <a:noFill/>
                </a:ln>
                <a:solidFill>
                  <a:srgbClr val="61B230"/>
                </a:solidFill>
                <a:effectLst/>
                <a:uLnTx/>
                <a:uFillTx/>
                <a:latin typeface="微软雅黑"/>
                <a:ea typeface="微软雅黑"/>
                <a:cs typeface="+mn-cs"/>
              </a:rPr>
              <a:t>K3：固定大小 O(1) </a:t>
            </a:r>
            <a:r>
              <a:rPr kumimoji="0" lang="zh-CN" altLang="en-US" sz="700" b="1" i="0" u="none" strike="noStrike" kern="1200" cap="none" spc="0" normalizeH="0" baseline="0" noProof="0" dirty="0">
                <a:ln>
                  <a:noFill/>
                </a:ln>
                <a:solidFill>
                  <a:srgbClr val="61B230"/>
                </a:solidFill>
                <a:effectLst/>
                <a:uLnTx/>
                <a:uFillTx/>
                <a:latin typeface="微软雅黑"/>
                <a:ea typeface="微软雅黑"/>
                <a:cs typeface="+mn-cs"/>
              </a:rPr>
              <a:t>✓</a:t>
            </a:r>
          </a:p>
        </p:txBody>
      </p:sp>
      <p:sp>
        <p:nvSpPr>
          <p:cNvPr id="102" name="文本框 101">
            <a:extLst>
              <a:ext uri="{FF2B5EF4-FFF2-40B4-BE49-F238E27FC236}">
                <a16:creationId xmlns:a16="http://schemas.microsoft.com/office/drawing/2014/main" id="{3949667B-F6A1-4DB0-A4A5-9896FB47A07B}"/>
              </a:ext>
            </a:extLst>
          </p:cNvPr>
          <p:cNvSpPr txBox="1"/>
          <p:nvPr/>
        </p:nvSpPr>
        <p:spPr>
          <a:xfrm>
            <a:off x="9428813" y="6221968"/>
            <a:ext cx="2087431"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郭帅磊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00968824</a:t>
            </a:r>
            <a:endParaRPr lang="zh-CN" altLang="en-US" dirty="0">
              <a:solidFill>
                <a:srgbClr val="FF0000"/>
              </a:solidFill>
              <a:highlight>
                <a:srgbClr val="FFFF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11263" y="2470694"/>
            <a:ext cx="11487150" cy="1876425"/>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 name="Rectangle 1"/>
          <p:cNvSpPr/>
          <p:nvPr/>
        </p:nvSpPr>
        <p:spPr>
          <a:xfrm>
            <a:off x="347917" y="1123950"/>
            <a:ext cx="11487150" cy="890302"/>
          </a:xfrm>
          <a:prstGeom prst="rect">
            <a:avLst/>
          </a:prstGeom>
          <a:solidFill>
            <a:srgbClr val="FFFFFF"/>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 name="Rectangle 3"/>
          <p:cNvSpPr/>
          <p:nvPr/>
        </p:nvSpPr>
        <p:spPr>
          <a:xfrm>
            <a:off x="490793" y="1233774"/>
            <a:ext cx="2475967" cy="670465"/>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7" name="Rectangle 6"/>
          <p:cNvSpPr/>
          <p:nvPr/>
        </p:nvSpPr>
        <p:spPr>
          <a:xfrm>
            <a:off x="1396207" y="2916623"/>
            <a:ext cx="3039713" cy="1211770"/>
          </a:xfrm>
          <a:prstGeom prst="rect">
            <a:avLst/>
          </a:prstGeom>
          <a:no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8" name="Rectangle 7"/>
          <p:cNvSpPr/>
          <p:nvPr/>
        </p:nvSpPr>
        <p:spPr>
          <a:xfrm>
            <a:off x="5064569" y="2916623"/>
            <a:ext cx="3039808" cy="1211770"/>
          </a:xfrm>
          <a:prstGeom prst="rect">
            <a:avLst/>
          </a:prstGeom>
          <a:solidFill>
            <a:srgbClr val="F2F2F2"/>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0" name="Rectangle 9"/>
          <p:cNvSpPr/>
          <p:nvPr/>
        </p:nvSpPr>
        <p:spPr>
          <a:xfrm>
            <a:off x="347917" y="4937383"/>
            <a:ext cx="11487150" cy="979170"/>
          </a:xfrm>
          <a:prstGeom prst="rect">
            <a:avLst/>
          </a:prstGeom>
          <a:solidFill>
            <a:srgbClr val="FFFFFF"/>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4" name="Rectangle 13"/>
          <p:cNvSpPr/>
          <p:nvPr/>
        </p:nvSpPr>
        <p:spPr>
          <a:xfrm>
            <a:off x="6167692" y="5042158"/>
            <a:ext cx="5524500" cy="7696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pic>
        <p:nvPicPr>
          <p:cNvPr id="16" name="Picture 15" descr="image.png"/>
          <p:cNvPicPr>
            <a:picLocks noChangeAspect="1"/>
          </p:cNvPicPr>
          <p:nvPr/>
        </p:nvPicPr>
        <p:blipFill>
          <a:blip r:embed="rId3"/>
          <a:stretch>
            <a:fillRect/>
          </a:stretch>
        </p:blipFill>
        <p:spPr>
          <a:xfrm>
            <a:off x="10771155" y="6515100"/>
            <a:ext cx="966026" cy="209550"/>
          </a:xfrm>
          <a:prstGeom prst="rect">
            <a:avLst/>
          </a:prstGeom>
        </p:spPr>
      </p:pic>
      <p:sp>
        <p:nvSpPr>
          <p:cNvPr id="17" name="TextBox 16"/>
          <p:cNvSpPr txBox="1"/>
          <p:nvPr/>
        </p:nvSpPr>
        <p:spPr>
          <a:xfrm>
            <a:off x="354807" y="266700"/>
            <a:ext cx="12296043" cy="342900"/>
          </a:xfrm>
          <a:prstGeom prst="rect">
            <a:avLst/>
          </a:prstGeom>
          <a:noFill/>
        </p:spPr>
        <p:txBody>
          <a:bodyPr wrap="none" lIns="0" tIns="0" rIns="0" bIns="0" anchor="t">
            <a:noAutofit/>
          </a:bodyPr>
          <a:lstStyle/>
          <a:p>
            <a:pPr defTabSz="457200"/>
            <a:r>
              <a:rPr lang="en-US" altLang="zh-CN" sz="2025" b="1" dirty="0">
                <a:solidFill>
                  <a:srgbClr val="C00000"/>
                </a:solidFill>
                <a:latin typeface="Microsoft YaHei"/>
                <a:ea typeface="Microsoft YaHei"/>
              </a:rPr>
              <a:t>KDA Aware Prefix Cache</a:t>
            </a:r>
            <a:endParaRPr sz="2025" b="1" dirty="0">
              <a:solidFill>
                <a:srgbClr val="C00000"/>
              </a:solidFill>
              <a:latin typeface="Microsoft YaHei"/>
              <a:ea typeface="Microsoft YaHei"/>
            </a:endParaRPr>
          </a:p>
        </p:txBody>
      </p:sp>
      <p:sp>
        <p:nvSpPr>
          <p:cNvPr id="18" name="TextBox 17"/>
          <p:cNvSpPr txBox="1"/>
          <p:nvPr/>
        </p:nvSpPr>
        <p:spPr>
          <a:xfrm>
            <a:off x="3200575" y="759619"/>
            <a:ext cx="5413157" cy="351886"/>
          </a:xfrm>
          <a:prstGeom prst="rect">
            <a:avLst/>
          </a:prstGeom>
          <a:noFill/>
        </p:spPr>
        <p:txBody>
          <a:bodyPr wrap="none" lIns="0" tIns="0" rIns="0" bIns="0" anchor="ctr">
            <a:noAutofit/>
          </a:bodyPr>
          <a:lstStyle/>
          <a:p>
            <a:pPr algn="ctr" defTabSz="457200"/>
            <a:r>
              <a:rPr sz="1600" b="1" dirty="0">
                <a:solidFill>
                  <a:srgbClr val="C00000"/>
                </a:solidFill>
                <a:latin typeface="Microsoft YaHei"/>
                <a:ea typeface="Microsoft YaHei"/>
              </a:rPr>
              <a:t>背景｜K3 是 KDA </a:t>
            </a:r>
            <a:r>
              <a:rPr sz="1600" b="1" dirty="0" err="1">
                <a:solidFill>
                  <a:srgbClr val="C00000"/>
                </a:solidFill>
                <a:latin typeface="Microsoft YaHei"/>
                <a:ea typeface="Microsoft YaHei"/>
              </a:rPr>
              <a:t>线性注意力与</a:t>
            </a:r>
            <a:r>
              <a:rPr sz="1600" b="1" dirty="0">
                <a:solidFill>
                  <a:srgbClr val="C00000"/>
                </a:solidFill>
                <a:latin typeface="Microsoft YaHei"/>
                <a:ea typeface="Microsoft YaHei"/>
              </a:rPr>
              <a:t> MLA </a:t>
            </a:r>
            <a:r>
              <a:rPr sz="1600" b="1" dirty="0" err="1">
                <a:solidFill>
                  <a:srgbClr val="C00000"/>
                </a:solidFill>
                <a:latin typeface="Microsoft YaHei"/>
                <a:ea typeface="Microsoft YaHei"/>
              </a:rPr>
              <a:t>注意力的混合结构</a:t>
            </a:r>
            <a:endParaRPr sz="1600" b="1" dirty="0">
              <a:solidFill>
                <a:srgbClr val="C00000"/>
              </a:solidFill>
              <a:latin typeface="Microsoft YaHei"/>
              <a:ea typeface="Microsoft YaHei"/>
            </a:endParaRPr>
          </a:p>
        </p:txBody>
      </p:sp>
      <p:sp>
        <p:nvSpPr>
          <p:cNvPr id="19" name="TextBox 18"/>
          <p:cNvSpPr txBox="1"/>
          <p:nvPr/>
        </p:nvSpPr>
        <p:spPr>
          <a:xfrm>
            <a:off x="717935" y="1429894"/>
            <a:ext cx="1683544" cy="228600"/>
          </a:xfrm>
          <a:prstGeom prst="rect">
            <a:avLst/>
          </a:prstGeom>
          <a:noFill/>
        </p:spPr>
        <p:txBody>
          <a:bodyPr wrap="none" lIns="0" tIns="0" rIns="0" bIns="0" anchor="t">
            <a:noAutofit/>
          </a:bodyPr>
          <a:lstStyle/>
          <a:p>
            <a:pPr defTabSz="457200"/>
            <a:r>
              <a:rPr lang="en-US" altLang="zh-CN" b="1" dirty="0">
                <a:solidFill>
                  <a:srgbClr val="1D1D1A"/>
                </a:solidFill>
                <a:latin typeface="Consolas"/>
                <a:ea typeface="Microsoft YaHei"/>
              </a:rPr>
              <a:t>S</a:t>
            </a:r>
            <a:r>
              <a:rPr b="1" dirty="0">
                <a:solidFill>
                  <a:srgbClr val="1D1D1A"/>
                </a:solidFill>
                <a:latin typeface="Consolas"/>
                <a:ea typeface="Microsoft YaHei"/>
              </a:rPr>
              <a:t>t = F(</a:t>
            </a:r>
            <a:r>
              <a:rPr lang="en-US" b="1" dirty="0">
                <a:solidFill>
                  <a:srgbClr val="1D1D1A"/>
                </a:solidFill>
                <a:latin typeface="Consolas"/>
                <a:ea typeface="Microsoft YaHei"/>
              </a:rPr>
              <a:t>S</a:t>
            </a:r>
            <a:r>
              <a:rPr b="1" dirty="0">
                <a:solidFill>
                  <a:srgbClr val="1D1D1A"/>
                </a:solidFill>
                <a:latin typeface="Consolas"/>
                <a:ea typeface="Microsoft YaHei"/>
              </a:rPr>
              <a:t>t−1, </a:t>
            </a:r>
            <a:r>
              <a:rPr b="1" dirty="0" err="1">
                <a:solidFill>
                  <a:srgbClr val="1D1D1A"/>
                </a:solidFill>
                <a:latin typeface="Consolas"/>
                <a:ea typeface="Microsoft YaHei"/>
              </a:rPr>
              <a:t>xt</a:t>
            </a:r>
            <a:r>
              <a:rPr b="1" dirty="0">
                <a:solidFill>
                  <a:srgbClr val="1D1D1A"/>
                </a:solidFill>
                <a:latin typeface="Consolas"/>
                <a:ea typeface="Microsoft YaHei"/>
              </a:rPr>
              <a:t>)</a:t>
            </a:r>
          </a:p>
        </p:txBody>
      </p:sp>
      <p:sp>
        <p:nvSpPr>
          <p:cNvPr id="21" name="TextBox 20"/>
          <p:cNvSpPr txBox="1"/>
          <p:nvPr/>
        </p:nvSpPr>
        <p:spPr>
          <a:xfrm>
            <a:off x="3193902" y="1344046"/>
            <a:ext cx="8868308" cy="631031"/>
          </a:xfrm>
          <a:prstGeom prst="rect">
            <a:avLst/>
          </a:prstGeom>
          <a:noFill/>
        </p:spPr>
        <p:txBody>
          <a:bodyPr wrap="square" lIns="0" tIns="0" rIns="0" bIns="0" anchor="t">
            <a:noAutofit/>
          </a:bodyPr>
          <a:lstStyle/>
          <a:p>
            <a:pPr defTabSz="457200">
              <a:lnSpc>
                <a:spcPct val="172000"/>
              </a:lnSpc>
            </a:pPr>
            <a:r>
              <a:rPr sz="1600" dirty="0">
                <a:solidFill>
                  <a:srgbClr val="1D1D1A"/>
                </a:solidFill>
                <a:latin typeface="Microsoft YaHei"/>
                <a:ea typeface="Microsoft YaHei"/>
              </a:rPr>
              <a:t>KDA prefix cache </a:t>
            </a:r>
            <a:r>
              <a:rPr sz="1600" dirty="0" err="1">
                <a:solidFill>
                  <a:srgbClr val="1D1D1A"/>
                </a:solidFill>
                <a:latin typeface="Microsoft YaHei"/>
                <a:ea typeface="Microsoft YaHei"/>
              </a:rPr>
              <a:t>的复用单位是</a:t>
            </a:r>
            <a:r>
              <a:rPr lang="en-US" sz="1600" dirty="0" err="1">
                <a:solidFill>
                  <a:prstClr val="black"/>
                </a:solidFill>
                <a:latin typeface="Microsoft YaHei"/>
                <a:ea typeface="Microsoft YaHei"/>
              </a:rPr>
              <a:t>Recurrent</a:t>
            </a:r>
            <a:r>
              <a:rPr lang="en-US" sz="1600" dirty="0">
                <a:solidFill>
                  <a:prstClr val="black"/>
                </a:solidFill>
                <a:latin typeface="Microsoft YaHei"/>
                <a:ea typeface="Microsoft YaHei"/>
              </a:rPr>
              <a:t> State </a:t>
            </a:r>
            <a:r>
              <a:rPr lang="en-US" altLang="zh-CN" sz="1600" b="1" dirty="0">
                <a:solidFill>
                  <a:srgbClr val="C00000"/>
                </a:solidFill>
                <a:latin typeface="Microsoft YaHei"/>
                <a:ea typeface="Microsoft YaHei"/>
              </a:rPr>
              <a:t>St</a:t>
            </a:r>
            <a:r>
              <a:rPr lang="zh-CN" altLang="en-US" sz="1600" dirty="0">
                <a:solidFill>
                  <a:prstClr val="black"/>
                </a:solidFill>
                <a:latin typeface="Microsoft YaHei"/>
                <a:ea typeface="Microsoft YaHei"/>
              </a:rPr>
              <a:t>，代表整个前缀的状态，不可按</a:t>
            </a:r>
            <a:r>
              <a:rPr lang="en-US" altLang="zh-CN" sz="1600" dirty="0">
                <a:solidFill>
                  <a:prstClr val="black"/>
                </a:solidFill>
                <a:latin typeface="Microsoft YaHei"/>
                <a:ea typeface="Microsoft YaHei"/>
              </a:rPr>
              <a:t>token</a:t>
            </a:r>
            <a:r>
              <a:rPr lang="zh-CN" altLang="en-US" sz="1600" dirty="0">
                <a:solidFill>
                  <a:prstClr val="black"/>
                </a:solidFill>
                <a:latin typeface="Microsoft YaHei"/>
                <a:ea typeface="Microsoft YaHei"/>
              </a:rPr>
              <a:t>切分</a:t>
            </a:r>
            <a:r>
              <a:rPr sz="1600" dirty="0">
                <a:solidFill>
                  <a:prstClr val="black"/>
                </a:solidFill>
                <a:latin typeface="Microsoft YaHei"/>
                <a:ea typeface="Microsoft YaHei"/>
              </a:rPr>
              <a:t>。</a:t>
            </a:r>
          </a:p>
        </p:txBody>
      </p:sp>
      <p:sp>
        <p:nvSpPr>
          <p:cNvPr id="23" name="TextBox 22"/>
          <p:cNvSpPr txBox="1"/>
          <p:nvPr/>
        </p:nvSpPr>
        <p:spPr>
          <a:xfrm>
            <a:off x="2526253" y="3049974"/>
            <a:ext cx="969931" cy="352425"/>
          </a:xfrm>
          <a:prstGeom prst="rect">
            <a:avLst/>
          </a:prstGeom>
          <a:noFill/>
        </p:spPr>
        <p:txBody>
          <a:bodyPr wrap="none" lIns="0" tIns="0" rIns="0" bIns="0" anchor="t">
            <a:noAutofit/>
          </a:bodyPr>
          <a:lstStyle/>
          <a:p>
            <a:pPr defTabSz="457200"/>
            <a:r>
              <a:rPr sz="2100" b="1" dirty="0">
                <a:solidFill>
                  <a:srgbClr val="1D1D1A"/>
                </a:solidFill>
                <a:latin typeface="Microsoft YaHei"/>
                <a:ea typeface="Microsoft YaHei"/>
              </a:rPr>
              <a:t>6 MB</a:t>
            </a:r>
          </a:p>
        </p:txBody>
      </p:sp>
      <p:sp>
        <p:nvSpPr>
          <p:cNvPr id="24" name="TextBox 23"/>
          <p:cNvSpPr txBox="1"/>
          <p:nvPr/>
        </p:nvSpPr>
        <p:spPr>
          <a:xfrm>
            <a:off x="1851930" y="3477742"/>
            <a:ext cx="1348645" cy="161925"/>
          </a:xfrm>
          <a:prstGeom prst="rect">
            <a:avLst/>
          </a:prstGeom>
          <a:noFill/>
        </p:spPr>
        <p:txBody>
          <a:bodyPr wrap="none" lIns="0" tIns="0" rIns="0" bIns="0" anchor="t">
            <a:noAutofit/>
          </a:bodyPr>
          <a:lstStyle/>
          <a:p>
            <a:pPr defTabSz="457200"/>
            <a:r>
              <a:rPr lang="zh-CN" altLang="en-US" sz="1600" dirty="0">
                <a:solidFill>
                  <a:srgbClr val="1D1D1A"/>
                </a:solidFill>
                <a:latin typeface="Microsoft YaHei"/>
                <a:ea typeface="Microsoft YaHei"/>
              </a:rPr>
              <a:t>单层 </a:t>
            </a:r>
            <a:r>
              <a:rPr sz="1600" dirty="0">
                <a:solidFill>
                  <a:srgbClr val="1D1D1A"/>
                </a:solidFill>
                <a:latin typeface="Microsoft YaHei"/>
                <a:ea typeface="Microsoft YaHei"/>
              </a:rPr>
              <a:t>KDA recurrent state</a:t>
            </a:r>
          </a:p>
        </p:txBody>
      </p:sp>
      <p:sp>
        <p:nvSpPr>
          <p:cNvPr id="25" name="TextBox 24"/>
          <p:cNvSpPr txBox="1"/>
          <p:nvPr/>
        </p:nvSpPr>
        <p:spPr>
          <a:xfrm>
            <a:off x="2582640" y="3673289"/>
            <a:ext cx="857250" cy="152400"/>
          </a:xfrm>
          <a:prstGeom prst="rect">
            <a:avLst/>
          </a:prstGeom>
          <a:noFill/>
        </p:spPr>
        <p:txBody>
          <a:bodyPr wrap="none" lIns="0" tIns="0" rIns="0" bIns="0" anchor="t">
            <a:noAutofit/>
          </a:bodyPr>
          <a:lstStyle/>
          <a:p>
            <a:pPr defTabSz="457200"/>
            <a:endParaRPr lang="zh-CN" altLang="en-US" sz="900" dirty="0">
              <a:solidFill>
                <a:srgbClr val="666666"/>
              </a:solidFill>
              <a:latin typeface="Microsoft YaHei"/>
              <a:ea typeface="Microsoft YaHei"/>
            </a:endParaRPr>
          </a:p>
        </p:txBody>
      </p:sp>
      <p:sp>
        <p:nvSpPr>
          <p:cNvPr id="26" name="TextBox 25"/>
          <p:cNvSpPr txBox="1"/>
          <p:nvPr/>
        </p:nvSpPr>
        <p:spPr>
          <a:xfrm>
            <a:off x="2449767" y="3838929"/>
            <a:ext cx="1123093" cy="152400"/>
          </a:xfrm>
          <a:prstGeom prst="rect">
            <a:avLst/>
          </a:prstGeom>
          <a:noFill/>
        </p:spPr>
        <p:txBody>
          <a:bodyPr wrap="none" lIns="0" tIns="0" rIns="0" bIns="0" anchor="t">
            <a:noAutofit/>
          </a:bodyPr>
          <a:lstStyle/>
          <a:p>
            <a:pPr defTabSz="457200"/>
            <a:r>
              <a:rPr lang="en-US" sz="1000">
                <a:solidFill>
                  <a:srgbClr val="666666"/>
                </a:solidFill>
                <a:latin typeface="Microsoft YaHei"/>
                <a:ea typeface="Microsoft YaHei"/>
              </a:rPr>
              <a:t>96 </a:t>
            </a:r>
            <a:r>
              <a:rPr lang="en-US" altLang="zh-CN" sz="1000">
                <a:solidFill>
                  <a:srgbClr val="666666"/>
                </a:solidFill>
                <a:latin typeface="Microsoft YaHei"/>
                <a:ea typeface="Microsoft YaHei"/>
              </a:rPr>
              <a:t>× </a:t>
            </a:r>
            <a:r>
              <a:rPr sz="1000">
                <a:solidFill>
                  <a:srgbClr val="666666"/>
                </a:solidFill>
                <a:latin typeface="Microsoft YaHei"/>
                <a:ea typeface="Microsoft YaHei"/>
              </a:rPr>
              <a:t>128² </a:t>
            </a:r>
            <a:r>
              <a:rPr sz="1000" dirty="0">
                <a:solidFill>
                  <a:srgbClr val="666666"/>
                </a:solidFill>
                <a:latin typeface="Microsoft YaHei"/>
                <a:ea typeface="Microsoft YaHei"/>
              </a:rPr>
              <a:t>× </a:t>
            </a:r>
            <a:r>
              <a:rPr lang="en-US" sz="1000" dirty="0">
                <a:solidFill>
                  <a:srgbClr val="666666"/>
                </a:solidFill>
                <a:latin typeface="Microsoft YaHei"/>
                <a:ea typeface="Microsoft YaHei"/>
              </a:rPr>
              <a:t>4 (</a:t>
            </a:r>
            <a:r>
              <a:rPr sz="1000" dirty="0">
                <a:solidFill>
                  <a:srgbClr val="666666"/>
                </a:solidFill>
                <a:latin typeface="Microsoft YaHei"/>
                <a:ea typeface="Microsoft YaHei"/>
              </a:rPr>
              <a:t>fp32</a:t>
            </a:r>
            <a:r>
              <a:rPr lang="en-US" sz="1000" dirty="0">
                <a:solidFill>
                  <a:srgbClr val="666666"/>
                </a:solidFill>
                <a:latin typeface="Microsoft YaHei"/>
                <a:ea typeface="Microsoft YaHei"/>
              </a:rPr>
              <a:t>)</a:t>
            </a:r>
            <a:endParaRPr sz="1000" dirty="0">
              <a:solidFill>
                <a:srgbClr val="666666"/>
              </a:solidFill>
              <a:latin typeface="Microsoft YaHei"/>
              <a:ea typeface="Microsoft YaHei"/>
            </a:endParaRPr>
          </a:p>
        </p:txBody>
      </p:sp>
      <p:sp>
        <p:nvSpPr>
          <p:cNvPr id="27" name="TextBox 26"/>
          <p:cNvSpPr txBox="1"/>
          <p:nvPr/>
        </p:nvSpPr>
        <p:spPr>
          <a:xfrm>
            <a:off x="4663092" y="3366204"/>
            <a:ext cx="364617" cy="295275"/>
          </a:xfrm>
          <a:prstGeom prst="rect">
            <a:avLst/>
          </a:prstGeom>
          <a:noFill/>
        </p:spPr>
        <p:txBody>
          <a:bodyPr wrap="none" lIns="0" tIns="0" rIns="0" bIns="0" anchor="t">
            <a:noAutofit/>
          </a:bodyPr>
          <a:lstStyle/>
          <a:p>
            <a:pPr defTabSz="457200"/>
            <a:r>
              <a:rPr b="1">
                <a:solidFill>
                  <a:srgbClr val="C00000"/>
                </a:solidFill>
                <a:latin typeface="Microsoft YaHei"/>
                <a:ea typeface="Microsoft YaHei"/>
              </a:rPr>
              <a:t>÷</a:t>
            </a:r>
          </a:p>
        </p:txBody>
      </p:sp>
      <p:sp>
        <p:nvSpPr>
          <p:cNvPr id="28" name="TextBox 27"/>
          <p:cNvSpPr txBox="1"/>
          <p:nvPr/>
        </p:nvSpPr>
        <p:spPr>
          <a:xfrm>
            <a:off x="5954682" y="3049974"/>
            <a:ext cx="1449991" cy="352425"/>
          </a:xfrm>
          <a:prstGeom prst="rect">
            <a:avLst/>
          </a:prstGeom>
          <a:noFill/>
        </p:spPr>
        <p:txBody>
          <a:bodyPr wrap="none" lIns="0" tIns="0" rIns="0" bIns="0" anchor="t">
            <a:noAutofit/>
          </a:bodyPr>
          <a:lstStyle/>
          <a:p>
            <a:pPr defTabSz="457200"/>
            <a:r>
              <a:rPr sz="2100" b="1" dirty="0">
                <a:solidFill>
                  <a:srgbClr val="1D1D1A"/>
                </a:solidFill>
                <a:latin typeface="Microsoft YaHei"/>
                <a:ea typeface="Microsoft YaHei"/>
              </a:rPr>
              <a:t>1.125 KB</a:t>
            </a:r>
          </a:p>
        </p:txBody>
      </p:sp>
      <p:sp>
        <p:nvSpPr>
          <p:cNvPr id="29" name="TextBox 28"/>
          <p:cNvSpPr txBox="1"/>
          <p:nvPr/>
        </p:nvSpPr>
        <p:spPr>
          <a:xfrm>
            <a:off x="5592588" y="3492315"/>
            <a:ext cx="1126331" cy="161925"/>
          </a:xfrm>
          <a:prstGeom prst="rect">
            <a:avLst/>
          </a:prstGeom>
          <a:noFill/>
        </p:spPr>
        <p:txBody>
          <a:bodyPr wrap="none" lIns="0" tIns="0" rIns="0" bIns="0" anchor="t">
            <a:noAutofit/>
          </a:bodyPr>
          <a:lstStyle/>
          <a:p>
            <a:pPr defTabSz="457200"/>
            <a:r>
              <a:rPr lang="zh-CN" altLang="en-US" sz="1600" dirty="0">
                <a:solidFill>
                  <a:srgbClr val="1D1D1A"/>
                </a:solidFill>
                <a:latin typeface="Microsoft YaHei"/>
                <a:ea typeface="Microsoft YaHei"/>
              </a:rPr>
              <a:t>单层 </a:t>
            </a:r>
            <a:r>
              <a:rPr sz="1600" dirty="0">
                <a:solidFill>
                  <a:srgbClr val="1D1D1A"/>
                </a:solidFill>
                <a:latin typeface="Microsoft YaHei"/>
                <a:ea typeface="Microsoft YaHei"/>
              </a:rPr>
              <a:t>MLA KV / token</a:t>
            </a:r>
          </a:p>
        </p:txBody>
      </p:sp>
      <p:sp>
        <p:nvSpPr>
          <p:cNvPr id="30" name="TextBox 29"/>
          <p:cNvSpPr txBox="1"/>
          <p:nvPr/>
        </p:nvSpPr>
        <p:spPr>
          <a:xfrm>
            <a:off x="6470078" y="3673289"/>
            <a:ext cx="419100" cy="152400"/>
          </a:xfrm>
          <a:prstGeom prst="rect">
            <a:avLst/>
          </a:prstGeom>
          <a:noFill/>
        </p:spPr>
        <p:txBody>
          <a:bodyPr wrap="none" lIns="0" tIns="0" rIns="0" bIns="0" anchor="t">
            <a:noAutofit/>
          </a:bodyPr>
          <a:lstStyle/>
          <a:p>
            <a:pPr defTabSz="457200"/>
            <a:endParaRPr sz="900" dirty="0">
              <a:solidFill>
                <a:srgbClr val="666666"/>
              </a:solidFill>
              <a:latin typeface="Microsoft YaHei"/>
              <a:ea typeface="Microsoft YaHei"/>
            </a:endParaRPr>
          </a:p>
        </p:txBody>
      </p:sp>
      <p:sp>
        <p:nvSpPr>
          <p:cNvPr id="31" name="TextBox 30"/>
          <p:cNvSpPr txBox="1"/>
          <p:nvPr/>
        </p:nvSpPr>
        <p:spPr>
          <a:xfrm>
            <a:off x="6156801" y="3838929"/>
            <a:ext cx="1045654" cy="152400"/>
          </a:xfrm>
          <a:prstGeom prst="rect">
            <a:avLst/>
          </a:prstGeom>
          <a:noFill/>
        </p:spPr>
        <p:txBody>
          <a:bodyPr wrap="none" lIns="0" tIns="0" rIns="0" bIns="0" anchor="t">
            <a:noAutofit/>
          </a:bodyPr>
          <a:lstStyle/>
          <a:p>
            <a:pPr defTabSz="457200"/>
            <a:r>
              <a:rPr sz="1000" dirty="0">
                <a:solidFill>
                  <a:srgbClr val="666666"/>
                </a:solidFill>
                <a:latin typeface="Microsoft YaHei"/>
                <a:ea typeface="Microsoft YaHei"/>
              </a:rPr>
              <a:t>(512 + 64) × 2</a:t>
            </a:r>
            <a:r>
              <a:rPr lang="en-US" sz="1000" dirty="0">
                <a:solidFill>
                  <a:srgbClr val="666666"/>
                </a:solidFill>
                <a:latin typeface="Microsoft YaHei"/>
                <a:ea typeface="Microsoft YaHei"/>
              </a:rPr>
              <a:t> (bf16)</a:t>
            </a:r>
            <a:endParaRPr sz="1000" dirty="0">
              <a:solidFill>
                <a:srgbClr val="666666"/>
              </a:solidFill>
              <a:latin typeface="Microsoft YaHei"/>
              <a:ea typeface="Microsoft YaHei"/>
            </a:endParaRPr>
          </a:p>
        </p:txBody>
      </p:sp>
      <p:sp>
        <p:nvSpPr>
          <p:cNvPr id="33" name="TextBox 32"/>
          <p:cNvSpPr txBox="1"/>
          <p:nvPr/>
        </p:nvSpPr>
        <p:spPr>
          <a:xfrm>
            <a:off x="8559926" y="3413607"/>
            <a:ext cx="2087408" cy="352425"/>
          </a:xfrm>
          <a:prstGeom prst="rect">
            <a:avLst/>
          </a:prstGeom>
          <a:noFill/>
        </p:spPr>
        <p:txBody>
          <a:bodyPr wrap="none" lIns="0" tIns="0" rIns="0" bIns="0" anchor="t">
            <a:noAutofit/>
          </a:bodyPr>
          <a:lstStyle/>
          <a:p>
            <a:pPr defTabSz="457200"/>
            <a:r>
              <a:rPr sz="2100" b="1" dirty="0">
                <a:solidFill>
                  <a:srgbClr val="C00000"/>
                </a:solidFill>
                <a:latin typeface="Microsoft YaHei"/>
                <a:ea typeface="Microsoft YaHei"/>
              </a:rPr>
              <a:t>≈ 5,461 token</a:t>
            </a:r>
          </a:p>
        </p:txBody>
      </p:sp>
      <p:sp>
        <p:nvSpPr>
          <p:cNvPr id="37" name="TextBox 36"/>
          <p:cNvSpPr txBox="1"/>
          <p:nvPr/>
        </p:nvSpPr>
        <p:spPr>
          <a:xfrm>
            <a:off x="4969520" y="4595562"/>
            <a:ext cx="1970323" cy="376174"/>
          </a:xfrm>
          <a:prstGeom prst="rect">
            <a:avLst/>
          </a:prstGeom>
          <a:noFill/>
        </p:spPr>
        <p:txBody>
          <a:bodyPr wrap="none" lIns="0" tIns="0" rIns="0" bIns="0" anchor="ctr">
            <a:noAutofit/>
          </a:bodyPr>
          <a:lstStyle/>
          <a:p>
            <a:pPr algn="ctr" defTabSz="457200"/>
            <a:r>
              <a:rPr sz="1600" b="1" dirty="0" err="1">
                <a:solidFill>
                  <a:srgbClr val="C00000"/>
                </a:solidFill>
                <a:latin typeface="Microsoft YaHei"/>
                <a:ea typeface="Microsoft YaHei"/>
              </a:rPr>
              <a:t>问题聚焦</a:t>
            </a:r>
            <a:endParaRPr sz="1600" b="1" dirty="0">
              <a:solidFill>
                <a:srgbClr val="C00000"/>
              </a:solidFill>
              <a:latin typeface="Microsoft YaHei"/>
              <a:ea typeface="Microsoft YaHei"/>
            </a:endParaRPr>
          </a:p>
        </p:txBody>
      </p:sp>
      <p:sp>
        <p:nvSpPr>
          <p:cNvPr id="38" name="TextBox 37"/>
          <p:cNvSpPr txBox="1"/>
          <p:nvPr/>
        </p:nvSpPr>
        <p:spPr>
          <a:xfrm>
            <a:off x="4284822" y="5297588"/>
            <a:ext cx="2183272" cy="302141"/>
          </a:xfrm>
          <a:prstGeom prst="rect">
            <a:avLst/>
          </a:prstGeom>
          <a:noFill/>
        </p:spPr>
        <p:txBody>
          <a:bodyPr wrap="none" lIns="0" tIns="0" rIns="0" bIns="0" anchor="t">
            <a:noAutofit/>
          </a:bodyPr>
          <a:lstStyle/>
          <a:p>
            <a:pPr defTabSz="457200"/>
            <a:r>
              <a:rPr sz="1600" b="1" dirty="0">
                <a:solidFill>
                  <a:srgbClr val="1D1D1A"/>
                </a:solidFill>
                <a:latin typeface="Microsoft YaHei"/>
                <a:ea typeface="Microsoft YaHei"/>
              </a:rPr>
              <a:t>① </a:t>
            </a:r>
            <a:r>
              <a:rPr sz="1600" b="1" dirty="0" err="1">
                <a:solidFill>
                  <a:srgbClr val="1D1D1A"/>
                </a:solidFill>
                <a:latin typeface="Microsoft YaHei"/>
                <a:ea typeface="Microsoft YaHei"/>
              </a:rPr>
              <a:t>物理存储与对齐</a:t>
            </a:r>
            <a:endParaRPr sz="1600" b="1" dirty="0">
              <a:solidFill>
                <a:srgbClr val="1D1D1A"/>
              </a:solidFill>
              <a:latin typeface="Microsoft YaHei"/>
              <a:ea typeface="Microsoft YaHei"/>
            </a:endParaRPr>
          </a:p>
        </p:txBody>
      </p:sp>
      <p:sp>
        <p:nvSpPr>
          <p:cNvPr id="40" name="TextBox 39"/>
          <p:cNvSpPr txBox="1"/>
          <p:nvPr/>
        </p:nvSpPr>
        <p:spPr>
          <a:xfrm>
            <a:off x="6392317" y="5166897"/>
            <a:ext cx="1829411" cy="432832"/>
          </a:xfrm>
          <a:prstGeom prst="rect">
            <a:avLst/>
          </a:prstGeom>
          <a:noFill/>
        </p:spPr>
        <p:txBody>
          <a:bodyPr wrap="square" lIns="0" tIns="0" rIns="0" bIns="0" anchor="t">
            <a:noAutofit/>
          </a:bodyPr>
          <a:lstStyle/>
          <a:p>
            <a:pPr defTabSz="457200">
              <a:lnSpc>
                <a:spcPct val="165000"/>
              </a:lnSpc>
            </a:pPr>
            <a:r>
              <a:rPr sz="1600" b="1" dirty="0">
                <a:solidFill>
                  <a:srgbClr val="1D1D1A"/>
                </a:solidFill>
                <a:latin typeface="Microsoft YaHei"/>
                <a:ea typeface="Microsoft YaHei"/>
              </a:rPr>
              <a:t>② </a:t>
            </a:r>
            <a:r>
              <a:rPr sz="1600" b="1" dirty="0" err="1">
                <a:solidFill>
                  <a:srgbClr val="1D1D1A"/>
                </a:solidFill>
                <a:latin typeface="Microsoft YaHei"/>
                <a:ea typeface="Microsoft YaHei"/>
              </a:rPr>
              <a:t>存储与驱逐策略</a:t>
            </a:r>
            <a:endParaRPr sz="1600" b="1" dirty="0">
              <a:solidFill>
                <a:srgbClr val="1D1D1A"/>
              </a:solidFill>
              <a:latin typeface="Microsoft YaHei"/>
              <a:ea typeface="Microsoft YaHei"/>
            </a:endParaRPr>
          </a:p>
        </p:txBody>
      </p:sp>
      <p:sp>
        <p:nvSpPr>
          <p:cNvPr id="41" name="TextBox 40"/>
          <p:cNvSpPr txBox="1"/>
          <p:nvPr/>
        </p:nvSpPr>
        <p:spPr>
          <a:xfrm>
            <a:off x="459581" y="6537008"/>
            <a:ext cx="674370"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Page 1/8</a:t>
            </a:r>
          </a:p>
        </p:txBody>
      </p:sp>
      <p:sp>
        <p:nvSpPr>
          <p:cNvPr id="42" name="TextBox 41"/>
          <p:cNvSpPr txBox="1"/>
          <p:nvPr/>
        </p:nvSpPr>
        <p:spPr>
          <a:xfrm>
            <a:off x="1316831" y="6537008"/>
            <a:ext cx="1295876"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Huawei Confidential</a:t>
            </a:r>
          </a:p>
        </p:txBody>
      </p:sp>
      <p:sp>
        <p:nvSpPr>
          <p:cNvPr id="46" name="TextBox 17">
            <a:extLst>
              <a:ext uri="{FF2B5EF4-FFF2-40B4-BE49-F238E27FC236}">
                <a16:creationId xmlns:a16="http://schemas.microsoft.com/office/drawing/2014/main" id="{BB44A3A5-50D8-87D2-C8C3-797CD387A6FB}"/>
              </a:ext>
            </a:extLst>
          </p:cNvPr>
          <p:cNvSpPr txBox="1"/>
          <p:nvPr/>
        </p:nvSpPr>
        <p:spPr>
          <a:xfrm>
            <a:off x="4284822" y="2147602"/>
            <a:ext cx="3467100" cy="312580"/>
          </a:xfrm>
          <a:prstGeom prst="rect">
            <a:avLst/>
          </a:prstGeom>
          <a:noFill/>
        </p:spPr>
        <p:txBody>
          <a:bodyPr wrap="none" lIns="0" tIns="0" rIns="0" bIns="0" anchor="ctr">
            <a:noAutofit/>
          </a:bodyPr>
          <a:lstStyle/>
          <a:p>
            <a:pPr algn="ctr" defTabSz="457200"/>
            <a:r>
              <a:rPr lang="zh-CN" altLang="en-US" sz="1600" b="1" dirty="0">
                <a:solidFill>
                  <a:srgbClr val="C00000"/>
                </a:solidFill>
                <a:latin typeface="Microsoft YaHei"/>
                <a:ea typeface="Microsoft YaHei"/>
              </a:rPr>
              <a:t>存储</a:t>
            </a:r>
            <a:r>
              <a:rPr lang="en-US" altLang="zh-CN" sz="1600" b="1" dirty="0">
                <a:solidFill>
                  <a:srgbClr val="C00000"/>
                </a:solidFill>
                <a:latin typeface="Microsoft YaHei"/>
                <a:ea typeface="Microsoft YaHei"/>
              </a:rPr>
              <a:t>Recurrent State</a:t>
            </a:r>
            <a:r>
              <a:rPr lang="zh-CN" altLang="en-US" sz="1600" b="1" dirty="0">
                <a:solidFill>
                  <a:srgbClr val="C00000"/>
                </a:solidFill>
                <a:latin typeface="Microsoft YaHei"/>
                <a:ea typeface="Microsoft YaHei"/>
              </a:rPr>
              <a:t>成本过高</a:t>
            </a:r>
            <a:endParaRPr sz="1600" b="1" dirty="0">
              <a:solidFill>
                <a:srgbClr val="C00000"/>
              </a:solidFill>
              <a:latin typeface="Microsoft YaHei"/>
              <a:ea typeface="Microsoft YaHei"/>
            </a:endParaRPr>
          </a:p>
        </p:txBody>
      </p:sp>
      <p:sp>
        <p:nvSpPr>
          <p:cNvPr id="3" name="文本框 2">
            <a:extLst>
              <a:ext uri="{FF2B5EF4-FFF2-40B4-BE49-F238E27FC236}">
                <a16:creationId xmlns:a16="http://schemas.microsoft.com/office/drawing/2014/main" id="{10667B7D-D36E-4AB2-994D-18F03B9A6CE4}"/>
              </a:ext>
            </a:extLst>
          </p:cNvPr>
          <p:cNvSpPr txBox="1"/>
          <p:nvPr/>
        </p:nvSpPr>
        <p:spPr>
          <a:xfrm>
            <a:off x="9428813" y="6221968"/>
            <a:ext cx="1678665"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刘韫聪</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a:t>
            </a:r>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李旭时</a:t>
            </a:r>
            <a:endParaRPr lang="zh-CN" altLang="en-US" dirty="0">
              <a:solidFill>
                <a:srgbClr val="FF0000"/>
              </a:solidFill>
              <a:highlight>
                <a:srgbClr val="FFFF00"/>
              </a:highlight>
            </a:endParaRPr>
          </a:p>
        </p:txBody>
      </p:sp>
      <p:sp>
        <p:nvSpPr>
          <p:cNvPr id="6" name="文本框 5">
            <a:extLst>
              <a:ext uri="{FF2B5EF4-FFF2-40B4-BE49-F238E27FC236}">
                <a16:creationId xmlns:a16="http://schemas.microsoft.com/office/drawing/2014/main" id="{9FC3F0EC-4C36-4306-A400-38C0F6828304}"/>
              </a:ext>
            </a:extLst>
          </p:cNvPr>
          <p:cNvSpPr txBox="1"/>
          <p:nvPr/>
        </p:nvSpPr>
        <p:spPr>
          <a:xfrm>
            <a:off x="699891" y="4128393"/>
            <a:ext cx="5775334" cy="2585323"/>
          </a:xfrm>
          <a:prstGeom prst="rect">
            <a:avLst/>
          </a:prstGeom>
          <a:noFill/>
        </p:spPr>
        <p:txBody>
          <a:bodyPr wrap="square" rtlCol="0">
            <a:spAutoFit/>
          </a:bodyPr>
          <a:lstStyle/>
          <a:p>
            <a:r>
              <a:rPr lang="en-US" altLang="zh-CN" dirty="0"/>
              <a:t>KIMI K3 </a:t>
            </a:r>
            <a:r>
              <a:rPr lang="zh-CN" altLang="en-US" dirty="0"/>
              <a:t>：</a:t>
            </a:r>
            <a:br>
              <a:rPr lang="en-US" altLang="zh-CN" dirty="0"/>
            </a:br>
            <a:r>
              <a:rPr lang="en-US" altLang="zh-CN" dirty="0"/>
              <a:t>1.  </a:t>
            </a:r>
            <a:r>
              <a:rPr lang="zh-CN" altLang="en-US" dirty="0"/>
              <a:t>挑战：来自于模型架构，给</a:t>
            </a:r>
            <a:r>
              <a:rPr lang="en-US" altLang="zh-CN" dirty="0"/>
              <a:t>KV cache</a:t>
            </a:r>
            <a:r>
              <a:rPr lang="zh-CN" altLang="en-US" dirty="0"/>
              <a:t>提供了什么挑战</a:t>
            </a:r>
            <a:br>
              <a:rPr lang="en-US" altLang="zh-CN" dirty="0"/>
            </a:br>
            <a:r>
              <a:rPr lang="en-US" altLang="zh-CN" dirty="0"/>
              <a:t>2. </a:t>
            </a:r>
            <a:r>
              <a:rPr lang="zh-CN" altLang="en-US" dirty="0"/>
              <a:t>对应的技术：</a:t>
            </a:r>
            <a:r>
              <a:rPr lang="en-US" altLang="zh-CN" dirty="0"/>
              <a:t>KIMI K3 </a:t>
            </a:r>
            <a:r>
              <a:rPr lang="zh-CN" altLang="en-US" dirty="0"/>
              <a:t>给出了什么技术</a:t>
            </a:r>
            <a:endParaRPr lang="en-US" altLang="zh-CN" dirty="0"/>
          </a:p>
          <a:p>
            <a:endParaRPr lang="en-US" altLang="zh-CN" dirty="0"/>
          </a:p>
          <a:p>
            <a:r>
              <a:rPr lang="zh-CN" altLang="en-US" dirty="0"/>
              <a:t>我们的技术和思考：</a:t>
            </a:r>
            <a:br>
              <a:rPr lang="en-US" altLang="zh-CN" dirty="0"/>
            </a:br>
            <a:r>
              <a:rPr lang="en-US" altLang="zh-CN" dirty="0"/>
              <a:t> </a:t>
            </a:r>
            <a:r>
              <a:rPr lang="zh-CN" altLang="en-US" dirty="0"/>
              <a:t>结合昇腾，我们做了或者打算做什么</a:t>
            </a:r>
            <a:endParaRPr lang="en-US" altLang="zh-CN" dirty="0"/>
          </a:p>
          <a:p>
            <a:endParaRPr lang="en-US" altLang="zh-CN" dirty="0"/>
          </a:p>
          <a:p>
            <a:r>
              <a:rPr lang="zh-CN" altLang="en-US" dirty="0"/>
              <a:t>业界的思路和洞察，竞品，友商。</a:t>
            </a:r>
            <a:endParaRPr lang="en-US" altLang="zh-CN" dirty="0"/>
          </a:p>
          <a:p>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806" y="1029391"/>
            <a:ext cx="11487150" cy="2200827"/>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 name="Rectangle 3"/>
          <p:cNvSpPr/>
          <p:nvPr/>
        </p:nvSpPr>
        <p:spPr>
          <a:xfrm>
            <a:off x="354806" y="3863538"/>
            <a:ext cx="11487150" cy="2328887"/>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6" name="Rectangle 5"/>
          <p:cNvSpPr/>
          <p:nvPr/>
        </p:nvSpPr>
        <p:spPr>
          <a:xfrm>
            <a:off x="4555988" y="1180210"/>
            <a:ext cx="3084786" cy="289199"/>
          </a:xfrm>
          <a:prstGeom prst="rect">
            <a:avLst/>
          </a:prstGeom>
          <a:solidFill>
            <a:srgbClr val="F2F2F2"/>
          </a:solidFill>
          <a:ln w="9639">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7" name="Rectangle 6"/>
          <p:cNvSpPr/>
          <p:nvPr/>
        </p:nvSpPr>
        <p:spPr>
          <a:xfrm>
            <a:off x="796405" y="1650258"/>
            <a:ext cx="5012778" cy="807490"/>
          </a:xfrm>
          <a:prstGeom prst="rect">
            <a:avLst/>
          </a:prstGeom>
          <a:solidFill>
            <a:srgbClr val="F2F2F2"/>
          </a:solidFill>
          <a:ln w="9639">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dirty="0">
              <a:solidFill>
                <a:prstClr val="white"/>
              </a:solidFill>
              <a:latin typeface="Calibri"/>
            </a:endParaRPr>
          </a:p>
        </p:txBody>
      </p:sp>
      <p:sp>
        <p:nvSpPr>
          <p:cNvPr id="8" name="Rectangle 7"/>
          <p:cNvSpPr/>
          <p:nvPr/>
        </p:nvSpPr>
        <p:spPr>
          <a:xfrm>
            <a:off x="6387580" y="1650258"/>
            <a:ext cx="5012778" cy="870795"/>
          </a:xfrm>
          <a:prstGeom prst="rect">
            <a:avLst/>
          </a:prstGeom>
          <a:solidFill>
            <a:srgbClr val="FCE0E6"/>
          </a:solidFill>
          <a:ln w="9639">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9" name="Connector 8"/>
          <p:cNvCxnSpPr>
            <a:cxnSpLocks/>
          </p:cNvCxnSpPr>
          <p:nvPr/>
        </p:nvCxnSpPr>
        <p:spPr>
          <a:xfrm flipH="1">
            <a:off x="3302793" y="1475819"/>
            <a:ext cx="1927992" cy="135878"/>
          </a:xfrm>
          <a:prstGeom prst="line">
            <a:avLst/>
          </a:prstGeom>
          <a:ln w="12531">
            <a:solidFill>
              <a:srgbClr val="1D1D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a:cxnSpLocks/>
          </p:cNvCxnSpPr>
          <p:nvPr/>
        </p:nvCxnSpPr>
        <p:spPr>
          <a:xfrm>
            <a:off x="6965977" y="1495521"/>
            <a:ext cx="1927992" cy="116176"/>
          </a:xfrm>
          <a:prstGeom prst="line">
            <a:avLst/>
          </a:prstGeom>
          <a:ln w="12531">
            <a:solidFill>
              <a:srgbClr val="1D1D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21378" y="2624571"/>
            <a:ext cx="10603953" cy="514907"/>
          </a:xfrm>
          <a:prstGeom prst="rect">
            <a:avLst/>
          </a:prstGeom>
          <a:solidFill>
            <a:srgbClr val="FFFFFF"/>
          </a:solidFill>
          <a:ln w="9639">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lnSpc>
                <a:spcPct val="118000"/>
              </a:lnSpc>
            </a:pPr>
            <a:r>
              <a:rPr lang="en-US" altLang="zh-CN" sz="1600" dirty="0" err="1">
                <a:solidFill>
                  <a:srgbClr val="1D1D1A"/>
                </a:solidFill>
                <a:latin typeface="微软雅黑"/>
                <a:ea typeface="微软雅黑"/>
              </a:rPr>
              <a:t>BlockSize</a:t>
            </a:r>
            <a:r>
              <a:rPr lang="en-US" altLang="zh-CN" sz="1600" dirty="0">
                <a:solidFill>
                  <a:srgbClr val="1D1D1A"/>
                </a:solidFill>
                <a:latin typeface="微软雅黑"/>
                <a:ea typeface="微软雅黑"/>
              </a:rPr>
              <a:t> = alignment × ⌈ ⌈Recurrent State</a:t>
            </a:r>
            <a:r>
              <a:rPr lang="zh-CN" altLang="en-US" sz="1600" dirty="0">
                <a:solidFill>
                  <a:srgbClr val="1D1D1A"/>
                </a:solidFill>
                <a:latin typeface="微软雅黑"/>
                <a:ea typeface="微软雅黑"/>
              </a:rPr>
              <a:t> 字节 </a:t>
            </a:r>
            <a:r>
              <a:rPr lang="en-US" altLang="zh-CN" sz="1600" dirty="0">
                <a:solidFill>
                  <a:srgbClr val="1D1D1A"/>
                </a:solidFill>
                <a:latin typeface="微软雅黑"/>
                <a:ea typeface="微软雅黑"/>
              </a:rPr>
              <a:t>÷ MLA KV </a:t>
            </a:r>
            <a:r>
              <a:rPr lang="zh-CN" altLang="en-US" sz="1600" dirty="0">
                <a:solidFill>
                  <a:srgbClr val="1D1D1A"/>
                </a:solidFill>
                <a:latin typeface="微软雅黑"/>
                <a:ea typeface="微软雅黑"/>
              </a:rPr>
              <a:t>每</a:t>
            </a:r>
            <a:r>
              <a:rPr lang="en-US" altLang="zh-CN" sz="1600" dirty="0">
                <a:solidFill>
                  <a:srgbClr val="1D1D1A"/>
                </a:solidFill>
                <a:latin typeface="微软雅黑"/>
                <a:ea typeface="微软雅黑"/>
              </a:rPr>
              <a:t>token</a:t>
            </a:r>
            <a:r>
              <a:rPr lang="zh-CN" altLang="en-US" sz="1600" dirty="0">
                <a:solidFill>
                  <a:srgbClr val="1D1D1A"/>
                </a:solidFill>
                <a:latin typeface="微软雅黑"/>
                <a:ea typeface="微软雅黑"/>
              </a:rPr>
              <a:t>字节⌉ </a:t>
            </a:r>
            <a:r>
              <a:rPr lang="en-US" altLang="zh-CN" sz="1600" dirty="0">
                <a:solidFill>
                  <a:srgbClr val="1D1D1A"/>
                </a:solidFill>
                <a:latin typeface="微软雅黑"/>
                <a:ea typeface="微软雅黑"/>
              </a:rPr>
              <a:t>/ alignment ⌉</a:t>
            </a:r>
          </a:p>
        </p:txBody>
      </p:sp>
      <p:sp>
        <p:nvSpPr>
          <p:cNvPr id="30" name="Rectangle 29"/>
          <p:cNvSpPr/>
          <p:nvPr/>
        </p:nvSpPr>
        <p:spPr>
          <a:xfrm>
            <a:off x="919666" y="4459620"/>
            <a:ext cx="10411153" cy="289199"/>
          </a:xfrm>
          <a:prstGeom prst="rect">
            <a:avLst/>
          </a:prstGeom>
          <a:solidFill>
            <a:srgbClr val="F7F7F7"/>
          </a:solidFill>
          <a:ln w="9639">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31" name="Connector 30"/>
          <p:cNvCxnSpPr/>
          <p:nvPr/>
        </p:nvCxnSpPr>
        <p:spPr>
          <a:xfrm>
            <a:off x="1787261"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654858"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522454"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90050"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257646"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125242"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992838"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60434"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728030"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595626"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463223" y="4459620"/>
            <a:ext cx="0" cy="289199"/>
          </a:xfrm>
          <a:prstGeom prst="line">
            <a:avLst/>
          </a:prstGeom>
          <a:ln w="9639">
            <a:solidFill>
              <a:srgbClr val="1D1D1A"/>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919666" y="4459620"/>
            <a:ext cx="4337981" cy="289199"/>
          </a:xfrm>
          <a:prstGeom prst="rect">
            <a:avLst/>
          </a:prstGeom>
          <a:solidFill>
            <a:srgbClr val="FCE0E6">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43" name="Connector 42"/>
          <p:cNvCxnSpPr/>
          <p:nvPr/>
        </p:nvCxnSpPr>
        <p:spPr>
          <a:xfrm>
            <a:off x="5257646" y="4382499"/>
            <a:ext cx="0" cy="424158"/>
          </a:xfrm>
          <a:prstGeom prst="line">
            <a:avLst/>
          </a:prstGeom>
          <a:ln w="21207">
            <a:solidFill>
              <a:srgbClr val="C00000"/>
            </a:solidFill>
          </a:ln>
        </p:spPr>
        <p:style>
          <a:lnRef idx="2">
            <a:schemeClr val="accent1"/>
          </a:lnRef>
          <a:fillRef idx="0">
            <a:schemeClr val="accent1"/>
          </a:fillRef>
          <a:effectRef idx="1">
            <a:schemeClr val="accent1"/>
          </a:effectRef>
          <a:fontRef idx="minor">
            <a:schemeClr val="tx1"/>
          </a:fontRef>
        </p:style>
      </p:cxnSp>
      <p:sp>
        <p:nvSpPr>
          <p:cNvPr id="44" name="Freeform 43"/>
          <p:cNvSpPr/>
          <p:nvPr/>
        </p:nvSpPr>
        <p:spPr>
          <a:xfrm>
            <a:off x="5199806" y="4825937"/>
            <a:ext cx="115680" cy="96400"/>
          </a:xfrm>
          <a:custGeom>
            <a:avLst/>
            <a:gdLst/>
            <a:ahLst/>
            <a:cxnLst/>
            <a:rect l="l" t="t" r="r" b="b"/>
            <a:pathLst>
              <a:path w="115680" h="96400">
                <a:moveTo>
                  <a:pt x="57840" y="0"/>
                </a:moveTo>
                <a:lnTo>
                  <a:pt x="0" y="96400"/>
                </a:lnTo>
                <a:lnTo>
                  <a:pt x="115680" y="96400"/>
                </a:lnTo>
                <a:close/>
              </a:path>
            </a:pathLst>
          </a:cu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5" name="TextBox 44"/>
          <p:cNvSpPr txBox="1"/>
          <p:nvPr/>
        </p:nvSpPr>
        <p:spPr>
          <a:xfrm>
            <a:off x="5259991" y="1217918"/>
            <a:ext cx="1985570" cy="161925"/>
          </a:xfrm>
          <a:prstGeom prst="rect">
            <a:avLst/>
          </a:prstGeom>
          <a:noFill/>
        </p:spPr>
        <p:txBody>
          <a:bodyPr wrap="none" lIns="0" tIns="0" rIns="0" bIns="0" anchor="t">
            <a:noAutofit/>
          </a:bodyPr>
          <a:lstStyle/>
          <a:p>
            <a:pPr defTabSz="457200"/>
            <a:r>
              <a:rPr sz="1000" b="1" dirty="0" err="1">
                <a:solidFill>
                  <a:srgbClr val="000000"/>
                </a:solidFill>
                <a:latin typeface="Microsoft YaHei"/>
                <a:ea typeface="Microsoft YaHei"/>
              </a:rPr>
              <a:t>HybridKVCacheCoordinator</a:t>
            </a:r>
            <a:endParaRPr sz="1000" b="1" dirty="0">
              <a:solidFill>
                <a:srgbClr val="000000"/>
              </a:solidFill>
              <a:latin typeface="Microsoft YaHei"/>
              <a:ea typeface="Microsoft YaHei"/>
            </a:endParaRPr>
          </a:p>
        </p:txBody>
      </p:sp>
      <p:sp>
        <p:nvSpPr>
          <p:cNvPr id="46" name="TextBox 45"/>
          <p:cNvSpPr txBox="1"/>
          <p:nvPr/>
        </p:nvSpPr>
        <p:spPr>
          <a:xfrm>
            <a:off x="1586944" y="1717739"/>
            <a:ext cx="3386911" cy="152400"/>
          </a:xfrm>
          <a:prstGeom prst="rect">
            <a:avLst/>
          </a:prstGeom>
          <a:noFill/>
        </p:spPr>
        <p:txBody>
          <a:bodyPr wrap="none" lIns="0" tIns="0" rIns="0" bIns="0" anchor="t">
            <a:noAutofit/>
          </a:bodyPr>
          <a:lstStyle/>
          <a:p>
            <a:pPr algn="ctr" defTabSz="457200"/>
            <a:r>
              <a:rPr sz="1000" b="1" dirty="0">
                <a:solidFill>
                  <a:srgbClr val="000000"/>
                </a:solidFill>
                <a:latin typeface="Microsoft YaHei"/>
                <a:ea typeface="Microsoft YaHei"/>
              </a:rPr>
              <a:t>MLA </a:t>
            </a:r>
            <a:r>
              <a:rPr lang="zh-CN" altLang="en-US" sz="1000" b="1" dirty="0">
                <a:solidFill>
                  <a:srgbClr val="000000"/>
                </a:solidFill>
                <a:latin typeface="Microsoft YaHei"/>
                <a:ea typeface="Microsoft YaHei"/>
              </a:rPr>
              <a:t>组</a:t>
            </a:r>
            <a:r>
              <a:rPr sz="1000" b="1" dirty="0">
                <a:solidFill>
                  <a:srgbClr val="000000"/>
                </a:solidFill>
                <a:latin typeface="Microsoft YaHei"/>
                <a:ea typeface="Microsoft YaHei"/>
              </a:rPr>
              <a:t>（</a:t>
            </a:r>
            <a:r>
              <a:rPr sz="1000" b="1" dirty="0" err="1">
                <a:solidFill>
                  <a:srgbClr val="000000"/>
                </a:solidFill>
                <a:latin typeface="Microsoft YaHei"/>
                <a:ea typeface="Microsoft YaHei"/>
              </a:rPr>
              <a:t>FullAttentionManager</a:t>
            </a:r>
            <a:r>
              <a:rPr sz="1000" b="1" dirty="0">
                <a:solidFill>
                  <a:srgbClr val="000000"/>
                </a:solidFill>
                <a:latin typeface="Microsoft YaHei"/>
                <a:ea typeface="Microsoft YaHei"/>
              </a:rPr>
              <a:t>）</a:t>
            </a:r>
          </a:p>
        </p:txBody>
      </p:sp>
      <p:sp>
        <p:nvSpPr>
          <p:cNvPr id="47" name="TextBox 46"/>
          <p:cNvSpPr txBox="1"/>
          <p:nvPr/>
        </p:nvSpPr>
        <p:spPr>
          <a:xfrm>
            <a:off x="1678906" y="1917991"/>
            <a:ext cx="3036014" cy="142875"/>
          </a:xfrm>
          <a:prstGeom prst="rect">
            <a:avLst/>
          </a:prstGeom>
          <a:noFill/>
        </p:spPr>
        <p:txBody>
          <a:bodyPr wrap="none" lIns="0" tIns="0" rIns="0" bIns="0" anchor="t">
            <a:noAutofit/>
          </a:bodyPr>
          <a:lstStyle/>
          <a:p>
            <a:pPr algn="ctr" defTabSz="457200">
              <a:lnSpc>
                <a:spcPct val="150000"/>
              </a:lnSpc>
            </a:pPr>
            <a:r>
              <a:rPr lang="zh-CN" altLang="en-US" sz="1100" dirty="0">
                <a:solidFill>
                  <a:srgbClr val="000000"/>
                </a:solidFill>
                <a:latin typeface="Microsoft YaHei"/>
                <a:ea typeface="Microsoft YaHei"/>
              </a:rPr>
              <a:t>每页存储一个</a:t>
            </a:r>
            <a:r>
              <a:rPr lang="en-US" altLang="zh-CN" sz="1100" dirty="0">
                <a:solidFill>
                  <a:srgbClr val="000000"/>
                </a:solidFill>
                <a:latin typeface="Microsoft YaHei"/>
                <a:ea typeface="Microsoft YaHei"/>
              </a:rPr>
              <a:t>Block</a:t>
            </a:r>
            <a:r>
              <a:rPr lang="zh-CN" altLang="en-US" sz="1100" dirty="0">
                <a:solidFill>
                  <a:srgbClr val="000000"/>
                </a:solidFill>
                <a:latin typeface="Microsoft YaHei"/>
                <a:ea typeface="Microsoft YaHei"/>
              </a:rPr>
              <a:t>的</a:t>
            </a:r>
            <a:r>
              <a:rPr lang="en-US" altLang="zh-CN" sz="1100" dirty="0">
                <a:solidFill>
                  <a:srgbClr val="000000"/>
                </a:solidFill>
                <a:latin typeface="Microsoft YaHei"/>
                <a:ea typeface="Microsoft YaHei"/>
              </a:rPr>
              <a:t>MLA KV</a:t>
            </a:r>
          </a:p>
          <a:p>
            <a:pPr algn="ctr" defTabSz="457200">
              <a:lnSpc>
                <a:spcPct val="150000"/>
              </a:lnSpc>
            </a:pPr>
            <a:r>
              <a:rPr lang="en-US" altLang="zh-CN" sz="1100" b="1" dirty="0">
                <a:solidFill>
                  <a:prstClr val="black"/>
                </a:solidFill>
                <a:latin typeface="Microsoft YaHei"/>
                <a:ea typeface="Microsoft YaHei"/>
              </a:rPr>
              <a:t>MLA </a:t>
            </a:r>
            <a:r>
              <a:rPr lang="zh-CN" altLang="en-US" sz="1100" b="1" dirty="0">
                <a:solidFill>
                  <a:prstClr val="black"/>
                </a:solidFill>
                <a:latin typeface="Microsoft YaHei"/>
                <a:ea typeface="Microsoft YaHei"/>
              </a:rPr>
              <a:t>页 </a:t>
            </a:r>
            <a:r>
              <a:rPr lang="en-US" altLang="zh-CN" sz="1100" b="1" dirty="0">
                <a:solidFill>
                  <a:prstClr val="black"/>
                </a:solidFill>
                <a:latin typeface="Microsoft YaHei"/>
                <a:ea typeface="Microsoft YaHei"/>
              </a:rPr>
              <a:t>= </a:t>
            </a:r>
            <a:r>
              <a:rPr lang="en-US" altLang="zh-CN" sz="1100" b="1" dirty="0" err="1">
                <a:solidFill>
                  <a:prstClr val="black"/>
                </a:solidFill>
                <a:latin typeface="Microsoft YaHei"/>
                <a:ea typeface="Microsoft YaHei"/>
              </a:rPr>
              <a:t>BlockSize</a:t>
            </a:r>
            <a:r>
              <a:rPr lang="en-US" altLang="zh-CN" sz="1100" b="1" dirty="0">
                <a:solidFill>
                  <a:prstClr val="black"/>
                </a:solidFill>
                <a:latin typeface="Microsoft YaHei"/>
                <a:ea typeface="Microsoft YaHei"/>
              </a:rPr>
              <a:t> × </a:t>
            </a:r>
            <a:r>
              <a:rPr lang="zh-CN" altLang="en-US" sz="1100" b="1" dirty="0">
                <a:solidFill>
                  <a:prstClr val="black"/>
                </a:solidFill>
                <a:latin typeface="Microsoft YaHei"/>
                <a:ea typeface="Microsoft YaHei"/>
              </a:rPr>
              <a:t>每 </a:t>
            </a:r>
            <a:r>
              <a:rPr lang="en-US" altLang="zh-CN" sz="1100" b="1" dirty="0">
                <a:solidFill>
                  <a:prstClr val="black"/>
                </a:solidFill>
                <a:latin typeface="Microsoft YaHei"/>
                <a:ea typeface="Microsoft YaHei"/>
              </a:rPr>
              <a:t>token KV </a:t>
            </a:r>
            <a:r>
              <a:rPr lang="zh-CN" altLang="en-US" sz="1100" b="1" dirty="0">
                <a:solidFill>
                  <a:prstClr val="black"/>
                </a:solidFill>
                <a:latin typeface="Microsoft YaHei"/>
                <a:ea typeface="Microsoft YaHei"/>
              </a:rPr>
              <a:t>字节</a:t>
            </a:r>
            <a:endParaRPr sz="1100" dirty="0">
              <a:solidFill>
                <a:prstClr val="black"/>
              </a:solidFill>
              <a:latin typeface="Microsoft YaHei"/>
              <a:ea typeface="Microsoft YaHei"/>
            </a:endParaRPr>
          </a:p>
        </p:txBody>
      </p:sp>
      <p:sp>
        <p:nvSpPr>
          <p:cNvPr id="49" name="TextBox 48"/>
          <p:cNvSpPr txBox="1"/>
          <p:nvPr/>
        </p:nvSpPr>
        <p:spPr>
          <a:xfrm>
            <a:off x="7530421" y="1738877"/>
            <a:ext cx="3079398" cy="152400"/>
          </a:xfrm>
          <a:prstGeom prst="rect">
            <a:avLst/>
          </a:prstGeom>
          <a:noFill/>
        </p:spPr>
        <p:txBody>
          <a:bodyPr wrap="none" lIns="0" tIns="0" rIns="0" bIns="0" anchor="t">
            <a:noAutofit/>
          </a:bodyPr>
          <a:lstStyle/>
          <a:p>
            <a:pPr algn="ctr" defTabSz="457200"/>
            <a:r>
              <a:rPr sz="1000" b="1" dirty="0">
                <a:solidFill>
                  <a:srgbClr val="000000"/>
                </a:solidFill>
                <a:latin typeface="Microsoft YaHei"/>
                <a:ea typeface="Microsoft YaHei"/>
              </a:rPr>
              <a:t>KDA </a:t>
            </a:r>
            <a:r>
              <a:rPr sz="1000" b="1" dirty="0" err="1">
                <a:solidFill>
                  <a:srgbClr val="000000"/>
                </a:solidFill>
                <a:latin typeface="Microsoft YaHei"/>
                <a:ea typeface="Microsoft YaHei"/>
              </a:rPr>
              <a:t>组（AscendMambaManager</a:t>
            </a:r>
            <a:r>
              <a:rPr sz="1000" b="1" dirty="0">
                <a:solidFill>
                  <a:srgbClr val="000000"/>
                </a:solidFill>
                <a:latin typeface="Microsoft YaHei"/>
                <a:ea typeface="Microsoft YaHei"/>
              </a:rPr>
              <a:t>）</a:t>
            </a:r>
          </a:p>
        </p:txBody>
      </p:sp>
      <p:sp>
        <p:nvSpPr>
          <p:cNvPr id="50" name="TextBox 49"/>
          <p:cNvSpPr txBox="1"/>
          <p:nvPr/>
        </p:nvSpPr>
        <p:spPr>
          <a:xfrm>
            <a:off x="7097334" y="1936757"/>
            <a:ext cx="3945572" cy="491207"/>
          </a:xfrm>
          <a:prstGeom prst="rect">
            <a:avLst/>
          </a:prstGeom>
          <a:noFill/>
        </p:spPr>
        <p:txBody>
          <a:bodyPr wrap="none" lIns="0" tIns="0" rIns="0" bIns="0" anchor="t">
            <a:noAutofit/>
          </a:bodyPr>
          <a:lstStyle/>
          <a:p>
            <a:pPr algn="ctr" defTabSz="457200">
              <a:lnSpc>
                <a:spcPct val="150000"/>
              </a:lnSpc>
            </a:pPr>
            <a:r>
              <a:rPr lang="zh-CN" altLang="en-US" sz="1100" dirty="0">
                <a:solidFill>
                  <a:srgbClr val="000000"/>
                </a:solidFill>
                <a:latin typeface="Microsoft YaHei"/>
                <a:ea typeface="Microsoft YaHei"/>
              </a:rPr>
              <a:t>每页存储一个位置的</a:t>
            </a:r>
            <a:r>
              <a:rPr lang="en-US" altLang="zh-CN" sz="1100" dirty="0">
                <a:solidFill>
                  <a:srgbClr val="000000"/>
                </a:solidFill>
                <a:latin typeface="Microsoft YaHei"/>
                <a:ea typeface="Microsoft YaHei"/>
              </a:rPr>
              <a:t>Recurrent State</a:t>
            </a:r>
            <a:r>
              <a:rPr lang="zh-CN" altLang="en-US" sz="1100" dirty="0">
                <a:solidFill>
                  <a:srgbClr val="000000"/>
                </a:solidFill>
                <a:latin typeface="Microsoft YaHei"/>
                <a:ea typeface="Microsoft YaHei"/>
              </a:rPr>
              <a:t>，称为</a:t>
            </a:r>
            <a:r>
              <a:rPr lang="en-US" altLang="zh-CN" sz="1100" dirty="0">
                <a:solidFill>
                  <a:srgbClr val="000000"/>
                </a:solidFill>
                <a:latin typeface="Microsoft YaHei"/>
                <a:ea typeface="Microsoft YaHei"/>
              </a:rPr>
              <a:t>Checkpoint</a:t>
            </a:r>
          </a:p>
          <a:p>
            <a:pPr algn="ctr" defTabSz="457200">
              <a:lnSpc>
                <a:spcPct val="150000"/>
              </a:lnSpc>
            </a:pPr>
            <a:r>
              <a:rPr lang="en-US" altLang="zh-CN" sz="1100" b="1" dirty="0">
                <a:solidFill>
                  <a:prstClr val="black"/>
                </a:solidFill>
                <a:latin typeface="Microsoft YaHei"/>
                <a:ea typeface="Microsoft YaHei"/>
              </a:rPr>
              <a:t>KDA </a:t>
            </a:r>
            <a:r>
              <a:rPr lang="zh-CN" altLang="en-US" sz="1100" b="1" dirty="0">
                <a:solidFill>
                  <a:prstClr val="black"/>
                </a:solidFill>
                <a:latin typeface="Microsoft YaHei"/>
                <a:ea typeface="Microsoft YaHei"/>
              </a:rPr>
              <a:t>页 </a:t>
            </a:r>
            <a:r>
              <a:rPr lang="en-US" altLang="zh-CN" sz="1100" b="1" dirty="0">
                <a:solidFill>
                  <a:prstClr val="black"/>
                </a:solidFill>
                <a:latin typeface="Microsoft YaHei"/>
                <a:ea typeface="Microsoft YaHei"/>
              </a:rPr>
              <a:t>= 1 </a:t>
            </a:r>
            <a:r>
              <a:rPr lang="zh-CN" altLang="en-US" sz="1100" b="1" dirty="0">
                <a:solidFill>
                  <a:prstClr val="black"/>
                </a:solidFill>
                <a:latin typeface="Microsoft YaHei"/>
                <a:ea typeface="Microsoft YaHei"/>
              </a:rPr>
              <a:t>份 </a:t>
            </a:r>
            <a:r>
              <a:rPr lang="en-US" altLang="zh-CN" sz="1100" b="1" dirty="0">
                <a:solidFill>
                  <a:prstClr val="black"/>
                </a:solidFill>
                <a:latin typeface="Microsoft YaHei"/>
                <a:ea typeface="Microsoft YaHei"/>
              </a:rPr>
              <a:t>state </a:t>
            </a:r>
            <a:r>
              <a:rPr lang="zh-CN" altLang="en-US" sz="1100" b="1" dirty="0">
                <a:solidFill>
                  <a:prstClr val="black"/>
                </a:solidFill>
                <a:latin typeface="Microsoft YaHei"/>
                <a:ea typeface="Microsoft YaHei"/>
              </a:rPr>
              <a:t>字节（</a:t>
            </a:r>
            <a:r>
              <a:rPr lang="en-US" altLang="zh-CN" sz="1100" b="1" dirty="0">
                <a:solidFill>
                  <a:prstClr val="black"/>
                </a:solidFill>
                <a:latin typeface="Microsoft YaHei"/>
                <a:ea typeface="Microsoft YaHei"/>
              </a:rPr>
              <a:t>pad </a:t>
            </a:r>
            <a:r>
              <a:rPr lang="zh-CN" altLang="en-US" sz="1100" b="1" dirty="0">
                <a:solidFill>
                  <a:prstClr val="black"/>
                </a:solidFill>
                <a:latin typeface="Microsoft YaHei"/>
                <a:ea typeface="Microsoft YaHei"/>
              </a:rPr>
              <a:t>后相等）</a:t>
            </a:r>
            <a:endParaRPr lang="en-US" altLang="zh-CN" sz="1100" dirty="0">
              <a:solidFill>
                <a:prstClr val="black"/>
              </a:solidFill>
              <a:latin typeface="Microsoft YaHei"/>
              <a:ea typeface="Microsoft YaHei"/>
            </a:endParaRPr>
          </a:p>
        </p:txBody>
      </p:sp>
      <p:sp>
        <p:nvSpPr>
          <p:cNvPr id="55" name="TextBox 54"/>
          <p:cNvSpPr txBox="1"/>
          <p:nvPr/>
        </p:nvSpPr>
        <p:spPr>
          <a:xfrm>
            <a:off x="879888" y="4100831"/>
            <a:ext cx="5535117" cy="152400"/>
          </a:xfrm>
          <a:prstGeom prst="rect">
            <a:avLst/>
          </a:prstGeom>
          <a:noFill/>
        </p:spPr>
        <p:txBody>
          <a:bodyPr wrap="none" lIns="0" tIns="0" rIns="0" bIns="0" anchor="t">
            <a:noAutofit/>
          </a:bodyPr>
          <a:lstStyle/>
          <a:p>
            <a:pPr defTabSz="457200"/>
            <a:r>
              <a:rPr lang="zh-CN" altLang="en-US" sz="1200" dirty="0">
                <a:solidFill>
                  <a:srgbClr val="000000"/>
                </a:solidFill>
                <a:latin typeface="Microsoft YaHei"/>
                <a:ea typeface="Microsoft YaHei"/>
              </a:rPr>
              <a:t>假设对齐后 </a:t>
            </a:r>
            <a:r>
              <a:rPr sz="1200" dirty="0">
                <a:solidFill>
                  <a:srgbClr val="000000"/>
                </a:solidFill>
                <a:latin typeface="Microsoft YaHei"/>
                <a:ea typeface="Microsoft YaHei"/>
              </a:rPr>
              <a:t>1 个 physical block = 6144 </a:t>
            </a:r>
            <a:r>
              <a:rPr sz="1200" dirty="0" err="1">
                <a:solidFill>
                  <a:srgbClr val="000000"/>
                </a:solidFill>
                <a:latin typeface="Microsoft YaHei"/>
                <a:ea typeface="Microsoft YaHei"/>
              </a:rPr>
              <a:t>token（</a:t>
            </a:r>
            <a:r>
              <a:rPr sz="1200" b="1" dirty="0" err="1">
                <a:solidFill>
                  <a:srgbClr val="1D1D1A"/>
                </a:solidFill>
                <a:latin typeface="Microsoft YaHei"/>
                <a:ea typeface="Microsoft YaHei"/>
              </a:rPr>
              <a:t>存储单位</a:t>
            </a:r>
            <a:r>
              <a:rPr lang="zh-CN" altLang="en-US" sz="1200" dirty="0">
                <a:solidFill>
                  <a:srgbClr val="000000"/>
                </a:solidFill>
                <a:latin typeface="Microsoft YaHei"/>
                <a:ea typeface="Microsoft YaHei"/>
              </a:rPr>
              <a:t>），可以令</a:t>
            </a:r>
            <a:r>
              <a:rPr sz="1200" dirty="0">
                <a:solidFill>
                  <a:srgbClr val="000000"/>
                </a:solidFill>
                <a:latin typeface="Microsoft YaHei"/>
                <a:ea typeface="Microsoft YaHei"/>
              </a:rPr>
              <a:t>hash </a:t>
            </a:r>
            <a:r>
              <a:rPr lang="en-US" sz="1200" dirty="0">
                <a:solidFill>
                  <a:srgbClr val="000000"/>
                </a:solidFill>
                <a:latin typeface="Microsoft YaHei"/>
                <a:ea typeface="Microsoft YaHei"/>
              </a:rPr>
              <a:t>block</a:t>
            </a:r>
            <a:r>
              <a:rPr sz="1200" dirty="0">
                <a:solidFill>
                  <a:srgbClr val="000000"/>
                </a:solidFill>
                <a:latin typeface="Microsoft YaHei"/>
                <a:ea typeface="Microsoft YaHei"/>
              </a:rPr>
              <a:t> = 512（</a:t>
            </a:r>
            <a:r>
              <a:rPr sz="1200" b="1" dirty="0">
                <a:solidFill>
                  <a:srgbClr val="1D1D1A"/>
                </a:solidFill>
                <a:latin typeface="Microsoft YaHei"/>
                <a:ea typeface="Microsoft YaHei"/>
              </a:rPr>
              <a:t>命中粒度</a:t>
            </a:r>
            <a:r>
              <a:rPr sz="1200" dirty="0">
                <a:solidFill>
                  <a:srgbClr val="000000"/>
                </a:solidFill>
                <a:latin typeface="Microsoft YaHei"/>
                <a:ea typeface="Microsoft YaHei"/>
              </a:rPr>
              <a:t>）</a:t>
            </a:r>
          </a:p>
        </p:txBody>
      </p:sp>
      <p:sp>
        <p:nvSpPr>
          <p:cNvPr id="56" name="TextBox 55"/>
          <p:cNvSpPr txBox="1"/>
          <p:nvPr/>
        </p:nvSpPr>
        <p:spPr>
          <a:xfrm>
            <a:off x="5144261" y="5034193"/>
            <a:ext cx="2060313" cy="142875"/>
          </a:xfrm>
          <a:prstGeom prst="rect">
            <a:avLst/>
          </a:prstGeom>
          <a:noFill/>
        </p:spPr>
        <p:txBody>
          <a:bodyPr wrap="none" lIns="0" tIns="0" rIns="0" bIns="0" anchor="t">
            <a:noAutofit/>
          </a:bodyPr>
          <a:lstStyle/>
          <a:p>
            <a:pPr defTabSz="457200"/>
            <a:r>
              <a:rPr sz="1000" b="1" dirty="0" err="1">
                <a:solidFill>
                  <a:srgbClr val="C00000"/>
                </a:solidFill>
                <a:latin typeface="Microsoft YaHei"/>
                <a:ea typeface="Microsoft YaHei"/>
              </a:rPr>
              <a:t>命中</a:t>
            </a:r>
            <a:r>
              <a:rPr sz="1000" b="1" dirty="0">
                <a:solidFill>
                  <a:srgbClr val="C00000"/>
                </a:solidFill>
                <a:latin typeface="Microsoft YaHei"/>
                <a:ea typeface="Microsoft YaHei"/>
              </a:rPr>
              <a:t> 2560 = 5×512（</a:t>
            </a:r>
            <a:r>
              <a:rPr lang="en-US" sz="1000" b="1" dirty="0">
                <a:solidFill>
                  <a:srgbClr val="C00000"/>
                </a:solidFill>
                <a:latin typeface="Microsoft YaHei"/>
                <a:ea typeface="Microsoft YaHei"/>
              </a:rPr>
              <a:t>Physical </a:t>
            </a:r>
            <a:r>
              <a:rPr sz="1000" b="1" dirty="0">
                <a:solidFill>
                  <a:srgbClr val="C00000"/>
                </a:solidFill>
                <a:latin typeface="Microsoft YaHei"/>
                <a:ea typeface="Microsoft YaHei"/>
              </a:rPr>
              <a:t>block </a:t>
            </a:r>
            <a:r>
              <a:rPr sz="1000" b="1" dirty="0" err="1">
                <a:solidFill>
                  <a:srgbClr val="C00000"/>
                </a:solidFill>
                <a:latin typeface="Microsoft YaHei"/>
                <a:ea typeface="Microsoft YaHei"/>
              </a:rPr>
              <a:t>内部</a:t>
            </a:r>
            <a:r>
              <a:rPr sz="1000" b="1" dirty="0">
                <a:solidFill>
                  <a:srgbClr val="C00000"/>
                </a:solidFill>
                <a:latin typeface="Microsoft YaHei"/>
                <a:ea typeface="Microsoft YaHei"/>
              </a:rPr>
              <a:t>）</a:t>
            </a:r>
          </a:p>
        </p:txBody>
      </p:sp>
      <p:sp>
        <p:nvSpPr>
          <p:cNvPr id="57" name="TextBox 56"/>
          <p:cNvSpPr txBox="1"/>
          <p:nvPr/>
        </p:nvSpPr>
        <p:spPr>
          <a:xfrm>
            <a:off x="892778" y="4788524"/>
            <a:ext cx="209550" cy="123825"/>
          </a:xfrm>
          <a:prstGeom prst="rect">
            <a:avLst/>
          </a:prstGeom>
          <a:noFill/>
        </p:spPr>
        <p:txBody>
          <a:bodyPr wrap="none" lIns="0" tIns="0" rIns="0" bIns="0" anchor="t">
            <a:noAutofit/>
          </a:bodyPr>
          <a:lstStyle/>
          <a:p>
            <a:pPr defTabSz="457200"/>
            <a:r>
              <a:rPr sz="721">
                <a:solidFill>
                  <a:srgbClr val="929292"/>
                </a:solidFill>
                <a:latin typeface="Microsoft YaHei"/>
                <a:ea typeface="Microsoft YaHei"/>
              </a:rPr>
              <a:t>0</a:t>
            </a:r>
          </a:p>
        </p:txBody>
      </p:sp>
      <p:sp>
        <p:nvSpPr>
          <p:cNvPr id="58" name="TextBox 57"/>
          <p:cNvSpPr txBox="1"/>
          <p:nvPr/>
        </p:nvSpPr>
        <p:spPr>
          <a:xfrm>
            <a:off x="2547462" y="4788524"/>
            <a:ext cx="370618" cy="123825"/>
          </a:xfrm>
          <a:prstGeom prst="rect">
            <a:avLst/>
          </a:prstGeom>
          <a:noFill/>
        </p:spPr>
        <p:txBody>
          <a:bodyPr wrap="none" lIns="0" tIns="0" rIns="0" bIns="0" anchor="t">
            <a:noAutofit/>
          </a:bodyPr>
          <a:lstStyle/>
          <a:p>
            <a:pPr defTabSz="457200"/>
            <a:r>
              <a:rPr sz="721" dirty="0">
                <a:solidFill>
                  <a:srgbClr val="929292"/>
                </a:solidFill>
                <a:latin typeface="Microsoft YaHei"/>
                <a:ea typeface="Microsoft YaHei"/>
              </a:rPr>
              <a:t>1024</a:t>
            </a:r>
          </a:p>
        </p:txBody>
      </p:sp>
      <p:sp>
        <p:nvSpPr>
          <p:cNvPr id="59" name="TextBox 58"/>
          <p:cNvSpPr txBox="1"/>
          <p:nvPr/>
        </p:nvSpPr>
        <p:spPr>
          <a:xfrm>
            <a:off x="4282631" y="4788524"/>
            <a:ext cx="370618" cy="123825"/>
          </a:xfrm>
          <a:prstGeom prst="rect">
            <a:avLst/>
          </a:prstGeom>
          <a:noFill/>
        </p:spPr>
        <p:txBody>
          <a:bodyPr wrap="none" lIns="0" tIns="0" rIns="0" bIns="0" anchor="t">
            <a:noAutofit/>
          </a:bodyPr>
          <a:lstStyle/>
          <a:p>
            <a:pPr defTabSz="457200"/>
            <a:r>
              <a:rPr sz="721">
                <a:solidFill>
                  <a:srgbClr val="929292"/>
                </a:solidFill>
                <a:latin typeface="Microsoft YaHei"/>
                <a:ea typeface="Microsoft YaHei"/>
              </a:rPr>
              <a:t>2048</a:t>
            </a:r>
          </a:p>
        </p:txBody>
      </p:sp>
      <p:sp>
        <p:nvSpPr>
          <p:cNvPr id="60" name="TextBox 59"/>
          <p:cNvSpPr txBox="1"/>
          <p:nvPr/>
        </p:nvSpPr>
        <p:spPr>
          <a:xfrm>
            <a:off x="6017895" y="4788524"/>
            <a:ext cx="370618" cy="123825"/>
          </a:xfrm>
          <a:prstGeom prst="rect">
            <a:avLst/>
          </a:prstGeom>
          <a:noFill/>
        </p:spPr>
        <p:txBody>
          <a:bodyPr wrap="none" lIns="0" tIns="0" rIns="0" bIns="0" anchor="t">
            <a:noAutofit/>
          </a:bodyPr>
          <a:lstStyle/>
          <a:p>
            <a:pPr defTabSz="457200"/>
            <a:r>
              <a:rPr sz="721">
                <a:solidFill>
                  <a:srgbClr val="929292"/>
                </a:solidFill>
                <a:latin typeface="Microsoft YaHei"/>
                <a:ea typeface="Microsoft YaHei"/>
              </a:rPr>
              <a:t>3072</a:t>
            </a:r>
          </a:p>
        </p:txBody>
      </p:sp>
      <p:sp>
        <p:nvSpPr>
          <p:cNvPr id="61" name="TextBox 60"/>
          <p:cNvSpPr txBox="1"/>
          <p:nvPr/>
        </p:nvSpPr>
        <p:spPr>
          <a:xfrm>
            <a:off x="7743541" y="4788524"/>
            <a:ext cx="380143" cy="123825"/>
          </a:xfrm>
          <a:prstGeom prst="rect">
            <a:avLst/>
          </a:prstGeom>
          <a:noFill/>
        </p:spPr>
        <p:txBody>
          <a:bodyPr wrap="none" lIns="0" tIns="0" rIns="0" bIns="0" anchor="t">
            <a:noAutofit/>
          </a:bodyPr>
          <a:lstStyle/>
          <a:p>
            <a:pPr defTabSz="457200"/>
            <a:r>
              <a:rPr sz="721">
                <a:solidFill>
                  <a:srgbClr val="929292"/>
                </a:solidFill>
                <a:latin typeface="Microsoft YaHei"/>
                <a:ea typeface="Microsoft YaHei"/>
              </a:rPr>
              <a:t>4096</a:t>
            </a:r>
          </a:p>
        </p:txBody>
      </p:sp>
      <p:sp>
        <p:nvSpPr>
          <p:cNvPr id="62" name="TextBox 61"/>
          <p:cNvSpPr txBox="1"/>
          <p:nvPr/>
        </p:nvSpPr>
        <p:spPr>
          <a:xfrm>
            <a:off x="9488234" y="4788524"/>
            <a:ext cx="370618" cy="123825"/>
          </a:xfrm>
          <a:prstGeom prst="rect">
            <a:avLst/>
          </a:prstGeom>
          <a:noFill/>
        </p:spPr>
        <p:txBody>
          <a:bodyPr wrap="none" lIns="0" tIns="0" rIns="0" bIns="0" anchor="t">
            <a:noAutofit/>
          </a:bodyPr>
          <a:lstStyle/>
          <a:p>
            <a:pPr defTabSz="457200"/>
            <a:r>
              <a:rPr sz="721">
                <a:solidFill>
                  <a:srgbClr val="929292"/>
                </a:solidFill>
                <a:latin typeface="Microsoft YaHei"/>
                <a:ea typeface="Microsoft YaHei"/>
              </a:rPr>
              <a:t>5120</a:t>
            </a:r>
          </a:p>
        </p:txBody>
      </p:sp>
      <p:sp>
        <p:nvSpPr>
          <p:cNvPr id="63" name="TextBox 62"/>
          <p:cNvSpPr txBox="1"/>
          <p:nvPr/>
        </p:nvSpPr>
        <p:spPr>
          <a:xfrm>
            <a:off x="11223403" y="4788524"/>
            <a:ext cx="370618" cy="123825"/>
          </a:xfrm>
          <a:prstGeom prst="rect">
            <a:avLst/>
          </a:prstGeom>
          <a:noFill/>
        </p:spPr>
        <p:txBody>
          <a:bodyPr wrap="none" lIns="0" tIns="0" rIns="0" bIns="0" anchor="t">
            <a:noAutofit/>
          </a:bodyPr>
          <a:lstStyle/>
          <a:p>
            <a:pPr defTabSz="457200"/>
            <a:r>
              <a:rPr sz="721">
                <a:solidFill>
                  <a:srgbClr val="929292"/>
                </a:solidFill>
                <a:latin typeface="Microsoft YaHei"/>
                <a:ea typeface="Microsoft YaHei"/>
              </a:rPr>
              <a:t>6144</a:t>
            </a:r>
          </a:p>
        </p:txBody>
      </p:sp>
      <p:sp>
        <p:nvSpPr>
          <p:cNvPr id="64" name="TextBox 63"/>
          <p:cNvSpPr txBox="1"/>
          <p:nvPr/>
        </p:nvSpPr>
        <p:spPr>
          <a:xfrm>
            <a:off x="883254" y="5328268"/>
            <a:ext cx="4261007" cy="152400"/>
          </a:xfrm>
          <a:prstGeom prst="rect">
            <a:avLst/>
          </a:prstGeom>
          <a:noFill/>
        </p:spPr>
        <p:txBody>
          <a:bodyPr wrap="none" lIns="0" tIns="0" rIns="0" bIns="0" anchor="t">
            <a:noAutofit/>
          </a:bodyPr>
          <a:lstStyle/>
          <a:p>
            <a:pPr defTabSz="457200"/>
            <a:r>
              <a:rPr sz="1200" dirty="0" err="1">
                <a:solidFill>
                  <a:srgbClr val="1D1D1A"/>
                </a:solidFill>
                <a:latin typeface="Microsoft YaHei"/>
                <a:ea typeface="Microsoft YaHei"/>
              </a:rPr>
              <a:t>只按</a:t>
            </a:r>
            <a:r>
              <a:rPr sz="1200" dirty="0">
                <a:solidFill>
                  <a:srgbClr val="1D1D1A"/>
                </a:solidFill>
                <a:latin typeface="Microsoft YaHei"/>
                <a:ea typeface="Microsoft YaHei"/>
              </a:rPr>
              <a:t> physical 边界命中：2560 </a:t>
            </a:r>
            <a:r>
              <a:rPr lang="en-US" altLang="zh-CN" sz="1200" dirty="0">
                <a:solidFill>
                  <a:srgbClr val="1D1D1A"/>
                </a:solidFill>
                <a:latin typeface="Microsoft YaHei"/>
                <a:ea typeface="Microsoft YaHei"/>
              </a:rPr>
              <a:t>token</a:t>
            </a:r>
            <a:r>
              <a:rPr lang="zh-CN" altLang="en-US" sz="1200" dirty="0">
                <a:solidFill>
                  <a:srgbClr val="1D1D1A"/>
                </a:solidFill>
                <a:latin typeface="Microsoft YaHei"/>
                <a:ea typeface="Microsoft YaHei"/>
              </a:rPr>
              <a:t>前缀</a:t>
            </a:r>
            <a:r>
              <a:rPr lang="en-US" altLang="zh-CN" sz="1200" dirty="0" err="1">
                <a:solidFill>
                  <a:srgbClr val="1D1D1A"/>
                </a:solidFill>
                <a:latin typeface="Microsoft YaHei"/>
                <a:ea typeface="Microsoft YaHei"/>
              </a:rPr>
              <a:t>kv</a:t>
            </a:r>
            <a:r>
              <a:rPr lang="zh-CN" altLang="en-US" sz="1200" dirty="0">
                <a:solidFill>
                  <a:srgbClr val="1D1D1A"/>
                </a:solidFill>
                <a:latin typeface="Microsoft YaHei"/>
                <a:ea typeface="Microsoft YaHei"/>
              </a:rPr>
              <a:t>无法复用</a:t>
            </a:r>
            <a:endParaRPr sz="1200" b="1" dirty="0">
              <a:solidFill>
                <a:srgbClr val="1D1D1A"/>
              </a:solidFill>
              <a:latin typeface="Microsoft YaHei"/>
              <a:ea typeface="Microsoft YaHei"/>
            </a:endParaRPr>
          </a:p>
        </p:txBody>
      </p:sp>
      <p:sp>
        <p:nvSpPr>
          <p:cNvPr id="65" name="TextBox 64"/>
          <p:cNvSpPr txBox="1"/>
          <p:nvPr/>
        </p:nvSpPr>
        <p:spPr>
          <a:xfrm>
            <a:off x="892779" y="5584186"/>
            <a:ext cx="3027247" cy="152400"/>
          </a:xfrm>
          <a:prstGeom prst="rect">
            <a:avLst/>
          </a:prstGeom>
          <a:noFill/>
        </p:spPr>
        <p:txBody>
          <a:bodyPr wrap="none" lIns="0" tIns="0" rIns="0" bIns="0" anchor="t">
            <a:noAutofit/>
          </a:bodyPr>
          <a:lstStyle/>
          <a:p>
            <a:pPr defTabSz="457200"/>
            <a:r>
              <a:rPr sz="1200" dirty="0">
                <a:solidFill>
                  <a:srgbClr val="1D1D1A"/>
                </a:solidFill>
                <a:latin typeface="Microsoft YaHei"/>
                <a:ea typeface="Microsoft YaHei"/>
              </a:rPr>
              <a:t>hash 解耦后：2560 </a:t>
            </a:r>
            <a:r>
              <a:rPr sz="1200" dirty="0" err="1">
                <a:solidFill>
                  <a:srgbClr val="1D1D1A"/>
                </a:solidFill>
                <a:latin typeface="Microsoft YaHei"/>
                <a:ea typeface="Microsoft YaHei"/>
              </a:rPr>
              <a:t>处直接续算，</a:t>
            </a:r>
            <a:r>
              <a:rPr sz="1200" b="1" dirty="0" err="1">
                <a:solidFill>
                  <a:srgbClr val="1D1D1A"/>
                </a:solidFill>
                <a:latin typeface="Microsoft YaHei"/>
                <a:ea typeface="Microsoft YaHei"/>
              </a:rPr>
              <a:t>只算剩余后缀</a:t>
            </a:r>
            <a:endParaRPr sz="1200" b="1" dirty="0">
              <a:solidFill>
                <a:srgbClr val="1D1D1A"/>
              </a:solidFill>
              <a:latin typeface="Microsoft YaHei"/>
              <a:ea typeface="Microsoft YaHei"/>
            </a:endParaRPr>
          </a:p>
        </p:txBody>
      </p:sp>
      <p:sp>
        <p:nvSpPr>
          <p:cNvPr id="66" name="TextBox 65"/>
          <p:cNvSpPr txBox="1"/>
          <p:nvPr/>
        </p:nvSpPr>
        <p:spPr>
          <a:xfrm>
            <a:off x="883253" y="5848905"/>
            <a:ext cx="4391160" cy="152400"/>
          </a:xfrm>
          <a:prstGeom prst="rect">
            <a:avLst/>
          </a:prstGeom>
          <a:noFill/>
        </p:spPr>
        <p:txBody>
          <a:bodyPr wrap="none" lIns="0" tIns="0" rIns="0" bIns="0" anchor="t">
            <a:noAutofit/>
          </a:bodyPr>
          <a:lstStyle/>
          <a:p>
            <a:pPr defTabSz="457200"/>
            <a:r>
              <a:rPr sz="1200" b="1" dirty="0" err="1">
                <a:solidFill>
                  <a:srgbClr val="C00000"/>
                </a:solidFill>
                <a:latin typeface="Microsoft YaHei"/>
                <a:ea typeface="Microsoft YaHei"/>
              </a:rPr>
              <a:t>存储单位保持粗粒度</a:t>
            </a:r>
            <a:r>
              <a:rPr sz="1200" b="1" dirty="0">
                <a:solidFill>
                  <a:srgbClr val="C00000"/>
                </a:solidFill>
                <a:latin typeface="Microsoft YaHei"/>
                <a:ea typeface="Microsoft YaHei"/>
              </a:rPr>
              <a:t>，</a:t>
            </a:r>
            <a:r>
              <a:rPr lang="zh-CN" altLang="en-US" sz="1200" b="1" dirty="0">
                <a:solidFill>
                  <a:srgbClr val="C00000"/>
                </a:solidFill>
                <a:latin typeface="Microsoft YaHei"/>
                <a:ea typeface="Microsoft YaHei"/>
              </a:rPr>
              <a:t>命中</a:t>
            </a:r>
            <a:r>
              <a:rPr sz="1200" b="1" dirty="0" err="1">
                <a:solidFill>
                  <a:srgbClr val="C00000"/>
                </a:solidFill>
                <a:latin typeface="Microsoft YaHei"/>
                <a:ea typeface="Microsoft YaHei"/>
              </a:rPr>
              <a:t>边界细化</a:t>
            </a:r>
            <a:r>
              <a:rPr lang="zh-CN" altLang="en-US" sz="1200" b="1" dirty="0">
                <a:solidFill>
                  <a:srgbClr val="C00000"/>
                </a:solidFill>
                <a:latin typeface="Microsoft YaHei"/>
                <a:ea typeface="Microsoft YaHei"/>
              </a:rPr>
              <a:t>可提升</a:t>
            </a:r>
            <a:r>
              <a:rPr lang="en-US" altLang="zh-CN" sz="1200" b="1" dirty="0">
                <a:solidFill>
                  <a:srgbClr val="C00000"/>
                </a:solidFill>
                <a:latin typeface="Microsoft YaHei"/>
                <a:ea typeface="Microsoft YaHei"/>
              </a:rPr>
              <a:t>Prefix cache</a:t>
            </a:r>
            <a:r>
              <a:rPr lang="zh-CN" altLang="en-US" sz="1200" b="1" dirty="0">
                <a:solidFill>
                  <a:srgbClr val="C00000"/>
                </a:solidFill>
                <a:latin typeface="Microsoft YaHei"/>
                <a:ea typeface="Microsoft YaHei"/>
              </a:rPr>
              <a:t>命中率</a:t>
            </a:r>
            <a:endParaRPr sz="1200" b="1" dirty="0">
              <a:solidFill>
                <a:srgbClr val="C00000"/>
              </a:solidFill>
              <a:latin typeface="Microsoft YaHei"/>
              <a:ea typeface="Microsoft YaHei"/>
            </a:endParaRPr>
          </a:p>
        </p:txBody>
      </p:sp>
      <p:sp>
        <p:nvSpPr>
          <p:cNvPr id="67" name="TextBox 66"/>
          <p:cNvSpPr txBox="1"/>
          <p:nvPr/>
        </p:nvSpPr>
        <p:spPr>
          <a:xfrm>
            <a:off x="354807" y="266700"/>
            <a:ext cx="11337097" cy="342900"/>
          </a:xfrm>
          <a:prstGeom prst="rect">
            <a:avLst/>
          </a:prstGeom>
          <a:noFill/>
        </p:spPr>
        <p:txBody>
          <a:bodyPr wrap="none" lIns="0" tIns="0" rIns="0" bIns="0" anchor="t">
            <a:noAutofit/>
          </a:bodyPr>
          <a:lstStyle/>
          <a:p>
            <a:pPr defTabSz="457200"/>
            <a:r>
              <a:rPr lang="zh-CN" altLang="en-US" sz="2025" b="1" dirty="0">
                <a:solidFill>
                  <a:srgbClr val="C00000"/>
                </a:solidFill>
                <a:latin typeface="Microsoft YaHei"/>
                <a:ea typeface="Microsoft YaHei"/>
              </a:rPr>
              <a:t>物理存储机制</a:t>
            </a:r>
            <a:endParaRPr sz="2025" b="1" dirty="0">
              <a:solidFill>
                <a:srgbClr val="C00000"/>
              </a:solidFill>
              <a:latin typeface="Microsoft YaHei"/>
              <a:ea typeface="Microsoft YaHei"/>
            </a:endParaRPr>
          </a:p>
        </p:txBody>
      </p:sp>
      <p:sp>
        <p:nvSpPr>
          <p:cNvPr id="68" name="TextBox 67"/>
          <p:cNvSpPr txBox="1"/>
          <p:nvPr/>
        </p:nvSpPr>
        <p:spPr>
          <a:xfrm>
            <a:off x="3953569" y="698398"/>
            <a:ext cx="4487322" cy="285702"/>
          </a:xfrm>
          <a:prstGeom prst="rect">
            <a:avLst/>
          </a:prstGeom>
          <a:noFill/>
        </p:spPr>
        <p:txBody>
          <a:bodyPr wrap="none" lIns="0" tIns="0" rIns="0" bIns="0" anchor="t">
            <a:noAutofit/>
          </a:bodyPr>
          <a:lstStyle/>
          <a:p>
            <a:pPr defTabSz="457200"/>
            <a:r>
              <a:rPr lang="en-US" altLang="zh-CN" sz="1500" b="1" dirty="0">
                <a:solidFill>
                  <a:srgbClr val="C00000"/>
                </a:solidFill>
                <a:latin typeface="Microsoft YaHei"/>
                <a:ea typeface="Microsoft YaHei"/>
              </a:rPr>
              <a:t>MLA </a:t>
            </a:r>
            <a:r>
              <a:rPr lang="zh-CN" altLang="en-US" sz="1500" b="1" dirty="0">
                <a:solidFill>
                  <a:srgbClr val="C00000"/>
                </a:solidFill>
                <a:latin typeface="Microsoft YaHei"/>
                <a:ea typeface="Microsoft YaHei"/>
              </a:rPr>
              <a:t>与 </a:t>
            </a:r>
            <a:r>
              <a:rPr lang="en-US" altLang="zh-CN" sz="1500" b="1" dirty="0">
                <a:solidFill>
                  <a:srgbClr val="C00000"/>
                </a:solidFill>
                <a:latin typeface="Microsoft YaHei"/>
                <a:ea typeface="Microsoft YaHei"/>
              </a:rPr>
              <a:t>KDA Page Size</a:t>
            </a:r>
            <a:r>
              <a:rPr lang="zh-CN" altLang="en-US" sz="1500" b="1" dirty="0">
                <a:solidFill>
                  <a:srgbClr val="C00000"/>
                </a:solidFill>
                <a:latin typeface="Microsoft YaHei"/>
                <a:ea typeface="Microsoft YaHei"/>
              </a:rPr>
              <a:t>对齐</a:t>
            </a:r>
            <a:r>
              <a:rPr sz="1500" b="1" dirty="0">
                <a:solidFill>
                  <a:srgbClr val="C00000"/>
                </a:solidFill>
                <a:latin typeface="Microsoft YaHei"/>
                <a:ea typeface="Microsoft YaHei"/>
              </a:rPr>
              <a:t>，</a:t>
            </a:r>
            <a:r>
              <a:rPr sz="1500" b="1" dirty="0" err="1">
                <a:solidFill>
                  <a:srgbClr val="C00000"/>
                </a:solidFill>
                <a:latin typeface="Microsoft YaHei"/>
                <a:ea typeface="Microsoft YaHei"/>
              </a:rPr>
              <a:t>共享</a:t>
            </a:r>
            <a:r>
              <a:rPr lang="en-US" sz="1500" b="1" dirty="0" err="1">
                <a:solidFill>
                  <a:srgbClr val="C00000"/>
                </a:solidFill>
                <a:latin typeface="Microsoft YaHei"/>
                <a:ea typeface="Microsoft YaHei"/>
              </a:rPr>
              <a:t>Block</a:t>
            </a:r>
            <a:r>
              <a:rPr lang="en-US" sz="1500" b="1" dirty="0">
                <a:solidFill>
                  <a:srgbClr val="C00000"/>
                </a:solidFill>
                <a:latin typeface="Microsoft YaHei"/>
                <a:ea typeface="Microsoft YaHei"/>
              </a:rPr>
              <a:t> Pool</a:t>
            </a:r>
            <a:endParaRPr sz="1500" b="1" dirty="0">
              <a:solidFill>
                <a:srgbClr val="C00000"/>
              </a:solidFill>
              <a:latin typeface="Microsoft YaHei"/>
              <a:ea typeface="Microsoft YaHei"/>
            </a:endParaRPr>
          </a:p>
        </p:txBody>
      </p:sp>
      <p:sp>
        <p:nvSpPr>
          <p:cNvPr id="69" name="TextBox 68"/>
          <p:cNvSpPr txBox="1"/>
          <p:nvPr/>
        </p:nvSpPr>
        <p:spPr>
          <a:xfrm>
            <a:off x="3406142" y="3576759"/>
            <a:ext cx="6332311" cy="247650"/>
          </a:xfrm>
          <a:prstGeom prst="rect">
            <a:avLst/>
          </a:prstGeom>
          <a:noFill/>
        </p:spPr>
        <p:txBody>
          <a:bodyPr wrap="none" lIns="0" tIns="0" rIns="0" bIns="0" anchor="t">
            <a:noAutofit/>
          </a:bodyPr>
          <a:lstStyle/>
          <a:p>
            <a:pPr defTabSz="457200"/>
            <a:r>
              <a:rPr lang="en-US" sz="1500" b="1" dirty="0">
                <a:solidFill>
                  <a:srgbClr val="C00000"/>
                </a:solidFill>
                <a:latin typeface="Microsoft YaHei"/>
                <a:ea typeface="Microsoft YaHei"/>
              </a:rPr>
              <a:t> H</a:t>
            </a:r>
            <a:r>
              <a:rPr sz="1500" b="1" dirty="0">
                <a:solidFill>
                  <a:srgbClr val="C00000"/>
                </a:solidFill>
                <a:latin typeface="Microsoft YaHei"/>
                <a:ea typeface="Microsoft YaHei"/>
              </a:rPr>
              <a:t>ash </a:t>
            </a:r>
            <a:r>
              <a:rPr lang="en-US" sz="1500" b="1" dirty="0">
                <a:solidFill>
                  <a:srgbClr val="C00000"/>
                </a:solidFill>
                <a:latin typeface="Microsoft YaHei"/>
                <a:ea typeface="Microsoft YaHei"/>
              </a:rPr>
              <a:t>B</a:t>
            </a:r>
            <a:r>
              <a:rPr sz="1500" b="1" dirty="0">
                <a:solidFill>
                  <a:srgbClr val="C00000"/>
                </a:solidFill>
                <a:latin typeface="Microsoft YaHei"/>
                <a:ea typeface="Microsoft YaHei"/>
              </a:rPr>
              <a:t>lock 与 </a:t>
            </a:r>
            <a:r>
              <a:rPr lang="en-US" sz="1500" b="1" dirty="0">
                <a:solidFill>
                  <a:srgbClr val="C00000"/>
                </a:solidFill>
                <a:latin typeface="Microsoft YaHei"/>
                <a:ea typeface="Microsoft YaHei"/>
              </a:rPr>
              <a:t>P</a:t>
            </a:r>
            <a:r>
              <a:rPr sz="1500" b="1" dirty="0">
                <a:solidFill>
                  <a:srgbClr val="C00000"/>
                </a:solidFill>
                <a:latin typeface="Microsoft YaHei"/>
                <a:ea typeface="Microsoft YaHei"/>
              </a:rPr>
              <a:t>hysical </a:t>
            </a:r>
            <a:r>
              <a:rPr lang="en-US" sz="1500" b="1" dirty="0">
                <a:solidFill>
                  <a:srgbClr val="C00000"/>
                </a:solidFill>
                <a:latin typeface="Microsoft YaHei"/>
                <a:ea typeface="Microsoft YaHei"/>
              </a:rPr>
              <a:t>B</a:t>
            </a:r>
            <a:r>
              <a:rPr sz="1500" b="1" dirty="0">
                <a:solidFill>
                  <a:srgbClr val="C00000"/>
                </a:solidFill>
                <a:latin typeface="Microsoft YaHei"/>
                <a:ea typeface="Microsoft YaHei"/>
              </a:rPr>
              <a:t>lock </a:t>
            </a:r>
            <a:r>
              <a:rPr sz="1500" b="1" dirty="0" err="1">
                <a:solidFill>
                  <a:srgbClr val="C00000"/>
                </a:solidFill>
                <a:latin typeface="Microsoft YaHei"/>
                <a:ea typeface="Microsoft YaHei"/>
              </a:rPr>
              <a:t>解耦｜细粒度命中，粗粒度存储</a:t>
            </a:r>
            <a:endParaRPr sz="1500" b="1" dirty="0">
              <a:solidFill>
                <a:srgbClr val="C00000"/>
              </a:solidFill>
              <a:latin typeface="Microsoft YaHei"/>
              <a:ea typeface="Microsoft YaHei"/>
            </a:endParaRPr>
          </a:p>
        </p:txBody>
      </p:sp>
      <p:sp>
        <p:nvSpPr>
          <p:cNvPr id="71" name="TextBox 70"/>
          <p:cNvSpPr txBox="1"/>
          <p:nvPr/>
        </p:nvSpPr>
        <p:spPr>
          <a:xfrm>
            <a:off x="459581" y="6559010"/>
            <a:ext cx="674370"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Page 2/8</a:t>
            </a:r>
          </a:p>
        </p:txBody>
      </p:sp>
      <p:sp>
        <p:nvSpPr>
          <p:cNvPr id="72" name="TextBox 71"/>
          <p:cNvSpPr txBox="1"/>
          <p:nvPr/>
        </p:nvSpPr>
        <p:spPr>
          <a:xfrm>
            <a:off x="1316831" y="6559010"/>
            <a:ext cx="1295876"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Huawei Confidential</a:t>
            </a:r>
          </a:p>
        </p:txBody>
      </p:sp>
      <p:sp>
        <p:nvSpPr>
          <p:cNvPr id="51" name="文本框 50">
            <a:extLst>
              <a:ext uri="{FF2B5EF4-FFF2-40B4-BE49-F238E27FC236}">
                <a16:creationId xmlns:a16="http://schemas.microsoft.com/office/drawing/2014/main" id="{84D8D36F-CA7B-4755-ADFF-D28F12FCF3A6}"/>
              </a:ext>
            </a:extLst>
          </p:cNvPr>
          <p:cNvSpPr txBox="1"/>
          <p:nvPr/>
        </p:nvSpPr>
        <p:spPr>
          <a:xfrm>
            <a:off x="9428813" y="6221968"/>
            <a:ext cx="1678665"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刘韫聪</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a:t>
            </a:r>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李旭时</a:t>
            </a:r>
            <a:endParaRPr lang="zh-CN" altLang="en-US" dirty="0">
              <a:solidFill>
                <a:srgbClr val="FF0000"/>
              </a:solidFill>
              <a:highlight>
                <a:srgbClr val="FFFF00"/>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806" y="1467326"/>
            <a:ext cx="11487150" cy="3948112"/>
          </a:xfrm>
          <a:prstGeom prst="rect">
            <a:avLst/>
          </a:prstGeom>
          <a:solidFill>
            <a:srgbClr val="FFFFFF"/>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dirty="0">
              <a:solidFill>
                <a:prstClr val="white"/>
              </a:solidFill>
              <a:latin typeface="Calibri"/>
            </a:endParaRPr>
          </a:p>
        </p:txBody>
      </p:sp>
      <p:sp>
        <p:nvSpPr>
          <p:cNvPr id="38" name="TextBox 37"/>
          <p:cNvSpPr txBox="1"/>
          <p:nvPr/>
        </p:nvSpPr>
        <p:spPr>
          <a:xfrm>
            <a:off x="690849" y="1699355"/>
            <a:ext cx="4068249" cy="152400"/>
          </a:xfrm>
          <a:prstGeom prst="rect">
            <a:avLst/>
          </a:prstGeom>
          <a:noFill/>
        </p:spPr>
        <p:txBody>
          <a:bodyPr wrap="none" lIns="0" tIns="0" rIns="0" bIns="0" anchor="t">
            <a:noAutofit/>
          </a:bodyPr>
          <a:lstStyle/>
          <a:p>
            <a:pPr defTabSz="457200"/>
            <a:r>
              <a:rPr sz="1200" b="1" dirty="0" err="1">
                <a:solidFill>
                  <a:srgbClr val="1D1D1A"/>
                </a:solidFill>
                <a:latin typeface="Microsoft YaHei"/>
                <a:ea typeface="Microsoft YaHei"/>
              </a:rPr>
              <a:t>竖虚线</a:t>
            </a:r>
            <a:r>
              <a:rPr sz="1200" b="1" dirty="0">
                <a:solidFill>
                  <a:srgbClr val="1D1D1A"/>
                </a:solidFill>
                <a:latin typeface="Microsoft YaHei"/>
                <a:ea typeface="Microsoft YaHei"/>
              </a:rPr>
              <a:t> = </a:t>
            </a:r>
            <a:r>
              <a:rPr sz="1200" b="1" dirty="0" err="1">
                <a:solidFill>
                  <a:srgbClr val="1D1D1A"/>
                </a:solidFill>
                <a:latin typeface="Microsoft YaHei"/>
                <a:ea typeface="Microsoft YaHei"/>
              </a:rPr>
              <a:t>块边界</a:t>
            </a:r>
            <a:r>
              <a:rPr sz="1200" b="1" dirty="0">
                <a:solidFill>
                  <a:srgbClr val="1D1D1A"/>
                </a:solidFill>
                <a:latin typeface="Microsoft YaHei"/>
                <a:ea typeface="Microsoft YaHei"/>
              </a:rPr>
              <a:t> </a:t>
            </a:r>
            <a:r>
              <a:rPr sz="1200" b="1" dirty="0" err="1">
                <a:solidFill>
                  <a:srgbClr val="1D1D1A"/>
                </a:solidFill>
                <a:latin typeface="Microsoft YaHei"/>
                <a:ea typeface="Microsoft YaHei"/>
              </a:rPr>
              <a:t>k·B；红线</a:t>
            </a:r>
            <a:r>
              <a:rPr sz="1200" b="1" dirty="0">
                <a:solidFill>
                  <a:srgbClr val="1D1D1A"/>
                </a:solidFill>
                <a:latin typeface="Microsoft YaHei"/>
                <a:ea typeface="Microsoft YaHei"/>
              </a:rPr>
              <a:t> = checkpoint </a:t>
            </a:r>
            <a:r>
              <a:rPr sz="1200" b="1" dirty="0" err="1">
                <a:solidFill>
                  <a:srgbClr val="1D1D1A"/>
                </a:solidFill>
                <a:latin typeface="Microsoft YaHei"/>
                <a:ea typeface="Microsoft YaHei"/>
              </a:rPr>
              <a:t>位置</a:t>
            </a:r>
            <a:r>
              <a:rPr lang="zh-CN" altLang="en-US" sz="1200" b="1" dirty="0">
                <a:solidFill>
                  <a:srgbClr val="1D1D1A"/>
                </a:solidFill>
                <a:latin typeface="Microsoft YaHei"/>
                <a:ea typeface="Microsoft YaHei"/>
              </a:rPr>
              <a:t>，</a:t>
            </a:r>
            <a:r>
              <a:rPr sz="1200" b="1" dirty="0" err="1">
                <a:solidFill>
                  <a:srgbClr val="1D1D1A"/>
                </a:solidFill>
                <a:latin typeface="Microsoft YaHei"/>
                <a:ea typeface="Microsoft YaHei"/>
              </a:rPr>
              <a:t>只落块边界</a:t>
            </a:r>
            <a:endParaRPr sz="1200" b="1" dirty="0">
              <a:solidFill>
                <a:srgbClr val="1D1D1A"/>
              </a:solidFill>
              <a:latin typeface="Microsoft YaHei"/>
              <a:ea typeface="Microsoft YaHei"/>
            </a:endParaRPr>
          </a:p>
        </p:txBody>
      </p:sp>
      <p:grpSp>
        <p:nvGrpSpPr>
          <p:cNvPr id="82" name="组合 81">
            <a:extLst>
              <a:ext uri="{FF2B5EF4-FFF2-40B4-BE49-F238E27FC236}">
                <a16:creationId xmlns:a16="http://schemas.microsoft.com/office/drawing/2014/main" id="{FC333E1D-634C-AE0E-92B8-0CCDFFF63796}"/>
              </a:ext>
            </a:extLst>
          </p:cNvPr>
          <p:cNvGrpSpPr/>
          <p:nvPr/>
        </p:nvGrpSpPr>
        <p:grpSpPr>
          <a:xfrm>
            <a:off x="690849" y="2074237"/>
            <a:ext cx="8912733" cy="2687651"/>
            <a:chOff x="688467" y="1939014"/>
            <a:chExt cx="8047863" cy="2210933"/>
          </a:xfrm>
        </p:grpSpPr>
        <p:cxnSp>
          <p:nvCxnSpPr>
            <p:cNvPr id="4" name="Connector 3"/>
            <p:cNvCxnSpPr/>
            <p:nvPr/>
          </p:nvCxnSpPr>
          <p:spPr>
            <a:xfrm>
              <a:off x="1557502"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330012"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02522"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875033"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647543"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420053"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192564"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65074"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37584"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510095" y="1939014"/>
              <a:ext cx="0" cy="1989214"/>
            </a:xfrm>
            <a:prstGeom prst="line">
              <a:avLst/>
            </a:prstGeom>
            <a:ln w="9656">
              <a:solidFill>
                <a:srgbClr val="C5C5C5"/>
              </a:solidFill>
              <a:prstDash val="dash"/>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1557502" y="2074203"/>
              <a:ext cx="753198" cy="251066"/>
            </a:xfrm>
            <a:prstGeom prst="rect">
              <a:avLst/>
            </a:prstGeom>
            <a:solidFill>
              <a:srgbClr val="F2F2F2"/>
            </a:solidFill>
            <a:ln w="9656">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15" name="Rectangle 14"/>
            <p:cNvSpPr/>
            <p:nvPr/>
          </p:nvSpPr>
          <p:spPr>
            <a:xfrm>
              <a:off x="2330012" y="2074203"/>
              <a:ext cx="753198" cy="251066"/>
            </a:xfrm>
            <a:prstGeom prst="rect">
              <a:avLst/>
            </a:prstGeom>
            <a:solidFill>
              <a:srgbClr val="F2F2F2"/>
            </a:solidFill>
            <a:ln w="9656">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16" name="Rectangle 15"/>
            <p:cNvSpPr/>
            <p:nvPr/>
          </p:nvSpPr>
          <p:spPr>
            <a:xfrm>
              <a:off x="3102522" y="2074203"/>
              <a:ext cx="753198" cy="251066"/>
            </a:xfrm>
            <a:prstGeom prst="rect">
              <a:avLst/>
            </a:prstGeom>
            <a:solidFill>
              <a:srgbClr val="F2F2F2"/>
            </a:solidFill>
            <a:ln w="9656">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17" name="Rectangle 16"/>
            <p:cNvSpPr/>
            <p:nvPr/>
          </p:nvSpPr>
          <p:spPr>
            <a:xfrm>
              <a:off x="3875033" y="2074203"/>
              <a:ext cx="753198" cy="251066"/>
            </a:xfrm>
            <a:prstGeom prst="rect">
              <a:avLst/>
            </a:prstGeom>
            <a:solidFill>
              <a:srgbClr val="F2F2F2"/>
            </a:solidFill>
            <a:ln w="9656">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18" name="Rectangle 17"/>
            <p:cNvSpPr/>
            <p:nvPr/>
          </p:nvSpPr>
          <p:spPr>
            <a:xfrm>
              <a:off x="4647543" y="2074203"/>
              <a:ext cx="753198" cy="251066"/>
            </a:xfrm>
            <a:prstGeom prst="rect">
              <a:avLst/>
            </a:prstGeom>
            <a:solidFill>
              <a:srgbClr val="F2F2F2"/>
            </a:solidFill>
            <a:ln w="9656">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19" name="Rectangle 18"/>
            <p:cNvSpPr/>
            <p:nvPr/>
          </p:nvSpPr>
          <p:spPr>
            <a:xfrm>
              <a:off x="5420053" y="2074203"/>
              <a:ext cx="753198" cy="251066"/>
            </a:xfrm>
            <a:prstGeom prst="rect">
              <a:avLst/>
            </a:prstGeom>
            <a:solidFill>
              <a:srgbClr val="F2F2F2"/>
            </a:solidFill>
            <a:ln w="9656">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20" name="Rectangle 19"/>
            <p:cNvSpPr/>
            <p:nvPr/>
          </p:nvSpPr>
          <p:spPr>
            <a:xfrm>
              <a:off x="6192564" y="2074203"/>
              <a:ext cx="753198" cy="251066"/>
            </a:xfrm>
            <a:prstGeom prst="rect">
              <a:avLst/>
            </a:prstGeom>
            <a:solidFill>
              <a:srgbClr val="F2F2F2"/>
            </a:solidFill>
            <a:ln w="9656">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21" name="Rectangle 20"/>
            <p:cNvSpPr/>
            <p:nvPr/>
          </p:nvSpPr>
          <p:spPr>
            <a:xfrm>
              <a:off x="6965074" y="2074203"/>
              <a:ext cx="753198" cy="251066"/>
            </a:xfrm>
            <a:prstGeom prst="rect">
              <a:avLst/>
            </a:prstGeom>
            <a:solidFill>
              <a:srgbClr val="F2F2F2"/>
            </a:solidFill>
            <a:ln w="9656">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22" name="Rectangle 21"/>
            <p:cNvSpPr/>
            <p:nvPr/>
          </p:nvSpPr>
          <p:spPr>
            <a:xfrm>
              <a:off x="7737584" y="2074203"/>
              <a:ext cx="753198" cy="251066"/>
            </a:xfrm>
            <a:prstGeom prst="rect">
              <a:avLst/>
            </a:prstGeom>
            <a:solidFill>
              <a:srgbClr val="F2F2F2"/>
            </a:solidFill>
            <a:ln w="9656">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cxnSp>
          <p:nvCxnSpPr>
            <p:cNvPr id="23" name="Connector 22"/>
            <p:cNvCxnSpPr/>
            <p:nvPr/>
          </p:nvCxnSpPr>
          <p:spPr>
            <a:xfrm>
              <a:off x="1557502" y="3387471"/>
              <a:ext cx="6952593" cy="0"/>
            </a:xfrm>
            <a:prstGeom prst="line">
              <a:avLst/>
            </a:prstGeom>
            <a:ln w="19312">
              <a:solidFill>
                <a:srgbClr val="929292"/>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30012" y="3329533"/>
              <a:ext cx="0" cy="115876"/>
            </a:xfrm>
            <a:prstGeom prst="line">
              <a:avLst/>
            </a:prstGeom>
            <a:ln w="9656">
              <a:solidFill>
                <a:srgbClr val="92929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875033" y="3329533"/>
              <a:ext cx="0" cy="115876"/>
            </a:xfrm>
            <a:prstGeom prst="line">
              <a:avLst/>
            </a:prstGeom>
            <a:ln w="9656">
              <a:solidFill>
                <a:srgbClr val="92929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647543" y="3329533"/>
              <a:ext cx="0" cy="115876"/>
            </a:xfrm>
            <a:prstGeom prst="line">
              <a:avLst/>
            </a:prstGeom>
            <a:ln w="9656">
              <a:solidFill>
                <a:srgbClr val="92929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20053" y="3329533"/>
              <a:ext cx="0" cy="115876"/>
            </a:xfrm>
            <a:prstGeom prst="line">
              <a:avLst/>
            </a:prstGeom>
            <a:ln w="9656">
              <a:solidFill>
                <a:srgbClr val="92929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965074" y="3329533"/>
              <a:ext cx="0" cy="115876"/>
            </a:xfrm>
            <a:prstGeom prst="line">
              <a:avLst/>
            </a:prstGeom>
            <a:ln w="9656">
              <a:solidFill>
                <a:srgbClr val="929292"/>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37584" y="3329533"/>
              <a:ext cx="0" cy="115876"/>
            </a:xfrm>
            <a:prstGeom prst="line">
              <a:avLst/>
            </a:prstGeom>
            <a:ln w="9656">
              <a:solidFill>
                <a:srgbClr val="92929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510095" y="3329533"/>
              <a:ext cx="0" cy="115876"/>
            </a:xfrm>
            <a:prstGeom prst="line">
              <a:avLst/>
            </a:prstGeom>
            <a:ln w="9656">
              <a:solidFill>
                <a:srgbClr val="92929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102522" y="1939014"/>
              <a:ext cx="0" cy="1989214"/>
            </a:xfrm>
            <a:prstGeom prst="line">
              <a:avLst/>
            </a:prstGeom>
            <a:ln w="17381">
              <a:solidFill>
                <a:srgbClr val="C00000"/>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192564" y="1939014"/>
              <a:ext cx="0" cy="1989214"/>
            </a:xfrm>
            <a:prstGeom prst="line">
              <a:avLst/>
            </a:prstGeom>
            <a:ln w="17381">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2841800" y="3155718"/>
              <a:ext cx="521444" cy="463506"/>
            </a:xfrm>
            <a:prstGeom prst="roundRect">
              <a:avLst>
                <a:gd name="adj" fmla="val 16666"/>
              </a:avLst>
            </a:prstGeom>
            <a:solidFill>
              <a:srgbClr val="FDEED2"/>
            </a:solidFill>
            <a:ln w="14484">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34" name="Rounded Rectangle 33"/>
            <p:cNvSpPr/>
            <p:nvPr/>
          </p:nvSpPr>
          <p:spPr>
            <a:xfrm>
              <a:off x="5931842" y="3155718"/>
              <a:ext cx="521444" cy="463506"/>
            </a:xfrm>
            <a:prstGeom prst="roundRect">
              <a:avLst>
                <a:gd name="adj" fmla="val 16666"/>
              </a:avLst>
            </a:prstGeom>
            <a:solidFill>
              <a:srgbClr val="FDEED2"/>
            </a:solidFill>
            <a:ln w="14484">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000">
                <a:solidFill>
                  <a:prstClr val="white"/>
                </a:solidFill>
                <a:latin typeface="Calibri"/>
              </a:endParaRPr>
            </a:p>
          </p:txBody>
        </p:sp>
        <p:sp>
          <p:nvSpPr>
            <p:cNvPr id="39" name="TextBox 38"/>
            <p:cNvSpPr txBox="1"/>
            <p:nvPr/>
          </p:nvSpPr>
          <p:spPr>
            <a:xfrm>
              <a:off x="688467" y="2133981"/>
              <a:ext cx="618172" cy="161925"/>
            </a:xfrm>
            <a:prstGeom prst="rect">
              <a:avLst/>
            </a:prstGeom>
            <a:noFill/>
          </p:spPr>
          <p:txBody>
            <a:bodyPr wrap="none" lIns="0" tIns="0" rIns="0" bIns="0" anchor="t">
              <a:noAutofit/>
            </a:bodyPr>
            <a:lstStyle/>
            <a:p>
              <a:pPr defTabSz="457200"/>
              <a:r>
                <a:rPr sz="1000" b="1" dirty="0">
                  <a:solidFill>
                    <a:srgbClr val="1D1D1A"/>
                  </a:solidFill>
                  <a:latin typeface="Microsoft YaHei"/>
                  <a:ea typeface="Microsoft YaHei"/>
                </a:rPr>
                <a:t>MLA 组</a:t>
              </a:r>
            </a:p>
          </p:txBody>
        </p:sp>
        <p:sp>
          <p:nvSpPr>
            <p:cNvPr id="40" name="TextBox 39"/>
            <p:cNvSpPr txBox="1"/>
            <p:nvPr/>
          </p:nvSpPr>
          <p:spPr>
            <a:xfrm>
              <a:off x="1848040" y="2133600"/>
              <a:ext cx="315563" cy="133350"/>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页0</a:t>
              </a:r>
            </a:p>
          </p:txBody>
        </p:sp>
        <p:sp>
          <p:nvSpPr>
            <p:cNvPr id="41" name="TextBox 40"/>
            <p:cNvSpPr txBox="1"/>
            <p:nvPr/>
          </p:nvSpPr>
          <p:spPr>
            <a:xfrm>
              <a:off x="2620518" y="2133600"/>
              <a:ext cx="315087" cy="133350"/>
            </a:xfrm>
            <a:prstGeom prst="rect">
              <a:avLst/>
            </a:prstGeom>
            <a:noFill/>
          </p:spPr>
          <p:txBody>
            <a:bodyPr wrap="none" lIns="0" tIns="0" rIns="0" bIns="0" anchor="t">
              <a:noAutofit/>
            </a:bodyPr>
            <a:lstStyle/>
            <a:p>
              <a:pPr defTabSz="457200"/>
              <a:r>
                <a:rPr sz="1000" dirty="0">
                  <a:solidFill>
                    <a:srgbClr val="929292"/>
                  </a:solidFill>
                  <a:latin typeface="Microsoft YaHei"/>
                  <a:ea typeface="Microsoft YaHei"/>
                </a:rPr>
                <a:t>页1</a:t>
              </a:r>
            </a:p>
          </p:txBody>
        </p:sp>
        <p:sp>
          <p:nvSpPr>
            <p:cNvPr id="42" name="TextBox 41"/>
            <p:cNvSpPr txBox="1"/>
            <p:nvPr/>
          </p:nvSpPr>
          <p:spPr>
            <a:xfrm>
              <a:off x="3392996" y="2133600"/>
              <a:ext cx="315563" cy="133350"/>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页2</a:t>
              </a:r>
            </a:p>
          </p:txBody>
        </p:sp>
        <p:sp>
          <p:nvSpPr>
            <p:cNvPr id="43" name="TextBox 42"/>
            <p:cNvSpPr txBox="1"/>
            <p:nvPr/>
          </p:nvSpPr>
          <p:spPr>
            <a:xfrm>
              <a:off x="4165568" y="2133600"/>
              <a:ext cx="315563" cy="133350"/>
            </a:xfrm>
            <a:prstGeom prst="rect">
              <a:avLst/>
            </a:prstGeom>
            <a:noFill/>
          </p:spPr>
          <p:txBody>
            <a:bodyPr wrap="none" lIns="0" tIns="0" rIns="0" bIns="0" anchor="t">
              <a:noAutofit/>
            </a:bodyPr>
            <a:lstStyle/>
            <a:p>
              <a:pPr defTabSz="457200"/>
              <a:r>
                <a:rPr sz="1000" dirty="0">
                  <a:solidFill>
                    <a:srgbClr val="929292"/>
                  </a:solidFill>
                  <a:latin typeface="Microsoft YaHei"/>
                  <a:ea typeface="Microsoft YaHei"/>
                </a:rPr>
                <a:t>页3</a:t>
              </a:r>
            </a:p>
          </p:txBody>
        </p:sp>
        <p:sp>
          <p:nvSpPr>
            <p:cNvPr id="44" name="TextBox 43"/>
            <p:cNvSpPr txBox="1"/>
            <p:nvPr/>
          </p:nvSpPr>
          <p:spPr>
            <a:xfrm>
              <a:off x="4938046" y="2133600"/>
              <a:ext cx="315563" cy="133350"/>
            </a:xfrm>
            <a:prstGeom prst="rect">
              <a:avLst/>
            </a:prstGeom>
            <a:noFill/>
          </p:spPr>
          <p:txBody>
            <a:bodyPr wrap="none" lIns="0" tIns="0" rIns="0" bIns="0" anchor="t">
              <a:noAutofit/>
            </a:bodyPr>
            <a:lstStyle/>
            <a:p>
              <a:pPr defTabSz="457200"/>
              <a:r>
                <a:rPr sz="1000" dirty="0">
                  <a:solidFill>
                    <a:srgbClr val="929292"/>
                  </a:solidFill>
                  <a:latin typeface="Microsoft YaHei"/>
                  <a:ea typeface="Microsoft YaHei"/>
                </a:rPr>
                <a:t>页4</a:t>
              </a:r>
            </a:p>
          </p:txBody>
        </p:sp>
        <p:sp>
          <p:nvSpPr>
            <p:cNvPr id="45" name="TextBox 44"/>
            <p:cNvSpPr txBox="1"/>
            <p:nvPr/>
          </p:nvSpPr>
          <p:spPr>
            <a:xfrm>
              <a:off x="5710523" y="2133600"/>
              <a:ext cx="315563" cy="133350"/>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页5</a:t>
              </a:r>
            </a:p>
          </p:txBody>
        </p:sp>
        <p:sp>
          <p:nvSpPr>
            <p:cNvPr id="46" name="TextBox 45"/>
            <p:cNvSpPr txBox="1"/>
            <p:nvPr/>
          </p:nvSpPr>
          <p:spPr>
            <a:xfrm>
              <a:off x="6483096" y="2133600"/>
              <a:ext cx="315563" cy="133350"/>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页6</a:t>
              </a:r>
            </a:p>
          </p:txBody>
        </p:sp>
        <p:sp>
          <p:nvSpPr>
            <p:cNvPr id="47" name="TextBox 46"/>
            <p:cNvSpPr txBox="1"/>
            <p:nvPr/>
          </p:nvSpPr>
          <p:spPr>
            <a:xfrm>
              <a:off x="7255574" y="2133600"/>
              <a:ext cx="315563" cy="133350"/>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页7</a:t>
              </a:r>
            </a:p>
          </p:txBody>
        </p:sp>
        <p:sp>
          <p:nvSpPr>
            <p:cNvPr id="48" name="TextBox 47"/>
            <p:cNvSpPr txBox="1"/>
            <p:nvPr/>
          </p:nvSpPr>
          <p:spPr>
            <a:xfrm>
              <a:off x="8028051" y="2133600"/>
              <a:ext cx="315563" cy="133350"/>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页8</a:t>
              </a:r>
            </a:p>
          </p:txBody>
        </p:sp>
        <p:sp>
          <p:nvSpPr>
            <p:cNvPr id="50" name="TextBox 49"/>
            <p:cNvSpPr txBox="1"/>
            <p:nvPr/>
          </p:nvSpPr>
          <p:spPr>
            <a:xfrm>
              <a:off x="688467" y="3331369"/>
              <a:ext cx="601599" cy="161925"/>
            </a:xfrm>
            <a:prstGeom prst="rect">
              <a:avLst/>
            </a:prstGeom>
            <a:noFill/>
          </p:spPr>
          <p:txBody>
            <a:bodyPr wrap="none" lIns="0" tIns="0" rIns="0" bIns="0" anchor="t">
              <a:noAutofit/>
            </a:bodyPr>
            <a:lstStyle/>
            <a:p>
              <a:pPr defTabSz="457200"/>
              <a:r>
                <a:rPr sz="1000" b="1">
                  <a:solidFill>
                    <a:srgbClr val="1D1D1A"/>
                  </a:solidFill>
                  <a:latin typeface="Microsoft YaHei"/>
                  <a:ea typeface="Microsoft YaHei"/>
                </a:rPr>
                <a:t>KDA 组</a:t>
              </a:r>
            </a:p>
          </p:txBody>
        </p:sp>
        <p:sp>
          <p:nvSpPr>
            <p:cNvPr id="51" name="TextBox 50"/>
            <p:cNvSpPr txBox="1"/>
            <p:nvPr/>
          </p:nvSpPr>
          <p:spPr>
            <a:xfrm>
              <a:off x="2976944" y="3234404"/>
              <a:ext cx="411099" cy="133350"/>
            </a:xfrm>
            <a:prstGeom prst="rect">
              <a:avLst/>
            </a:prstGeom>
            <a:noFill/>
          </p:spPr>
          <p:txBody>
            <a:bodyPr wrap="none" lIns="0" tIns="0" rIns="0" bIns="0" anchor="t">
              <a:noAutofit/>
            </a:bodyPr>
            <a:lstStyle/>
            <a:p>
              <a:pPr defTabSz="457200"/>
              <a:r>
                <a:rPr sz="1000" b="1" dirty="0">
                  <a:solidFill>
                    <a:srgbClr val="C00000"/>
                  </a:solidFill>
                  <a:latin typeface="Microsoft YaHei"/>
                  <a:ea typeface="Microsoft YaHei"/>
                </a:rPr>
                <a:t>state</a:t>
              </a:r>
            </a:p>
          </p:txBody>
        </p:sp>
        <p:sp>
          <p:nvSpPr>
            <p:cNvPr id="52" name="TextBox 51"/>
            <p:cNvSpPr txBox="1"/>
            <p:nvPr/>
          </p:nvSpPr>
          <p:spPr>
            <a:xfrm>
              <a:off x="2994184" y="3388900"/>
              <a:ext cx="369094" cy="133350"/>
            </a:xfrm>
            <a:prstGeom prst="rect">
              <a:avLst/>
            </a:prstGeom>
            <a:noFill/>
          </p:spPr>
          <p:txBody>
            <a:bodyPr wrap="none" lIns="0" tIns="0" rIns="0" bIns="0" anchor="t">
              <a:noAutofit/>
            </a:bodyPr>
            <a:lstStyle/>
            <a:p>
              <a:pPr defTabSz="457200"/>
              <a:r>
                <a:rPr sz="1000">
                  <a:solidFill>
                    <a:srgbClr val="C00000"/>
                  </a:solidFill>
                  <a:latin typeface="Microsoft YaHei"/>
                  <a:ea typeface="Microsoft YaHei"/>
                </a:rPr>
                <a:t>@2B</a:t>
              </a:r>
            </a:p>
          </p:txBody>
        </p:sp>
        <p:sp>
          <p:nvSpPr>
            <p:cNvPr id="53" name="TextBox 52"/>
            <p:cNvSpPr txBox="1"/>
            <p:nvPr/>
          </p:nvSpPr>
          <p:spPr>
            <a:xfrm>
              <a:off x="6067044" y="3234404"/>
              <a:ext cx="411099" cy="133350"/>
            </a:xfrm>
            <a:prstGeom prst="rect">
              <a:avLst/>
            </a:prstGeom>
            <a:noFill/>
          </p:spPr>
          <p:txBody>
            <a:bodyPr wrap="none" lIns="0" tIns="0" rIns="0" bIns="0" anchor="t">
              <a:noAutofit/>
            </a:bodyPr>
            <a:lstStyle/>
            <a:p>
              <a:pPr defTabSz="457200"/>
              <a:r>
                <a:rPr sz="1000" b="1">
                  <a:solidFill>
                    <a:srgbClr val="C00000"/>
                  </a:solidFill>
                  <a:latin typeface="Microsoft YaHei"/>
                  <a:ea typeface="Microsoft YaHei"/>
                </a:rPr>
                <a:t>state</a:t>
              </a:r>
            </a:p>
          </p:txBody>
        </p:sp>
        <p:sp>
          <p:nvSpPr>
            <p:cNvPr id="54" name="TextBox 53"/>
            <p:cNvSpPr txBox="1"/>
            <p:nvPr/>
          </p:nvSpPr>
          <p:spPr>
            <a:xfrm>
              <a:off x="6084189" y="3388900"/>
              <a:ext cx="369094" cy="133350"/>
            </a:xfrm>
            <a:prstGeom prst="rect">
              <a:avLst/>
            </a:prstGeom>
            <a:noFill/>
          </p:spPr>
          <p:txBody>
            <a:bodyPr wrap="none" lIns="0" tIns="0" rIns="0" bIns="0" anchor="t">
              <a:noAutofit/>
            </a:bodyPr>
            <a:lstStyle/>
            <a:p>
              <a:pPr defTabSz="457200"/>
              <a:r>
                <a:rPr sz="1000">
                  <a:solidFill>
                    <a:srgbClr val="C00000"/>
                  </a:solidFill>
                  <a:latin typeface="Microsoft YaHei"/>
                  <a:ea typeface="Microsoft YaHei"/>
                </a:rPr>
                <a:t>@6B</a:t>
              </a:r>
            </a:p>
          </p:txBody>
        </p:sp>
        <p:sp>
          <p:nvSpPr>
            <p:cNvPr id="56" name="TextBox 55"/>
            <p:cNvSpPr txBox="1"/>
            <p:nvPr/>
          </p:nvSpPr>
          <p:spPr>
            <a:xfrm>
              <a:off x="1524952" y="4007072"/>
              <a:ext cx="219075" cy="142875"/>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0</a:t>
              </a:r>
            </a:p>
          </p:txBody>
        </p:sp>
        <p:sp>
          <p:nvSpPr>
            <p:cNvPr id="57" name="TextBox 56"/>
            <p:cNvSpPr txBox="1"/>
            <p:nvPr/>
          </p:nvSpPr>
          <p:spPr>
            <a:xfrm>
              <a:off x="2295144" y="4007072"/>
              <a:ext cx="228600" cy="142875"/>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B</a:t>
              </a:r>
            </a:p>
          </p:txBody>
        </p:sp>
        <p:sp>
          <p:nvSpPr>
            <p:cNvPr id="58" name="TextBox 57"/>
            <p:cNvSpPr txBox="1"/>
            <p:nvPr/>
          </p:nvSpPr>
          <p:spPr>
            <a:xfrm>
              <a:off x="3035141" y="4007072"/>
              <a:ext cx="293656" cy="142875"/>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2B</a:t>
              </a:r>
            </a:p>
          </p:txBody>
        </p:sp>
        <p:sp>
          <p:nvSpPr>
            <p:cNvPr id="59" name="TextBox 58"/>
            <p:cNvSpPr txBox="1"/>
            <p:nvPr/>
          </p:nvSpPr>
          <p:spPr>
            <a:xfrm>
              <a:off x="3807619" y="4007072"/>
              <a:ext cx="293656" cy="142875"/>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3B</a:t>
              </a:r>
            </a:p>
          </p:txBody>
        </p:sp>
        <p:sp>
          <p:nvSpPr>
            <p:cNvPr id="60" name="TextBox 59"/>
            <p:cNvSpPr txBox="1"/>
            <p:nvPr/>
          </p:nvSpPr>
          <p:spPr>
            <a:xfrm>
              <a:off x="4570571" y="4007072"/>
              <a:ext cx="303181" cy="142875"/>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4B</a:t>
              </a:r>
            </a:p>
          </p:txBody>
        </p:sp>
        <p:sp>
          <p:nvSpPr>
            <p:cNvPr id="61" name="TextBox 60"/>
            <p:cNvSpPr txBox="1"/>
            <p:nvPr/>
          </p:nvSpPr>
          <p:spPr>
            <a:xfrm>
              <a:off x="5352669" y="4007072"/>
              <a:ext cx="293656" cy="142875"/>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5B</a:t>
              </a:r>
            </a:p>
          </p:txBody>
        </p:sp>
        <p:sp>
          <p:nvSpPr>
            <p:cNvPr id="62" name="TextBox 61"/>
            <p:cNvSpPr txBox="1"/>
            <p:nvPr/>
          </p:nvSpPr>
          <p:spPr>
            <a:xfrm>
              <a:off x="6125146" y="4007072"/>
              <a:ext cx="293656" cy="142875"/>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6B</a:t>
              </a:r>
            </a:p>
          </p:txBody>
        </p:sp>
        <p:sp>
          <p:nvSpPr>
            <p:cNvPr id="63" name="TextBox 62"/>
            <p:cNvSpPr txBox="1"/>
            <p:nvPr/>
          </p:nvSpPr>
          <p:spPr>
            <a:xfrm>
              <a:off x="6897624" y="4007072"/>
              <a:ext cx="293656" cy="142875"/>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7B</a:t>
              </a:r>
            </a:p>
          </p:txBody>
        </p:sp>
        <p:sp>
          <p:nvSpPr>
            <p:cNvPr id="64" name="TextBox 63"/>
            <p:cNvSpPr txBox="1"/>
            <p:nvPr/>
          </p:nvSpPr>
          <p:spPr>
            <a:xfrm>
              <a:off x="7670197" y="4007072"/>
              <a:ext cx="293656" cy="142875"/>
            </a:xfrm>
            <a:prstGeom prst="rect">
              <a:avLst/>
            </a:prstGeom>
            <a:noFill/>
          </p:spPr>
          <p:txBody>
            <a:bodyPr wrap="none" lIns="0" tIns="0" rIns="0" bIns="0" anchor="t">
              <a:noAutofit/>
            </a:bodyPr>
            <a:lstStyle/>
            <a:p>
              <a:pPr defTabSz="457200"/>
              <a:r>
                <a:rPr sz="1000">
                  <a:solidFill>
                    <a:srgbClr val="929292"/>
                  </a:solidFill>
                  <a:latin typeface="Microsoft YaHei"/>
                  <a:ea typeface="Microsoft YaHei"/>
                </a:rPr>
                <a:t>8B</a:t>
              </a:r>
            </a:p>
          </p:txBody>
        </p:sp>
        <p:sp>
          <p:nvSpPr>
            <p:cNvPr id="65" name="TextBox 64"/>
            <p:cNvSpPr txBox="1"/>
            <p:nvPr/>
          </p:nvSpPr>
          <p:spPr>
            <a:xfrm>
              <a:off x="8442674" y="4007072"/>
              <a:ext cx="293656" cy="142875"/>
            </a:xfrm>
            <a:prstGeom prst="rect">
              <a:avLst/>
            </a:prstGeom>
            <a:noFill/>
          </p:spPr>
          <p:txBody>
            <a:bodyPr wrap="none" lIns="0" tIns="0" rIns="0" bIns="0" anchor="t">
              <a:noAutofit/>
            </a:bodyPr>
            <a:lstStyle/>
            <a:p>
              <a:pPr defTabSz="457200"/>
              <a:r>
                <a:rPr sz="1000" dirty="0">
                  <a:solidFill>
                    <a:srgbClr val="929292"/>
                  </a:solidFill>
                  <a:latin typeface="Microsoft YaHei"/>
                  <a:ea typeface="Microsoft YaHei"/>
                </a:rPr>
                <a:t>9B</a:t>
              </a:r>
            </a:p>
          </p:txBody>
        </p:sp>
      </p:grpSp>
      <p:sp>
        <p:nvSpPr>
          <p:cNvPr id="75" name="TextBox 74"/>
          <p:cNvSpPr txBox="1"/>
          <p:nvPr/>
        </p:nvSpPr>
        <p:spPr>
          <a:xfrm>
            <a:off x="354806" y="266700"/>
            <a:ext cx="10883174" cy="342900"/>
          </a:xfrm>
          <a:prstGeom prst="rect">
            <a:avLst/>
          </a:prstGeom>
          <a:noFill/>
        </p:spPr>
        <p:txBody>
          <a:bodyPr wrap="none" lIns="0" tIns="0" rIns="0" bIns="0" anchor="t">
            <a:noAutofit/>
          </a:bodyPr>
          <a:lstStyle/>
          <a:p>
            <a:pPr defTabSz="457200"/>
            <a:r>
              <a:rPr lang="zh-CN" altLang="en-US" sz="2025" b="1" dirty="0">
                <a:solidFill>
                  <a:srgbClr val="C00000"/>
                </a:solidFill>
                <a:latin typeface="Microsoft YaHei"/>
                <a:ea typeface="Microsoft YaHei"/>
              </a:rPr>
              <a:t>物理存储机制</a:t>
            </a:r>
          </a:p>
        </p:txBody>
      </p:sp>
      <p:sp>
        <p:nvSpPr>
          <p:cNvPr id="76" name="TextBox 75"/>
          <p:cNvSpPr txBox="1"/>
          <p:nvPr/>
        </p:nvSpPr>
        <p:spPr>
          <a:xfrm>
            <a:off x="5381745" y="1133811"/>
            <a:ext cx="1433272" cy="247650"/>
          </a:xfrm>
          <a:prstGeom prst="rect">
            <a:avLst/>
          </a:prstGeom>
          <a:noFill/>
        </p:spPr>
        <p:txBody>
          <a:bodyPr wrap="none" lIns="0" tIns="0" rIns="0" bIns="0" anchor="t">
            <a:noAutofit/>
          </a:bodyPr>
          <a:lstStyle/>
          <a:p>
            <a:pPr defTabSz="457200"/>
            <a:r>
              <a:rPr lang="zh-CN" altLang="en-US" sz="1500" b="1" dirty="0">
                <a:solidFill>
                  <a:srgbClr val="C00000"/>
                </a:solidFill>
                <a:latin typeface="Microsoft YaHei"/>
                <a:ea typeface="Microsoft YaHei"/>
              </a:rPr>
              <a:t>存储边界对齐</a:t>
            </a:r>
            <a:endParaRPr sz="1500" b="1" dirty="0">
              <a:solidFill>
                <a:srgbClr val="C00000"/>
              </a:solidFill>
              <a:latin typeface="Microsoft YaHei"/>
              <a:ea typeface="Microsoft YaHei"/>
            </a:endParaRPr>
          </a:p>
        </p:txBody>
      </p:sp>
      <p:sp>
        <p:nvSpPr>
          <p:cNvPr id="78" name="TextBox 77"/>
          <p:cNvSpPr txBox="1"/>
          <p:nvPr/>
        </p:nvSpPr>
        <p:spPr>
          <a:xfrm>
            <a:off x="459581" y="6559010"/>
            <a:ext cx="674370"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Page 3/8</a:t>
            </a:r>
          </a:p>
        </p:txBody>
      </p:sp>
      <p:sp>
        <p:nvSpPr>
          <p:cNvPr id="79" name="TextBox 78"/>
          <p:cNvSpPr txBox="1"/>
          <p:nvPr/>
        </p:nvSpPr>
        <p:spPr>
          <a:xfrm>
            <a:off x="1316831" y="6559010"/>
            <a:ext cx="1295876"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Huawei Confidential</a:t>
            </a:r>
          </a:p>
        </p:txBody>
      </p:sp>
      <p:sp>
        <p:nvSpPr>
          <p:cNvPr id="68" name="文本框 67">
            <a:extLst>
              <a:ext uri="{FF2B5EF4-FFF2-40B4-BE49-F238E27FC236}">
                <a16:creationId xmlns:a16="http://schemas.microsoft.com/office/drawing/2014/main" id="{8AF21DF5-77AA-4340-9AB3-A35406813876}"/>
              </a:ext>
            </a:extLst>
          </p:cNvPr>
          <p:cNvSpPr txBox="1"/>
          <p:nvPr/>
        </p:nvSpPr>
        <p:spPr>
          <a:xfrm>
            <a:off x="9428813" y="6221968"/>
            <a:ext cx="1678665"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刘韫聪</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a:t>
            </a:r>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李旭时</a:t>
            </a:r>
            <a:endParaRPr lang="zh-CN" altLang="en-US" dirty="0">
              <a:solidFill>
                <a:srgbClr val="FF0000"/>
              </a:solidFill>
              <a:highlight>
                <a:srgbClr val="FFFF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806" y="1767117"/>
            <a:ext cx="11487150" cy="3435097"/>
          </a:xfrm>
          <a:prstGeom prst="rect">
            <a:avLst/>
          </a:prstGeom>
          <a:solidFill>
            <a:srgbClr val="FFFFFF"/>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 name="Rectangle 3"/>
          <p:cNvSpPr/>
          <p:nvPr/>
        </p:nvSpPr>
        <p:spPr>
          <a:xfrm>
            <a:off x="878681" y="4074549"/>
            <a:ext cx="10439400" cy="9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5" name="Connector 4"/>
          <p:cNvCxnSpPr/>
          <p:nvPr/>
        </p:nvCxnSpPr>
        <p:spPr>
          <a:xfrm>
            <a:off x="640079" y="4825492"/>
            <a:ext cx="10439400" cy="0"/>
          </a:xfrm>
          <a:prstGeom prst="line">
            <a:avLst/>
          </a:prstGeom>
          <a:ln w="9525">
            <a:solidFill>
              <a:srgbClr val="BFBFBF"/>
            </a:solidFill>
          </a:ln>
        </p:spPr>
        <p:style>
          <a:lnRef idx="2">
            <a:schemeClr val="accent1"/>
          </a:lnRef>
          <a:fillRef idx="0">
            <a:schemeClr val="accent1"/>
          </a:fillRef>
          <a:effectRef idx="1">
            <a:schemeClr val="accent1"/>
          </a:effectRef>
          <a:fontRef idx="minor">
            <a:schemeClr val="tx1"/>
          </a:fontRef>
        </p:style>
      </p:cxnSp>
      <p:grpSp>
        <p:nvGrpSpPr>
          <p:cNvPr id="56" name="组合 55">
            <a:extLst>
              <a:ext uri="{FF2B5EF4-FFF2-40B4-BE49-F238E27FC236}">
                <a16:creationId xmlns:a16="http://schemas.microsoft.com/office/drawing/2014/main" id="{A4BAD1A1-0719-2E9F-F68F-65059BFF2FA9}"/>
              </a:ext>
            </a:extLst>
          </p:cNvPr>
          <p:cNvGrpSpPr/>
          <p:nvPr/>
        </p:nvGrpSpPr>
        <p:grpSpPr>
          <a:xfrm>
            <a:off x="640079" y="2194767"/>
            <a:ext cx="7959650" cy="2476941"/>
            <a:chOff x="637699" y="2707554"/>
            <a:chExt cx="5380164" cy="1689758"/>
          </a:xfrm>
        </p:grpSpPr>
        <p:cxnSp>
          <p:nvCxnSpPr>
            <p:cNvPr id="6" name="Connector 5"/>
            <p:cNvCxnSpPr/>
            <p:nvPr/>
          </p:nvCxnSpPr>
          <p:spPr>
            <a:xfrm>
              <a:off x="1634425" y="2707554"/>
              <a:ext cx="0" cy="1518834"/>
            </a:xfrm>
            <a:prstGeom prst="line">
              <a:avLst/>
            </a:prstGeom>
            <a:ln w="9492">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071090" y="2707554"/>
              <a:ext cx="0" cy="1518834"/>
            </a:xfrm>
            <a:prstGeom prst="line">
              <a:avLst/>
            </a:prstGeom>
            <a:ln w="9492">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07755" y="2707554"/>
              <a:ext cx="0" cy="1518834"/>
            </a:xfrm>
            <a:prstGeom prst="line">
              <a:avLst/>
            </a:prstGeom>
            <a:ln w="9492">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944420" y="2707554"/>
              <a:ext cx="0" cy="1518834"/>
            </a:xfrm>
            <a:prstGeom prst="line">
              <a:avLst/>
            </a:prstGeom>
            <a:ln w="9492">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381084" y="2707554"/>
              <a:ext cx="0" cy="1518834"/>
            </a:xfrm>
            <a:prstGeom prst="line">
              <a:avLst/>
            </a:prstGeom>
            <a:ln w="9492">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817749" y="2707554"/>
              <a:ext cx="0" cy="1518834"/>
            </a:xfrm>
            <a:prstGeom prst="line">
              <a:avLst/>
            </a:prstGeom>
            <a:ln w="9492">
              <a:solidFill>
                <a:srgbClr val="E0E0E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254414" y="2707554"/>
              <a:ext cx="0" cy="1518834"/>
            </a:xfrm>
            <a:prstGeom prst="line">
              <a:avLst/>
            </a:prstGeom>
            <a:ln w="9492">
              <a:solidFill>
                <a:srgbClr val="E0E0E0"/>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634425" y="2783496"/>
              <a:ext cx="436665" cy="208840"/>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14" name="Rectangle 13"/>
            <p:cNvSpPr/>
            <p:nvPr/>
          </p:nvSpPr>
          <p:spPr>
            <a:xfrm>
              <a:off x="2071090" y="2783496"/>
              <a:ext cx="436665" cy="208840"/>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15" name="Rectangle 14"/>
            <p:cNvSpPr/>
            <p:nvPr/>
          </p:nvSpPr>
          <p:spPr>
            <a:xfrm>
              <a:off x="2507755" y="2783496"/>
              <a:ext cx="436665" cy="208840"/>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16" name="Rectangle 15"/>
            <p:cNvSpPr/>
            <p:nvPr/>
          </p:nvSpPr>
          <p:spPr>
            <a:xfrm>
              <a:off x="2944420" y="2783496"/>
              <a:ext cx="436665" cy="208840"/>
            </a:xfrm>
            <a:prstGeom prst="rect">
              <a:avLst/>
            </a:prstGeom>
            <a:solidFill>
              <a:srgbClr val="FFFFFF"/>
            </a:solidFill>
            <a:ln w="9492">
              <a:solidFill>
                <a:srgbClr val="1D1D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17" name="Freeform 16"/>
            <p:cNvSpPr/>
            <p:nvPr/>
          </p:nvSpPr>
          <p:spPr>
            <a:xfrm>
              <a:off x="2896956" y="3030307"/>
              <a:ext cx="94927" cy="75941"/>
            </a:xfrm>
            <a:custGeom>
              <a:avLst/>
              <a:gdLst/>
              <a:ahLst/>
              <a:cxnLst/>
              <a:rect l="l" t="t" r="r" b="b"/>
              <a:pathLst>
                <a:path w="94927" h="75941">
                  <a:moveTo>
                    <a:pt x="47464" y="0"/>
                  </a:moveTo>
                  <a:lnTo>
                    <a:pt x="0" y="75941"/>
                  </a:lnTo>
                  <a:lnTo>
                    <a:pt x="94927" y="75941"/>
                  </a:lnTo>
                  <a:close/>
                </a:path>
              </a:pathLst>
            </a:cu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18" name="Rectangle 17"/>
            <p:cNvSpPr/>
            <p:nvPr/>
          </p:nvSpPr>
          <p:spPr>
            <a:xfrm>
              <a:off x="2944420" y="3315088"/>
              <a:ext cx="436665" cy="208840"/>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19" name="Rectangle 18"/>
            <p:cNvSpPr/>
            <p:nvPr/>
          </p:nvSpPr>
          <p:spPr>
            <a:xfrm>
              <a:off x="3381084" y="3315088"/>
              <a:ext cx="436665" cy="208840"/>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20" name="Rectangle 19"/>
            <p:cNvSpPr/>
            <p:nvPr/>
          </p:nvSpPr>
          <p:spPr>
            <a:xfrm>
              <a:off x="3817749" y="3315088"/>
              <a:ext cx="436665" cy="208840"/>
            </a:xfrm>
            <a:prstGeom prst="rect">
              <a:avLst/>
            </a:prstGeom>
            <a:solidFill>
              <a:srgbClr val="FFFFFF"/>
            </a:solidFill>
            <a:ln w="9492">
              <a:solidFill>
                <a:srgbClr val="1D1D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21" name="Freeform 20"/>
            <p:cNvSpPr/>
            <p:nvPr/>
          </p:nvSpPr>
          <p:spPr>
            <a:xfrm>
              <a:off x="3770286" y="3561898"/>
              <a:ext cx="94927" cy="75942"/>
            </a:xfrm>
            <a:custGeom>
              <a:avLst/>
              <a:gdLst/>
              <a:ahLst/>
              <a:cxnLst/>
              <a:rect l="l" t="t" r="r" b="b"/>
              <a:pathLst>
                <a:path w="94927" h="75942">
                  <a:moveTo>
                    <a:pt x="47463" y="0"/>
                  </a:moveTo>
                  <a:lnTo>
                    <a:pt x="0" y="75942"/>
                  </a:lnTo>
                  <a:lnTo>
                    <a:pt x="94927" y="75942"/>
                  </a:lnTo>
                  <a:close/>
                </a:path>
              </a:pathLst>
            </a:cu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22" name="Rectangle 21"/>
            <p:cNvSpPr/>
            <p:nvPr/>
          </p:nvSpPr>
          <p:spPr>
            <a:xfrm>
              <a:off x="1634425" y="3846680"/>
              <a:ext cx="2183324" cy="208840"/>
            </a:xfrm>
            <a:prstGeom prst="rect">
              <a:avLst/>
            </a:prstGeom>
            <a:solidFill>
              <a:srgbClr val="FCE0E6"/>
            </a:solidFill>
            <a:ln w="14239">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sp>
          <p:nvSpPr>
            <p:cNvPr id="23" name="Rectangle 22"/>
            <p:cNvSpPr/>
            <p:nvPr/>
          </p:nvSpPr>
          <p:spPr>
            <a:xfrm>
              <a:off x="3817749" y="3846680"/>
              <a:ext cx="1139125" cy="208840"/>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1200">
                <a:solidFill>
                  <a:prstClr val="white"/>
                </a:solidFill>
                <a:latin typeface="Calibri"/>
              </a:endParaRPr>
            </a:p>
          </p:txBody>
        </p:sp>
        <p:cxnSp>
          <p:nvCxnSpPr>
            <p:cNvPr id="24" name="Connector 23"/>
            <p:cNvCxnSpPr/>
            <p:nvPr/>
          </p:nvCxnSpPr>
          <p:spPr>
            <a:xfrm>
              <a:off x="3817749" y="3751753"/>
              <a:ext cx="0" cy="75941"/>
            </a:xfrm>
            <a:prstGeom prst="line">
              <a:avLst/>
            </a:prstGeom>
            <a:ln w="14239">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37699" y="2802064"/>
              <a:ext cx="562261" cy="142875"/>
            </a:xfrm>
            <a:prstGeom prst="rect">
              <a:avLst/>
            </a:prstGeom>
            <a:noFill/>
          </p:spPr>
          <p:txBody>
            <a:bodyPr wrap="none" lIns="0" tIns="0" rIns="0" bIns="0" anchor="t">
              <a:noAutofit/>
            </a:bodyPr>
            <a:lstStyle/>
            <a:p>
              <a:pPr defTabSz="457200"/>
              <a:r>
                <a:rPr sz="1200" b="1">
                  <a:solidFill>
                    <a:srgbClr val="000000"/>
                  </a:solidFill>
                  <a:latin typeface="Microsoft YaHei"/>
                  <a:ea typeface="Microsoft YaHei"/>
                </a:rPr>
                <a:t>A 轮次1</a:t>
              </a:r>
            </a:p>
          </p:txBody>
        </p:sp>
        <p:sp>
          <p:nvSpPr>
            <p:cNvPr id="26" name="TextBox 25"/>
            <p:cNvSpPr txBox="1"/>
            <p:nvPr/>
          </p:nvSpPr>
          <p:spPr>
            <a:xfrm>
              <a:off x="647224" y="2944558"/>
              <a:ext cx="659892" cy="13335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1600 token</a:t>
              </a:r>
            </a:p>
          </p:txBody>
        </p:sp>
        <p:sp>
          <p:nvSpPr>
            <p:cNvPr id="27" name="TextBox 26"/>
            <p:cNvSpPr txBox="1"/>
            <p:nvPr/>
          </p:nvSpPr>
          <p:spPr>
            <a:xfrm>
              <a:off x="3109817" y="2830640"/>
              <a:ext cx="262414"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64</a:t>
              </a:r>
            </a:p>
          </p:txBody>
        </p:sp>
        <p:sp>
          <p:nvSpPr>
            <p:cNvPr id="28" name="TextBox 27"/>
            <p:cNvSpPr txBox="1"/>
            <p:nvPr/>
          </p:nvSpPr>
          <p:spPr>
            <a:xfrm>
              <a:off x="2982373" y="3048952"/>
              <a:ext cx="2834040" cy="114300"/>
            </a:xfrm>
            <a:prstGeom prst="rect">
              <a:avLst/>
            </a:prstGeom>
            <a:noFill/>
          </p:spPr>
          <p:txBody>
            <a:bodyPr wrap="none" lIns="0" tIns="0" rIns="0" bIns="0" anchor="t">
              <a:noAutofit/>
            </a:bodyPr>
            <a:lstStyle/>
            <a:p>
              <a:pPr defTabSz="457200"/>
              <a:r>
                <a:rPr sz="1200" b="1">
                  <a:solidFill>
                    <a:srgbClr val="C00000"/>
                  </a:solidFill>
                  <a:latin typeface="Microsoft YaHei"/>
                  <a:ea typeface="Microsoft YaHei"/>
                </a:rPr>
                <a:t>checkpoint @1536（prefill 在 1536 截断，边界处存储）</a:t>
              </a:r>
            </a:p>
          </p:txBody>
        </p:sp>
        <p:sp>
          <p:nvSpPr>
            <p:cNvPr id="30" name="TextBox 29"/>
            <p:cNvSpPr txBox="1"/>
            <p:nvPr/>
          </p:nvSpPr>
          <p:spPr>
            <a:xfrm>
              <a:off x="637699" y="3333655"/>
              <a:ext cx="562261" cy="142875"/>
            </a:xfrm>
            <a:prstGeom prst="rect">
              <a:avLst/>
            </a:prstGeom>
            <a:noFill/>
          </p:spPr>
          <p:txBody>
            <a:bodyPr wrap="none" lIns="0" tIns="0" rIns="0" bIns="0" anchor="t">
              <a:noAutofit/>
            </a:bodyPr>
            <a:lstStyle/>
            <a:p>
              <a:pPr defTabSz="457200"/>
              <a:r>
                <a:rPr sz="1200" b="1">
                  <a:solidFill>
                    <a:srgbClr val="000000"/>
                  </a:solidFill>
                  <a:latin typeface="Microsoft YaHei"/>
                  <a:ea typeface="Microsoft YaHei"/>
                </a:rPr>
                <a:t>A 轮次2</a:t>
              </a:r>
            </a:p>
          </p:txBody>
        </p:sp>
        <p:sp>
          <p:nvSpPr>
            <p:cNvPr id="31" name="TextBox 30"/>
            <p:cNvSpPr txBox="1"/>
            <p:nvPr/>
          </p:nvSpPr>
          <p:spPr>
            <a:xfrm>
              <a:off x="637699" y="3476149"/>
              <a:ext cx="603790" cy="13335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累计 2700</a:t>
              </a:r>
            </a:p>
          </p:txBody>
        </p:sp>
        <p:sp>
          <p:nvSpPr>
            <p:cNvPr id="32" name="TextBox 31"/>
            <p:cNvSpPr txBox="1"/>
            <p:nvPr/>
          </p:nvSpPr>
          <p:spPr>
            <a:xfrm>
              <a:off x="3956780" y="3362230"/>
              <a:ext cx="315278"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140</a:t>
              </a:r>
            </a:p>
          </p:txBody>
        </p:sp>
        <p:sp>
          <p:nvSpPr>
            <p:cNvPr id="33" name="TextBox 32"/>
            <p:cNvSpPr txBox="1"/>
            <p:nvPr/>
          </p:nvSpPr>
          <p:spPr>
            <a:xfrm>
              <a:off x="3855720" y="3580543"/>
              <a:ext cx="2162143" cy="114300"/>
            </a:xfrm>
            <a:prstGeom prst="rect">
              <a:avLst/>
            </a:prstGeom>
            <a:noFill/>
          </p:spPr>
          <p:txBody>
            <a:bodyPr wrap="none" lIns="0" tIns="0" rIns="0" bIns="0" anchor="t">
              <a:noAutofit/>
            </a:bodyPr>
            <a:lstStyle/>
            <a:p>
              <a:pPr defTabSz="457200"/>
              <a:r>
                <a:rPr sz="1200" b="1" dirty="0">
                  <a:solidFill>
                    <a:srgbClr val="C00000"/>
                  </a:solidFill>
                  <a:latin typeface="Microsoft YaHei"/>
                  <a:ea typeface="Microsoft YaHei"/>
                </a:rPr>
                <a:t>checkpoint @2560（轮次边界）</a:t>
              </a:r>
            </a:p>
          </p:txBody>
        </p:sp>
        <p:sp>
          <p:nvSpPr>
            <p:cNvPr id="35" name="TextBox 34"/>
            <p:cNvSpPr txBox="1"/>
            <p:nvPr/>
          </p:nvSpPr>
          <p:spPr>
            <a:xfrm>
              <a:off x="647224" y="3865245"/>
              <a:ext cx="592169" cy="142875"/>
            </a:xfrm>
            <a:prstGeom prst="rect">
              <a:avLst/>
            </a:prstGeom>
            <a:noFill/>
          </p:spPr>
          <p:txBody>
            <a:bodyPr wrap="none" lIns="0" tIns="0" rIns="0" bIns="0" anchor="t">
              <a:noAutofit/>
            </a:bodyPr>
            <a:lstStyle/>
            <a:p>
              <a:pPr defTabSz="457200"/>
              <a:r>
                <a:rPr sz="1200" b="1">
                  <a:solidFill>
                    <a:srgbClr val="000000"/>
                  </a:solidFill>
                  <a:latin typeface="Microsoft YaHei"/>
                  <a:ea typeface="Microsoft YaHei"/>
                </a:rPr>
                <a:t>B 新会话</a:t>
              </a:r>
            </a:p>
          </p:txBody>
        </p:sp>
        <p:sp>
          <p:nvSpPr>
            <p:cNvPr id="36" name="TextBox 35"/>
            <p:cNvSpPr txBox="1"/>
            <p:nvPr/>
          </p:nvSpPr>
          <p:spPr>
            <a:xfrm>
              <a:off x="637699" y="4007739"/>
              <a:ext cx="603790" cy="13335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共享 2560</a:t>
              </a:r>
            </a:p>
          </p:txBody>
        </p:sp>
        <p:sp>
          <p:nvSpPr>
            <p:cNvPr id="37" name="TextBox 36"/>
            <p:cNvSpPr txBox="1"/>
            <p:nvPr/>
          </p:nvSpPr>
          <p:spPr>
            <a:xfrm>
              <a:off x="2250758" y="3884295"/>
              <a:ext cx="1110463" cy="133350"/>
            </a:xfrm>
            <a:prstGeom prst="rect">
              <a:avLst/>
            </a:prstGeom>
            <a:noFill/>
          </p:spPr>
          <p:txBody>
            <a:bodyPr wrap="none" lIns="0" tIns="0" rIns="0" bIns="0" anchor="t">
              <a:noAutofit/>
            </a:bodyPr>
            <a:lstStyle/>
            <a:p>
              <a:pPr defTabSz="457200"/>
              <a:r>
                <a:rPr sz="1200" b="1">
                  <a:solidFill>
                    <a:srgbClr val="C00000"/>
                  </a:solidFill>
                  <a:latin typeface="Microsoft YaHei"/>
                  <a:ea typeface="Microsoft YaHei"/>
                </a:rPr>
                <a:t>命中 2560 = 5×512</a:t>
              </a:r>
            </a:p>
          </p:txBody>
        </p:sp>
        <p:sp>
          <p:nvSpPr>
            <p:cNvPr id="38" name="TextBox 37"/>
            <p:cNvSpPr txBox="1"/>
            <p:nvPr/>
          </p:nvSpPr>
          <p:spPr>
            <a:xfrm>
              <a:off x="4120420" y="3893820"/>
              <a:ext cx="686276"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B 自己的续写</a:t>
              </a:r>
            </a:p>
          </p:txBody>
        </p:sp>
        <p:sp>
          <p:nvSpPr>
            <p:cNvPr id="41" name="TextBox 40"/>
            <p:cNvSpPr txBox="1"/>
            <p:nvPr/>
          </p:nvSpPr>
          <p:spPr>
            <a:xfrm>
              <a:off x="1607915" y="4283012"/>
              <a:ext cx="209550"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0</a:t>
              </a:r>
            </a:p>
          </p:txBody>
        </p:sp>
        <p:sp>
          <p:nvSpPr>
            <p:cNvPr id="42" name="TextBox 41"/>
            <p:cNvSpPr txBox="1"/>
            <p:nvPr/>
          </p:nvSpPr>
          <p:spPr>
            <a:xfrm>
              <a:off x="1991773" y="4283012"/>
              <a:ext cx="315278"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512</a:t>
              </a:r>
            </a:p>
          </p:txBody>
        </p:sp>
        <p:sp>
          <p:nvSpPr>
            <p:cNvPr id="43" name="TextBox 42"/>
            <p:cNvSpPr txBox="1"/>
            <p:nvPr/>
          </p:nvSpPr>
          <p:spPr>
            <a:xfrm>
              <a:off x="2402014" y="4283012"/>
              <a:ext cx="368046"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1024</a:t>
              </a:r>
            </a:p>
          </p:txBody>
        </p:sp>
        <p:sp>
          <p:nvSpPr>
            <p:cNvPr id="44" name="TextBox 43"/>
            <p:cNvSpPr txBox="1"/>
            <p:nvPr/>
          </p:nvSpPr>
          <p:spPr>
            <a:xfrm>
              <a:off x="2838640" y="4283012"/>
              <a:ext cx="368046"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1536</a:t>
              </a:r>
            </a:p>
          </p:txBody>
        </p:sp>
        <p:sp>
          <p:nvSpPr>
            <p:cNvPr id="45" name="TextBox 44"/>
            <p:cNvSpPr txBox="1"/>
            <p:nvPr/>
          </p:nvSpPr>
          <p:spPr>
            <a:xfrm>
              <a:off x="3275362" y="4283012"/>
              <a:ext cx="368046"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2048</a:t>
              </a:r>
            </a:p>
          </p:txBody>
        </p:sp>
        <p:sp>
          <p:nvSpPr>
            <p:cNvPr id="46" name="TextBox 45"/>
            <p:cNvSpPr txBox="1"/>
            <p:nvPr/>
          </p:nvSpPr>
          <p:spPr>
            <a:xfrm>
              <a:off x="3711988" y="4283012"/>
              <a:ext cx="368046"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2560</a:t>
              </a:r>
            </a:p>
          </p:txBody>
        </p:sp>
        <p:sp>
          <p:nvSpPr>
            <p:cNvPr id="47" name="TextBox 46"/>
            <p:cNvSpPr txBox="1"/>
            <p:nvPr/>
          </p:nvSpPr>
          <p:spPr>
            <a:xfrm>
              <a:off x="4148709" y="4283012"/>
              <a:ext cx="368046" cy="114300"/>
            </a:xfrm>
            <a:prstGeom prst="rect">
              <a:avLst/>
            </a:prstGeom>
            <a:noFill/>
          </p:spPr>
          <p:txBody>
            <a:bodyPr wrap="none" lIns="0" tIns="0" rIns="0" bIns="0" anchor="t">
              <a:noAutofit/>
            </a:bodyPr>
            <a:lstStyle/>
            <a:p>
              <a:pPr defTabSz="457200"/>
              <a:r>
                <a:rPr sz="1200">
                  <a:solidFill>
                    <a:srgbClr val="666666"/>
                  </a:solidFill>
                  <a:latin typeface="Microsoft YaHei"/>
                  <a:ea typeface="Microsoft YaHei"/>
                </a:rPr>
                <a:t>3072</a:t>
              </a:r>
            </a:p>
          </p:txBody>
        </p:sp>
      </p:grpSp>
      <p:pic>
        <p:nvPicPr>
          <p:cNvPr id="48" name="Picture 47" descr="image.png"/>
          <p:cNvPicPr>
            <a:picLocks noChangeAspect="1"/>
          </p:cNvPicPr>
          <p:nvPr/>
        </p:nvPicPr>
        <p:blipFill>
          <a:blip r:embed="rId2"/>
          <a:stretch>
            <a:fillRect/>
          </a:stretch>
        </p:blipFill>
        <p:spPr>
          <a:xfrm>
            <a:off x="10771155" y="6515100"/>
            <a:ext cx="966026" cy="209550"/>
          </a:xfrm>
          <a:prstGeom prst="rect">
            <a:avLst/>
          </a:prstGeom>
        </p:spPr>
      </p:pic>
      <p:sp>
        <p:nvSpPr>
          <p:cNvPr id="49" name="TextBox 48"/>
          <p:cNvSpPr txBox="1"/>
          <p:nvPr/>
        </p:nvSpPr>
        <p:spPr>
          <a:xfrm>
            <a:off x="354806" y="266700"/>
            <a:ext cx="6594318" cy="342900"/>
          </a:xfrm>
          <a:prstGeom prst="rect">
            <a:avLst/>
          </a:prstGeom>
          <a:noFill/>
        </p:spPr>
        <p:txBody>
          <a:bodyPr wrap="none" lIns="0" tIns="0" rIns="0" bIns="0" anchor="t">
            <a:noAutofit/>
          </a:bodyPr>
          <a:lstStyle/>
          <a:p>
            <a:pPr defTabSz="457200"/>
            <a:r>
              <a:rPr lang="en-US" sz="2025" b="1" dirty="0">
                <a:solidFill>
                  <a:srgbClr val="C00000"/>
                </a:solidFill>
                <a:latin typeface="Microsoft YaHei"/>
                <a:ea typeface="Microsoft YaHei"/>
              </a:rPr>
              <a:t>Checkpoint</a:t>
            </a:r>
            <a:r>
              <a:rPr lang="zh-CN" altLang="en-US" sz="2025" b="1" dirty="0">
                <a:solidFill>
                  <a:srgbClr val="C00000"/>
                </a:solidFill>
                <a:latin typeface="Microsoft YaHei"/>
                <a:ea typeface="Microsoft YaHei"/>
              </a:rPr>
              <a:t>存储策略</a:t>
            </a:r>
            <a:endParaRPr sz="2025" b="1" dirty="0">
              <a:solidFill>
                <a:srgbClr val="C00000"/>
              </a:solidFill>
              <a:latin typeface="Microsoft YaHei"/>
              <a:ea typeface="Microsoft YaHei"/>
            </a:endParaRPr>
          </a:p>
        </p:txBody>
      </p:sp>
      <p:sp>
        <p:nvSpPr>
          <p:cNvPr id="52" name="TextBox 51"/>
          <p:cNvSpPr txBox="1"/>
          <p:nvPr/>
        </p:nvSpPr>
        <p:spPr>
          <a:xfrm>
            <a:off x="459581" y="6537008"/>
            <a:ext cx="674370"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Page 4/8</a:t>
            </a:r>
          </a:p>
        </p:txBody>
      </p:sp>
      <p:sp>
        <p:nvSpPr>
          <p:cNvPr id="53" name="TextBox 52"/>
          <p:cNvSpPr txBox="1"/>
          <p:nvPr/>
        </p:nvSpPr>
        <p:spPr>
          <a:xfrm>
            <a:off x="1316831" y="6537008"/>
            <a:ext cx="1295876"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Huawei Confidential</a:t>
            </a:r>
          </a:p>
        </p:txBody>
      </p:sp>
      <p:sp>
        <p:nvSpPr>
          <p:cNvPr id="55" name="文本框 54">
            <a:extLst>
              <a:ext uri="{FF2B5EF4-FFF2-40B4-BE49-F238E27FC236}">
                <a16:creationId xmlns:a16="http://schemas.microsoft.com/office/drawing/2014/main" id="{4704CB2D-FE3E-1A4A-4342-2221D91C879E}"/>
              </a:ext>
            </a:extLst>
          </p:cNvPr>
          <p:cNvSpPr txBox="1"/>
          <p:nvPr/>
        </p:nvSpPr>
        <p:spPr>
          <a:xfrm>
            <a:off x="2812194" y="1205730"/>
            <a:ext cx="6095170" cy="369332"/>
          </a:xfrm>
          <a:prstGeom prst="rect">
            <a:avLst/>
          </a:prstGeom>
          <a:noFill/>
        </p:spPr>
        <p:txBody>
          <a:bodyPr wrap="square">
            <a:spAutoFit/>
          </a:bodyPr>
          <a:lstStyle/>
          <a:p>
            <a:pPr defTabSz="457200"/>
            <a:r>
              <a:rPr lang="zh-CN" altLang="en-US" b="1" dirty="0">
                <a:solidFill>
                  <a:prstClr val="black"/>
                </a:solidFill>
                <a:latin typeface="Microsoft YaHei"/>
                <a:ea typeface="Microsoft YaHei"/>
              </a:rPr>
              <a:t>输入和输出结尾必存，</a:t>
            </a:r>
            <a:r>
              <a:rPr lang="en-US" altLang="zh-CN" b="1" dirty="0">
                <a:solidFill>
                  <a:prstClr val="black"/>
                </a:solidFill>
                <a:latin typeface="Microsoft YaHei"/>
                <a:ea typeface="Microsoft YaHei"/>
              </a:rPr>
              <a:t>agent</a:t>
            </a:r>
            <a:r>
              <a:rPr lang="zh-CN" altLang="en-US" b="1" dirty="0">
                <a:solidFill>
                  <a:prstClr val="black"/>
                </a:solidFill>
                <a:latin typeface="Microsoft YaHei"/>
                <a:ea typeface="Microsoft YaHei"/>
              </a:rPr>
              <a:t>多轮对话场景命中率高</a:t>
            </a:r>
          </a:p>
        </p:txBody>
      </p:sp>
      <p:sp>
        <p:nvSpPr>
          <p:cNvPr id="51" name="文本框 50">
            <a:extLst>
              <a:ext uri="{FF2B5EF4-FFF2-40B4-BE49-F238E27FC236}">
                <a16:creationId xmlns:a16="http://schemas.microsoft.com/office/drawing/2014/main" id="{BAA723E2-415D-43CD-B563-ACB1B3DD499F}"/>
              </a:ext>
            </a:extLst>
          </p:cNvPr>
          <p:cNvSpPr txBox="1"/>
          <p:nvPr/>
        </p:nvSpPr>
        <p:spPr>
          <a:xfrm>
            <a:off x="9428813" y="6221968"/>
            <a:ext cx="1678665"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刘韫聪</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a:t>
            </a:r>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李旭时</a:t>
            </a:r>
            <a:endParaRPr lang="zh-CN" altLang="en-US" dirty="0">
              <a:solidFill>
                <a:srgbClr val="FF0000"/>
              </a:solidFill>
              <a:highlight>
                <a:srgbClr val="FFFF00"/>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806" y="914400"/>
            <a:ext cx="11487150" cy="1988887"/>
          </a:xfrm>
          <a:prstGeom prst="rect">
            <a:avLst/>
          </a:prstGeom>
          <a:solidFill>
            <a:srgbClr val="FFFFFF"/>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endParaRPr lang="en-US" altLang="zh-CN" dirty="0">
              <a:solidFill>
                <a:srgbClr val="1D1D1A"/>
              </a:solidFill>
              <a:latin typeface="Microsoft YaHei" panose="020B0503020204020204" pitchFamily="34" charset="-122"/>
              <a:ea typeface="Microsoft YaHei" panose="020B0503020204020204" pitchFamily="34" charset="-122"/>
            </a:endParaRPr>
          </a:p>
          <a:p>
            <a:pPr defTabSz="457200"/>
            <a:endParaRPr lang="en-US" altLang="zh-CN" dirty="0">
              <a:solidFill>
                <a:srgbClr val="1D1D1A"/>
              </a:solidFill>
              <a:latin typeface="Microsoft YaHei" panose="020B0503020204020204" pitchFamily="34" charset="-122"/>
              <a:ea typeface="Microsoft YaHei" panose="020B0503020204020204" pitchFamily="34" charset="-122"/>
            </a:endParaRPr>
          </a:p>
          <a:p>
            <a:pPr defTabSz="457200"/>
            <a:endParaRPr lang="en-US" altLang="zh-CN" dirty="0">
              <a:solidFill>
                <a:srgbClr val="1D1D1A"/>
              </a:solidFill>
              <a:latin typeface="Microsoft YaHei" panose="020B0503020204020204" pitchFamily="34" charset="-122"/>
              <a:ea typeface="Microsoft YaHei" panose="020B0503020204020204" pitchFamily="34" charset="-122"/>
            </a:endParaRPr>
          </a:p>
          <a:p>
            <a:pPr defTabSz="457200"/>
            <a:endParaRPr lang="en-US" altLang="zh-CN" dirty="0">
              <a:solidFill>
                <a:srgbClr val="1D1D1A"/>
              </a:solidFill>
              <a:latin typeface="Microsoft YaHei" panose="020B0503020204020204" pitchFamily="34" charset="-122"/>
              <a:ea typeface="Microsoft YaHei" panose="020B0503020204020204" pitchFamily="34" charset="-122"/>
            </a:endParaRPr>
          </a:p>
          <a:p>
            <a:pPr defTabSz="457200"/>
            <a:endParaRPr lang="en-US" altLang="zh-CN" dirty="0">
              <a:solidFill>
                <a:srgbClr val="1D1D1A"/>
              </a:solidFill>
              <a:latin typeface="Microsoft YaHei" panose="020B0503020204020204" pitchFamily="34" charset="-122"/>
              <a:ea typeface="Microsoft YaHei" panose="020B0503020204020204" pitchFamily="34" charset="-122"/>
            </a:endParaRPr>
          </a:p>
          <a:p>
            <a:pPr defTabSz="457200"/>
            <a:endParaRPr lang="en-US" altLang="zh-CN" dirty="0">
              <a:solidFill>
                <a:srgbClr val="1D1D1A"/>
              </a:solidFill>
              <a:latin typeface="Microsoft YaHei" panose="020B0503020204020204" pitchFamily="34" charset="-122"/>
              <a:ea typeface="Microsoft YaHei" panose="020B0503020204020204" pitchFamily="34" charset="-122"/>
            </a:endParaRPr>
          </a:p>
          <a:p>
            <a:pPr defTabSz="457200"/>
            <a:endParaRPr lang="en-US" altLang="zh-CN" dirty="0">
              <a:solidFill>
                <a:srgbClr val="1D1D1A"/>
              </a:solidFill>
              <a:latin typeface="Microsoft YaHei" panose="020B0503020204020204" pitchFamily="34" charset="-122"/>
              <a:ea typeface="Microsoft YaHei" panose="020B0503020204020204" pitchFamily="34" charset="-122"/>
            </a:endParaRPr>
          </a:p>
          <a:p>
            <a:pPr defTabSz="457200"/>
            <a:br>
              <a:rPr lang="en-US" altLang="zh-CN" dirty="0">
                <a:solidFill>
                  <a:prstClr val="white"/>
                </a:solidFill>
                <a:latin typeface="Calibri"/>
                <a:ea typeface="宋体" panose="02010600030101010101" pitchFamily="2" charset="-122"/>
              </a:rPr>
            </a:br>
            <a:endParaRPr dirty="0">
              <a:solidFill>
                <a:prstClr val="white"/>
              </a:solidFill>
              <a:latin typeface="Calibri"/>
            </a:endParaRPr>
          </a:p>
        </p:txBody>
      </p:sp>
      <p:sp>
        <p:nvSpPr>
          <p:cNvPr id="4" name="Rectangle 3"/>
          <p:cNvSpPr/>
          <p:nvPr/>
        </p:nvSpPr>
        <p:spPr>
          <a:xfrm>
            <a:off x="335266" y="3504132"/>
            <a:ext cx="11487150" cy="3003348"/>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endParaRPr lang="zh-CN" altLang="en-US" dirty="0">
              <a:solidFill>
                <a:prstClr val="white"/>
              </a:solidFill>
              <a:latin typeface="Calibri"/>
              <a:ea typeface="宋体" panose="02010600030101010101" pitchFamily="2" charset="-122"/>
            </a:endParaRPr>
          </a:p>
        </p:txBody>
      </p:sp>
      <p:cxnSp>
        <p:nvCxnSpPr>
          <p:cNvPr id="12" name="Connector 11"/>
          <p:cNvCxnSpPr/>
          <p:nvPr/>
        </p:nvCxnSpPr>
        <p:spPr>
          <a:xfrm>
            <a:off x="2206370" y="1417998"/>
            <a:ext cx="7404315" cy="0"/>
          </a:xfrm>
          <a:prstGeom prst="line">
            <a:avLst/>
          </a:prstGeom>
          <a:ln w="11391">
            <a:solidFill>
              <a:srgbClr val="1D1D1A"/>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206370"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4" name="Rectangle 13"/>
          <p:cNvSpPr/>
          <p:nvPr/>
        </p:nvSpPr>
        <p:spPr>
          <a:xfrm>
            <a:off x="2699991"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5" name="Rectangle 14"/>
          <p:cNvSpPr/>
          <p:nvPr/>
        </p:nvSpPr>
        <p:spPr>
          <a:xfrm>
            <a:off x="3193612"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6" name="Rectangle 15"/>
          <p:cNvSpPr/>
          <p:nvPr/>
        </p:nvSpPr>
        <p:spPr>
          <a:xfrm>
            <a:off x="3687233"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7" name="Rectangle 16"/>
          <p:cNvSpPr/>
          <p:nvPr/>
        </p:nvSpPr>
        <p:spPr>
          <a:xfrm>
            <a:off x="4180854"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8" name="Rectangle 17"/>
          <p:cNvSpPr/>
          <p:nvPr/>
        </p:nvSpPr>
        <p:spPr>
          <a:xfrm>
            <a:off x="4674475"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9" name="Rectangle 18"/>
          <p:cNvSpPr/>
          <p:nvPr/>
        </p:nvSpPr>
        <p:spPr>
          <a:xfrm>
            <a:off x="5168096"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0" name="Rectangle 19"/>
          <p:cNvSpPr/>
          <p:nvPr/>
        </p:nvSpPr>
        <p:spPr>
          <a:xfrm>
            <a:off x="5661717"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1" name="Rectangle 20"/>
          <p:cNvSpPr/>
          <p:nvPr/>
        </p:nvSpPr>
        <p:spPr>
          <a:xfrm>
            <a:off x="6155338"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2" name="Rectangle 21"/>
          <p:cNvSpPr/>
          <p:nvPr/>
        </p:nvSpPr>
        <p:spPr>
          <a:xfrm>
            <a:off x="6648959"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3" name="Rectangle 22"/>
          <p:cNvSpPr/>
          <p:nvPr/>
        </p:nvSpPr>
        <p:spPr>
          <a:xfrm>
            <a:off x="7142580"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4" name="Rectangle 23"/>
          <p:cNvSpPr/>
          <p:nvPr/>
        </p:nvSpPr>
        <p:spPr>
          <a:xfrm>
            <a:off x="7636201"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5" name="Rectangle 24"/>
          <p:cNvSpPr/>
          <p:nvPr/>
        </p:nvSpPr>
        <p:spPr>
          <a:xfrm>
            <a:off x="8129822"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6" name="Rectangle 25"/>
          <p:cNvSpPr/>
          <p:nvPr/>
        </p:nvSpPr>
        <p:spPr>
          <a:xfrm>
            <a:off x="8623443"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7" name="Rectangle 26"/>
          <p:cNvSpPr/>
          <p:nvPr/>
        </p:nvSpPr>
        <p:spPr>
          <a:xfrm>
            <a:off x="9117064" y="1512926"/>
            <a:ext cx="493621" cy="227825"/>
          </a:xfrm>
          <a:prstGeom prst="rect">
            <a:avLst/>
          </a:prstGeom>
          <a:solidFill>
            <a:srgbClr val="F2F2F2"/>
          </a:solidFill>
          <a:ln w="9492">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8" name="Rectangle 27"/>
          <p:cNvSpPr/>
          <p:nvPr/>
        </p:nvSpPr>
        <p:spPr>
          <a:xfrm>
            <a:off x="2206370"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9" name="Rectangle 28"/>
          <p:cNvSpPr/>
          <p:nvPr/>
        </p:nvSpPr>
        <p:spPr>
          <a:xfrm>
            <a:off x="2699991"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0" name="Rectangle 29"/>
          <p:cNvSpPr/>
          <p:nvPr/>
        </p:nvSpPr>
        <p:spPr>
          <a:xfrm>
            <a:off x="3193612"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1" name="Rectangle 30"/>
          <p:cNvSpPr/>
          <p:nvPr/>
        </p:nvSpPr>
        <p:spPr>
          <a:xfrm>
            <a:off x="3687233" y="1968576"/>
            <a:ext cx="493621" cy="227825"/>
          </a:xfrm>
          <a:prstGeom prst="rect">
            <a:avLst/>
          </a:prstGeom>
          <a:solidFill>
            <a:srgbClr val="FDEED2"/>
          </a:solidFill>
          <a:ln w="9492">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2" name="Rectangle 31"/>
          <p:cNvSpPr/>
          <p:nvPr/>
        </p:nvSpPr>
        <p:spPr>
          <a:xfrm>
            <a:off x="4180854"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3" name="Rectangle 32"/>
          <p:cNvSpPr/>
          <p:nvPr/>
        </p:nvSpPr>
        <p:spPr>
          <a:xfrm>
            <a:off x="4674475"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4" name="Rectangle 33"/>
          <p:cNvSpPr/>
          <p:nvPr/>
        </p:nvSpPr>
        <p:spPr>
          <a:xfrm>
            <a:off x="5168096"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5" name="Rectangle 34"/>
          <p:cNvSpPr/>
          <p:nvPr/>
        </p:nvSpPr>
        <p:spPr>
          <a:xfrm>
            <a:off x="5661717" y="1968576"/>
            <a:ext cx="493621" cy="227825"/>
          </a:xfrm>
          <a:prstGeom prst="rect">
            <a:avLst/>
          </a:prstGeom>
          <a:solidFill>
            <a:srgbClr val="FDEED2"/>
          </a:solidFill>
          <a:ln w="9492">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6" name="Rectangle 35"/>
          <p:cNvSpPr/>
          <p:nvPr/>
        </p:nvSpPr>
        <p:spPr>
          <a:xfrm>
            <a:off x="6155338"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7" name="Rectangle 36"/>
          <p:cNvSpPr/>
          <p:nvPr/>
        </p:nvSpPr>
        <p:spPr>
          <a:xfrm>
            <a:off x="6648959"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8" name="Rectangle 37"/>
          <p:cNvSpPr/>
          <p:nvPr/>
        </p:nvSpPr>
        <p:spPr>
          <a:xfrm>
            <a:off x="7142580"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9" name="Rectangle 38"/>
          <p:cNvSpPr/>
          <p:nvPr/>
        </p:nvSpPr>
        <p:spPr>
          <a:xfrm>
            <a:off x="7636201" y="1968576"/>
            <a:ext cx="493621" cy="227825"/>
          </a:xfrm>
          <a:prstGeom prst="rect">
            <a:avLst/>
          </a:prstGeom>
          <a:solidFill>
            <a:srgbClr val="FDEED2"/>
          </a:solidFill>
          <a:ln w="9492">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0" name="Rectangle 39"/>
          <p:cNvSpPr/>
          <p:nvPr/>
        </p:nvSpPr>
        <p:spPr>
          <a:xfrm>
            <a:off x="8129822"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1" name="Rectangle 40"/>
          <p:cNvSpPr/>
          <p:nvPr/>
        </p:nvSpPr>
        <p:spPr>
          <a:xfrm>
            <a:off x="8623443" y="1968576"/>
            <a:ext cx="493621" cy="227825"/>
          </a:xfrm>
          <a:prstGeom prst="rect">
            <a:avLst/>
          </a:prstGeom>
          <a:solidFill>
            <a:srgbClr val="FFFFFF"/>
          </a:solidFill>
          <a:ln w="9492">
            <a:solidFill>
              <a:srgbClr val="92929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2" name="Rectangle 41"/>
          <p:cNvSpPr/>
          <p:nvPr/>
        </p:nvSpPr>
        <p:spPr>
          <a:xfrm>
            <a:off x="9117064" y="1968576"/>
            <a:ext cx="493621" cy="227825"/>
          </a:xfrm>
          <a:prstGeom prst="rect">
            <a:avLst/>
          </a:prstGeom>
          <a:solidFill>
            <a:srgbClr val="FCE0E6"/>
          </a:solidFill>
          <a:ln w="15188">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45" name="Connector 44"/>
          <p:cNvCxnSpPr/>
          <p:nvPr/>
        </p:nvCxnSpPr>
        <p:spPr>
          <a:xfrm>
            <a:off x="6725382" y="3691858"/>
            <a:ext cx="0" cy="1858805"/>
          </a:xfrm>
          <a:prstGeom prst="line">
            <a:avLst/>
          </a:prstGeom>
          <a:ln w="11314">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46" name="Freeform 45"/>
          <p:cNvSpPr/>
          <p:nvPr/>
        </p:nvSpPr>
        <p:spPr>
          <a:xfrm>
            <a:off x="6684973" y="3659530"/>
            <a:ext cx="80818" cy="80818"/>
          </a:xfrm>
          <a:custGeom>
            <a:avLst/>
            <a:gdLst/>
            <a:ahLst/>
            <a:cxnLst/>
            <a:rect l="l" t="t" r="r" b="b"/>
            <a:pathLst>
              <a:path w="80818" h="80818">
                <a:moveTo>
                  <a:pt x="0" y="0"/>
                </a:moveTo>
                <a:lnTo>
                  <a:pt x="80818" y="0"/>
                </a:lnTo>
                <a:lnTo>
                  <a:pt x="40409" y="80818"/>
                </a:lnTo>
                <a:close/>
              </a:path>
            </a:pathLst>
          </a:cu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47" name="Rectangle 46"/>
          <p:cNvSpPr/>
          <p:nvPr/>
        </p:nvSpPr>
        <p:spPr>
          <a:xfrm>
            <a:off x="3880604" y="3910066"/>
            <a:ext cx="2844779" cy="242453"/>
          </a:xfrm>
          <a:prstGeom prst="rect">
            <a:avLst/>
          </a:prstGeom>
          <a:solidFill>
            <a:srgbClr val="FCE0E6"/>
          </a:solidFill>
          <a:ln w="8081">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48" name="Rectangle 47"/>
          <p:cNvSpPr/>
          <p:nvPr/>
        </p:nvSpPr>
        <p:spPr>
          <a:xfrm>
            <a:off x="6725383" y="3910066"/>
            <a:ext cx="888993" cy="242453"/>
          </a:xfrm>
          <a:prstGeom prst="rect">
            <a:avLst/>
          </a:prstGeom>
          <a:solidFill>
            <a:srgbClr val="F2F2F2"/>
          </a:solidFill>
          <a:ln w="8081">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49" name="Freeform 48"/>
          <p:cNvSpPr/>
          <p:nvPr/>
        </p:nvSpPr>
        <p:spPr>
          <a:xfrm>
            <a:off x="7582048" y="4184845"/>
            <a:ext cx="64654" cy="64654"/>
          </a:xfrm>
          <a:custGeom>
            <a:avLst/>
            <a:gdLst/>
            <a:ahLst/>
            <a:cxnLst/>
            <a:rect l="l" t="t" r="r" b="b"/>
            <a:pathLst>
              <a:path w="64654" h="64654">
                <a:moveTo>
                  <a:pt x="0" y="0"/>
                </a:moveTo>
                <a:lnTo>
                  <a:pt x="64654" y="0"/>
                </a:lnTo>
                <a:lnTo>
                  <a:pt x="32327" y="64654"/>
                </a:lnTo>
                <a:close/>
              </a:path>
            </a:pathLst>
          </a:cu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50" name="Rectangle 49"/>
          <p:cNvSpPr/>
          <p:nvPr/>
        </p:nvSpPr>
        <p:spPr>
          <a:xfrm>
            <a:off x="3880604" y="4597015"/>
            <a:ext cx="2844779" cy="242453"/>
          </a:xfrm>
          <a:prstGeom prst="rect">
            <a:avLst/>
          </a:prstGeom>
          <a:solidFill>
            <a:srgbClr val="FCE0E6"/>
          </a:solidFill>
          <a:ln w="8081">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51" name="Rectangle 50"/>
          <p:cNvSpPr/>
          <p:nvPr/>
        </p:nvSpPr>
        <p:spPr>
          <a:xfrm>
            <a:off x="6725383" y="4597015"/>
            <a:ext cx="1858805" cy="242453"/>
          </a:xfrm>
          <a:prstGeom prst="rect">
            <a:avLst/>
          </a:prstGeom>
          <a:solidFill>
            <a:srgbClr val="F2F2F2"/>
          </a:solidFill>
          <a:ln w="8081">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52" name="Freeform 51"/>
          <p:cNvSpPr/>
          <p:nvPr/>
        </p:nvSpPr>
        <p:spPr>
          <a:xfrm>
            <a:off x="6693055" y="4871794"/>
            <a:ext cx="64654" cy="64654"/>
          </a:xfrm>
          <a:custGeom>
            <a:avLst/>
            <a:gdLst/>
            <a:ahLst/>
            <a:cxnLst/>
            <a:rect l="l" t="t" r="r" b="b"/>
            <a:pathLst>
              <a:path w="64654" h="64654">
                <a:moveTo>
                  <a:pt x="0" y="0"/>
                </a:moveTo>
                <a:lnTo>
                  <a:pt x="64654" y="0"/>
                </a:lnTo>
                <a:lnTo>
                  <a:pt x="32327" y="64654"/>
                </a:lnTo>
                <a:close/>
              </a:path>
            </a:pathLst>
          </a:cu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53" name="Rectangle 52"/>
          <p:cNvSpPr/>
          <p:nvPr/>
        </p:nvSpPr>
        <p:spPr>
          <a:xfrm>
            <a:off x="3880604" y="5283965"/>
            <a:ext cx="2844779" cy="242453"/>
          </a:xfrm>
          <a:prstGeom prst="rect">
            <a:avLst/>
          </a:prstGeom>
          <a:solidFill>
            <a:srgbClr val="FCE0E6"/>
          </a:solidFill>
          <a:ln w="8081">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54" name="Rectangle 53"/>
          <p:cNvSpPr/>
          <p:nvPr/>
        </p:nvSpPr>
        <p:spPr>
          <a:xfrm>
            <a:off x="6725383" y="5283965"/>
            <a:ext cx="1373899" cy="242453"/>
          </a:xfrm>
          <a:prstGeom prst="rect">
            <a:avLst/>
          </a:prstGeom>
          <a:solidFill>
            <a:srgbClr val="F2F2F2"/>
          </a:solidFill>
          <a:ln w="8081">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cxnSp>
        <p:nvCxnSpPr>
          <p:cNvPr id="55" name="Connector 54"/>
          <p:cNvCxnSpPr/>
          <p:nvPr/>
        </p:nvCxnSpPr>
        <p:spPr>
          <a:xfrm>
            <a:off x="3880604" y="5647643"/>
            <a:ext cx="2844779" cy="0"/>
          </a:xfrm>
          <a:prstGeom prst="line">
            <a:avLst/>
          </a:prstGeom>
          <a:ln w="11314">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880603" y="5607234"/>
            <a:ext cx="0" cy="80818"/>
          </a:xfrm>
          <a:prstGeom prst="line">
            <a:avLst/>
          </a:prstGeom>
          <a:ln w="11314">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725382" y="5607234"/>
            <a:ext cx="0" cy="80818"/>
          </a:xfrm>
          <a:prstGeom prst="line">
            <a:avLst/>
          </a:prstGeom>
          <a:ln w="11314">
            <a:solidFill>
              <a:srgbClr val="C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877347" y="1165480"/>
            <a:ext cx="7082346" cy="146209"/>
          </a:xfrm>
          <a:prstGeom prst="rect">
            <a:avLst/>
          </a:prstGeom>
          <a:noFill/>
        </p:spPr>
        <p:txBody>
          <a:bodyPr wrap="none" lIns="0" tIns="0" rIns="0" bIns="0" anchor="t">
            <a:noAutofit/>
          </a:bodyPr>
          <a:lstStyle/>
          <a:p>
            <a:pPr defTabSz="457200"/>
            <a:r>
              <a:rPr sz="1200" b="1" dirty="0">
                <a:solidFill>
                  <a:srgbClr val="000000"/>
                </a:solidFill>
                <a:latin typeface="Microsoft YaHei"/>
                <a:ea typeface="Microsoft YaHei"/>
              </a:rPr>
              <a:t>MLA </a:t>
            </a:r>
            <a:r>
              <a:rPr sz="1200" b="1" dirty="0" err="1">
                <a:solidFill>
                  <a:srgbClr val="000000"/>
                </a:solidFill>
                <a:latin typeface="Microsoft YaHei"/>
                <a:ea typeface="Microsoft YaHei"/>
              </a:rPr>
              <a:t>每个块都缓存</a:t>
            </a:r>
            <a:r>
              <a:rPr sz="1200" b="1" dirty="0">
                <a:solidFill>
                  <a:srgbClr val="000000"/>
                </a:solidFill>
                <a:latin typeface="Microsoft YaHei"/>
                <a:ea typeface="Microsoft YaHei"/>
              </a:rPr>
              <a:t> KV；KDA state </a:t>
            </a:r>
            <a:r>
              <a:rPr lang="zh-CN" altLang="en-US" sz="1200" b="1" dirty="0">
                <a:solidFill>
                  <a:srgbClr val="000000"/>
                </a:solidFill>
                <a:latin typeface="Microsoft YaHei"/>
                <a:ea typeface="Microsoft YaHei"/>
              </a:rPr>
              <a:t>除去末尾位置以外按间隔大小</a:t>
            </a:r>
            <a:r>
              <a:rPr lang="en-US" altLang="zh-CN" sz="1200" b="1" dirty="0">
                <a:solidFill>
                  <a:srgbClr val="000000"/>
                </a:solidFill>
                <a:latin typeface="Microsoft YaHei"/>
                <a:ea typeface="Microsoft YaHei"/>
              </a:rPr>
              <a:t>N</a:t>
            </a:r>
            <a:r>
              <a:rPr lang="zh-CN" altLang="en-US" sz="1200" b="1" dirty="0">
                <a:solidFill>
                  <a:srgbClr val="000000"/>
                </a:solidFill>
                <a:latin typeface="Microsoft YaHei"/>
                <a:ea typeface="Microsoft YaHei"/>
              </a:rPr>
              <a:t>存储</a:t>
            </a:r>
            <a:r>
              <a:rPr lang="en-US" altLang="zh-CN" sz="1200" b="1" dirty="0">
                <a:solidFill>
                  <a:srgbClr val="000000"/>
                </a:solidFill>
                <a:latin typeface="Microsoft YaHei"/>
                <a:ea typeface="Microsoft YaHei"/>
              </a:rPr>
              <a:t>checkpoint</a:t>
            </a:r>
            <a:endParaRPr sz="1200" b="1" dirty="0">
              <a:solidFill>
                <a:srgbClr val="000000"/>
              </a:solidFill>
              <a:latin typeface="Microsoft YaHei"/>
              <a:ea typeface="Microsoft YaHei"/>
            </a:endParaRPr>
          </a:p>
        </p:txBody>
      </p:sp>
      <p:sp>
        <p:nvSpPr>
          <p:cNvPr id="63" name="TextBox 62"/>
          <p:cNvSpPr txBox="1"/>
          <p:nvPr/>
        </p:nvSpPr>
        <p:spPr>
          <a:xfrm>
            <a:off x="877347" y="1564197"/>
            <a:ext cx="626174" cy="146209"/>
          </a:xfrm>
          <a:prstGeom prst="rect">
            <a:avLst/>
          </a:prstGeom>
          <a:noFill/>
        </p:spPr>
        <p:txBody>
          <a:bodyPr wrap="none" lIns="0" tIns="0" rIns="0" bIns="0" anchor="t">
            <a:noAutofit/>
          </a:bodyPr>
          <a:lstStyle/>
          <a:p>
            <a:pPr defTabSz="457200"/>
            <a:r>
              <a:rPr sz="897" b="1">
                <a:solidFill>
                  <a:srgbClr val="000000"/>
                </a:solidFill>
                <a:latin typeface="Microsoft YaHei"/>
                <a:ea typeface="Microsoft YaHei"/>
              </a:rPr>
              <a:t>MLA KV</a:t>
            </a:r>
          </a:p>
        </p:txBody>
      </p:sp>
      <p:sp>
        <p:nvSpPr>
          <p:cNvPr id="65" name="TextBox 64"/>
          <p:cNvSpPr txBox="1"/>
          <p:nvPr/>
        </p:nvSpPr>
        <p:spPr>
          <a:xfrm>
            <a:off x="877347" y="2019873"/>
            <a:ext cx="734758" cy="146209"/>
          </a:xfrm>
          <a:prstGeom prst="rect">
            <a:avLst/>
          </a:prstGeom>
          <a:noFill/>
        </p:spPr>
        <p:txBody>
          <a:bodyPr wrap="none" lIns="0" tIns="0" rIns="0" bIns="0" anchor="t">
            <a:noAutofit/>
          </a:bodyPr>
          <a:lstStyle/>
          <a:p>
            <a:pPr defTabSz="457200"/>
            <a:r>
              <a:rPr sz="897" b="1">
                <a:solidFill>
                  <a:srgbClr val="000000"/>
                </a:solidFill>
                <a:latin typeface="Microsoft YaHei"/>
                <a:ea typeface="Microsoft YaHei"/>
              </a:rPr>
              <a:t>KDA state</a:t>
            </a:r>
          </a:p>
        </p:txBody>
      </p:sp>
      <p:sp>
        <p:nvSpPr>
          <p:cNvPr id="66" name="TextBox 65"/>
          <p:cNvSpPr txBox="1"/>
          <p:nvPr/>
        </p:nvSpPr>
        <p:spPr>
          <a:xfrm>
            <a:off x="3822382" y="2017967"/>
            <a:ext cx="389572" cy="119634"/>
          </a:xfrm>
          <a:prstGeom prst="rect">
            <a:avLst/>
          </a:prstGeom>
          <a:noFill/>
        </p:spPr>
        <p:txBody>
          <a:bodyPr wrap="none" lIns="0" tIns="0" rIns="0" bIns="0" anchor="t">
            <a:noAutofit/>
          </a:bodyPr>
          <a:lstStyle/>
          <a:p>
            <a:pPr defTabSz="457200"/>
            <a:r>
              <a:rPr sz="710" b="1">
                <a:solidFill>
                  <a:srgbClr val="C00000"/>
                </a:solidFill>
                <a:latin typeface="Microsoft YaHei"/>
                <a:ea typeface="Microsoft YaHei"/>
              </a:rPr>
              <a:t>state</a:t>
            </a:r>
          </a:p>
        </p:txBody>
      </p:sp>
      <p:sp>
        <p:nvSpPr>
          <p:cNvPr id="67" name="TextBox 66"/>
          <p:cNvSpPr txBox="1"/>
          <p:nvPr/>
        </p:nvSpPr>
        <p:spPr>
          <a:xfrm>
            <a:off x="5796915" y="2017967"/>
            <a:ext cx="389572" cy="119634"/>
          </a:xfrm>
          <a:prstGeom prst="rect">
            <a:avLst/>
          </a:prstGeom>
          <a:noFill/>
        </p:spPr>
        <p:txBody>
          <a:bodyPr wrap="none" lIns="0" tIns="0" rIns="0" bIns="0" anchor="t">
            <a:noAutofit/>
          </a:bodyPr>
          <a:lstStyle/>
          <a:p>
            <a:pPr defTabSz="457200"/>
            <a:r>
              <a:rPr sz="710" b="1">
                <a:solidFill>
                  <a:srgbClr val="C00000"/>
                </a:solidFill>
                <a:latin typeface="Microsoft YaHei"/>
                <a:ea typeface="Microsoft YaHei"/>
              </a:rPr>
              <a:t>state</a:t>
            </a:r>
          </a:p>
        </p:txBody>
      </p:sp>
      <p:sp>
        <p:nvSpPr>
          <p:cNvPr id="68" name="TextBox 67"/>
          <p:cNvSpPr txBox="1"/>
          <p:nvPr/>
        </p:nvSpPr>
        <p:spPr>
          <a:xfrm>
            <a:off x="7771352" y="2017967"/>
            <a:ext cx="389572" cy="119634"/>
          </a:xfrm>
          <a:prstGeom prst="rect">
            <a:avLst/>
          </a:prstGeom>
          <a:noFill/>
        </p:spPr>
        <p:txBody>
          <a:bodyPr wrap="none" lIns="0" tIns="0" rIns="0" bIns="0" anchor="t">
            <a:noAutofit/>
          </a:bodyPr>
          <a:lstStyle/>
          <a:p>
            <a:pPr defTabSz="457200"/>
            <a:r>
              <a:rPr sz="710" b="1">
                <a:solidFill>
                  <a:srgbClr val="C00000"/>
                </a:solidFill>
                <a:latin typeface="Microsoft YaHei"/>
                <a:ea typeface="Microsoft YaHei"/>
              </a:rPr>
              <a:t>state</a:t>
            </a:r>
          </a:p>
        </p:txBody>
      </p:sp>
      <p:sp>
        <p:nvSpPr>
          <p:cNvPr id="69" name="TextBox 68"/>
          <p:cNvSpPr txBox="1"/>
          <p:nvPr/>
        </p:nvSpPr>
        <p:spPr>
          <a:xfrm>
            <a:off x="9252299" y="2017967"/>
            <a:ext cx="389572" cy="119634"/>
          </a:xfrm>
          <a:prstGeom prst="rect">
            <a:avLst/>
          </a:prstGeom>
          <a:noFill/>
        </p:spPr>
        <p:txBody>
          <a:bodyPr wrap="none" lIns="0" tIns="0" rIns="0" bIns="0" anchor="t">
            <a:noAutofit/>
          </a:bodyPr>
          <a:lstStyle/>
          <a:p>
            <a:pPr defTabSz="457200"/>
            <a:r>
              <a:rPr sz="710" b="1">
                <a:solidFill>
                  <a:srgbClr val="C00000"/>
                </a:solidFill>
                <a:latin typeface="Microsoft YaHei"/>
                <a:ea typeface="Microsoft YaHei"/>
              </a:rPr>
              <a:t>state</a:t>
            </a:r>
          </a:p>
        </p:txBody>
      </p:sp>
      <p:sp>
        <p:nvSpPr>
          <p:cNvPr id="73" name="TextBox 72"/>
          <p:cNvSpPr txBox="1"/>
          <p:nvPr/>
        </p:nvSpPr>
        <p:spPr>
          <a:xfrm>
            <a:off x="9089707" y="1837563"/>
            <a:ext cx="707326" cy="119634"/>
          </a:xfrm>
          <a:prstGeom prst="rect">
            <a:avLst/>
          </a:prstGeom>
          <a:noFill/>
        </p:spPr>
        <p:txBody>
          <a:bodyPr wrap="none" lIns="0" tIns="0" rIns="0" bIns="0" anchor="t">
            <a:noAutofit/>
          </a:bodyPr>
          <a:lstStyle/>
          <a:p>
            <a:pPr defTabSz="457200"/>
            <a:r>
              <a:rPr sz="710" b="1">
                <a:solidFill>
                  <a:srgbClr val="C00000"/>
                </a:solidFill>
                <a:latin typeface="Microsoft YaHei"/>
                <a:ea typeface="Microsoft YaHei"/>
              </a:rPr>
              <a:t>prompt-end</a:t>
            </a:r>
          </a:p>
        </p:txBody>
      </p:sp>
      <p:sp>
        <p:nvSpPr>
          <p:cNvPr id="76" name="TextBox 75"/>
          <p:cNvSpPr txBox="1"/>
          <p:nvPr/>
        </p:nvSpPr>
        <p:spPr>
          <a:xfrm>
            <a:off x="6787121" y="3612730"/>
            <a:ext cx="1044487" cy="123825"/>
          </a:xfrm>
          <a:prstGeom prst="rect">
            <a:avLst/>
          </a:prstGeom>
          <a:noFill/>
        </p:spPr>
        <p:txBody>
          <a:bodyPr wrap="none" lIns="0" tIns="0" rIns="0" bIns="0" anchor="t">
            <a:noAutofit/>
          </a:bodyPr>
          <a:lstStyle/>
          <a:p>
            <a:pPr defTabSz="457200"/>
            <a:r>
              <a:rPr sz="800" b="1" dirty="0">
                <a:solidFill>
                  <a:srgbClr val="C00000"/>
                </a:solidFill>
                <a:latin typeface="Microsoft YaHei"/>
                <a:ea typeface="Microsoft YaHei"/>
              </a:rPr>
              <a:t>t = </a:t>
            </a:r>
            <a:r>
              <a:rPr sz="800" b="1" dirty="0" err="1">
                <a:solidFill>
                  <a:srgbClr val="C00000"/>
                </a:solidFill>
                <a:latin typeface="Microsoft YaHei"/>
                <a:ea typeface="Microsoft YaHei"/>
              </a:rPr>
              <a:t>分叉点</a:t>
            </a:r>
            <a:endParaRPr sz="800" b="1" dirty="0">
              <a:solidFill>
                <a:srgbClr val="C00000"/>
              </a:solidFill>
              <a:latin typeface="Microsoft YaHei"/>
              <a:ea typeface="Microsoft YaHei"/>
            </a:endParaRPr>
          </a:p>
        </p:txBody>
      </p:sp>
      <p:sp>
        <p:nvSpPr>
          <p:cNvPr id="77" name="TextBox 76"/>
          <p:cNvSpPr txBox="1"/>
          <p:nvPr/>
        </p:nvSpPr>
        <p:spPr>
          <a:xfrm>
            <a:off x="3079038" y="3966964"/>
            <a:ext cx="602361" cy="133350"/>
          </a:xfrm>
          <a:prstGeom prst="rect">
            <a:avLst/>
          </a:prstGeom>
          <a:noFill/>
        </p:spPr>
        <p:txBody>
          <a:bodyPr wrap="none" lIns="0" tIns="0" rIns="0" bIns="0" anchor="t">
            <a:noAutofit/>
          </a:bodyPr>
          <a:lstStyle/>
          <a:p>
            <a:pPr defTabSz="457200"/>
            <a:r>
              <a:rPr sz="800" b="1">
                <a:solidFill>
                  <a:srgbClr val="000000"/>
                </a:solidFill>
                <a:latin typeface="Microsoft YaHei"/>
                <a:ea typeface="Microsoft YaHei"/>
              </a:rPr>
              <a:t>① Req A</a:t>
            </a:r>
          </a:p>
        </p:txBody>
      </p:sp>
      <p:sp>
        <p:nvSpPr>
          <p:cNvPr id="78" name="TextBox 77"/>
          <p:cNvSpPr txBox="1"/>
          <p:nvPr/>
        </p:nvSpPr>
        <p:spPr>
          <a:xfrm>
            <a:off x="4668285" y="3968393"/>
            <a:ext cx="1486649" cy="114300"/>
          </a:xfrm>
          <a:prstGeom prst="rect">
            <a:avLst/>
          </a:prstGeom>
          <a:noFill/>
        </p:spPr>
        <p:txBody>
          <a:bodyPr wrap="none" lIns="0" tIns="0" rIns="0" bIns="0" anchor="t">
            <a:noAutofit/>
          </a:bodyPr>
          <a:lstStyle/>
          <a:p>
            <a:pPr defTabSz="457200"/>
            <a:endParaRPr sz="800" b="1" dirty="0">
              <a:solidFill>
                <a:srgbClr val="C00000"/>
              </a:solidFill>
              <a:latin typeface="Microsoft YaHei"/>
              <a:ea typeface="Microsoft YaHei"/>
            </a:endParaRPr>
          </a:p>
        </p:txBody>
      </p:sp>
      <p:sp>
        <p:nvSpPr>
          <p:cNvPr id="79" name="TextBox 78"/>
          <p:cNvSpPr txBox="1"/>
          <p:nvPr/>
        </p:nvSpPr>
        <p:spPr>
          <a:xfrm>
            <a:off x="7033151" y="3977919"/>
            <a:ext cx="426720" cy="104775"/>
          </a:xfrm>
          <a:prstGeom prst="rect">
            <a:avLst/>
          </a:prstGeom>
          <a:noFill/>
        </p:spPr>
        <p:txBody>
          <a:bodyPr wrap="none" lIns="0" tIns="0" rIns="0" bIns="0" anchor="t">
            <a:noAutofit/>
          </a:bodyPr>
          <a:lstStyle/>
          <a:p>
            <a:pPr defTabSz="457200"/>
            <a:r>
              <a:rPr sz="800" dirty="0">
                <a:solidFill>
                  <a:srgbClr val="666666"/>
                </a:solidFill>
                <a:latin typeface="Microsoft YaHei"/>
                <a:ea typeface="Microsoft YaHei"/>
              </a:rPr>
              <a:t>A </a:t>
            </a:r>
            <a:r>
              <a:rPr sz="800" dirty="0" err="1">
                <a:solidFill>
                  <a:srgbClr val="666666"/>
                </a:solidFill>
                <a:latin typeface="Microsoft YaHei"/>
                <a:ea typeface="Microsoft YaHei"/>
              </a:rPr>
              <a:t>后缀</a:t>
            </a:r>
            <a:endParaRPr sz="800" dirty="0">
              <a:solidFill>
                <a:srgbClr val="666666"/>
              </a:solidFill>
              <a:latin typeface="Microsoft YaHei"/>
              <a:ea typeface="Microsoft YaHei"/>
            </a:endParaRPr>
          </a:p>
        </p:txBody>
      </p:sp>
      <p:sp>
        <p:nvSpPr>
          <p:cNvPr id="80" name="TextBox 79"/>
          <p:cNvSpPr txBox="1"/>
          <p:nvPr/>
        </p:nvSpPr>
        <p:spPr>
          <a:xfrm>
            <a:off x="7669517" y="4163751"/>
            <a:ext cx="780193" cy="104775"/>
          </a:xfrm>
          <a:prstGeom prst="rect">
            <a:avLst/>
          </a:prstGeom>
          <a:noFill/>
        </p:spPr>
        <p:txBody>
          <a:bodyPr wrap="none" lIns="0" tIns="0" rIns="0" bIns="0" anchor="t">
            <a:noAutofit/>
          </a:bodyPr>
          <a:lstStyle/>
          <a:p>
            <a:pPr defTabSz="457200"/>
            <a:r>
              <a:rPr sz="800" dirty="0" err="1">
                <a:solidFill>
                  <a:srgbClr val="666666"/>
                </a:solidFill>
                <a:latin typeface="Microsoft YaHei"/>
                <a:ea typeface="Microsoft YaHei"/>
              </a:rPr>
              <a:t>末尾</a:t>
            </a:r>
            <a:r>
              <a:rPr sz="800" dirty="0">
                <a:solidFill>
                  <a:srgbClr val="666666"/>
                </a:solidFill>
                <a:latin typeface="Microsoft YaHei"/>
                <a:ea typeface="Microsoft YaHei"/>
              </a:rPr>
              <a:t> checkpoint</a:t>
            </a:r>
          </a:p>
        </p:txBody>
      </p:sp>
      <p:sp>
        <p:nvSpPr>
          <p:cNvPr id="81" name="TextBox 80"/>
          <p:cNvSpPr txBox="1"/>
          <p:nvPr/>
        </p:nvSpPr>
        <p:spPr>
          <a:xfrm>
            <a:off x="3079037" y="4653907"/>
            <a:ext cx="592836" cy="133350"/>
          </a:xfrm>
          <a:prstGeom prst="rect">
            <a:avLst/>
          </a:prstGeom>
          <a:noFill/>
        </p:spPr>
        <p:txBody>
          <a:bodyPr wrap="none" lIns="0" tIns="0" rIns="0" bIns="0" anchor="t">
            <a:noAutofit/>
          </a:bodyPr>
          <a:lstStyle/>
          <a:p>
            <a:pPr defTabSz="457200"/>
            <a:r>
              <a:rPr sz="800" b="1">
                <a:solidFill>
                  <a:srgbClr val="000000"/>
                </a:solidFill>
                <a:latin typeface="Microsoft YaHei"/>
                <a:ea typeface="Microsoft YaHei"/>
              </a:rPr>
              <a:t>② Req B</a:t>
            </a:r>
          </a:p>
        </p:txBody>
      </p:sp>
      <p:sp>
        <p:nvSpPr>
          <p:cNvPr id="82" name="TextBox 81"/>
          <p:cNvSpPr txBox="1"/>
          <p:nvPr/>
        </p:nvSpPr>
        <p:spPr>
          <a:xfrm>
            <a:off x="4746865" y="4664862"/>
            <a:ext cx="1312436" cy="104775"/>
          </a:xfrm>
          <a:prstGeom prst="rect">
            <a:avLst/>
          </a:prstGeom>
          <a:noFill/>
        </p:spPr>
        <p:txBody>
          <a:bodyPr wrap="none" lIns="0" tIns="0" rIns="0" bIns="0" anchor="t">
            <a:noAutofit/>
          </a:bodyPr>
          <a:lstStyle/>
          <a:p>
            <a:pPr defTabSz="457200"/>
            <a:r>
              <a:rPr lang="en-US" sz="800" b="1" dirty="0">
                <a:solidFill>
                  <a:srgbClr val="C00000"/>
                </a:solidFill>
                <a:latin typeface="Microsoft YaHei"/>
                <a:ea typeface="Microsoft YaHei"/>
              </a:rPr>
              <a:t>MLA </a:t>
            </a:r>
            <a:r>
              <a:rPr sz="800" b="1" dirty="0" err="1">
                <a:solidFill>
                  <a:srgbClr val="C00000"/>
                </a:solidFill>
                <a:latin typeface="Microsoft YaHei"/>
                <a:ea typeface="Microsoft YaHei"/>
              </a:rPr>
              <a:t>命中</a:t>
            </a:r>
            <a:r>
              <a:rPr lang="zh-CN" altLang="en-US" sz="800" b="1" dirty="0">
                <a:solidFill>
                  <a:srgbClr val="C00000"/>
                </a:solidFill>
                <a:latin typeface="Microsoft YaHei"/>
                <a:ea typeface="Microsoft YaHei"/>
              </a:rPr>
              <a:t>公共前缀</a:t>
            </a:r>
            <a:endParaRPr sz="800" b="1" dirty="0">
              <a:solidFill>
                <a:srgbClr val="C00000"/>
              </a:solidFill>
              <a:latin typeface="Microsoft YaHei"/>
              <a:ea typeface="Microsoft YaHei"/>
            </a:endParaRPr>
          </a:p>
        </p:txBody>
      </p:sp>
      <p:sp>
        <p:nvSpPr>
          <p:cNvPr id="83" name="TextBox 82"/>
          <p:cNvSpPr txBox="1"/>
          <p:nvPr/>
        </p:nvSpPr>
        <p:spPr>
          <a:xfrm>
            <a:off x="7276515" y="4664862"/>
            <a:ext cx="908876" cy="104775"/>
          </a:xfrm>
          <a:prstGeom prst="rect">
            <a:avLst/>
          </a:prstGeom>
          <a:noFill/>
        </p:spPr>
        <p:txBody>
          <a:bodyPr wrap="none" lIns="0" tIns="0" rIns="0" bIns="0" anchor="t">
            <a:noAutofit/>
          </a:bodyPr>
          <a:lstStyle/>
          <a:p>
            <a:pPr defTabSz="457200"/>
            <a:r>
              <a:rPr sz="800">
                <a:solidFill>
                  <a:srgbClr val="666666"/>
                </a:solidFill>
                <a:latin typeface="Microsoft YaHei"/>
                <a:ea typeface="Microsoft YaHei"/>
              </a:rPr>
              <a:t>B 后缀（各自不同）</a:t>
            </a:r>
          </a:p>
        </p:txBody>
      </p:sp>
      <p:sp>
        <p:nvSpPr>
          <p:cNvPr id="84" name="TextBox 83"/>
          <p:cNvSpPr txBox="1"/>
          <p:nvPr/>
        </p:nvSpPr>
        <p:spPr>
          <a:xfrm>
            <a:off x="6806170" y="4850695"/>
            <a:ext cx="1698176" cy="104775"/>
          </a:xfrm>
          <a:prstGeom prst="rect">
            <a:avLst/>
          </a:prstGeom>
          <a:noFill/>
        </p:spPr>
        <p:txBody>
          <a:bodyPr wrap="none" lIns="0" tIns="0" rIns="0" bIns="0" anchor="t">
            <a:noAutofit/>
          </a:bodyPr>
          <a:lstStyle/>
          <a:p>
            <a:pPr defTabSz="457200"/>
            <a:r>
              <a:rPr sz="800" b="1">
                <a:solidFill>
                  <a:srgbClr val="C00000"/>
                </a:solidFill>
                <a:latin typeface="Microsoft YaHei"/>
                <a:ea typeface="Microsoft YaHei"/>
              </a:rPr>
              <a:t>B 到达 → 在 t 存储 KDA checkpoint</a:t>
            </a:r>
          </a:p>
        </p:txBody>
      </p:sp>
      <p:sp>
        <p:nvSpPr>
          <p:cNvPr id="85" name="TextBox 84"/>
          <p:cNvSpPr txBox="1"/>
          <p:nvPr/>
        </p:nvSpPr>
        <p:spPr>
          <a:xfrm>
            <a:off x="3079037" y="5340850"/>
            <a:ext cx="592836" cy="133350"/>
          </a:xfrm>
          <a:prstGeom prst="rect">
            <a:avLst/>
          </a:prstGeom>
          <a:noFill/>
        </p:spPr>
        <p:txBody>
          <a:bodyPr wrap="none" lIns="0" tIns="0" rIns="0" bIns="0" anchor="t">
            <a:noAutofit/>
          </a:bodyPr>
          <a:lstStyle/>
          <a:p>
            <a:pPr defTabSz="457200"/>
            <a:r>
              <a:rPr sz="800" b="1">
                <a:solidFill>
                  <a:srgbClr val="000000"/>
                </a:solidFill>
                <a:latin typeface="Microsoft YaHei"/>
                <a:ea typeface="Microsoft YaHei"/>
              </a:rPr>
              <a:t>③ Req C</a:t>
            </a:r>
          </a:p>
        </p:txBody>
      </p:sp>
      <p:sp>
        <p:nvSpPr>
          <p:cNvPr id="86" name="TextBox 85"/>
          <p:cNvSpPr txBox="1"/>
          <p:nvPr/>
        </p:nvSpPr>
        <p:spPr>
          <a:xfrm>
            <a:off x="7286611" y="5351805"/>
            <a:ext cx="414242" cy="104775"/>
          </a:xfrm>
          <a:prstGeom prst="rect">
            <a:avLst/>
          </a:prstGeom>
          <a:noFill/>
        </p:spPr>
        <p:txBody>
          <a:bodyPr wrap="none" lIns="0" tIns="0" rIns="0" bIns="0" anchor="t">
            <a:noAutofit/>
          </a:bodyPr>
          <a:lstStyle/>
          <a:p>
            <a:pPr defTabSz="457200"/>
            <a:r>
              <a:rPr sz="800">
                <a:solidFill>
                  <a:srgbClr val="666666"/>
                </a:solidFill>
                <a:latin typeface="Microsoft YaHei"/>
                <a:ea typeface="Microsoft YaHei"/>
              </a:rPr>
              <a:t>C 后缀</a:t>
            </a:r>
          </a:p>
        </p:txBody>
      </p:sp>
      <p:sp>
        <p:nvSpPr>
          <p:cNvPr id="87" name="TextBox 86"/>
          <p:cNvSpPr txBox="1"/>
          <p:nvPr/>
        </p:nvSpPr>
        <p:spPr>
          <a:xfrm>
            <a:off x="3472492" y="5818899"/>
            <a:ext cx="3897859" cy="123825"/>
          </a:xfrm>
          <a:prstGeom prst="rect">
            <a:avLst/>
          </a:prstGeom>
          <a:noFill/>
        </p:spPr>
        <p:txBody>
          <a:bodyPr wrap="none" lIns="0" tIns="0" rIns="0" bIns="0" anchor="t">
            <a:noAutofit/>
          </a:bodyPr>
          <a:lstStyle/>
          <a:p>
            <a:pPr defTabSz="457200"/>
            <a:r>
              <a:rPr sz="1200" b="1" dirty="0">
                <a:solidFill>
                  <a:srgbClr val="C00000"/>
                </a:solidFill>
                <a:latin typeface="Microsoft YaHei"/>
                <a:ea typeface="Microsoft YaHei"/>
              </a:rPr>
              <a:t>MLA + KDA </a:t>
            </a:r>
            <a:r>
              <a:rPr sz="1200" b="1" dirty="0" err="1">
                <a:solidFill>
                  <a:srgbClr val="C00000"/>
                </a:solidFill>
                <a:latin typeface="Microsoft YaHei"/>
                <a:ea typeface="Microsoft YaHei"/>
              </a:rPr>
              <a:t>双命中</a:t>
            </a:r>
            <a:r>
              <a:rPr sz="1200" b="1" dirty="0">
                <a:solidFill>
                  <a:srgbClr val="C00000"/>
                </a:solidFill>
                <a:latin typeface="Microsoft YaHei"/>
                <a:ea typeface="Microsoft YaHei"/>
              </a:rPr>
              <a:t> → </a:t>
            </a:r>
            <a:r>
              <a:rPr lang="zh-CN" altLang="en-US" sz="1200" b="1" dirty="0">
                <a:solidFill>
                  <a:srgbClr val="C00000"/>
                </a:solidFill>
                <a:latin typeface="Microsoft YaHei"/>
                <a:ea typeface="Microsoft YaHei"/>
              </a:rPr>
              <a:t>复用</a:t>
            </a:r>
            <a:r>
              <a:rPr lang="en-US" altLang="zh-CN" sz="1200" b="1" dirty="0">
                <a:solidFill>
                  <a:srgbClr val="C00000"/>
                </a:solidFill>
                <a:latin typeface="Microsoft YaHei"/>
                <a:ea typeface="Microsoft YaHei"/>
              </a:rPr>
              <a:t>0~t Prefix Cache</a:t>
            </a:r>
            <a:r>
              <a:rPr lang="zh-CN" altLang="en-US" sz="1200" b="1" dirty="0">
                <a:solidFill>
                  <a:srgbClr val="C00000"/>
                </a:solidFill>
                <a:latin typeface="Microsoft YaHei"/>
                <a:ea typeface="Microsoft YaHei"/>
              </a:rPr>
              <a:t>，</a:t>
            </a:r>
            <a:r>
              <a:rPr sz="1200" b="1" dirty="0" err="1">
                <a:solidFill>
                  <a:srgbClr val="C00000"/>
                </a:solidFill>
                <a:latin typeface="Microsoft YaHei"/>
                <a:ea typeface="Microsoft YaHei"/>
              </a:rPr>
              <a:t>只算</a:t>
            </a:r>
            <a:r>
              <a:rPr sz="1200" b="1" dirty="0">
                <a:solidFill>
                  <a:srgbClr val="C00000"/>
                </a:solidFill>
                <a:latin typeface="Microsoft YaHei"/>
                <a:ea typeface="Microsoft YaHei"/>
              </a:rPr>
              <a:t> C </a:t>
            </a:r>
            <a:r>
              <a:rPr sz="1200" b="1" dirty="0" err="1">
                <a:solidFill>
                  <a:srgbClr val="C00000"/>
                </a:solidFill>
                <a:latin typeface="Microsoft YaHei"/>
                <a:ea typeface="Microsoft YaHei"/>
              </a:rPr>
              <a:t>后缀</a:t>
            </a:r>
            <a:endParaRPr sz="1200" b="1" dirty="0">
              <a:solidFill>
                <a:srgbClr val="C00000"/>
              </a:solidFill>
              <a:latin typeface="Microsoft YaHei"/>
              <a:ea typeface="Microsoft YaHei"/>
            </a:endParaRPr>
          </a:p>
        </p:txBody>
      </p:sp>
      <p:sp>
        <p:nvSpPr>
          <p:cNvPr id="92" name="TextBox 91"/>
          <p:cNvSpPr txBox="1"/>
          <p:nvPr/>
        </p:nvSpPr>
        <p:spPr>
          <a:xfrm>
            <a:off x="354806" y="266700"/>
            <a:ext cx="8216494" cy="342900"/>
          </a:xfrm>
          <a:prstGeom prst="rect">
            <a:avLst/>
          </a:prstGeom>
          <a:noFill/>
        </p:spPr>
        <p:txBody>
          <a:bodyPr wrap="none" lIns="0" tIns="0" rIns="0" bIns="0" anchor="t">
            <a:noAutofit/>
          </a:bodyPr>
          <a:lstStyle/>
          <a:p>
            <a:pPr defTabSz="457200"/>
            <a:r>
              <a:rPr lang="en-US" altLang="zh-CN" sz="2025" b="1" dirty="0">
                <a:solidFill>
                  <a:srgbClr val="C00000"/>
                </a:solidFill>
                <a:latin typeface="Microsoft YaHei"/>
                <a:ea typeface="Microsoft YaHei"/>
              </a:rPr>
              <a:t>Checkpoint</a:t>
            </a:r>
            <a:r>
              <a:rPr lang="zh-CN" altLang="en-US" sz="2025" b="1" dirty="0">
                <a:solidFill>
                  <a:srgbClr val="C00000"/>
                </a:solidFill>
                <a:latin typeface="Microsoft YaHei"/>
                <a:ea typeface="Microsoft YaHei"/>
              </a:rPr>
              <a:t>存储策略</a:t>
            </a:r>
          </a:p>
        </p:txBody>
      </p:sp>
      <p:sp>
        <p:nvSpPr>
          <p:cNvPr id="93" name="TextBox 92"/>
          <p:cNvSpPr txBox="1"/>
          <p:nvPr/>
        </p:nvSpPr>
        <p:spPr>
          <a:xfrm>
            <a:off x="5231130" y="600320"/>
            <a:ext cx="4069842" cy="247650"/>
          </a:xfrm>
          <a:prstGeom prst="rect">
            <a:avLst/>
          </a:prstGeom>
          <a:noFill/>
        </p:spPr>
        <p:txBody>
          <a:bodyPr wrap="none" lIns="0" tIns="0" rIns="0" bIns="0" anchor="t">
            <a:noAutofit/>
          </a:bodyPr>
          <a:lstStyle/>
          <a:p>
            <a:pPr defTabSz="457200"/>
            <a:r>
              <a:rPr lang="zh-CN" altLang="en-US" sz="1500" b="1" dirty="0">
                <a:solidFill>
                  <a:srgbClr val="C00000"/>
                </a:solidFill>
                <a:latin typeface="Microsoft YaHei"/>
                <a:ea typeface="Microsoft YaHei"/>
              </a:rPr>
              <a:t>按间隔</a:t>
            </a:r>
            <a:r>
              <a:rPr sz="1500" b="1" dirty="0" err="1">
                <a:solidFill>
                  <a:srgbClr val="C00000"/>
                </a:solidFill>
                <a:latin typeface="Microsoft YaHei"/>
                <a:ea typeface="Microsoft YaHei"/>
              </a:rPr>
              <a:t>存储</a:t>
            </a:r>
            <a:endParaRPr sz="1500" b="1" dirty="0">
              <a:solidFill>
                <a:srgbClr val="C00000"/>
              </a:solidFill>
              <a:latin typeface="Microsoft YaHei"/>
              <a:ea typeface="Microsoft YaHei"/>
            </a:endParaRPr>
          </a:p>
        </p:txBody>
      </p:sp>
      <p:sp>
        <p:nvSpPr>
          <p:cNvPr id="94" name="TextBox 93"/>
          <p:cNvSpPr txBox="1"/>
          <p:nvPr/>
        </p:nvSpPr>
        <p:spPr>
          <a:xfrm>
            <a:off x="4922813" y="3207431"/>
            <a:ext cx="5290368" cy="247650"/>
          </a:xfrm>
          <a:prstGeom prst="rect">
            <a:avLst/>
          </a:prstGeom>
          <a:noFill/>
        </p:spPr>
        <p:txBody>
          <a:bodyPr wrap="none" lIns="0" tIns="0" rIns="0" bIns="0" anchor="t">
            <a:noAutofit/>
          </a:bodyPr>
          <a:lstStyle/>
          <a:p>
            <a:pPr defTabSz="457200"/>
            <a:r>
              <a:rPr sz="1500" b="1" dirty="0" err="1">
                <a:solidFill>
                  <a:srgbClr val="C00000"/>
                </a:solidFill>
                <a:latin typeface="Microsoft YaHei"/>
                <a:ea typeface="Microsoft YaHei"/>
              </a:rPr>
              <a:t>检测到分叉才存储</a:t>
            </a:r>
            <a:endParaRPr sz="1500" b="1" dirty="0">
              <a:solidFill>
                <a:srgbClr val="C00000"/>
              </a:solidFill>
              <a:latin typeface="Microsoft YaHei"/>
              <a:ea typeface="Microsoft YaHei"/>
            </a:endParaRPr>
          </a:p>
        </p:txBody>
      </p:sp>
      <p:sp>
        <p:nvSpPr>
          <p:cNvPr id="100" name="TextBox 99"/>
          <p:cNvSpPr txBox="1"/>
          <p:nvPr/>
        </p:nvSpPr>
        <p:spPr>
          <a:xfrm>
            <a:off x="354806" y="6603206"/>
            <a:ext cx="674370" cy="152400"/>
          </a:xfrm>
          <a:prstGeom prst="rect">
            <a:avLst/>
          </a:prstGeom>
          <a:noFill/>
        </p:spPr>
        <p:txBody>
          <a:bodyPr wrap="none" lIns="0" tIns="0" rIns="0" bIns="0" anchor="t">
            <a:noAutofit/>
          </a:bodyPr>
          <a:lstStyle/>
          <a:p>
            <a:pPr defTabSz="457200"/>
            <a:r>
              <a:rPr sz="900" dirty="0">
                <a:solidFill>
                  <a:srgbClr val="666666"/>
                </a:solidFill>
                <a:latin typeface="Microsoft YaHei"/>
                <a:ea typeface="Microsoft YaHei"/>
              </a:rPr>
              <a:t>Page 5/8</a:t>
            </a:r>
          </a:p>
        </p:txBody>
      </p:sp>
      <p:sp>
        <p:nvSpPr>
          <p:cNvPr id="101" name="TextBox 100"/>
          <p:cNvSpPr txBox="1"/>
          <p:nvPr/>
        </p:nvSpPr>
        <p:spPr>
          <a:xfrm>
            <a:off x="1021318" y="6608540"/>
            <a:ext cx="1295876" cy="152400"/>
          </a:xfrm>
          <a:prstGeom prst="rect">
            <a:avLst/>
          </a:prstGeom>
          <a:noFill/>
        </p:spPr>
        <p:txBody>
          <a:bodyPr wrap="none" lIns="0" tIns="0" rIns="0" bIns="0" anchor="t">
            <a:noAutofit/>
          </a:bodyPr>
          <a:lstStyle/>
          <a:p>
            <a:pPr defTabSz="457200"/>
            <a:r>
              <a:rPr sz="900" dirty="0">
                <a:solidFill>
                  <a:srgbClr val="666666"/>
                </a:solidFill>
                <a:latin typeface="Microsoft YaHei"/>
                <a:ea typeface="Microsoft YaHei"/>
              </a:rPr>
              <a:t>Huawei Confidential</a:t>
            </a:r>
          </a:p>
        </p:txBody>
      </p:sp>
      <p:sp>
        <p:nvSpPr>
          <p:cNvPr id="102" name="Freeform 48">
            <a:extLst>
              <a:ext uri="{FF2B5EF4-FFF2-40B4-BE49-F238E27FC236}">
                <a16:creationId xmlns:a16="http://schemas.microsoft.com/office/drawing/2014/main" id="{D765D579-5BD3-66BA-CC16-FF1579124512}"/>
              </a:ext>
            </a:extLst>
          </p:cNvPr>
          <p:cNvSpPr/>
          <p:nvPr/>
        </p:nvSpPr>
        <p:spPr>
          <a:xfrm>
            <a:off x="8527465" y="4870086"/>
            <a:ext cx="64654" cy="64654"/>
          </a:xfrm>
          <a:custGeom>
            <a:avLst/>
            <a:gdLst/>
            <a:ahLst/>
            <a:cxnLst/>
            <a:rect l="l" t="t" r="r" b="b"/>
            <a:pathLst>
              <a:path w="64654" h="64654">
                <a:moveTo>
                  <a:pt x="0" y="0"/>
                </a:moveTo>
                <a:lnTo>
                  <a:pt x="64654" y="0"/>
                </a:lnTo>
                <a:lnTo>
                  <a:pt x="32327" y="64654"/>
                </a:lnTo>
                <a:close/>
              </a:path>
            </a:pathLst>
          </a:cu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103" name="TextBox 79">
            <a:extLst>
              <a:ext uri="{FF2B5EF4-FFF2-40B4-BE49-F238E27FC236}">
                <a16:creationId xmlns:a16="http://schemas.microsoft.com/office/drawing/2014/main" id="{7EC4154B-30A5-2EA7-6A1A-53FF8F7339F3}"/>
              </a:ext>
            </a:extLst>
          </p:cNvPr>
          <p:cNvSpPr txBox="1"/>
          <p:nvPr/>
        </p:nvSpPr>
        <p:spPr>
          <a:xfrm>
            <a:off x="8614934" y="4848992"/>
            <a:ext cx="780193" cy="104775"/>
          </a:xfrm>
          <a:prstGeom prst="rect">
            <a:avLst/>
          </a:prstGeom>
          <a:noFill/>
        </p:spPr>
        <p:txBody>
          <a:bodyPr wrap="none" lIns="0" tIns="0" rIns="0" bIns="0" anchor="t">
            <a:noAutofit/>
          </a:bodyPr>
          <a:lstStyle/>
          <a:p>
            <a:pPr defTabSz="457200"/>
            <a:r>
              <a:rPr sz="800" dirty="0" err="1">
                <a:solidFill>
                  <a:srgbClr val="666666"/>
                </a:solidFill>
                <a:latin typeface="Microsoft YaHei"/>
                <a:ea typeface="Microsoft YaHei"/>
              </a:rPr>
              <a:t>末尾</a:t>
            </a:r>
            <a:r>
              <a:rPr sz="800" dirty="0">
                <a:solidFill>
                  <a:srgbClr val="666666"/>
                </a:solidFill>
                <a:latin typeface="Microsoft YaHei"/>
                <a:ea typeface="Microsoft YaHei"/>
              </a:rPr>
              <a:t> checkpoint</a:t>
            </a:r>
          </a:p>
        </p:txBody>
      </p:sp>
      <p:sp>
        <p:nvSpPr>
          <p:cNvPr id="104" name="Freeform 48">
            <a:extLst>
              <a:ext uri="{FF2B5EF4-FFF2-40B4-BE49-F238E27FC236}">
                <a16:creationId xmlns:a16="http://schemas.microsoft.com/office/drawing/2014/main" id="{BA6EDD7A-7036-A642-44AD-EAB561D8CD7E}"/>
              </a:ext>
            </a:extLst>
          </p:cNvPr>
          <p:cNvSpPr/>
          <p:nvPr/>
        </p:nvSpPr>
        <p:spPr>
          <a:xfrm>
            <a:off x="8074195" y="5563963"/>
            <a:ext cx="64654" cy="64654"/>
          </a:xfrm>
          <a:custGeom>
            <a:avLst/>
            <a:gdLst/>
            <a:ahLst/>
            <a:cxnLst/>
            <a:rect l="l" t="t" r="r" b="b"/>
            <a:pathLst>
              <a:path w="64654" h="64654">
                <a:moveTo>
                  <a:pt x="0" y="0"/>
                </a:moveTo>
                <a:lnTo>
                  <a:pt x="64654" y="0"/>
                </a:lnTo>
                <a:lnTo>
                  <a:pt x="32327" y="64654"/>
                </a:lnTo>
                <a:close/>
              </a:path>
            </a:pathLst>
          </a:cu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sz="800">
              <a:solidFill>
                <a:prstClr val="white"/>
              </a:solidFill>
              <a:latin typeface="Calibri"/>
            </a:endParaRPr>
          </a:p>
        </p:txBody>
      </p:sp>
      <p:sp>
        <p:nvSpPr>
          <p:cNvPr id="105" name="TextBox 79">
            <a:extLst>
              <a:ext uri="{FF2B5EF4-FFF2-40B4-BE49-F238E27FC236}">
                <a16:creationId xmlns:a16="http://schemas.microsoft.com/office/drawing/2014/main" id="{04120677-6423-32A4-FAE0-4C201E5DE750}"/>
              </a:ext>
            </a:extLst>
          </p:cNvPr>
          <p:cNvSpPr txBox="1"/>
          <p:nvPr/>
        </p:nvSpPr>
        <p:spPr>
          <a:xfrm>
            <a:off x="8161664" y="5542869"/>
            <a:ext cx="780193" cy="104775"/>
          </a:xfrm>
          <a:prstGeom prst="rect">
            <a:avLst/>
          </a:prstGeom>
          <a:noFill/>
        </p:spPr>
        <p:txBody>
          <a:bodyPr wrap="none" lIns="0" tIns="0" rIns="0" bIns="0" anchor="t">
            <a:noAutofit/>
          </a:bodyPr>
          <a:lstStyle/>
          <a:p>
            <a:pPr defTabSz="457200"/>
            <a:r>
              <a:rPr sz="800" dirty="0" err="1">
                <a:solidFill>
                  <a:srgbClr val="666666"/>
                </a:solidFill>
                <a:latin typeface="Microsoft YaHei"/>
                <a:ea typeface="Microsoft YaHei"/>
              </a:rPr>
              <a:t>末尾</a:t>
            </a:r>
            <a:r>
              <a:rPr sz="800" dirty="0">
                <a:solidFill>
                  <a:srgbClr val="666666"/>
                </a:solidFill>
                <a:latin typeface="Microsoft YaHei"/>
                <a:ea typeface="Microsoft YaHei"/>
              </a:rPr>
              <a:t> checkpoint</a:t>
            </a:r>
          </a:p>
        </p:txBody>
      </p:sp>
      <p:sp>
        <p:nvSpPr>
          <p:cNvPr id="107" name="文本框 106">
            <a:extLst>
              <a:ext uri="{FF2B5EF4-FFF2-40B4-BE49-F238E27FC236}">
                <a16:creationId xmlns:a16="http://schemas.microsoft.com/office/drawing/2014/main" id="{F3405606-5D43-9902-CD87-54C44EB0F9AE}"/>
              </a:ext>
            </a:extLst>
          </p:cNvPr>
          <p:cNvSpPr txBox="1"/>
          <p:nvPr/>
        </p:nvSpPr>
        <p:spPr>
          <a:xfrm>
            <a:off x="775673" y="2409175"/>
            <a:ext cx="8784844" cy="276999"/>
          </a:xfrm>
          <a:prstGeom prst="rect">
            <a:avLst/>
          </a:prstGeom>
          <a:noFill/>
        </p:spPr>
        <p:txBody>
          <a:bodyPr wrap="square" rtlCol="0">
            <a:spAutoFit/>
          </a:bodyPr>
          <a:lstStyle/>
          <a:p>
            <a:pPr defTabSz="457200"/>
            <a:r>
              <a:rPr lang="zh-CN" altLang="en-US" sz="1200" dirty="0">
                <a:solidFill>
                  <a:srgbClr val="1D1D1A"/>
                </a:solidFill>
                <a:latin typeface="Microsoft YaHei" panose="020B0503020204020204" pitchFamily="34" charset="-122"/>
                <a:ea typeface="Microsoft YaHei" panose="020B0503020204020204" pitchFamily="34" charset="-122"/>
              </a:rPr>
              <a:t>效果：任意深度命中就近恢复，重算</a:t>
            </a:r>
            <a:r>
              <a:rPr lang="en-US" altLang="zh-CN" sz="1200" dirty="0">
                <a:solidFill>
                  <a:srgbClr val="1D1D1A"/>
                </a:solidFill>
                <a:latin typeface="Microsoft YaHei" panose="020B0503020204020204" pitchFamily="34" charset="-122"/>
                <a:ea typeface="Microsoft YaHei" panose="020B0503020204020204" pitchFamily="34" charset="-122"/>
              </a:rPr>
              <a:t>token</a:t>
            </a:r>
            <a:r>
              <a:rPr lang="zh-CN" altLang="en-US" sz="1200" dirty="0">
                <a:solidFill>
                  <a:srgbClr val="1D1D1A"/>
                </a:solidFill>
                <a:latin typeface="Microsoft YaHei" panose="020B0503020204020204" pitchFamily="34" charset="-122"/>
                <a:ea typeface="Microsoft YaHei" panose="020B0503020204020204" pitchFamily="34" charset="-122"/>
              </a:rPr>
              <a:t>数不超过</a:t>
            </a:r>
            <a:r>
              <a:rPr lang="en-US" altLang="zh-CN" sz="1200" dirty="0">
                <a:solidFill>
                  <a:srgbClr val="1D1D1A"/>
                </a:solidFill>
                <a:latin typeface="Microsoft YaHei" panose="020B0503020204020204" pitchFamily="34" charset="-122"/>
                <a:ea typeface="Microsoft YaHei" panose="020B0503020204020204" pitchFamily="34" charset="-122"/>
              </a:rPr>
              <a:t>N*</a:t>
            </a:r>
            <a:r>
              <a:rPr lang="en-US" altLang="zh-CN" sz="1200" dirty="0" err="1">
                <a:solidFill>
                  <a:srgbClr val="1D1D1A"/>
                </a:solidFill>
                <a:latin typeface="Microsoft YaHei" panose="020B0503020204020204" pitchFamily="34" charset="-122"/>
                <a:ea typeface="Microsoft YaHei" panose="020B0503020204020204" pitchFamily="34" charset="-122"/>
              </a:rPr>
              <a:t>BlockSize</a:t>
            </a:r>
            <a:r>
              <a:rPr lang="zh-CN" altLang="en-US" sz="1200" dirty="0">
                <a:solidFill>
                  <a:srgbClr val="666666"/>
                </a:solidFill>
                <a:latin typeface="Microsoft YaHei" panose="020B0503020204020204" pitchFamily="34" charset="-122"/>
                <a:ea typeface="Microsoft YaHei" panose="020B0503020204020204" pitchFamily="34" charset="-122"/>
              </a:rPr>
              <a:t>｜ 代价：存储开销大，每前缀常驻 ⌊</a:t>
            </a:r>
            <a:r>
              <a:rPr lang="en-US" altLang="zh-CN" sz="1200" dirty="0">
                <a:solidFill>
                  <a:srgbClr val="666666"/>
                </a:solidFill>
                <a:latin typeface="Microsoft YaHei" panose="020B0503020204020204" pitchFamily="34" charset="-122"/>
                <a:ea typeface="Microsoft YaHei" panose="020B0503020204020204" pitchFamily="34" charset="-122"/>
              </a:rPr>
              <a:t>L/N⌋ </a:t>
            </a:r>
            <a:r>
              <a:rPr lang="zh-CN" altLang="en-US" sz="1200" dirty="0">
                <a:solidFill>
                  <a:srgbClr val="666666"/>
                </a:solidFill>
                <a:latin typeface="Microsoft YaHei" panose="020B0503020204020204" pitchFamily="34" charset="-122"/>
                <a:ea typeface="Microsoft YaHei" panose="020B0503020204020204" pitchFamily="34" charset="-122"/>
              </a:rPr>
              <a:t>份 </a:t>
            </a:r>
            <a:r>
              <a:rPr lang="en-US" altLang="zh-CN" sz="1200" dirty="0">
                <a:solidFill>
                  <a:srgbClr val="666666"/>
                </a:solidFill>
                <a:latin typeface="Microsoft YaHei" panose="020B0503020204020204" pitchFamily="34" charset="-122"/>
                <a:ea typeface="Microsoft YaHei" panose="020B0503020204020204" pitchFamily="34" charset="-122"/>
              </a:rPr>
              <a:t>state</a:t>
            </a:r>
            <a:endParaRPr lang="zh-CN" altLang="en-US" dirty="0">
              <a:solidFill>
                <a:prstClr val="black"/>
              </a:solidFill>
              <a:latin typeface="Calibri"/>
              <a:ea typeface="宋体" panose="02010600030101010101" pitchFamily="2" charset="-122"/>
            </a:endParaRPr>
          </a:p>
        </p:txBody>
      </p:sp>
      <p:sp>
        <p:nvSpPr>
          <p:cNvPr id="108" name="文本框 107">
            <a:extLst>
              <a:ext uri="{FF2B5EF4-FFF2-40B4-BE49-F238E27FC236}">
                <a16:creationId xmlns:a16="http://schemas.microsoft.com/office/drawing/2014/main" id="{5ECF50B9-E9F0-AB22-D28C-A8D6CAD53811}"/>
              </a:ext>
            </a:extLst>
          </p:cNvPr>
          <p:cNvSpPr txBox="1"/>
          <p:nvPr/>
        </p:nvSpPr>
        <p:spPr>
          <a:xfrm>
            <a:off x="775673" y="6152596"/>
            <a:ext cx="8784844" cy="276999"/>
          </a:xfrm>
          <a:prstGeom prst="rect">
            <a:avLst/>
          </a:prstGeom>
          <a:noFill/>
        </p:spPr>
        <p:txBody>
          <a:bodyPr wrap="square" rtlCol="0">
            <a:spAutoFit/>
          </a:bodyPr>
          <a:lstStyle/>
          <a:p>
            <a:pPr defTabSz="457200"/>
            <a:r>
              <a:rPr lang="zh-CN" altLang="en-US" sz="1200" dirty="0">
                <a:solidFill>
                  <a:srgbClr val="1D1D1A"/>
                </a:solidFill>
                <a:latin typeface="Microsoft YaHei" panose="020B0503020204020204" pitchFamily="34" charset="-122"/>
                <a:ea typeface="Microsoft YaHei" panose="020B0503020204020204" pitchFamily="34" charset="-122"/>
              </a:rPr>
              <a:t>效果：存储开销小</a:t>
            </a:r>
            <a:r>
              <a:rPr lang="zh-CN" altLang="en-US" sz="1200" dirty="0">
                <a:solidFill>
                  <a:srgbClr val="666666"/>
                </a:solidFill>
                <a:latin typeface="Microsoft YaHei" panose="020B0503020204020204" pitchFamily="34" charset="-122"/>
                <a:ea typeface="Microsoft YaHei" panose="020B0503020204020204" pitchFamily="34" charset="-122"/>
              </a:rPr>
              <a:t>｜ 代价：检测到的分叉点需重新计算公共前缀</a:t>
            </a:r>
            <a:endParaRPr lang="zh-CN" altLang="en-US" dirty="0">
              <a:solidFill>
                <a:prstClr val="black"/>
              </a:solidFill>
              <a:latin typeface="Calibri"/>
              <a:ea typeface="宋体" panose="02010600030101010101" pitchFamily="2" charset="-122"/>
            </a:endParaRPr>
          </a:p>
        </p:txBody>
      </p:sp>
      <p:sp>
        <p:nvSpPr>
          <p:cNvPr id="89" name="文本框 88">
            <a:extLst>
              <a:ext uri="{FF2B5EF4-FFF2-40B4-BE49-F238E27FC236}">
                <a16:creationId xmlns:a16="http://schemas.microsoft.com/office/drawing/2014/main" id="{9176CC56-4B69-4D0C-9031-83EF33432D06}"/>
              </a:ext>
            </a:extLst>
          </p:cNvPr>
          <p:cNvSpPr txBox="1"/>
          <p:nvPr/>
        </p:nvSpPr>
        <p:spPr>
          <a:xfrm>
            <a:off x="9428813" y="6221968"/>
            <a:ext cx="1678665"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刘韫聪</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a:t>
            </a:r>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李旭时</a:t>
            </a:r>
            <a:endParaRPr lang="zh-CN" altLang="en-US" dirty="0">
              <a:solidFill>
                <a:srgbClr val="FF0000"/>
              </a:solidFill>
              <a:highlight>
                <a:srgbClr val="FFFF00"/>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806" y="838200"/>
            <a:ext cx="11487150" cy="4447741"/>
          </a:xfrm>
          <a:prstGeom prst="rect">
            <a:avLst/>
          </a:prstGeom>
          <a:solidFill>
            <a:srgbClr val="FFFFFF"/>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 name="Rectangle 2"/>
          <p:cNvSpPr/>
          <p:nvPr/>
        </p:nvSpPr>
        <p:spPr>
          <a:xfrm>
            <a:off x="7147913" y="3486393"/>
            <a:ext cx="1545431" cy="25422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4" name="Connector 3"/>
          <p:cNvCxnSpPr/>
          <p:nvPr/>
        </p:nvCxnSpPr>
        <p:spPr>
          <a:xfrm>
            <a:off x="7147912" y="3486393"/>
            <a:ext cx="1545432" cy="0"/>
          </a:xfrm>
          <a:prstGeom prst="line">
            <a:avLst/>
          </a:prstGeom>
          <a:ln w="19050">
            <a:solidFill>
              <a:srgbClr val="C00000"/>
            </a:solidFill>
          </a:ln>
        </p:spPr>
        <p:style>
          <a:lnRef idx="2">
            <a:schemeClr val="accent1"/>
          </a:lnRef>
          <a:fillRef idx="0">
            <a:schemeClr val="accent1"/>
          </a:fillRef>
          <a:effectRef idx="1">
            <a:schemeClr val="accent1"/>
          </a:effectRef>
          <a:fontRef idx="minor">
            <a:schemeClr val="tx1"/>
          </a:fontRef>
        </p:style>
      </p:cxnSp>
      <p:pic>
        <p:nvPicPr>
          <p:cNvPr id="41" name="Picture 40" descr="image.png"/>
          <p:cNvPicPr>
            <a:picLocks noChangeAspect="1"/>
          </p:cNvPicPr>
          <p:nvPr/>
        </p:nvPicPr>
        <p:blipFill>
          <a:blip r:embed="rId3"/>
          <a:stretch>
            <a:fillRect/>
          </a:stretch>
        </p:blipFill>
        <p:spPr>
          <a:xfrm>
            <a:off x="10771155" y="6515100"/>
            <a:ext cx="966026" cy="209550"/>
          </a:xfrm>
          <a:prstGeom prst="rect">
            <a:avLst/>
          </a:prstGeom>
        </p:spPr>
      </p:pic>
      <p:sp>
        <p:nvSpPr>
          <p:cNvPr id="42" name="TextBox 41"/>
          <p:cNvSpPr txBox="1"/>
          <p:nvPr/>
        </p:nvSpPr>
        <p:spPr>
          <a:xfrm>
            <a:off x="459581" y="967220"/>
            <a:ext cx="12078630" cy="342900"/>
          </a:xfrm>
          <a:prstGeom prst="rect">
            <a:avLst/>
          </a:prstGeom>
          <a:noFill/>
        </p:spPr>
        <p:txBody>
          <a:bodyPr wrap="none" lIns="0" tIns="0" rIns="0" bIns="0" anchor="t">
            <a:noAutofit/>
          </a:bodyPr>
          <a:lstStyle/>
          <a:p>
            <a:pPr defTabSz="457200"/>
            <a:r>
              <a:rPr lang="en-US" altLang="zh-CN" sz="1600" b="1" dirty="0" err="1">
                <a:solidFill>
                  <a:prstClr val="black"/>
                </a:solidFill>
                <a:latin typeface="Microsoft YaHei"/>
                <a:ea typeface="Microsoft YaHei"/>
              </a:rPr>
              <a:t>Vllm</a:t>
            </a:r>
            <a:r>
              <a:rPr lang="en-US" altLang="zh-CN" sz="1600" b="1" dirty="0">
                <a:solidFill>
                  <a:prstClr val="black"/>
                </a:solidFill>
                <a:latin typeface="Microsoft YaHei"/>
                <a:ea typeface="Microsoft YaHei"/>
              </a:rPr>
              <a:t>-Ascend</a:t>
            </a:r>
            <a:r>
              <a:rPr lang="zh-CN" altLang="en-US" sz="1600" b="1" dirty="0">
                <a:solidFill>
                  <a:prstClr val="black"/>
                </a:solidFill>
                <a:latin typeface="Microsoft YaHei"/>
                <a:ea typeface="Microsoft YaHei"/>
              </a:rPr>
              <a:t>现状：</a:t>
            </a:r>
            <a:r>
              <a:rPr lang="en-US" altLang="zh-CN" sz="1600" b="1" dirty="0">
                <a:solidFill>
                  <a:prstClr val="black"/>
                </a:solidFill>
                <a:latin typeface="Microsoft YaHei"/>
                <a:ea typeface="Microsoft YaHei"/>
              </a:rPr>
              <a:t>LRU</a:t>
            </a:r>
            <a:r>
              <a:rPr lang="zh-CN" altLang="en-US" sz="1600" b="1" dirty="0">
                <a:solidFill>
                  <a:prstClr val="black"/>
                </a:solidFill>
                <a:latin typeface="Microsoft YaHei"/>
                <a:ea typeface="Microsoft YaHei"/>
              </a:rPr>
              <a:t>策略</a:t>
            </a:r>
            <a:endParaRPr lang="en-US" altLang="zh-CN" sz="1600" b="1" dirty="0">
              <a:solidFill>
                <a:prstClr val="black"/>
              </a:solidFill>
              <a:latin typeface="Microsoft YaHei"/>
              <a:ea typeface="Microsoft YaHei"/>
            </a:endParaRPr>
          </a:p>
          <a:p>
            <a:pPr defTabSz="457200"/>
            <a:endParaRPr lang="en-US" altLang="zh-CN" sz="1600" b="1" dirty="0">
              <a:solidFill>
                <a:prstClr val="black"/>
              </a:solidFill>
              <a:latin typeface="Microsoft YaHei"/>
              <a:ea typeface="Microsoft YaHei"/>
            </a:endParaRPr>
          </a:p>
          <a:p>
            <a:pPr defTabSz="457200"/>
            <a:endParaRPr lang="en-US" altLang="zh-CN" sz="1600" b="1" dirty="0">
              <a:solidFill>
                <a:prstClr val="black"/>
              </a:solidFill>
              <a:latin typeface="Microsoft YaHei"/>
              <a:ea typeface="Microsoft YaHei"/>
            </a:endParaRPr>
          </a:p>
          <a:p>
            <a:pPr defTabSz="457200"/>
            <a:endParaRPr lang="en-US" altLang="zh-CN" sz="1600" b="1" dirty="0">
              <a:solidFill>
                <a:prstClr val="black"/>
              </a:solidFill>
              <a:latin typeface="Microsoft YaHei"/>
              <a:ea typeface="Microsoft YaHei"/>
            </a:endParaRPr>
          </a:p>
          <a:p>
            <a:pPr defTabSz="457200"/>
            <a:endParaRPr lang="en-US" altLang="zh-CN" sz="1600" b="1" dirty="0">
              <a:solidFill>
                <a:prstClr val="black"/>
              </a:solidFill>
              <a:latin typeface="Microsoft YaHei"/>
              <a:ea typeface="Microsoft YaHei"/>
            </a:endParaRPr>
          </a:p>
          <a:p>
            <a:pPr defTabSz="457200"/>
            <a:endParaRPr lang="en-US" altLang="zh-CN" sz="1600" b="1" dirty="0">
              <a:solidFill>
                <a:prstClr val="black"/>
              </a:solidFill>
              <a:latin typeface="Microsoft YaHei"/>
              <a:ea typeface="Microsoft YaHei"/>
            </a:endParaRPr>
          </a:p>
          <a:p>
            <a:pPr defTabSz="457200"/>
            <a:r>
              <a:rPr lang="en-US" altLang="zh-CN" sz="1600" b="1" dirty="0">
                <a:solidFill>
                  <a:prstClr val="black"/>
                </a:solidFill>
                <a:latin typeface="Microsoft YaHei"/>
                <a:ea typeface="Microsoft YaHei"/>
              </a:rPr>
              <a:t>Marconi</a:t>
            </a:r>
            <a:r>
              <a:rPr lang="zh-CN" altLang="en-US" sz="1600" b="1" dirty="0">
                <a:solidFill>
                  <a:prstClr val="black"/>
                </a:solidFill>
                <a:latin typeface="Microsoft YaHei"/>
                <a:ea typeface="Microsoft YaHei"/>
              </a:rPr>
              <a:t>：以 </a:t>
            </a:r>
            <a:r>
              <a:rPr lang="en-US" altLang="zh-CN" sz="1600" b="1" dirty="0">
                <a:solidFill>
                  <a:prstClr val="black"/>
                </a:solidFill>
                <a:latin typeface="Microsoft YaHei"/>
                <a:ea typeface="Microsoft YaHei"/>
              </a:rPr>
              <a:t>FLOP/byte </a:t>
            </a:r>
            <a:r>
              <a:rPr lang="zh-CN" altLang="en-US" sz="1600" b="1" dirty="0">
                <a:solidFill>
                  <a:prstClr val="black"/>
                </a:solidFill>
                <a:latin typeface="Microsoft YaHei"/>
                <a:ea typeface="Microsoft YaHei"/>
              </a:rPr>
              <a:t>修正 </a:t>
            </a:r>
            <a:r>
              <a:rPr lang="en-US" altLang="zh-CN" sz="1600" b="1" dirty="0">
                <a:solidFill>
                  <a:prstClr val="black"/>
                </a:solidFill>
                <a:latin typeface="Microsoft YaHei"/>
                <a:ea typeface="Microsoft YaHei"/>
              </a:rPr>
              <a:t>LRU</a:t>
            </a:r>
            <a:r>
              <a:rPr lang="zh-CN" altLang="en-US" sz="1600" b="1" dirty="0">
                <a:solidFill>
                  <a:prstClr val="black"/>
                </a:solidFill>
                <a:latin typeface="Microsoft YaHei"/>
                <a:ea typeface="Microsoft YaHei"/>
              </a:rPr>
              <a:t>，高价值长前缀优先保留</a:t>
            </a:r>
          </a:p>
        </p:txBody>
      </p:sp>
      <p:sp>
        <p:nvSpPr>
          <p:cNvPr id="43" name="TextBox 42"/>
          <p:cNvSpPr txBox="1"/>
          <p:nvPr/>
        </p:nvSpPr>
        <p:spPr>
          <a:xfrm>
            <a:off x="3662810" y="3358663"/>
            <a:ext cx="1447324" cy="274320"/>
          </a:xfrm>
          <a:prstGeom prst="rect">
            <a:avLst/>
          </a:prstGeom>
          <a:noFill/>
        </p:spPr>
        <p:txBody>
          <a:bodyPr wrap="none" lIns="0" tIns="0" rIns="0" bIns="0" anchor="t">
            <a:noAutofit/>
          </a:bodyPr>
          <a:lstStyle/>
          <a:p>
            <a:pPr defTabSz="457200"/>
            <a:r>
              <a:rPr b="1" dirty="0">
                <a:solidFill>
                  <a:srgbClr val="1D1D1A"/>
                </a:solidFill>
                <a:latin typeface="Consolas"/>
                <a:ea typeface="Microsoft YaHei"/>
              </a:rPr>
              <a:t>Score(n) =</a:t>
            </a:r>
          </a:p>
        </p:txBody>
      </p:sp>
      <p:sp>
        <p:nvSpPr>
          <p:cNvPr id="44" name="TextBox 43"/>
          <p:cNvSpPr txBox="1"/>
          <p:nvPr/>
        </p:nvSpPr>
        <p:spPr>
          <a:xfrm>
            <a:off x="5034029" y="3358663"/>
            <a:ext cx="1447324" cy="274320"/>
          </a:xfrm>
          <a:prstGeom prst="rect">
            <a:avLst/>
          </a:prstGeom>
          <a:noFill/>
        </p:spPr>
        <p:txBody>
          <a:bodyPr wrap="none" lIns="0" tIns="0" rIns="0" bIns="0" anchor="t">
            <a:noAutofit/>
          </a:bodyPr>
          <a:lstStyle/>
          <a:p>
            <a:pPr defTabSz="457200"/>
            <a:r>
              <a:rPr b="1" dirty="0">
                <a:solidFill>
                  <a:prstClr val="black"/>
                </a:solidFill>
                <a:latin typeface="Consolas"/>
                <a:ea typeface="Microsoft YaHei"/>
              </a:rPr>
              <a:t>Recency(n)</a:t>
            </a:r>
          </a:p>
        </p:txBody>
      </p:sp>
      <p:sp>
        <p:nvSpPr>
          <p:cNvPr id="45" name="TextBox 44"/>
          <p:cNvSpPr txBox="1"/>
          <p:nvPr/>
        </p:nvSpPr>
        <p:spPr>
          <a:xfrm>
            <a:off x="6405153" y="3358663"/>
            <a:ext cx="818960" cy="274320"/>
          </a:xfrm>
          <a:prstGeom prst="rect">
            <a:avLst/>
          </a:prstGeom>
          <a:noFill/>
        </p:spPr>
        <p:txBody>
          <a:bodyPr wrap="none" lIns="0" tIns="0" rIns="0" bIns="0" anchor="t">
            <a:noAutofit/>
          </a:bodyPr>
          <a:lstStyle/>
          <a:p>
            <a:pPr defTabSz="457200"/>
            <a:r>
              <a:rPr b="1" dirty="0">
                <a:solidFill>
                  <a:srgbClr val="1D1D1A"/>
                </a:solidFill>
                <a:latin typeface="Consolas"/>
                <a:ea typeface="Microsoft YaHei"/>
              </a:rPr>
              <a:t>+ </a:t>
            </a:r>
            <a:r>
              <a:rPr b="1" dirty="0">
                <a:solidFill>
                  <a:srgbClr val="C00000"/>
                </a:solidFill>
                <a:latin typeface="Consolas"/>
                <a:ea typeface="Microsoft YaHei"/>
              </a:rPr>
              <a:t>α ·</a:t>
            </a:r>
          </a:p>
        </p:txBody>
      </p:sp>
      <p:sp>
        <p:nvSpPr>
          <p:cNvPr id="46" name="TextBox 45"/>
          <p:cNvSpPr txBox="1"/>
          <p:nvPr/>
        </p:nvSpPr>
        <p:spPr>
          <a:xfrm>
            <a:off x="7273832" y="3185288"/>
            <a:ext cx="1484090" cy="217170"/>
          </a:xfrm>
          <a:prstGeom prst="rect">
            <a:avLst/>
          </a:prstGeom>
          <a:noFill/>
        </p:spPr>
        <p:txBody>
          <a:bodyPr wrap="none" lIns="0" tIns="0" rIns="0" bIns="0" anchor="t">
            <a:noAutofit/>
          </a:bodyPr>
          <a:lstStyle/>
          <a:p>
            <a:pPr defTabSz="457200"/>
            <a:r>
              <a:rPr sz="1425" b="1" dirty="0" err="1">
                <a:solidFill>
                  <a:srgbClr val="C00000"/>
                </a:solidFill>
                <a:latin typeface="Consolas"/>
                <a:ea typeface="Microsoft YaHei"/>
              </a:rPr>
              <a:t>SavedFLOPs</a:t>
            </a:r>
            <a:r>
              <a:rPr sz="1425" b="1" dirty="0">
                <a:solidFill>
                  <a:srgbClr val="C00000"/>
                </a:solidFill>
                <a:latin typeface="Consolas"/>
                <a:ea typeface="Microsoft YaHei"/>
              </a:rPr>
              <a:t>(n)</a:t>
            </a:r>
          </a:p>
        </p:txBody>
      </p:sp>
      <p:sp>
        <p:nvSpPr>
          <p:cNvPr id="47" name="TextBox 46"/>
          <p:cNvSpPr txBox="1"/>
          <p:nvPr/>
        </p:nvSpPr>
        <p:spPr>
          <a:xfrm>
            <a:off x="7224113" y="3514968"/>
            <a:ext cx="1583531" cy="217170"/>
          </a:xfrm>
          <a:prstGeom prst="rect">
            <a:avLst/>
          </a:prstGeom>
          <a:noFill/>
        </p:spPr>
        <p:txBody>
          <a:bodyPr wrap="none" lIns="0" tIns="0" rIns="0" bIns="0" anchor="t">
            <a:noAutofit/>
          </a:bodyPr>
          <a:lstStyle/>
          <a:p>
            <a:pPr defTabSz="457200"/>
            <a:r>
              <a:rPr sz="1425" b="1" dirty="0" err="1">
                <a:solidFill>
                  <a:srgbClr val="C00000"/>
                </a:solidFill>
                <a:latin typeface="Consolas"/>
                <a:ea typeface="Microsoft YaHei"/>
              </a:rPr>
              <a:t>MemoryBytes</a:t>
            </a:r>
            <a:r>
              <a:rPr sz="1425" b="1" dirty="0">
                <a:solidFill>
                  <a:srgbClr val="C00000"/>
                </a:solidFill>
                <a:latin typeface="Consolas"/>
                <a:ea typeface="Microsoft YaHei"/>
              </a:rPr>
              <a:t>(n)</a:t>
            </a:r>
          </a:p>
        </p:txBody>
      </p:sp>
      <p:sp>
        <p:nvSpPr>
          <p:cNvPr id="48" name="TextBox 47"/>
          <p:cNvSpPr txBox="1"/>
          <p:nvPr/>
        </p:nvSpPr>
        <p:spPr>
          <a:xfrm>
            <a:off x="2240203" y="3988805"/>
            <a:ext cx="1934962" cy="152400"/>
          </a:xfrm>
          <a:prstGeom prst="rect">
            <a:avLst/>
          </a:prstGeom>
          <a:noFill/>
        </p:spPr>
        <p:txBody>
          <a:bodyPr wrap="none" lIns="0" tIns="0" rIns="0" bIns="0" anchor="t">
            <a:noAutofit/>
          </a:bodyPr>
          <a:lstStyle/>
          <a:p>
            <a:pPr defTabSz="457200"/>
            <a:r>
              <a:rPr sz="1100" dirty="0" err="1">
                <a:solidFill>
                  <a:srgbClr val="666666"/>
                </a:solidFill>
                <a:latin typeface="Microsoft YaHei"/>
                <a:ea typeface="Microsoft YaHei"/>
              </a:rPr>
              <a:t>Recency：访问新近度（LRU</a:t>
            </a:r>
            <a:r>
              <a:rPr sz="1100" dirty="0">
                <a:solidFill>
                  <a:srgbClr val="666666"/>
                </a:solidFill>
                <a:latin typeface="Microsoft YaHei"/>
                <a:ea typeface="Microsoft YaHei"/>
              </a:rPr>
              <a:t> 项）</a:t>
            </a:r>
          </a:p>
        </p:txBody>
      </p:sp>
      <p:sp>
        <p:nvSpPr>
          <p:cNvPr id="49" name="TextBox 48"/>
          <p:cNvSpPr txBox="1"/>
          <p:nvPr/>
        </p:nvSpPr>
        <p:spPr>
          <a:xfrm>
            <a:off x="4463054" y="3988805"/>
            <a:ext cx="2998881" cy="152400"/>
          </a:xfrm>
          <a:prstGeom prst="rect">
            <a:avLst/>
          </a:prstGeom>
          <a:noFill/>
        </p:spPr>
        <p:txBody>
          <a:bodyPr wrap="none" lIns="0" tIns="0" rIns="0" bIns="0" anchor="t">
            <a:noAutofit/>
          </a:bodyPr>
          <a:lstStyle/>
          <a:p>
            <a:pPr defTabSz="457200"/>
            <a:r>
              <a:rPr sz="1100" dirty="0" err="1">
                <a:solidFill>
                  <a:srgbClr val="666666"/>
                </a:solidFill>
                <a:latin typeface="Microsoft YaHei"/>
                <a:ea typeface="Microsoft YaHei"/>
              </a:rPr>
              <a:t>SavedFLOPs：复用</a:t>
            </a:r>
            <a:r>
              <a:rPr lang="zh-CN" altLang="en-US" sz="1100" dirty="0">
                <a:solidFill>
                  <a:srgbClr val="666666"/>
                </a:solidFill>
                <a:latin typeface="Microsoft YaHei"/>
                <a:ea typeface="Microsoft YaHei"/>
              </a:rPr>
              <a:t>该</a:t>
            </a:r>
            <a:r>
              <a:rPr lang="en-US" altLang="zh-CN" sz="1100" dirty="0">
                <a:solidFill>
                  <a:srgbClr val="666666"/>
                </a:solidFill>
                <a:latin typeface="Microsoft YaHei"/>
                <a:ea typeface="Microsoft YaHei"/>
              </a:rPr>
              <a:t>Checkpoint</a:t>
            </a:r>
            <a:r>
              <a:rPr lang="zh-CN" altLang="en-US" sz="1100" dirty="0">
                <a:solidFill>
                  <a:srgbClr val="666666"/>
                </a:solidFill>
                <a:latin typeface="Microsoft YaHei"/>
                <a:ea typeface="Microsoft YaHei"/>
              </a:rPr>
              <a:t>节</a:t>
            </a:r>
            <a:r>
              <a:rPr sz="1100" dirty="0" err="1">
                <a:solidFill>
                  <a:srgbClr val="666666"/>
                </a:solidFill>
                <a:latin typeface="Microsoft YaHei"/>
                <a:ea typeface="Microsoft YaHei"/>
              </a:rPr>
              <a:t>省下</a:t>
            </a:r>
            <a:r>
              <a:rPr lang="zh-CN" altLang="en-US" sz="1100" dirty="0">
                <a:solidFill>
                  <a:srgbClr val="666666"/>
                </a:solidFill>
                <a:latin typeface="Microsoft YaHei"/>
                <a:ea typeface="Microsoft YaHei"/>
              </a:rPr>
              <a:t>的计算量</a:t>
            </a:r>
            <a:endParaRPr sz="1100" dirty="0">
              <a:solidFill>
                <a:srgbClr val="666666"/>
              </a:solidFill>
              <a:latin typeface="Microsoft YaHei"/>
              <a:ea typeface="Microsoft YaHei"/>
            </a:endParaRPr>
          </a:p>
        </p:txBody>
      </p:sp>
      <p:sp>
        <p:nvSpPr>
          <p:cNvPr id="50" name="TextBox 49"/>
          <p:cNvSpPr txBox="1"/>
          <p:nvPr/>
        </p:nvSpPr>
        <p:spPr>
          <a:xfrm>
            <a:off x="7900085" y="3978380"/>
            <a:ext cx="2576002" cy="152400"/>
          </a:xfrm>
          <a:prstGeom prst="rect">
            <a:avLst/>
          </a:prstGeom>
          <a:noFill/>
        </p:spPr>
        <p:txBody>
          <a:bodyPr wrap="none" lIns="0" tIns="0" rIns="0" bIns="0" anchor="t">
            <a:noAutofit/>
          </a:bodyPr>
          <a:lstStyle/>
          <a:p>
            <a:pPr defTabSz="457200"/>
            <a:r>
              <a:rPr sz="1100" dirty="0" err="1">
                <a:solidFill>
                  <a:srgbClr val="666666"/>
                </a:solidFill>
                <a:latin typeface="Microsoft YaHei"/>
                <a:ea typeface="Microsoft YaHei"/>
              </a:rPr>
              <a:t>MemoryBytes：</a:t>
            </a:r>
            <a:r>
              <a:rPr lang="en-US" sz="1100" dirty="0" err="1">
                <a:solidFill>
                  <a:srgbClr val="666666"/>
                </a:solidFill>
                <a:latin typeface="Microsoft YaHei"/>
                <a:ea typeface="Microsoft YaHei"/>
              </a:rPr>
              <a:t>Checkpoint</a:t>
            </a:r>
            <a:r>
              <a:rPr lang="zh-CN" altLang="en-US" sz="1100" dirty="0">
                <a:solidFill>
                  <a:srgbClr val="666666"/>
                </a:solidFill>
                <a:latin typeface="Microsoft YaHei"/>
                <a:ea typeface="Microsoft YaHei"/>
              </a:rPr>
              <a:t>占用空间大小</a:t>
            </a:r>
            <a:endParaRPr sz="1100" dirty="0">
              <a:solidFill>
                <a:srgbClr val="666666"/>
              </a:solidFill>
              <a:latin typeface="Microsoft YaHei"/>
              <a:ea typeface="Microsoft YaHei"/>
            </a:endParaRPr>
          </a:p>
        </p:txBody>
      </p:sp>
      <p:sp>
        <p:nvSpPr>
          <p:cNvPr id="53" name="TextBox 52"/>
          <p:cNvSpPr txBox="1"/>
          <p:nvPr/>
        </p:nvSpPr>
        <p:spPr>
          <a:xfrm>
            <a:off x="459581" y="6537008"/>
            <a:ext cx="674370"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Page 6/8</a:t>
            </a:r>
          </a:p>
        </p:txBody>
      </p:sp>
      <p:sp>
        <p:nvSpPr>
          <p:cNvPr id="54" name="TextBox 53"/>
          <p:cNvSpPr txBox="1"/>
          <p:nvPr/>
        </p:nvSpPr>
        <p:spPr>
          <a:xfrm>
            <a:off x="1316831" y="6537008"/>
            <a:ext cx="1295876"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Huawei Confidential</a:t>
            </a:r>
          </a:p>
        </p:txBody>
      </p:sp>
      <p:sp>
        <p:nvSpPr>
          <p:cNvPr id="55" name="TextBox 91">
            <a:extLst>
              <a:ext uri="{FF2B5EF4-FFF2-40B4-BE49-F238E27FC236}">
                <a16:creationId xmlns:a16="http://schemas.microsoft.com/office/drawing/2014/main" id="{9474B55B-73D8-7957-F06B-212E8EBBFE3F}"/>
              </a:ext>
            </a:extLst>
          </p:cNvPr>
          <p:cNvSpPr txBox="1"/>
          <p:nvPr/>
        </p:nvSpPr>
        <p:spPr>
          <a:xfrm>
            <a:off x="354806" y="266700"/>
            <a:ext cx="8216494" cy="342900"/>
          </a:xfrm>
          <a:prstGeom prst="rect">
            <a:avLst/>
          </a:prstGeom>
          <a:noFill/>
        </p:spPr>
        <p:txBody>
          <a:bodyPr wrap="none" lIns="0" tIns="0" rIns="0" bIns="0" anchor="t">
            <a:noAutofit/>
          </a:bodyPr>
          <a:lstStyle/>
          <a:p>
            <a:pPr defTabSz="457200"/>
            <a:r>
              <a:rPr lang="en-US" altLang="zh-CN" sz="2025" b="1" dirty="0">
                <a:solidFill>
                  <a:srgbClr val="C00000"/>
                </a:solidFill>
                <a:latin typeface="Microsoft YaHei"/>
                <a:ea typeface="Microsoft YaHei"/>
              </a:rPr>
              <a:t>Checkpoint</a:t>
            </a:r>
            <a:r>
              <a:rPr lang="zh-CN" altLang="en-US" sz="2025" b="1" dirty="0">
                <a:solidFill>
                  <a:srgbClr val="C00000"/>
                </a:solidFill>
                <a:latin typeface="Microsoft YaHei"/>
                <a:ea typeface="Microsoft YaHei"/>
              </a:rPr>
              <a:t>驱逐策略</a:t>
            </a:r>
          </a:p>
        </p:txBody>
      </p:sp>
      <p:sp>
        <p:nvSpPr>
          <p:cNvPr id="56" name="TextBox 42">
            <a:extLst>
              <a:ext uri="{FF2B5EF4-FFF2-40B4-BE49-F238E27FC236}">
                <a16:creationId xmlns:a16="http://schemas.microsoft.com/office/drawing/2014/main" id="{425C3F76-F26B-4337-C319-5BC2322E4BA0}"/>
              </a:ext>
            </a:extLst>
          </p:cNvPr>
          <p:cNvSpPr txBox="1"/>
          <p:nvPr/>
        </p:nvSpPr>
        <p:spPr>
          <a:xfrm>
            <a:off x="5034029" y="1588991"/>
            <a:ext cx="1447324" cy="274320"/>
          </a:xfrm>
          <a:prstGeom prst="rect">
            <a:avLst/>
          </a:prstGeom>
          <a:noFill/>
        </p:spPr>
        <p:txBody>
          <a:bodyPr wrap="none" lIns="0" tIns="0" rIns="0" bIns="0" anchor="t">
            <a:noAutofit/>
          </a:bodyPr>
          <a:lstStyle/>
          <a:p>
            <a:pPr defTabSz="457200"/>
            <a:r>
              <a:rPr b="1" dirty="0">
                <a:solidFill>
                  <a:srgbClr val="1D1D1A"/>
                </a:solidFill>
                <a:latin typeface="Consolas"/>
                <a:ea typeface="Microsoft YaHei"/>
              </a:rPr>
              <a:t>Score(n) =</a:t>
            </a:r>
          </a:p>
        </p:txBody>
      </p:sp>
      <p:sp>
        <p:nvSpPr>
          <p:cNvPr id="57" name="TextBox 43">
            <a:extLst>
              <a:ext uri="{FF2B5EF4-FFF2-40B4-BE49-F238E27FC236}">
                <a16:creationId xmlns:a16="http://schemas.microsoft.com/office/drawing/2014/main" id="{C1E87EF7-8F9D-51FE-7D56-B9D5DE89B1E0}"/>
              </a:ext>
            </a:extLst>
          </p:cNvPr>
          <p:cNvSpPr txBox="1"/>
          <p:nvPr/>
        </p:nvSpPr>
        <p:spPr>
          <a:xfrm>
            <a:off x="6405248" y="1588991"/>
            <a:ext cx="1447324" cy="274320"/>
          </a:xfrm>
          <a:prstGeom prst="rect">
            <a:avLst/>
          </a:prstGeom>
          <a:noFill/>
        </p:spPr>
        <p:txBody>
          <a:bodyPr wrap="none" lIns="0" tIns="0" rIns="0" bIns="0" anchor="t">
            <a:noAutofit/>
          </a:bodyPr>
          <a:lstStyle/>
          <a:p>
            <a:pPr defTabSz="457200"/>
            <a:r>
              <a:rPr b="1" dirty="0">
                <a:solidFill>
                  <a:prstClr val="black"/>
                </a:solidFill>
                <a:latin typeface="Consolas"/>
                <a:ea typeface="Microsoft YaHei"/>
              </a:rPr>
              <a:t>Recency(n)</a:t>
            </a:r>
          </a:p>
        </p:txBody>
      </p:sp>
      <p:sp>
        <p:nvSpPr>
          <p:cNvPr id="21" name="文本框 20">
            <a:extLst>
              <a:ext uri="{FF2B5EF4-FFF2-40B4-BE49-F238E27FC236}">
                <a16:creationId xmlns:a16="http://schemas.microsoft.com/office/drawing/2014/main" id="{FBA2E59C-63A5-4030-A4DE-866E326E6903}"/>
              </a:ext>
            </a:extLst>
          </p:cNvPr>
          <p:cNvSpPr txBox="1"/>
          <p:nvPr/>
        </p:nvSpPr>
        <p:spPr>
          <a:xfrm>
            <a:off x="9428813" y="6221968"/>
            <a:ext cx="1678665"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刘韫聪</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a:t>
            </a:r>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李旭时</a:t>
            </a:r>
            <a:endParaRPr lang="zh-CN" altLang="en-US" dirty="0">
              <a:solidFill>
                <a:srgbClr val="FF0000"/>
              </a:solidFill>
              <a:highlight>
                <a:srgbClr val="FFFF00"/>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806" y="1102286"/>
            <a:ext cx="11487150" cy="1256824"/>
          </a:xfrm>
          <a:prstGeom prst="rect">
            <a:avLst/>
          </a:prstGeom>
          <a:solidFill>
            <a:srgbClr val="FFFFFF"/>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dirty="0">
              <a:solidFill>
                <a:prstClr val="white"/>
              </a:solidFill>
              <a:latin typeface="Calibri"/>
            </a:endParaRPr>
          </a:p>
        </p:txBody>
      </p:sp>
      <p:sp>
        <p:nvSpPr>
          <p:cNvPr id="4" name="Rounded Rectangle 3"/>
          <p:cNvSpPr/>
          <p:nvPr/>
        </p:nvSpPr>
        <p:spPr>
          <a:xfrm>
            <a:off x="497682" y="1207061"/>
            <a:ext cx="4312063" cy="1047274"/>
          </a:xfrm>
          <a:prstGeom prst="roundRect">
            <a:avLst>
              <a:gd name="adj" fmla="val 2728"/>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5" name="Rectangle 4"/>
          <p:cNvSpPr/>
          <p:nvPr/>
        </p:nvSpPr>
        <p:spPr>
          <a:xfrm>
            <a:off x="430619" y="2694162"/>
            <a:ext cx="11487150" cy="2824734"/>
          </a:xfrm>
          <a:prstGeom prst="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6" name="Rectangle 5"/>
          <p:cNvSpPr/>
          <p:nvPr/>
        </p:nvSpPr>
        <p:spPr>
          <a:xfrm>
            <a:off x="3389852" y="2554924"/>
            <a:ext cx="5417058" cy="295275"/>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7" name="Connector 6"/>
          <p:cNvCxnSpPr/>
          <p:nvPr/>
        </p:nvCxnSpPr>
        <p:spPr>
          <a:xfrm>
            <a:off x="4184114" y="3333290"/>
            <a:ext cx="0" cy="530688"/>
          </a:xfrm>
          <a:prstGeom prst="line">
            <a:avLst/>
          </a:prstGeom>
          <a:ln w="9476">
            <a:solidFill>
              <a:srgbClr val="929292"/>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027085" y="3333290"/>
            <a:ext cx="0" cy="530688"/>
          </a:xfrm>
          <a:prstGeom prst="line">
            <a:avLst/>
          </a:prstGeom>
          <a:ln w="9476">
            <a:solidFill>
              <a:srgbClr val="929292"/>
            </a:solidFill>
            <a:prstDash val="dash"/>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360097" y="3409104"/>
            <a:ext cx="530688" cy="416969"/>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0" name="Rectangle 9"/>
          <p:cNvSpPr/>
          <p:nvPr/>
        </p:nvSpPr>
        <p:spPr>
          <a:xfrm>
            <a:off x="1928691" y="3409104"/>
            <a:ext cx="530688" cy="416969"/>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1" name="Rectangle 10"/>
          <p:cNvSpPr/>
          <p:nvPr/>
        </p:nvSpPr>
        <p:spPr>
          <a:xfrm>
            <a:off x="2497285" y="3409104"/>
            <a:ext cx="530688" cy="416969"/>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2" name="Rectangle 11"/>
          <p:cNvSpPr/>
          <p:nvPr/>
        </p:nvSpPr>
        <p:spPr>
          <a:xfrm>
            <a:off x="3046925" y="3400772"/>
            <a:ext cx="530688" cy="416969"/>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3" name="Rectangle 12"/>
          <p:cNvSpPr/>
          <p:nvPr/>
        </p:nvSpPr>
        <p:spPr>
          <a:xfrm>
            <a:off x="3634473" y="3409104"/>
            <a:ext cx="530688" cy="416969"/>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4" name="Rectangle 13"/>
          <p:cNvSpPr/>
          <p:nvPr/>
        </p:nvSpPr>
        <p:spPr>
          <a:xfrm>
            <a:off x="4203067" y="3409104"/>
            <a:ext cx="530688" cy="416969"/>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5" name="Rectangle 14"/>
          <p:cNvSpPr/>
          <p:nvPr/>
        </p:nvSpPr>
        <p:spPr>
          <a:xfrm>
            <a:off x="4771662" y="3409104"/>
            <a:ext cx="530688" cy="416969"/>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6" name="Rectangle 15"/>
          <p:cNvSpPr/>
          <p:nvPr/>
        </p:nvSpPr>
        <p:spPr>
          <a:xfrm>
            <a:off x="5340256" y="3409104"/>
            <a:ext cx="530688" cy="416969"/>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7" name="Rectangle 16"/>
          <p:cNvSpPr/>
          <p:nvPr/>
        </p:nvSpPr>
        <p:spPr>
          <a:xfrm>
            <a:off x="5908850" y="3409104"/>
            <a:ext cx="530688" cy="416969"/>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8" name="Rectangle 17"/>
          <p:cNvSpPr/>
          <p:nvPr/>
        </p:nvSpPr>
        <p:spPr>
          <a:xfrm>
            <a:off x="6477444" y="3409104"/>
            <a:ext cx="530688" cy="416969"/>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9" name="Rectangle 18"/>
          <p:cNvSpPr/>
          <p:nvPr/>
        </p:nvSpPr>
        <p:spPr>
          <a:xfrm>
            <a:off x="7046038" y="3409104"/>
            <a:ext cx="530688" cy="416969"/>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0" name="Rectangle 19"/>
          <p:cNvSpPr/>
          <p:nvPr/>
        </p:nvSpPr>
        <p:spPr>
          <a:xfrm>
            <a:off x="7614632" y="3409104"/>
            <a:ext cx="530688" cy="416969"/>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1" name="Rectangle 20"/>
          <p:cNvSpPr/>
          <p:nvPr/>
        </p:nvSpPr>
        <p:spPr>
          <a:xfrm>
            <a:off x="8183226" y="3409104"/>
            <a:ext cx="530688" cy="416969"/>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2" name="Rectangle 21"/>
          <p:cNvSpPr/>
          <p:nvPr/>
        </p:nvSpPr>
        <p:spPr>
          <a:xfrm>
            <a:off x="8751820" y="3409104"/>
            <a:ext cx="530688" cy="416969"/>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3" name="Rectangle 22"/>
          <p:cNvSpPr/>
          <p:nvPr/>
        </p:nvSpPr>
        <p:spPr>
          <a:xfrm>
            <a:off x="9320414" y="3409104"/>
            <a:ext cx="530688" cy="416969"/>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4" name="Rectangle 23"/>
          <p:cNvSpPr/>
          <p:nvPr/>
        </p:nvSpPr>
        <p:spPr>
          <a:xfrm>
            <a:off x="1360097"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5" name="Rectangle 24"/>
          <p:cNvSpPr/>
          <p:nvPr/>
        </p:nvSpPr>
        <p:spPr>
          <a:xfrm>
            <a:off x="1928691"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6" name="Rectangle 25"/>
          <p:cNvSpPr/>
          <p:nvPr/>
        </p:nvSpPr>
        <p:spPr>
          <a:xfrm>
            <a:off x="2497285"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7" name="Rectangle 26"/>
          <p:cNvSpPr/>
          <p:nvPr/>
        </p:nvSpPr>
        <p:spPr>
          <a:xfrm>
            <a:off x="3065879"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8" name="Rectangle 27"/>
          <p:cNvSpPr/>
          <p:nvPr/>
        </p:nvSpPr>
        <p:spPr>
          <a:xfrm>
            <a:off x="3634473"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9" name="Rectangle 28"/>
          <p:cNvSpPr/>
          <p:nvPr/>
        </p:nvSpPr>
        <p:spPr>
          <a:xfrm>
            <a:off x="4203067"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0" name="Rectangle 29"/>
          <p:cNvSpPr/>
          <p:nvPr/>
        </p:nvSpPr>
        <p:spPr>
          <a:xfrm>
            <a:off x="4771662"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1" name="Rectangle 30"/>
          <p:cNvSpPr/>
          <p:nvPr/>
        </p:nvSpPr>
        <p:spPr>
          <a:xfrm>
            <a:off x="5340256"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2" name="Rectangle 31"/>
          <p:cNvSpPr/>
          <p:nvPr/>
        </p:nvSpPr>
        <p:spPr>
          <a:xfrm>
            <a:off x="5908850"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3" name="Rectangle 32"/>
          <p:cNvSpPr/>
          <p:nvPr/>
        </p:nvSpPr>
        <p:spPr>
          <a:xfrm>
            <a:off x="6477444"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4" name="Rectangle 33"/>
          <p:cNvSpPr/>
          <p:nvPr/>
        </p:nvSpPr>
        <p:spPr>
          <a:xfrm>
            <a:off x="7046038"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5" name="Rectangle 34"/>
          <p:cNvSpPr/>
          <p:nvPr/>
        </p:nvSpPr>
        <p:spPr>
          <a:xfrm>
            <a:off x="7614632"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6" name="Rectangle 35"/>
          <p:cNvSpPr/>
          <p:nvPr/>
        </p:nvSpPr>
        <p:spPr>
          <a:xfrm>
            <a:off x="8183226"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7" name="Rectangle 36"/>
          <p:cNvSpPr/>
          <p:nvPr/>
        </p:nvSpPr>
        <p:spPr>
          <a:xfrm>
            <a:off x="8751820"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8" name="Rectangle 37"/>
          <p:cNvSpPr/>
          <p:nvPr/>
        </p:nvSpPr>
        <p:spPr>
          <a:xfrm>
            <a:off x="9320414" y="3409104"/>
            <a:ext cx="530688" cy="416969"/>
          </a:xfrm>
          <a:prstGeom prst="rect">
            <a:avLst/>
          </a:prstGeom>
          <a:noFill/>
          <a:ln w="14214">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39" name="Connector 38"/>
          <p:cNvCxnSpPr/>
          <p:nvPr/>
        </p:nvCxnSpPr>
        <p:spPr>
          <a:xfrm flipV="1">
            <a:off x="1625441" y="3920839"/>
            <a:ext cx="0" cy="227437"/>
          </a:xfrm>
          <a:prstGeom prst="line">
            <a:avLst/>
          </a:prstGeom>
          <a:ln w="14214">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265332" y="4186181"/>
            <a:ext cx="720219" cy="22743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41" name="Connector 40"/>
          <p:cNvCxnSpPr/>
          <p:nvPr/>
        </p:nvCxnSpPr>
        <p:spPr>
          <a:xfrm flipV="1">
            <a:off x="4184114" y="3920839"/>
            <a:ext cx="0" cy="227437"/>
          </a:xfrm>
          <a:prstGeom prst="line">
            <a:avLst/>
          </a:prstGeom>
          <a:ln w="14214">
            <a:solidFill>
              <a:srgbClr val="3E8A2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3748192" y="4186181"/>
            <a:ext cx="871844" cy="227438"/>
          </a:xfrm>
          <a:prstGeom prst="roundRect">
            <a:avLst>
              <a:gd name="adj" fmla="val 50000"/>
            </a:avLst>
          </a:prstGeom>
          <a:solidFill>
            <a:srgbClr val="3E8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43" name="Connector 42"/>
          <p:cNvCxnSpPr/>
          <p:nvPr/>
        </p:nvCxnSpPr>
        <p:spPr>
          <a:xfrm flipV="1">
            <a:off x="7027085" y="3920839"/>
            <a:ext cx="0" cy="227437"/>
          </a:xfrm>
          <a:prstGeom prst="line">
            <a:avLst/>
          </a:prstGeom>
          <a:ln w="14214">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6591163" y="4186181"/>
            <a:ext cx="871844" cy="227438"/>
          </a:xfrm>
          <a:prstGeom prst="roundRect">
            <a:avLst>
              <a:gd name="adj" fmla="val 5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45" name="Connector 44"/>
          <p:cNvCxnSpPr/>
          <p:nvPr/>
        </p:nvCxnSpPr>
        <p:spPr>
          <a:xfrm flipV="1">
            <a:off x="9585758" y="3920839"/>
            <a:ext cx="0" cy="227437"/>
          </a:xfrm>
          <a:prstGeom prst="line">
            <a:avLst/>
          </a:prstGeom>
          <a:ln w="14214">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9225649" y="4186181"/>
            <a:ext cx="720219" cy="227438"/>
          </a:xfrm>
          <a:prstGeom prst="roundRect">
            <a:avLst>
              <a:gd name="adj" fmla="val 50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7" name="Rectangle 46"/>
          <p:cNvSpPr/>
          <p:nvPr/>
        </p:nvSpPr>
        <p:spPr>
          <a:xfrm>
            <a:off x="3487261" y="4584197"/>
            <a:ext cx="952721" cy="30325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48" name="Connector 47"/>
          <p:cNvCxnSpPr/>
          <p:nvPr/>
        </p:nvCxnSpPr>
        <p:spPr>
          <a:xfrm>
            <a:off x="4534748" y="4735822"/>
            <a:ext cx="312727" cy="0"/>
          </a:xfrm>
          <a:prstGeom prst="line">
            <a:avLst/>
          </a:prstGeom>
          <a:ln w="17057">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4913811" y="4584197"/>
            <a:ext cx="1184571" cy="30325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50" name="Connector 49"/>
          <p:cNvCxnSpPr>
            <a:cxnSpLocks/>
          </p:cNvCxnSpPr>
          <p:nvPr/>
        </p:nvCxnSpPr>
        <p:spPr>
          <a:xfrm>
            <a:off x="6111609" y="4735822"/>
            <a:ext cx="159555" cy="0"/>
          </a:xfrm>
          <a:prstGeom prst="line">
            <a:avLst/>
          </a:prstGeom>
          <a:ln w="17057">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6490672" y="4584197"/>
            <a:ext cx="1184572" cy="305226"/>
          </a:xfrm>
          <a:prstGeom prst="rect">
            <a:avLst/>
          </a:prstGeom>
          <a:solidFill>
            <a:srgbClr val="4EA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53" name="TextBox 52"/>
          <p:cNvSpPr txBox="1"/>
          <p:nvPr/>
        </p:nvSpPr>
        <p:spPr>
          <a:xfrm>
            <a:off x="2275713" y="2932208"/>
            <a:ext cx="1811920" cy="193358"/>
          </a:xfrm>
          <a:prstGeom prst="rect">
            <a:avLst/>
          </a:prstGeom>
          <a:noFill/>
        </p:spPr>
        <p:txBody>
          <a:bodyPr wrap="none" lIns="0" tIns="0" rIns="0" bIns="0" anchor="t">
            <a:noAutofit/>
          </a:bodyPr>
          <a:lstStyle/>
          <a:p>
            <a:pPr defTabSz="457200"/>
            <a:r>
              <a:rPr sz="1119" b="1" dirty="0" err="1">
                <a:solidFill>
                  <a:srgbClr val="3E8A24"/>
                </a:solidFill>
                <a:latin typeface="Microsoft YaHei"/>
                <a:ea typeface="Microsoft YaHei"/>
              </a:rPr>
              <a:t>A区</a:t>
            </a:r>
            <a:r>
              <a:rPr sz="1119" b="1" dirty="0">
                <a:solidFill>
                  <a:srgbClr val="3E8A24"/>
                </a:solidFill>
                <a:latin typeface="Microsoft YaHei"/>
                <a:ea typeface="Microsoft YaHei"/>
              </a:rPr>
              <a:t>｜</a:t>
            </a:r>
            <a:r>
              <a:rPr lang="zh-CN" altLang="en-US" sz="1119" b="1" dirty="0">
                <a:solidFill>
                  <a:srgbClr val="3E8A24"/>
                </a:solidFill>
                <a:latin typeface="Microsoft YaHei"/>
                <a:ea typeface="Microsoft YaHei"/>
              </a:rPr>
              <a:t>优先分配，无保留价值</a:t>
            </a:r>
            <a:endParaRPr sz="1119" b="1" dirty="0">
              <a:solidFill>
                <a:srgbClr val="3E8A24"/>
              </a:solidFill>
              <a:latin typeface="Microsoft YaHei"/>
              <a:ea typeface="Microsoft YaHei"/>
            </a:endParaRPr>
          </a:p>
        </p:txBody>
      </p:sp>
      <p:sp>
        <p:nvSpPr>
          <p:cNvPr id="54" name="TextBox 53"/>
          <p:cNvSpPr txBox="1"/>
          <p:nvPr/>
        </p:nvSpPr>
        <p:spPr>
          <a:xfrm>
            <a:off x="4534748" y="2936292"/>
            <a:ext cx="1889023" cy="193358"/>
          </a:xfrm>
          <a:prstGeom prst="rect">
            <a:avLst/>
          </a:prstGeom>
          <a:noFill/>
        </p:spPr>
        <p:txBody>
          <a:bodyPr wrap="none" lIns="0" tIns="0" rIns="0" bIns="0" anchor="t">
            <a:noAutofit/>
          </a:bodyPr>
          <a:lstStyle/>
          <a:p>
            <a:pPr defTabSz="457200"/>
            <a:r>
              <a:rPr sz="1119" b="1" dirty="0" err="1">
                <a:solidFill>
                  <a:srgbClr val="C55A11"/>
                </a:solidFill>
                <a:latin typeface="Microsoft YaHei"/>
                <a:ea typeface="Microsoft YaHei"/>
              </a:rPr>
              <a:t>B区</a:t>
            </a:r>
            <a:r>
              <a:rPr sz="1119" b="1" dirty="0">
                <a:solidFill>
                  <a:srgbClr val="C55A11"/>
                </a:solidFill>
                <a:latin typeface="Microsoft YaHei"/>
                <a:ea typeface="Microsoft YaHei"/>
              </a:rPr>
              <a:t>｜</a:t>
            </a:r>
            <a:r>
              <a:rPr lang="zh-CN" altLang="en-US" sz="1119" b="1" dirty="0">
                <a:solidFill>
                  <a:srgbClr val="C55A11"/>
                </a:solidFill>
                <a:latin typeface="Microsoft YaHei"/>
                <a:ea typeface="Microsoft YaHei"/>
              </a:rPr>
              <a:t>和</a:t>
            </a:r>
            <a:r>
              <a:rPr lang="en-US" altLang="zh-CN" sz="1119" b="1" dirty="0">
                <a:solidFill>
                  <a:srgbClr val="C55A11"/>
                </a:solidFill>
                <a:latin typeface="Microsoft YaHei"/>
                <a:ea typeface="Microsoft YaHei"/>
              </a:rPr>
              <a:t>Session</a:t>
            </a:r>
            <a:r>
              <a:rPr lang="zh-CN" altLang="en-US" sz="1119" b="1" dirty="0">
                <a:solidFill>
                  <a:srgbClr val="C55A11"/>
                </a:solidFill>
                <a:latin typeface="Microsoft YaHei"/>
                <a:ea typeface="Microsoft YaHei"/>
              </a:rPr>
              <a:t>相关，但</a:t>
            </a:r>
            <a:r>
              <a:rPr lang="en-US" altLang="zh-CN" sz="1119" b="1" dirty="0">
                <a:solidFill>
                  <a:srgbClr val="C55A11"/>
                </a:solidFill>
                <a:latin typeface="Microsoft YaHei"/>
                <a:ea typeface="Microsoft YaHei"/>
              </a:rPr>
              <a:t>TTL</a:t>
            </a:r>
            <a:r>
              <a:rPr lang="zh-CN" altLang="en-US" sz="1119" b="1" dirty="0">
                <a:solidFill>
                  <a:srgbClr val="C55A11"/>
                </a:solidFill>
                <a:latin typeface="Microsoft YaHei"/>
                <a:ea typeface="Microsoft YaHei"/>
              </a:rPr>
              <a:t>已过期</a:t>
            </a:r>
            <a:endParaRPr sz="1119" b="1" dirty="0">
              <a:solidFill>
                <a:srgbClr val="C55A11"/>
              </a:solidFill>
              <a:latin typeface="Microsoft YaHei"/>
              <a:ea typeface="Microsoft YaHei"/>
            </a:endParaRPr>
          </a:p>
        </p:txBody>
      </p:sp>
      <p:sp>
        <p:nvSpPr>
          <p:cNvPr id="55" name="TextBox 54"/>
          <p:cNvSpPr txBox="1"/>
          <p:nvPr/>
        </p:nvSpPr>
        <p:spPr>
          <a:xfrm>
            <a:off x="7614857" y="2932208"/>
            <a:ext cx="1296701" cy="193358"/>
          </a:xfrm>
          <a:prstGeom prst="rect">
            <a:avLst/>
          </a:prstGeom>
          <a:noFill/>
        </p:spPr>
        <p:txBody>
          <a:bodyPr wrap="none" lIns="0" tIns="0" rIns="0" bIns="0" anchor="t">
            <a:noAutofit/>
          </a:bodyPr>
          <a:lstStyle/>
          <a:p>
            <a:pPr defTabSz="457200"/>
            <a:r>
              <a:rPr sz="1119" b="1" dirty="0" err="1">
                <a:solidFill>
                  <a:srgbClr val="156082"/>
                </a:solidFill>
                <a:latin typeface="Microsoft YaHei"/>
                <a:ea typeface="Microsoft YaHei"/>
              </a:rPr>
              <a:t>C区｜</a:t>
            </a:r>
            <a:r>
              <a:rPr lang="en-US" sz="1119" b="1" dirty="0" err="1">
                <a:solidFill>
                  <a:srgbClr val="156082"/>
                </a:solidFill>
                <a:latin typeface="Microsoft YaHei"/>
                <a:ea typeface="Microsoft YaHei"/>
              </a:rPr>
              <a:t>TTL</a:t>
            </a:r>
            <a:r>
              <a:rPr lang="zh-CN" altLang="en-US" sz="1119" b="1" dirty="0">
                <a:solidFill>
                  <a:srgbClr val="156082"/>
                </a:solidFill>
                <a:latin typeface="Microsoft YaHei"/>
                <a:ea typeface="Microsoft YaHei"/>
              </a:rPr>
              <a:t>保留期内</a:t>
            </a:r>
            <a:endParaRPr sz="1119" b="1" dirty="0">
              <a:solidFill>
                <a:srgbClr val="156082"/>
              </a:solidFill>
              <a:latin typeface="Microsoft YaHei"/>
              <a:ea typeface="Microsoft YaHei"/>
            </a:endParaRPr>
          </a:p>
        </p:txBody>
      </p:sp>
      <p:sp>
        <p:nvSpPr>
          <p:cNvPr id="56" name="TextBox 55"/>
          <p:cNvSpPr txBox="1"/>
          <p:nvPr/>
        </p:nvSpPr>
        <p:spPr>
          <a:xfrm>
            <a:off x="1490853" y="4221798"/>
            <a:ext cx="421672" cy="145066"/>
          </a:xfrm>
          <a:prstGeom prst="rect">
            <a:avLst/>
          </a:prstGeom>
          <a:noFill/>
        </p:spPr>
        <p:txBody>
          <a:bodyPr wrap="none" lIns="0" tIns="0" rIns="0" bIns="0" anchor="t">
            <a:noAutofit/>
          </a:bodyPr>
          <a:lstStyle/>
          <a:p>
            <a:pPr defTabSz="457200"/>
            <a:r>
              <a:rPr sz="858" b="1">
                <a:solidFill>
                  <a:srgbClr val="FFFFFF"/>
                </a:solidFill>
                <a:latin typeface="Microsoft YaHei"/>
                <a:ea typeface="Microsoft YaHei"/>
              </a:rPr>
              <a:t>head</a:t>
            </a:r>
          </a:p>
        </p:txBody>
      </p:sp>
      <p:sp>
        <p:nvSpPr>
          <p:cNvPr id="57" name="TextBox 56"/>
          <p:cNvSpPr txBox="1"/>
          <p:nvPr/>
        </p:nvSpPr>
        <p:spPr>
          <a:xfrm>
            <a:off x="3874960" y="4221798"/>
            <a:ext cx="761048" cy="145066"/>
          </a:xfrm>
          <a:prstGeom prst="rect">
            <a:avLst/>
          </a:prstGeom>
          <a:noFill/>
        </p:spPr>
        <p:txBody>
          <a:bodyPr wrap="none" lIns="0" tIns="0" rIns="0" bIns="0" anchor="t">
            <a:noAutofit/>
          </a:bodyPr>
          <a:lstStyle/>
          <a:p>
            <a:pPr defTabSz="457200"/>
            <a:r>
              <a:rPr sz="858" b="1">
                <a:solidFill>
                  <a:srgbClr val="FFFFFF"/>
                </a:solidFill>
                <a:latin typeface="Microsoft YaHei"/>
                <a:ea typeface="Microsoft YaHei"/>
              </a:rPr>
              <a:t>zoneA_end</a:t>
            </a:r>
          </a:p>
        </p:txBody>
      </p:sp>
      <p:sp>
        <p:nvSpPr>
          <p:cNvPr id="58" name="TextBox 57"/>
          <p:cNvSpPr txBox="1"/>
          <p:nvPr/>
        </p:nvSpPr>
        <p:spPr>
          <a:xfrm>
            <a:off x="6721602" y="4221798"/>
            <a:ext cx="753618" cy="145066"/>
          </a:xfrm>
          <a:prstGeom prst="rect">
            <a:avLst/>
          </a:prstGeom>
          <a:noFill/>
        </p:spPr>
        <p:txBody>
          <a:bodyPr wrap="none" lIns="0" tIns="0" rIns="0" bIns="0" anchor="t">
            <a:noAutofit/>
          </a:bodyPr>
          <a:lstStyle/>
          <a:p>
            <a:pPr defTabSz="457200"/>
            <a:r>
              <a:rPr sz="858" b="1">
                <a:solidFill>
                  <a:srgbClr val="FFFFFF"/>
                </a:solidFill>
                <a:latin typeface="Microsoft YaHei"/>
                <a:ea typeface="Microsoft YaHei"/>
              </a:rPr>
              <a:t>zoneB_end</a:t>
            </a:r>
          </a:p>
        </p:txBody>
      </p:sp>
      <p:sp>
        <p:nvSpPr>
          <p:cNvPr id="59" name="TextBox 58"/>
          <p:cNvSpPr txBox="1"/>
          <p:nvPr/>
        </p:nvSpPr>
        <p:spPr>
          <a:xfrm>
            <a:off x="9489757" y="4221798"/>
            <a:ext cx="334804" cy="145066"/>
          </a:xfrm>
          <a:prstGeom prst="rect">
            <a:avLst/>
          </a:prstGeom>
          <a:noFill/>
        </p:spPr>
        <p:txBody>
          <a:bodyPr wrap="none" lIns="0" tIns="0" rIns="0" bIns="0" anchor="t">
            <a:noAutofit/>
          </a:bodyPr>
          <a:lstStyle/>
          <a:p>
            <a:pPr defTabSz="457200"/>
            <a:r>
              <a:rPr sz="858" b="1">
                <a:solidFill>
                  <a:srgbClr val="FFFFFF"/>
                </a:solidFill>
                <a:latin typeface="Microsoft YaHei"/>
                <a:ea typeface="Microsoft YaHei"/>
              </a:rPr>
              <a:t>tail</a:t>
            </a:r>
          </a:p>
        </p:txBody>
      </p:sp>
      <p:sp>
        <p:nvSpPr>
          <p:cNvPr id="60" name="TextBox 59"/>
          <p:cNvSpPr txBox="1"/>
          <p:nvPr/>
        </p:nvSpPr>
        <p:spPr>
          <a:xfrm>
            <a:off x="1350454" y="4619562"/>
            <a:ext cx="790194" cy="154686"/>
          </a:xfrm>
          <a:prstGeom prst="rect">
            <a:avLst/>
          </a:prstGeom>
          <a:noFill/>
        </p:spPr>
        <p:txBody>
          <a:bodyPr wrap="none" lIns="0" tIns="0" rIns="0" bIns="0" anchor="t">
            <a:noAutofit/>
          </a:bodyPr>
          <a:lstStyle/>
          <a:p>
            <a:pPr defTabSz="457200"/>
            <a:r>
              <a:rPr sz="969" b="1">
                <a:solidFill>
                  <a:srgbClr val="C00000"/>
                </a:solidFill>
                <a:latin typeface="Microsoft YaHei"/>
                <a:ea typeface="Microsoft YaHei"/>
              </a:rPr>
              <a:t>驱逐优先级</a:t>
            </a:r>
          </a:p>
        </p:txBody>
      </p:sp>
      <p:sp>
        <p:nvSpPr>
          <p:cNvPr id="61" name="TextBox 60"/>
          <p:cNvSpPr txBox="1"/>
          <p:nvPr/>
        </p:nvSpPr>
        <p:spPr>
          <a:xfrm>
            <a:off x="3704778" y="4658479"/>
            <a:ext cx="1209033" cy="154686"/>
          </a:xfrm>
          <a:prstGeom prst="rect">
            <a:avLst/>
          </a:prstGeom>
          <a:noFill/>
        </p:spPr>
        <p:txBody>
          <a:bodyPr wrap="none" lIns="0" tIns="0" rIns="0" bIns="0" anchor="t">
            <a:noAutofit/>
          </a:bodyPr>
          <a:lstStyle/>
          <a:p>
            <a:pPr defTabSz="457200"/>
            <a:r>
              <a:rPr sz="933" b="1" dirty="0">
                <a:solidFill>
                  <a:srgbClr val="FFFFFF"/>
                </a:solidFill>
                <a:latin typeface="Microsoft YaHei"/>
                <a:ea typeface="Microsoft YaHei"/>
              </a:rPr>
              <a:t>① </a:t>
            </a:r>
            <a:r>
              <a:rPr lang="en-US" sz="933" b="1" dirty="0">
                <a:solidFill>
                  <a:srgbClr val="FFFFFF"/>
                </a:solidFill>
                <a:latin typeface="Microsoft YaHei"/>
                <a:ea typeface="Microsoft YaHei"/>
              </a:rPr>
              <a:t>A</a:t>
            </a:r>
            <a:r>
              <a:rPr sz="933" b="1" dirty="0">
                <a:solidFill>
                  <a:srgbClr val="FFFFFF"/>
                </a:solidFill>
                <a:latin typeface="Microsoft YaHei"/>
                <a:ea typeface="Microsoft YaHei"/>
              </a:rPr>
              <a:t> 区</a:t>
            </a:r>
          </a:p>
        </p:txBody>
      </p:sp>
      <p:sp>
        <p:nvSpPr>
          <p:cNvPr id="62" name="TextBox 61"/>
          <p:cNvSpPr txBox="1"/>
          <p:nvPr/>
        </p:nvSpPr>
        <p:spPr>
          <a:xfrm>
            <a:off x="5269285" y="4657471"/>
            <a:ext cx="517308" cy="154686"/>
          </a:xfrm>
          <a:prstGeom prst="rect">
            <a:avLst/>
          </a:prstGeom>
          <a:noFill/>
        </p:spPr>
        <p:txBody>
          <a:bodyPr wrap="none" lIns="0" tIns="0" rIns="0" bIns="0" anchor="t">
            <a:noAutofit/>
          </a:bodyPr>
          <a:lstStyle/>
          <a:p>
            <a:pPr defTabSz="457200"/>
            <a:r>
              <a:rPr sz="933" b="1" dirty="0">
                <a:solidFill>
                  <a:srgbClr val="FFFFFF"/>
                </a:solidFill>
                <a:latin typeface="Microsoft YaHei"/>
                <a:ea typeface="Microsoft YaHei"/>
              </a:rPr>
              <a:t>② B 区</a:t>
            </a:r>
          </a:p>
        </p:txBody>
      </p:sp>
      <p:sp>
        <p:nvSpPr>
          <p:cNvPr id="63" name="TextBox 62"/>
          <p:cNvSpPr txBox="1"/>
          <p:nvPr/>
        </p:nvSpPr>
        <p:spPr>
          <a:xfrm>
            <a:off x="6872532" y="4662922"/>
            <a:ext cx="742324" cy="155694"/>
          </a:xfrm>
          <a:prstGeom prst="rect">
            <a:avLst/>
          </a:prstGeom>
          <a:noFill/>
        </p:spPr>
        <p:txBody>
          <a:bodyPr wrap="none" lIns="0" tIns="0" rIns="0" bIns="0" anchor="t">
            <a:noAutofit/>
          </a:bodyPr>
          <a:lstStyle/>
          <a:p>
            <a:pPr defTabSz="457200"/>
            <a:r>
              <a:rPr sz="933" b="1" dirty="0">
                <a:solidFill>
                  <a:srgbClr val="FFFFFF"/>
                </a:solidFill>
                <a:latin typeface="Microsoft YaHei"/>
                <a:ea typeface="Microsoft YaHei"/>
              </a:rPr>
              <a:t>③ </a:t>
            </a:r>
            <a:r>
              <a:rPr lang="en-US" sz="933" b="1" dirty="0">
                <a:solidFill>
                  <a:srgbClr val="FFFFFF"/>
                </a:solidFill>
                <a:latin typeface="Microsoft YaHei"/>
                <a:ea typeface="Microsoft YaHei"/>
              </a:rPr>
              <a:t>C</a:t>
            </a:r>
            <a:r>
              <a:rPr sz="933" b="1" dirty="0">
                <a:solidFill>
                  <a:srgbClr val="FFFFFF"/>
                </a:solidFill>
                <a:latin typeface="Microsoft YaHei"/>
                <a:ea typeface="Microsoft YaHei"/>
              </a:rPr>
              <a:t> 区</a:t>
            </a:r>
          </a:p>
        </p:txBody>
      </p:sp>
      <p:pic>
        <p:nvPicPr>
          <p:cNvPr id="65" name="Picture 64" descr="image.png"/>
          <p:cNvPicPr>
            <a:picLocks noChangeAspect="1"/>
          </p:cNvPicPr>
          <p:nvPr/>
        </p:nvPicPr>
        <p:blipFill>
          <a:blip r:embed="rId2"/>
          <a:stretch>
            <a:fillRect/>
          </a:stretch>
        </p:blipFill>
        <p:spPr>
          <a:xfrm>
            <a:off x="10418731" y="6076950"/>
            <a:ext cx="966026" cy="209550"/>
          </a:xfrm>
          <a:prstGeom prst="rect">
            <a:avLst/>
          </a:prstGeom>
        </p:spPr>
      </p:pic>
      <p:sp>
        <p:nvSpPr>
          <p:cNvPr id="66" name="TextBox 65"/>
          <p:cNvSpPr txBox="1"/>
          <p:nvPr/>
        </p:nvSpPr>
        <p:spPr>
          <a:xfrm>
            <a:off x="354807" y="266700"/>
            <a:ext cx="10351587" cy="342900"/>
          </a:xfrm>
          <a:prstGeom prst="rect">
            <a:avLst/>
          </a:prstGeom>
          <a:noFill/>
        </p:spPr>
        <p:txBody>
          <a:bodyPr wrap="none" lIns="0" tIns="0" rIns="0" bIns="0" anchor="t">
            <a:noAutofit/>
          </a:bodyPr>
          <a:lstStyle/>
          <a:p>
            <a:pPr defTabSz="457200"/>
            <a:r>
              <a:rPr sz="2025" b="1" dirty="0">
                <a:solidFill>
                  <a:srgbClr val="C00000"/>
                </a:solidFill>
                <a:latin typeface="Microsoft YaHei"/>
                <a:ea typeface="Microsoft YaHei"/>
              </a:rPr>
              <a:t>【</a:t>
            </a:r>
            <a:r>
              <a:rPr sz="2025" b="1" dirty="0" err="1">
                <a:solidFill>
                  <a:srgbClr val="C00000"/>
                </a:solidFill>
                <a:latin typeface="Microsoft YaHei"/>
                <a:ea typeface="Microsoft YaHei"/>
              </a:rPr>
              <a:t>提案】</a:t>
            </a:r>
            <a:r>
              <a:rPr lang="en-US" altLang="zh-CN" sz="2025" b="1" dirty="0" err="1">
                <a:solidFill>
                  <a:srgbClr val="C00000"/>
                </a:solidFill>
                <a:latin typeface="Microsoft YaHei"/>
                <a:ea typeface="Microsoft YaHei"/>
              </a:rPr>
              <a:t>A</a:t>
            </a:r>
            <a:r>
              <a:rPr sz="2025" b="1" dirty="0" err="1">
                <a:solidFill>
                  <a:srgbClr val="C00000"/>
                </a:solidFill>
                <a:latin typeface="Microsoft YaHei"/>
                <a:ea typeface="Microsoft YaHei"/>
              </a:rPr>
              <a:t>gent</a:t>
            </a:r>
            <a:r>
              <a:rPr sz="2025" b="1" dirty="0">
                <a:solidFill>
                  <a:srgbClr val="C00000"/>
                </a:solidFill>
                <a:latin typeface="Microsoft YaHei"/>
                <a:ea typeface="Microsoft YaHei"/>
              </a:rPr>
              <a:t> </a:t>
            </a:r>
            <a:r>
              <a:rPr lang="en-US" sz="2025" b="1" dirty="0">
                <a:solidFill>
                  <a:srgbClr val="C00000"/>
                </a:solidFill>
                <a:latin typeface="Microsoft YaHei"/>
                <a:ea typeface="Microsoft YaHei"/>
              </a:rPr>
              <a:t>H</a:t>
            </a:r>
            <a:r>
              <a:rPr sz="2025" b="1" dirty="0">
                <a:solidFill>
                  <a:srgbClr val="C00000"/>
                </a:solidFill>
                <a:latin typeface="Microsoft YaHei"/>
                <a:ea typeface="Microsoft YaHei"/>
              </a:rPr>
              <a:t>int </a:t>
            </a:r>
            <a:r>
              <a:rPr sz="2025" b="1" dirty="0" err="1">
                <a:solidFill>
                  <a:srgbClr val="C00000"/>
                </a:solidFill>
                <a:latin typeface="Microsoft YaHei"/>
                <a:ea typeface="Microsoft YaHei"/>
              </a:rPr>
              <a:t>接管</a:t>
            </a:r>
            <a:r>
              <a:rPr sz="2025" b="1" dirty="0">
                <a:solidFill>
                  <a:srgbClr val="C00000"/>
                </a:solidFill>
                <a:latin typeface="Microsoft YaHei"/>
                <a:ea typeface="Microsoft YaHei"/>
              </a:rPr>
              <a:t> </a:t>
            </a:r>
            <a:r>
              <a:rPr lang="en-US" sz="2025" b="1" dirty="0">
                <a:solidFill>
                  <a:srgbClr val="C00000"/>
                </a:solidFill>
                <a:latin typeface="Microsoft YaHei"/>
                <a:ea typeface="Microsoft YaHei"/>
              </a:rPr>
              <a:t>C</a:t>
            </a:r>
            <a:r>
              <a:rPr sz="2025" b="1" dirty="0">
                <a:solidFill>
                  <a:srgbClr val="C00000"/>
                </a:solidFill>
                <a:latin typeface="Microsoft YaHei"/>
                <a:ea typeface="Microsoft YaHei"/>
              </a:rPr>
              <a:t>heckpoint </a:t>
            </a:r>
            <a:r>
              <a:rPr sz="2025" b="1" dirty="0" err="1">
                <a:solidFill>
                  <a:srgbClr val="C00000"/>
                </a:solidFill>
                <a:latin typeface="Microsoft YaHei"/>
                <a:ea typeface="Microsoft YaHei"/>
              </a:rPr>
              <a:t>存储与驱逐</a:t>
            </a:r>
            <a:endParaRPr sz="2025" b="1" dirty="0">
              <a:solidFill>
                <a:srgbClr val="C00000"/>
              </a:solidFill>
              <a:latin typeface="Microsoft YaHei"/>
              <a:ea typeface="Microsoft YaHei"/>
            </a:endParaRPr>
          </a:p>
        </p:txBody>
      </p:sp>
      <p:sp>
        <p:nvSpPr>
          <p:cNvPr id="67" name="TextBox 66"/>
          <p:cNvSpPr txBox="1"/>
          <p:nvPr/>
        </p:nvSpPr>
        <p:spPr>
          <a:xfrm>
            <a:off x="4606550" y="805379"/>
            <a:ext cx="3380476" cy="247650"/>
          </a:xfrm>
          <a:prstGeom prst="rect">
            <a:avLst/>
          </a:prstGeom>
          <a:noFill/>
        </p:spPr>
        <p:txBody>
          <a:bodyPr wrap="none" lIns="0" tIns="0" rIns="0" bIns="0" anchor="t">
            <a:noAutofit/>
          </a:bodyPr>
          <a:lstStyle/>
          <a:p>
            <a:pPr defTabSz="457200"/>
            <a:r>
              <a:rPr lang="en-US" altLang="zh-CN" sz="1500" b="1" dirty="0">
                <a:solidFill>
                  <a:srgbClr val="C00000"/>
                </a:solidFill>
                <a:latin typeface="Microsoft YaHei"/>
                <a:ea typeface="Microsoft YaHei"/>
              </a:rPr>
              <a:t>A</a:t>
            </a:r>
            <a:r>
              <a:rPr sz="1500" b="1" dirty="0">
                <a:solidFill>
                  <a:srgbClr val="C00000"/>
                </a:solidFill>
                <a:latin typeface="Microsoft YaHei"/>
                <a:ea typeface="Microsoft YaHei"/>
              </a:rPr>
              <a:t>gent </a:t>
            </a:r>
            <a:r>
              <a:rPr lang="en-US" sz="1500" b="1" dirty="0" err="1">
                <a:solidFill>
                  <a:srgbClr val="C00000"/>
                </a:solidFill>
                <a:latin typeface="Microsoft YaHei"/>
                <a:ea typeface="Microsoft YaHei"/>
              </a:rPr>
              <a:t>H</a:t>
            </a:r>
            <a:r>
              <a:rPr sz="1500" b="1" dirty="0" err="1">
                <a:solidFill>
                  <a:srgbClr val="C00000"/>
                </a:solidFill>
                <a:latin typeface="Microsoft YaHei"/>
                <a:ea typeface="Microsoft YaHei"/>
              </a:rPr>
              <a:t>int｜上层</a:t>
            </a:r>
            <a:r>
              <a:rPr sz="1500" b="1" dirty="0">
                <a:solidFill>
                  <a:srgbClr val="C00000"/>
                </a:solidFill>
                <a:latin typeface="Microsoft YaHei"/>
                <a:ea typeface="Microsoft YaHei"/>
              </a:rPr>
              <a:t> Agent </a:t>
            </a:r>
            <a:r>
              <a:rPr sz="1500" b="1" dirty="0" err="1">
                <a:solidFill>
                  <a:srgbClr val="C00000"/>
                </a:solidFill>
                <a:latin typeface="Microsoft YaHei"/>
                <a:ea typeface="Microsoft YaHei"/>
              </a:rPr>
              <a:t>意图下传</a:t>
            </a:r>
            <a:endParaRPr sz="1500" b="1" dirty="0">
              <a:solidFill>
                <a:srgbClr val="C00000"/>
              </a:solidFill>
              <a:latin typeface="Microsoft YaHei"/>
              <a:ea typeface="Microsoft YaHei"/>
            </a:endParaRPr>
          </a:p>
        </p:txBody>
      </p:sp>
      <p:sp>
        <p:nvSpPr>
          <p:cNvPr id="68" name="TextBox 67"/>
          <p:cNvSpPr txBox="1"/>
          <p:nvPr/>
        </p:nvSpPr>
        <p:spPr>
          <a:xfrm>
            <a:off x="631032" y="1311836"/>
            <a:ext cx="973455" cy="133350"/>
          </a:xfrm>
          <a:prstGeom prst="rect">
            <a:avLst/>
          </a:prstGeom>
          <a:noFill/>
        </p:spPr>
        <p:txBody>
          <a:bodyPr wrap="none" lIns="0" tIns="0" rIns="0" bIns="0" anchor="t">
            <a:noAutofit/>
          </a:bodyPr>
          <a:lstStyle/>
          <a:p>
            <a:pPr defTabSz="457200"/>
            <a:r>
              <a:rPr sz="863">
                <a:solidFill>
                  <a:prstClr val="black"/>
                </a:solidFill>
                <a:latin typeface="Consolas"/>
                <a:ea typeface="Microsoft YaHei"/>
              </a:rPr>
              <a:t>agent_hint</a:t>
            </a:r>
            <a:r>
              <a:rPr sz="863" dirty="0">
                <a:solidFill>
                  <a:prstClr val="black"/>
                </a:solidFill>
                <a:latin typeface="Consolas"/>
                <a:ea typeface="Microsoft YaHei"/>
              </a:rPr>
              <a:t>: {</a:t>
            </a:r>
          </a:p>
        </p:txBody>
      </p:sp>
      <p:sp>
        <p:nvSpPr>
          <p:cNvPr id="69" name="TextBox 68"/>
          <p:cNvSpPr txBox="1"/>
          <p:nvPr/>
        </p:nvSpPr>
        <p:spPr>
          <a:xfrm>
            <a:off x="631031" y="1487001"/>
            <a:ext cx="3299292" cy="133350"/>
          </a:xfrm>
          <a:prstGeom prst="rect">
            <a:avLst/>
          </a:prstGeom>
          <a:noFill/>
        </p:spPr>
        <p:txBody>
          <a:bodyPr wrap="none" lIns="0" tIns="0" rIns="0" bIns="0" anchor="t">
            <a:noAutofit/>
          </a:bodyPr>
          <a:lstStyle/>
          <a:p>
            <a:pPr defTabSz="457200"/>
            <a:r>
              <a:rPr sz="863" dirty="0">
                <a:solidFill>
                  <a:prstClr val="black"/>
                </a:solidFill>
                <a:latin typeface="Consolas"/>
                <a:ea typeface="Microsoft YaHei"/>
              </a:rPr>
              <a:t> </a:t>
            </a:r>
            <a:r>
              <a:rPr sz="863" dirty="0" err="1">
                <a:solidFill>
                  <a:prstClr val="black"/>
                </a:solidFill>
                <a:latin typeface="Consolas"/>
                <a:ea typeface="Microsoft YaHei"/>
              </a:rPr>
              <a:t>session_id</a:t>
            </a:r>
            <a:r>
              <a:rPr sz="863" dirty="0">
                <a:solidFill>
                  <a:prstClr val="black"/>
                </a:solidFill>
                <a:latin typeface="Consolas"/>
                <a:ea typeface="Microsoft YaHei"/>
              </a:rPr>
              <a:t> / </a:t>
            </a:r>
            <a:r>
              <a:rPr sz="863" dirty="0" err="1">
                <a:solidFill>
                  <a:prstClr val="black"/>
                </a:solidFill>
                <a:latin typeface="Consolas"/>
                <a:ea typeface="Microsoft YaHei"/>
              </a:rPr>
              <a:t>parent_session_id</a:t>
            </a:r>
            <a:r>
              <a:rPr sz="863" dirty="0">
                <a:solidFill>
                  <a:prstClr val="black"/>
                </a:solidFill>
                <a:latin typeface="Consolas"/>
                <a:ea typeface="Microsoft YaHei"/>
              </a:rPr>
              <a:t>, # </a:t>
            </a:r>
            <a:r>
              <a:rPr sz="863" dirty="0" err="1">
                <a:solidFill>
                  <a:prstClr val="black"/>
                </a:solidFill>
                <a:latin typeface="Consolas"/>
                <a:ea typeface="Microsoft YaHei"/>
              </a:rPr>
              <a:t>会话身份</a:t>
            </a:r>
            <a:endParaRPr sz="863" dirty="0">
              <a:solidFill>
                <a:prstClr val="black"/>
              </a:solidFill>
              <a:latin typeface="Consolas"/>
              <a:ea typeface="Microsoft YaHei"/>
            </a:endParaRPr>
          </a:p>
        </p:txBody>
      </p:sp>
      <p:sp>
        <p:nvSpPr>
          <p:cNvPr id="70" name="TextBox 69"/>
          <p:cNvSpPr txBox="1"/>
          <p:nvPr/>
        </p:nvSpPr>
        <p:spPr>
          <a:xfrm>
            <a:off x="631032" y="1662166"/>
            <a:ext cx="3777325" cy="597551"/>
          </a:xfrm>
          <a:prstGeom prst="rect">
            <a:avLst/>
          </a:prstGeom>
          <a:noFill/>
        </p:spPr>
        <p:txBody>
          <a:bodyPr wrap="none" lIns="0" tIns="0" rIns="0" bIns="0" anchor="t">
            <a:noAutofit/>
          </a:bodyPr>
          <a:lstStyle/>
          <a:p>
            <a:pPr defTabSz="457200"/>
            <a:r>
              <a:rPr sz="863" dirty="0">
                <a:solidFill>
                  <a:prstClr val="black"/>
                </a:solidFill>
                <a:latin typeface="Consolas"/>
                <a:ea typeface="Microsoft YaHei"/>
              </a:rPr>
              <a:t> </a:t>
            </a:r>
            <a:r>
              <a:rPr sz="863" dirty="0" err="1">
                <a:solidFill>
                  <a:prstClr val="black"/>
                </a:solidFill>
                <a:latin typeface="Consolas"/>
                <a:ea typeface="Microsoft YaHei"/>
              </a:rPr>
              <a:t>cache_control</a:t>
            </a:r>
            <a:r>
              <a:rPr sz="863" dirty="0">
                <a:solidFill>
                  <a:prstClr val="black"/>
                </a:solidFill>
                <a:latin typeface="Consolas"/>
                <a:ea typeface="Microsoft YaHei"/>
              </a:rPr>
              <a:t>: {</a:t>
            </a:r>
            <a:endParaRPr lang="en-US" sz="863" dirty="0">
              <a:solidFill>
                <a:prstClr val="black"/>
              </a:solidFill>
              <a:latin typeface="Consolas"/>
              <a:ea typeface="Microsoft YaHei"/>
            </a:endParaRPr>
          </a:p>
          <a:p>
            <a:pPr defTabSz="457200"/>
            <a:r>
              <a:rPr lang="en-US" sz="863" dirty="0">
                <a:solidFill>
                  <a:prstClr val="black"/>
                </a:solidFill>
                <a:latin typeface="Consolas"/>
                <a:ea typeface="Microsoft YaHei"/>
              </a:rPr>
              <a:t>	</a:t>
            </a:r>
            <a:r>
              <a:rPr sz="863" dirty="0" err="1">
                <a:solidFill>
                  <a:prstClr val="black"/>
                </a:solidFill>
                <a:latin typeface="Consolas"/>
                <a:ea typeface="Microsoft YaHei"/>
              </a:rPr>
              <a:t>ttl</a:t>
            </a:r>
            <a:r>
              <a:rPr sz="863" dirty="0">
                <a:solidFill>
                  <a:prstClr val="black"/>
                </a:solidFill>
                <a:latin typeface="Consolas"/>
                <a:ea typeface="Microsoft YaHei"/>
              </a:rPr>
              <a:t>=5m</a:t>
            </a:r>
            <a:r>
              <a:rPr lang="en-US" sz="863" dirty="0">
                <a:solidFill>
                  <a:prstClr val="black"/>
                </a:solidFill>
                <a:latin typeface="Consolas"/>
                <a:ea typeface="Microsoft YaHei"/>
              </a:rPr>
              <a:t>, # </a:t>
            </a:r>
            <a:r>
              <a:rPr lang="zh-CN" altLang="en-US" sz="863" dirty="0">
                <a:solidFill>
                  <a:prstClr val="black"/>
                </a:solidFill>
                <a:latin typeface="Consolas"/>
                <a:ea typeface="Microsoft YaHei"/>
              </a:rPr>
              <a:t>存储超时时间</a:t>
            </a:r>
            <a:endParaRPr lang="en-US" sz="863" dirty="0">
              <a:solidFill>
                <a:prstClr val="black"/>
              </a:solidFill>
              <a:latin typeface="Consolas"/>
              <a:ea typeface="Microsoft YaHei"/>
            </a:endParaRPr>
          </a:p>
          <a:p>
            <a:pPr defTabSz="457200"/>
            <a:r>
              <a:rPr lang="en-US" sz="863" dirty="0">
                <a:solidFill>
                  <a:prstClr val="black"/>
                </a:solidFill>
                <a:latin typeface="Consolas"/>
                <a:ea typeface="Microsoft YaHei"/>
              </a:rPr>
              <a:t> </a:t>
            </a:r>
            <a:r>
              <a:rPr sz="863" dirty="0">
                <a:solidFill>
                  <a:prstClr val="black"/>
                </a:solidFill>
                <a:latin typeface="Consolas"/>
                <a:ea typeface="Microsoft YaHei"/>
              </a:rPr>
              <a:t>},</a:t>
            </a:r>
            <a:r>
              <a:rPr lang="en-US" sz="863" dirty="0">
                <a:solidFill>
                  <a:prstClr val="black"/>
                </a:solidFill>
                <a:latin typeface="Consolas"/>
                <a:ea typeface="Microsoft YaHei"/>
              </a:rPr>
              <a:t> …</a:t>
            </a:r>
          </a:p>
          <a:p>
            <a:pPr defTabSz="457200"/>
            <a:r>
              <a:rPr lang="en-US" sz="863" dirty="0">
                <a:solidFill>
                  <a:prstClr val="black"/>
                </a:solidFill>
                <a:latin typeface="Consolas"/>
                <a:ea typeface="Microsoft YaHei"/>
              </a:rPr>
              <a:t>}</a:t>
            </a:r>
          </a:p>
          <a:p>
            <a:pPr defTabSz="457200"/>
            <a:endParaRPr sz="863" dirty="0">
              <a:solidFill>
                <a:prstClr val="black"/>
              </a:solidFill>
              <a:latin typeface="Consolas"/>
              <a:ea typeface="Microsoft YaHei"/>
            </a:endParaRPr>
          </a:p>
        </p:txBody>
      </p:sp>
      <p:sp>
        <p:nvSpPr>
          <p:cNvPr id="72" name="TextBox 71"/>
          <p:cNvSpPr txBox="1"/>
          <p:nvPr/>
        </p:nvSpPr>
        <p:spPr>
          <a:xfrm>
            <a:off x="631032" y="2012495"/>
            <a:ext cx="250793" cy="133350"/>
          </a:xfrm>
          <a:prstGeom prst="rect">
            <a:avLst/>
          </a:prstGeom>
          <a:noFill/>
        </p:spPr>
        <p:txBody>
          <a:bodyPr wrap="none" lIns="0" tIns="0" rIns="0" bIns="0" anchor="t">
            <a:noAutofit/>
          </a:bodyPr>
          <a:lstStyle/>
          <a:p>
            <a:pPr defTabSz="457200"/>
            <a:endParaRPr sz="863" dirty="0">
              <a:solidFill>
                <a:prstClr val="black"/>
              </a:solidFill>
              <a:latin typeface="Consolas"/>
              <a:ea typeface="Microsoft YaHei"/>
            </a:endParaRPr>
          </a:p>
        </p:txBody>
      </p:sp>
      <p:sp>
        <p:nvSpPr>
          <p:cNvPr id="73" name="TextBox 72"/>
          <p:cNvSpPr txBox="1"/>
          <p:nvPr/>
        </p:nvSpPr>
        <p:spPr>
          <a:xfrm>
            <a:off x="5400291" y="1339104"/>
            <a:ext cx="5018441" cy="171450"/>
          </a:xfrm>
          <a:prstGeom prst="rect">
            <a:avLst/>
          </a:prstGeom>
          <a:noFill/>
        </p:spPr>
        <p:txBody>
          <a:bodyPr wrap="none" lIns="0" tIns="0" rIns="0" bIns="0" anchor="t">
            <a:noAutofit/>
          </a:bodyPr>
          <a:lstStyle/>
          <a:p>
            <a:pPr defTabSz="457200"/>
            <a:r>
              <a:rPr lang="en-US" sz="1400" dirty="0">
                <a:solidFill>
                  <a:srgbClr val="1D1D1A"/>
                </a:solidFill>
                <a:latin typeface="Microsoft YaHei"/>
                <a:ea typeface="Microsoft YaHei"/>
              </a:rPr>
              <a:t>Agent</a:t>
            </a:r>
            <a:r>
              <a:rPr lang="zh-CN" altLang="en-US" sz="1400" dirty="0">
                <a:solidFill>
                  <a:srgbClr val="1D1D1A"/>
                </a:solidFill>
                <a:latin typeface="Microsoft YaHei"/>
                <a:ea typeface="Microsoft YaHei"/>
              </a:rPr>
              <a:t>直接传达各个位置存储的重要性，不再纯</a:t>
            </a:r>
            <a:r>
              <a:rPr lang="en-US" altLang="zh-CN" sz="1400" dirty="0">
                <a:solidFill>
                  <a:srgbClr val="1D1D1A"/>
                </a:solidFill>
                <a:latin typeface="Microsoft YaHei"/>
                <a:ea typeface="Microsoft YaHei"/>
              </a:rPr>
              <a:t>LRU</a:t>
            </a:r>
            <a:r>
              <a:rPr lang="zh-CN" altLang="en-US" sz="1400" dirty="0">
                <a:solidFill>
                  <a:srgbClr val="1D1D1A"/>
                </a:solidFill>
                <a:latin typeface="Microsoft YaHei"/>
                <a:ea typeface="Microsoft YaHei"/>
              </a:rPr>
              <a:t>盲扫</a:t>
            </a:r>
            <a:endParaRPr sz="1400" dirty="0">
              <a:solidFill>
                <a:srgbClr val="1D1D1A"/>
              </a:solidFill>
              <a:latin typeface="Microsoft YaHei"/>
              <a:ea typeface="Microsoft YaHei"/>
            </a:endParaRPr>
          </a:p>
        </p:txBody>
      </p:sp>
      <p:sp>
        <p:nvSpPr>
          <p:cNvPr id="75" name="TextBox 74"/>
          <p:cNvSpPr txBox="1"/>
          <p:nvPr/>
        </p:nvSpPr>
        <p:spPr>
          <a:xfrm>
            <a:off x="5392993" y="1658332"/>
            <a:ext cx="3913876" cy="152400"/>
          </a:xfrm>
          <a:prstGeom prst="rect">
            <a:avLst/>
          </a:prstGeom>
          <a:noFill/>
        </p:spPr>
        <p:txBody>
          <a:bodyPr wrap="none" lIns="0" tIns="0" rIns="0" bIns="0" anchor="t">
            <a:noAutofit/>
          </a:bodyPr>
          <a:lstStyle/>
          <a:p>
            <a:pPr defTabSz="457200"/>
            <a:r>
              <a:rPr lang="en-US" altLang="zh-CN" sz="1400" dirty="0">
                <a:solidFill>
                  <a:prstClr val="black"/>
                </a:solidFill>
                <a:latin typeface="Microsoft YaHei"/>
                <a:ea typeface="Microsoft YaHei"/>
              </a:rPr>
              <a:t>C</a:t>
            </a:r>
            <a:r>
              <a:rPr sz="1400" dirty="0">
                <a:solidFill>
                  <a:prstClr val="black"/>
                </a:solidFill>
                <a:latin typeface="Microsoft YaHei"/>
                <a:ea typeface="Microsoft YaHei"/>
              </a:rPr>
              <a:t>heckpoint </a:t>
            </a:r>
            <a:r>
              <a:rPr sz="1400" dirty="0" err="1">
                <a:solidFill>
                  <a:prstClr val="black"/>
                </a:solidFill>
                <a:latin typeface="Microsoft YaHei"/>
                <a:ea typeface="Microsoft YaHei"/>
              </a:rPr>
              <a:t>由此拿到</a:t>
            </a:r>
            <a:r>
              <a:rPr sz="1400" dirty="0">
                <a:solidFill>
                  <a:prstClr val="black"/>
                </a:solidFill>
                <a:latin typeface="Microsoft YaHei"/>
                <a:ea typeface="Microsoft YaHei"/>
              </a:rPr>
              <a:t> </a:t>
            </a:r>
            <a:r>
              <a:rPr lang="en-US" sz="1400" dirty="0">
                <a:solidFill>
                  <a:prstClr val="black"/>
                </a:solidFill>
                <a:latin typeface="Microsoft YaHei"/>
                <a:ea typeface="Microsoft YaHei"/>
              </a:rPr>
              <a:t>s</a:t>
            </a:r>
            <a:r>
              <a:rPr sz="1400" dirty="0">
                <a:solidFill>
                  <a:prstClr val="black"/>
                </a:solidFill>
                <a:latin typeface="Microsoft YaHei"/>
                <a:ea typeface="Microsoft YaHei"/>
              </a:rPr>
              <a:t>ession </a:t>
            </a:r>
            <a:r>
              <a:rPr sz="1400" dirty="0" err="1">
                <a:solidFill>
                  <a:prstClr val="black"/>
                </a:solidFill>
                <a:latin typeface="Microsoft YaHei"/>
                <a:ea typeface="Microsoft YaHei"/>
              </a:rPr>
              <a:t>引用与</a:t>
            </a:r>
            <a:r>
              <a:rPr sz="1400" dirty="0">
                <a:solidFill>
                  <a:prstClr val="black"/>
                </a:solidFill>
                <a:latin typeface="Microsoft YaHei"/>
                <a:ea typeface="Microsoft YaHei"/>
              </a:rPr>
              <a:t> TTL —— </a:t>
            </a:r>
            <a:r>
              <a:rPr sz="1400" dirty="0" err="1">
                <a:solidFill>
                  <a:prstClr val="black"/>
                </a:solidFill>
                <a:latin typeface="Microsoft YaHei"/>
                <a:ea typeface="Microsoft YaHei"/>
              </a:rPr>
              <a:t>分区与驱逐的依据</a:t>
            </a:r>
            <a:endParaRPr sz="1400" dirty="0">
              <a:solidFill>
                <a:prstClr val="black"/>
              </a:solidFill>
              <a:latin typeface="Microsoft YaHei"/>
              <a:ea typeface="Microsoft YaHei"/>
            </a:endParaRPr>
          </a:p>
        </p:txBody>
      </p:sp>
      <p:sp>
        <p:nvSpPr>
          <p:cNvPr id="76" name="TextBox 75"/>
          <p:cNvSpPr txBox="1"/>
          <p:nvPr/>
        </p:nvSpPr>
        <p:spPr>
          <a:xfrm>
            <a:off x="3542253" y="2573973"/>
            <a:ext cx="5725729" cy="247650"/>
          </a:xfrm>
          <a:prstGeom prst="rect">
            <a:avLst/>
          </a:prstGeom>
          <a:noFill/>
        </p:spPr>
        <p:txBody>
          <a:bodyPr wrap="none" lIns="0" tIns="0" rIns="0" bIns="0" anchor="t">
            <a:noAutofit/>
          </a:bodyPr>
          <a:lstStyle/>
          <a:p>
            <a:pPr defTabSz="457200"/>
            <a:r>
              <a:rPr sz="1500" b="1">
                <a:solidFill>
                  <a:srgbClr val="C00000"/>
                </a:solidFill>
                <a:latin typeface="Microsoft YaHei"/>
                <a:ea typeface="Microsoft YaHei"/>
              </a:rPr>
              <a:t>分区管理｜checkpoint 池按意图划区，驱逐顺序由意图决定</a:t>
            </a:r>
          </a:p>
        </p:txBody>
      </p:sp>
      <p:sp>
        <p:nvSpPr>
          <p:cNvPr id="78" name="TextBox 77"/>
          <p:cNvSpPr txBox="1"/>
          <p:nvPr/>
        </p:nvSpPr>
        <p:spPr>
          <a:xfrm>
            <a:off x="812006" y="6098858"/>
            <a:ext cx="674370"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Page 7/8</a:t>
            </a:r>
          </a:p>
        </p:txBody>
      </p:sp>
      <p:sp>
        <p:nvSpPr>
          <p:cNvPr id="79" name="TextBox 78"/>
          <p:cNvSpPr txBox="1"/>
          <p:nvPr/>
        </p:nvSpPr>
        <p:spPr>
          <a:xfrm>
            <a:off x="1669256" y="6098858"/>
            <a:ext cx="1295876" cy="152400"/>
          </a:xfrm>
          <a:prstGeom prst="rect">
            <a:avLst/>
          </a:prstGeom>
          <a:noFill/>
        </p:spPr>
        <p:txBody>
          <a:bodyPr wrap="none" lIns="0" tIns="0" rIns="0" bIns="0" anchor="t">
            <a:noAutofit/>
          </a:bodyPr>
          <a:lstStyle/>
          <a:p>
            <a:pPr defTabSz="457200"/>
            <a:r>
              <a:rPr sz="900">
                <a:solidFill>
                  <a:srgbClr val="666666"/>
                </a:solidFill>
                <a:latin typeface="Microsoft YaHei"/>
                <a:ea typeface="Microsoft YaHei"/>
              </a:rPr>
              <a:t>Huawei Confidential</a:t>
            </a:r>
          </a:p>
        </p:txBody>
      </p:sp>
      <p:sp>
        <p:nvSpPr>
          <p:cNvPr id="77" name="文本框 76">
            <a:extLst>
              <a:ext uri="{FF2B5EF4-FFF2-40B4-BE49-F238E27FC236}">
                <a16:creationId xmlns:a16="http://schemas.microsoft.com/office/drawing/2014/main" id="{7600C2DE-AE9A-4BA9-AAB3-A258DEF1C4C2}"/>
              </a:ext>
            </a:extLst>
          </p:cNvPr>
          <p:cNvSpPr txBox="1"/>
          <p:nvPr/>
        </p:nvSpPr>
        <p:spPr>
          <a:xfrm>
            <a:off x="9428813" y="6221968"/>
            <a:ext cx="1678665"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刘韫聪</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a:t>
            </a:r>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李旭时</a:t>
            </a:r>
            <a:endParaRPr lang="zh-CN" altLang="en-US" dirty="0">
              <a:solidFill>
                <a:srgbClr val="FF0000"/>
              </a:solidFill>
              <a:highlight>
                <a:srgbClr val="FFFF00"/>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07" y="285751"/>
            <a:ext cx="4716035" cy="323165"/>
          </a:xfrm>
          <a:prstGeom prst="rect">
            <a:avLst/>
          </a:prstGeom>
          <a:noFill/>
        </p:spPr>
        <p:txBody>
          <a:bodyPr wrap="none" lIns="0" tIns="0" rIns="0" bIns="0" anchor="t">
            <a:spAutoFit/>
          </a:bodyPr>
          <a:lstStyle/>
          <a:p>
            <a:pPr defTabSz="457200"/>
            <a:r>
              <a:rPr sz="2100" b="1" dirty="0" err="1">
                <a:solidFill>
                  <a:srgbClr val="C00000"/>
                </a:solidFill>
                <a:latin typeface="微软雅黑"/>
                <a:ea typeface="微软雅黑"/>
              </a:rPr>
              <a:t>MoonEP</a:t>
            </a:r>
            <a:r>
              <a:rPr sz="2100" b="1" dirty="0">
                <a:solidFill>
                  <a:srgbClr val="C00000"/>
                </a:solidFill>
                <a:latin typeface="微软雅黑"/>
                <a:ea typeface="微软雅黑"/>
              </a:rPr>
              <a:t> ：</a:t>
            </a:r>
            <a:r>
              <a:rPr lang="zh-CN" altLang="en-US" sz="2100" b="1" dirty="0">
                <a:solidFill>
                  <a:srgbClr val="C00000"/>
                </a:solidFill>
                <a:latin typeface="微软雅黑"/>
                <a:ea typeface="微软雅黑"/>
              </a:rPr>
              <a:t>实时规划实现</a:t>
            </a:r>
            <a:r>
              <a:rPr sz="2100" b="1" dirty="0" err="1">
                <a:solidFill>
                  <a:srgbClr val="C00000"/>
                </a:solidFill>
                <a:latin typeface="微软雅黑"/>
                <a:ea typeface="微软雅黑"/>
              </a:rPr>
              <a:t>完美负载均衡</a:t>
            </a:r>
            <a:endParaRPr sz="2100" b="1" dirty="0">
              <a:solidFill>
                <a:srgbClr val="C00000"/>
              </a:solidFill>
              <a:latin typeface="微软雅黑"/>
              <a:ea typeface="微软雅黑"/>
            </a:endParaRPr>
          </a:p>
        </p:txBody>
      </p:sp>
      <p:sp>
        <p:nvSpPr>
          <p:cNvPr id="3" name="Rectangle 2"/>
          <p:cNvSpPr/>
          <p:nvPr/>
        </p:nvSpPr>
        <p:spPr>
          <a:xfrm>
            <a:off x="354806" y="781050"/>
            <a:ext cx="381000" cy="78867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4" name="TextBox 3"/>
          <p:cNvSpPr txBox="1"/>
          <p:nvPr/>
        </p:nvSpPr>
        <p:spPr>
          <a:xfrm>
            <a:off x="354806" y="842730"/>
            <a:ext cx="381000" cy="665310"/>
          </a:xfrm>
          <a:prstGeom prst="rect">
            <a:avLst/>
          </a:prstGeom>
          <a:noFill/>
        </p:spPr>
        <p:txBody>
          <a:bodyPr wrap="square" lIns="0" tIns="0" rIns="0" bIns="0" anchor="ctr">
            <a:spAutoFit/>
          </a:bodyPr>
          <a:lstStyle/>
          <a:p>
            <a:pPr algn="ctr" defTabSz="457200">
              <a:lnSpc>
                <a:spcPct val="110000"/>
              </a:lnSpc>
            </a:pPr>
            <a:r>
              <a:rPr sz="1000" b="1">
                <a:solidFill>
                  <a:srgbClr val="FFFFFF"/>
                </a:solidFill>
                <a:latin typeface="微软雅黑"/>
                <a:ea typeface="微软雅黑"/>
              </a:rPr>
              <a:t>核
心
思
想</a:t>
            </a:r>
          </a:p>
        </p:txBody>
      </p:sp>
      <p:sp>
        <p:nvSpPr>
          <p:cNvPr id="5" name="Rectangle 4"/>
          <p:cNvSpPr/>
          <p:nvPr/>
        </p:nvSpPr>
        <p:spPr>
          <a:xfrm>
            <a:off x="668338" y="519105"/>
            <a:ext cx="11121484" cy="78867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6" name="TextBox 5"/>
          <p:cNvSpPr txBox="1"/>
          <p:nvPr/>
        </p:nvSpPr>
        <p:spPr>
          <a:xfrm>
            <a:off x="850107" y="857250"/>
            <a:ext cx="5701121" cy="636270"/>
          </a:xfrm>
          <a:prstGeom prst="rect">
            <a:avLst/>
          </a:prstGeom>
          <a:noFill/>
        </p:spPr>
        <p:txBody>
          <a:bodyPr wrap="square" lIns="0" tIns="0" rIns="0" bIns="0" anchor="t">
            <a:spAutoFit/>
          </a:bodyPr>
          <a:lstStyle/>
          <a:p>
            <a:pPr defTabSz="457200">
              <a:lnSpc>
                <a:spcPct val="125000"/>
              </a:lnSpc>
              <a:spcAft>
                <a:spcPts val="300"/>
              </a:spcAft>
            </a:pPr>
            <a:r>
              <a:rPr sz="1000" b="1" dirty="0">
                <a:solidFill>
                  <a:srgbClr val="C00000"/>
                </a:solidFill>
                <a:latin typeface="微软雅黑"/>
                <a:ea typeface="微软雅黑"/>
              </a:rPr>
              <a:t>➢ </a:t>
            </a:r>
            <a:r>
              <a:rPr sz="1000" b="1" dirty="0" err="1">
                <a:solidFill>
                  <a:srgbClr val="1D1D1A"/>
                </a:solidFill>
                <a:latin typeface="微软雅黑"/>
                <a:ea typeface="微软雅黑"/>
              </a:rPr>
              <a:t>问题：</a:t>
            </a:r>
            <a:r>
              <a:rPr sz="1000" dirty="0" err="1">
                <a:solidFill>
                  <a:srgbClr val="1D1D1A"/>
                </a:solidFill>
                <a:latin typeface="微软雅黑"/>
                <a:ea typeface="微软雅黑"/>
              </a:rPr>
              <a:t>传统</a:t>
            </a:r>
            <a:r>
              <a:rPr sz="1000" dirty="0">
                <a:solidFill>
                  <a:srgbClr val="1D1D1A"/>
                </a:solidFill>
                <a:latin typeface="微软雅黑"/>
                <a:ea typeface="微软雅黑"/>
              </a:rPr>
              <a:t> EP token </a:t>
            </a:r>
            <a:r>
              <a:rPr sz="1000" dirty="0" err="1">
                <a:solidFill>
                  <a:srgbClr val="1D1D1A"/>
                </a:solidFill>
                <a:latin typeface="微软雅黑"/>
                <a:ea typeface="微软雅黑"/>
              </a:rPr>
              <a:t>负载在</a:t>
            </a:r>
            <a:r>
              <a:rPr sz="1000" dirty="0">
                <a:solidFill>
                  <a:srgbClr val="1D1D1A"/>
                </a:solidFill>
                <a:latin typeface="微软雅黑"/>
                <a:ea typeface="微软雅黑"/>
              </a:rPr>
              <a:t> rank </a:t>
            </a:r>
            <a:r>
              <a:rPr sz="1000" dirty="0" err="1">
                <a:solidFill>
                  <a:srgbClr val="1D1D1A"/>
                </a:solidFill>
                <a:latin typeface="微软雅黑"/>
                <a:ea typeface="微软雅黑"/>
              </a:rPr>
              <a:t>间不均衡，计算</a:t>
            </a:r>
            <a:r>
              <a:rPr lang="zh-CN" altLang="en-US" sz="1000" dirty="0">
                <a:solidFill>
                  <a:srgbClr val="1D1D1A"/>
                </a:solidFill>
                <a:latin typeface="微软雅黑"/>
                <a:ea typeface="微软雅黑"/>
              </a:rPr>
              <a:t>量分布</a:t>
            </a:r>
            <a:r>
              <a:rPr sz="1000" dirty="0" err="1">
                <a:solidFill>
                  <a:srgbClr val="1D1D1A"/>
                </a:solidFill>
                <a:latin typeface="微软雅黑"/>
                <a:ea typeface="微软雅黑"/>
              </a:rPr>
              <a:t>不均</a:t>
            </a:r>
            <a:r>
              <a:rPr lang="zh-CN" altLang="en-US" sz="1000" dirty="0">
                <a:solidFill>
                  <a:srgbClr val="1D1D1A"/>
                </a:solidFill>
                <a:latin typeface="微软雅黑"/>
                <a:ea typeface="微软雅黑"/>
              </a:rPr>
              <a:t>降低</a:t>
            </a:r>
            <a:r>
              <a:rPr sz="1000" dirty="0" err="1">
                <a:solidFill>
                  <a:srgbClr val="1D1D1A"/>
                </a:solidFill>
                <a:latin typeface="微软雅黑"/>
                <a:ea typeface="微软雅黑"/>
              </a:rPr>
              <a:t>吞吐，动态形状</a:t>
            </a:r>
            <a:r>
              <a:rPr lang="zh-CN" altLang="en-US" sz="1000" dirty="0">
                <a:solidFill>
                  <a:srgbClr val="1D1D1A"/>
                </a:solidFill>
                <a:latin typeface="微软雅黑"/>
                <a:ea typeface="微软雅黑"/>
              </a:rPr>
              <a:t>导</a:t>
            </a:r>
            <a:r>
              <a:rPr sz="1000" dirty="0" err="1">
                <a:solidFill>
                  <a:srgbClr val="1D1D1A"/>
                </a:solidFill>
                <a:latin typeface="微软雅黑"/>
                <a:ea typeface="微软雅黑"/>
              </a:rPr>
              <a:t>致内存碎片</a:t>
            </a:r>
            <a:endParaRPr sz="1000" dirty="0">
              <a:solidFill>
                <a:srgbClr val="1D1D1A"/>
              </a:solidFill>
              <a:latin typeface="微软雅黑"/>
              <a:ea typeface="微软雅黑"/>
            </a:endParaRPr>
          </a:p>
          <a:p>
            <a:pPr defTabSz="457200">
              <a:lnSpc>
                <a:spcPct val="125000"/>
              </a:lnSpc>
              <a:spcAft>
                <a:spcPts val="300"/>
              </a:spcAft>
            </a:pPr>
            <a:r>
              <a:rPr sz="1000" b="1" dirty="0">
                <a:solidFill>
                  <a:srgbClr val="C00000"/>
                </a:solidFill>
                <a:latin typeface="微软雅黑"/>
                <a:ea typeface="微软雅黑"/>
              </a:rPr>
              <a:t>➢ </a:t>
            </a:r>
            <a:r>
              <a:rPr sz="1000" b="1" dirty="0" err="1">
                <a:solidFill>
                  <a:srgbClr val="1D1D1A"/>
                </a:solidFill>
                <a:latin typeface="微软雅黑"/>
                <a:ea typeface="微软雅黑"/>
              </a:rPr>
              <a:t>思路：</a:t>
            </a:r>
            <a:r>
              <a:rPr sz="1000" dirty="0" err="1">
                <a:solidFill>
                  <a:srgbClr val="1D1D1A"/>
                </a:solidFill>
                <a:latin typeface="微软雅黑"/>
                <a:ea typeface="微软雅黑"/>
              </a:rPr>
              <a:t>借助</a:t>
            </a:r>
            <a:r>
              <a:rPr sz="1000" b="1" dirty="0" err="1">
                <a:solidFill>
                  <a:srgbClr val="1D1D1A"/>
                </a:solidFill>
                <a:latin typeface="微软雅黑"/>
                <a:ea typeface="微软雅黑"/>
              </a:rPr>
              <a:t>动态冗余专家</a:t>
            </a:r>
            <a:r>
              <a:rPr sz="1000" dirty="0" err="1">
                <a:solidFill>
                  <a:srgbClr val="1D1D1A"/>
                </a:solidFill>
                <a:latin typeface="微软雅黑"/>
                <a:ea typeface="微软雅黑"/>
              </a:rPr>
              <a:t>在线规划与迁移，实现"每</a:t>
            </a:r>
            <a:r>
              <a:rPr sz="1000" dirty="0">
                <a:solidFill>
                  <a:srgbClr val="1D1D1A"/>
                </a:solidFill>
                <a:latin typeface="微软雅黑"/>
                <a:ea typeface="微软雅黑"/>
              </a:rPr>
              <a:t> rank </a:t>
            </a:r>
            <a:r>
              <a:rPr sz="1000" dirty="0" err="1">
                <a:solidFill>
                  <a:srgbClr val="1D1D1A"/>
                </a:solidFill>
                <a:latin typeface="微软雅黑"/>
                <a:ea typeface="微软雅黑"/>
              </a:rPr>
              <a:t>恰好</a:t>
            </a:r>
            <a:r>
              <a:rPr sz="1000" dirty="0">
                <a:solidFill>
                  <a:srgbClr val="1D1D1A"/>
                </a:solidFill>
                <a:latin typeface="微软雅黑"/>
                <a:ea typeface="微软雅黑"/>
              </a:rPr>
              <a:t> </a:t>
            </a:r>
            <a:r>
              <a:rPr sz="1000" dirty="0" err="1">
                <a:solidFill>
                  <a:srgbClr val="C00000"/>
                </a:solidFill>
                <a:latin typeface="微软雅黑"/>
                <a:ea typeface="微软雅黑"/>
              </a:rPr>
              <a:t>S×K</a:t>
            </a:r>
            <a:r>
              <a:rPr sz="1000" dirty="0" err="1">
                <a:solidFill>
                  <a:srgbClr val="1D1D1A"/>
                </a:solidFill>
                <a:latin typeface="微软雅黑"/>
                <a:ea typeface="微软雅黑"/>
              </a:rPr>
              <a:t>"的完美</a:t>
            </a:r>
            <a:r>
              <a:rPr lang="zh-CN" altLang="en-US" sz="1000" dirty="0">
                <a:solidFill>
                  <a:srgbClr val="1D1D1A"/>
                </a:solidFill>
                <a:latin typeface="微软雅黑"/>
                <a:ea typeface="微软雅黑"/>
              </a:rPr>
              <a:t>负责</a:t>
            </a:r>
            <a:r>
              <a:rPr sz="1000" dirty="0" err="1">
                <a:solidFill>
                  <a:srgbClr val="1D1D1A"/>
                </a:solidFill>
                <a:latin typeface="微软雅黑"/>
                <a:ea typeface="微软雅黑"/>
              </a:rPr>
              <a:t>均衡</a:t>
            </a:r>
            <a:endParaRPr lang="zh-CN" altLang="en-US" sz="1000" dirty="0">
              <a:solidFill>
                <a:srgbClr val="1D1D1A"/>
              </a:solidFill>
              <a:latin typeface="微软雅黑"/>
              <a:ea typeface="微软雅黑"/>
            </a:endParaRPr>
          </a:p>
          <a:p>
            <a:pPr defTabSz="457200">
              <a:lnSpc>
                <a:spcPct val="125000"/>
              </a:lnSpc>
              <a:spcAft>
                <a:spcPts val="300"/>
              </a:spcAft>
            </a:pPr>
            <a:r>
              <a:rPr lang="zh-CN" altLang="en-US" sz="1000" b="1" dirty="0">
                <a:solidFill>
                  <a:srgbClr val="C00000"/>
                </a:solidFill>
                <a:latin typeface="微软雅黑"/>
                <a:ea typeface="微软雅黑"/>
              </a:rPr>
              <a:t>➢ </a:t>
            </a:r>
            <a:r>
              <a:rPr lang="zh-CN" altLang="en-US" sz="1000" b="1" dirty="0">
                <a:solidFill>
                  <a:srgbClr val="1D1D1A"/>
                </a:solidFill>
                <a:latin typeface="微软雅黑"/>
                <a:ea typeface="微软雅黑"/>
              </a:rPr>
              <a:t>结果：</a:t>
            </a:r>
            <a:r>
              <a:rPr lang="zh-CN" altLang="en-US" sz="1000" dirty="0">
                <a:solidFill>
                  <a:srgbClr val="1D1D1A"/>
                </a:solidFill>
                <a:latin typeface="微软雅黑"/>
                <a:ea typeface="微软雅黑"/>
              </a:rPr>
              <a:t>静态形状 </a:t>
            </a:r>
            <a:r>
              <a:rPr lang="en-US" altLang="zh-CN" sz="1000" dirty="0">
                <a:solidFill>
                  <a:srgbClr val="1D1D1A"/>
                </a:solidFill>
                <a:latin typeface="微软雅黑"/>
                <a:ea typeface="微软雅黑"/>
              </a:rPr>
              <a:t>+ </a:t>
            </a:r>
            <a:r>
              <a:rPr lang="zh-CN" altLang="en-US" sz="1000" dirty="0">
                <a:solidFill>
                  <a:srgbClr val="1D1D1A"/>
                </a:solidFill>
                <a:latin typeface="微软雅黑"/>
                <a:ea typeface="微软雅黑"/>
              </a:rPr>
              <a:t>零拷贝 → 消除逐层主机同步，通信缓冲固定 </a:t>
            </a:r>
            <a:r>
              <a:rPr lang="en-US" altLang="zh-CN" sz="1000" dirty="0">
                <a:solidFill>
                  <a:srgbClr val="C00000"/>
                </a:solidFill>
                <a:latin typeface="微软雅黑"/>
                <a:ea typeface="微软雅黑"/>
              </a:rPr>
              <a:t>S×K</a:t>
            </a:r>
            <a:r>
              <a:rPr lang="zh-CN" altLang="en-US" sz="1000" dirty="0">
                <a:solidFill>
                  <a:srgbClr val="1D1D1A"/>
                </a:solidFill>
                <a:latin typeface="微软雅黑"/>
                <a:ea typeface="微软雅黑"/>
              </a:rPr>
              <a:t>，训练不 </a:t>
            </a:r>
            <a:r>
              <a:rPr lang="en-US" altLang="zh-CN" sz="1000" dirty="0">
                <a:solidFill>
                  <a:srgbClr val="1D1D1A"/>
                </a:solidFill>
                <a:latin typeface="微软雅黑"/>
                <a:ea typeface="微软雅黑"/>
              </a:rPr>
              <a:t>OOM</a:t>
            </a:r>
          </a:p>
        </p:txBody>
      </p:sp>
      <p:sp>
        <p:nvSpPr>
          <p:cNvPr id="7" name="Rectangle 6"/>
          <p:cNvSpPr/>
          <p:nvPr/>
        </p:nvSpPr>
        <p:spPr>
          <a:xfrm>
            <a:off x="354806" y="1703070"/>
            <a:ext cx="6781800" cy="4850130"/>
          </a:xfrm>
          <a:prstGeom prst="rect">
            <a:avLst/>
          </a:prstGeom>
          <a:noFill/>
          <a:ln w="1270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8" name="Rectangle 7"/>
          <p:cNvSpPr/>
          <p:nvPr/>
        </p:nvSpPr>
        <p:spPr>
          <a:xfrm>
            <a:off x="2482452" y="1588770"/>
            <a:ext cx="2526506"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9" name="TextBox 8"/>
          <p:cNvSpPr txBox="1"/>
          <p:nvPr/>
        </p:nvSpPr>
        <p:spPr>
          <a:xfrm>
            <a:off x="2508187" y="1622279"/>
            <a:ext cx="2475037" cy="161583"/>
          </a:xfrm>
          <a:prstGeom prst="rect">
            <a:avLst/>
          </a:prstGeom>
          <a:noFill/>
        </p:spPr>
        <p:txBody>
          <a:bodyPr wrap="none" lIns="0" tIns="0" rIns="0" bIns="0" anchor="ctr">
            <a:spAutoFit/>
          </a:bodyPr>
          <a:lstStyle/>
          <a:p>
            <a:pPr algn="ctr" defTabSz="457200"/>
            <a:r>
              <a:rPr sz="1050" b="1" dirty="0" err="1">
                <a:solidFill>
                  <a:srgbClr val="C00000"/>
                </a:solidFill>
                <a:latin typeface="微软雅黑"/>
                <a:ea typeface="微软雅黑"/>
              </a:rPr>
              <a:t>MoonEP</a:t>
            </a:r>
            <a:r>
              <a:rPr sz="1050" b="1" dirty="0">
                <a:solidFill>
                  <a:srgbClr val="C00000"/>
                </a:solidFill>
                <a:latin typeface="微软雅黑"/>
                <a:ea typeface="微软雅黑"/>
              </a:rPr>
              <a:t> </a:t>
            </a:r>
            <a:r>
              <a:rPr sz="1050" b="1" dirty="0" err="1">
                <a:solidFill>
                  <a:srgbClr val="C00000"/>
                </a:solidFill>
                <a:latin typeface="微软雅黑"/>
                <a:ea typeface="微软雅黑"/>
              </a:rPr>
              <a:t>总体架构（单</a:t>
            </a:r>
            <a:r>
              <a:rPr sz="1050" b="1" dirty="0">
                <a:solidFill>
                  <a:srgbClr val="C00000"/>
                </a:solidFill>
                <a:latin typeface="微软雅黑"/>
                <a:ea typeface="微软雅黑"/>
              </a:rPr>
              <a:t> </a:t>
            </a:r>
            <a:r>
              <a:rPr sz="1050" b="1" dirty="0" err="1">
                <a:solidFill>
                  <a:srgbClr val="C00000"/>
                </a:solidFill>
                <a:latin typeface="微软雅黑"/>
                <a:ea typeface="微软雅黑"/>
              </a:rPr>
              <a:t>MoE</a:t>
            </a:r>
            <a:r>
              <a:rPr sz="1050" b="1" dirty="0">
                <a:solidFill>
                  <a:srgbClr val="C00000"/>
                </a:solidFill>
                <a:latin typeface="微软雅黑"/>
                <a:ea typeface="微软雅黑"/>
              </a:rPr>
              <a:t> 层 · </a:t>
            </a:r>
            <a:r>
              <a:rPr sz="1050" b="1" dirty="0" err="1">
                <a:solidFill>
                  <a:srgbClr val="C00000"/>
                </a:solidFill>
                <a:latin typeface="微软雅黑"/>
                <a:ea typeface="微软雅黑"/>
              </a:rPr>
              <a:t>前向</a:t>
            </a:r>
            <a:r>
              <a:rPr sz="1050" b="1" dirty="0">
                <a:solidFill>
                  <a:srgbClr val="C00000"/>
                </a:solidFill>
                <a:latin typeface="微软雅黑"/>
                <a:ea typeface="微软雅黑"/>
              </a:rPr>
              <a:t>）</a:t>
            </a:r>
          </a:p>
        </p:txBody>
      </p:sp>
      <p:sp>
        <p:nvSpPr>
          <p:cNvPr id="10" name="Rectangle 9"/>
          <p:cNvSpPr/>
          <p:nvPr/>
        </p:nvSpPr>
        <p:spPr>
          <a:xfrm>
            <a:off x="577056" y="1948339"/>
            <a:ext cx="4162424" cy="365125"/>
          </a:xfrm>
          <a:prstGeom prst="rect">
            <a:avLst/>
          </a:prstGeom>
          <a:solidFill>
            <a:srgbClr val="F2F2F2"/>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1" name="Rectangle 10"/>
          <p:cNvSpPr/>
          <p:nvPr/>
        </p:nvSpPr>
        <p:spPr>
          <a:xfrm>
            <a:off x="2165349" y="2021363"/>
            <a:ext cx="1332706" cy="182562"/>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2" name="Rectangle 11"/>
          <p:cNvSpPr/>
          <p:nvPr/>
        </p:nvSpPr>
        <p:spPr>
          <a:xfrm>
            <a:off x="3589337" y="2021363"/>
            <a:ext cx="1077118" cy="182562"/>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3" name="Rectangle 12"/>
          <p:cNvSpPr/>
          <p:nvPr/>
        </p:nvSpPr>
        <p:spPr>
          <a:xfrm>
            <a:off x="577056" y="2404745"/>
            <a:ext cx="4162424" cy="876300"/>
          </a:xfrm>
          <a:prstGeom prst="rect">
            <a:avLst/>
          </a:prstGeom>
          <a:solidFill>
            <a:srgbClr val="FCE0E6"/>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4" name="Rectangle 13"/>
          <p:cNvSpPr/>
          <p:nvPr/>
        </p:nvSpPr>
        <p:spPr>
          <a:xfrm>
            <a:off x="3644106" y="2441257"/>
            <a:ext cx="1022350" cy="14605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5" name="Rectangle 14"/>
          <p:cNvSpPr/>
          <p:nvPr/>
        </p:nvSpPr>
        <p:spPr>
          <a:xfrm>
            <a:off x="668337" y="2623821"/>
            <a:ext cx="912812" cy="547687"/>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6" name="Rectangle 15"/>
          <p:cNvSpPr/>
          <p:nvPr/>
        </p:nvSpPr>
        <p:spPr>
          <a:xfrm>
            <a:off x="1672431" y="2623821"/>
            <a:ext cx="912812" cy="547687"/>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7" name="Rectangle 16"/>
          <p:cNvSpPr/>
          <p:nvPr/>
        </p:nvSpPr>
        <p:spPr>
          <a:xfrm>
            <a:off x="2676524" y="2623821"/>
            <a:ext cx="912812" cy="547687"/>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8" name="Rectangle 17"/>
          <p:cNvSpPr/>
          <p:nvPr/>
        </p:nvSpPr>
        <p:spPr>
          <a:xfrm>
            <a:off x="3680618" y="2623821"/>
            <a:ext cx="912812" cy="547687"/>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9" name="Rectangle 18"/>
          <p:cNvSpPr/>
          <p:nvPr/>
        </p:nvSpPr>
        <p:spPr>
          <a:xfrm>
            <a:off x="4922044" y="2404746"/>
            <a:ext cx="2008187" cy="511175"/>
          </a:xfrm>
          <a:prstGeom prst="rect">
            <a:avLst/>
          </a:prstGeom>
          <a:solidFill>
            <a:srgbClr val="F2F2F2"/>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0" name="Rectangle 19"/>
          <p:cNvSpPr/>
          <p:nvPr/>
        </p:nvSpPr>
        <p:spPr>
          <a:xfrm>
            <a:off x="4922044" y="3007202"/>
            <a:ext cx="2008187" cy="693737"/>
          </a:xfrm>
          <a:prstGeom prst="rect">
            <a:avLst/>
          </a:prstGeom>
          <a:solidFill>
            <a:srgbClr val="FCE0E6"/>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1" name="Rectangle 20"/>
          <p:cNvSpPr/>
          <p:nvPr/>
        </p:nvSpPr>
        <p:spPr>
          <a:xfrm>
            <a:off x="577056" y="3372327"/>
            <a:ext cx="4162424" cy="949325"/>
          </a:xfrm>
          <a:prstGeom prst="rect">
            <a:avLst/>
          </a:prstGeom>
          <a:solidFill>
            <a:srgbClr val="FCE0E6"/>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2" name="Rectangle 21"/>
          <p:cNvSpPr/>
          <p:nvPr/>
        </p:nvSpPr>
        <p:spPr>
          <a:xfrm>
            <a:off x="3315493" y="3408838"/>
            <a:ext cx="1350962" cy="14605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3" name="Rectangle 22"/>
          <p:cNvSpPr/>
          <p:nvPr/>
        </p:nvSpPr>
        <p:spPr>
          <a:xfrm>
            <a:off x="2822574" y="3700938"/>
            <a:ext cx="328612" cy="182562"/>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4" name="Rectangle 23"/>
          <p:cNvSpPr/>
          <p:nvPr/>
        </p:nvSpPr>
        <p:spPr>
          <a:xfrm>
            <a:off x="3169443" y="3700938"/>
            <a:ext cx="328612" cy="182562"/>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5" name="Rectangle 24"/>
          <p:cNvSpPr/>
          <p:nvPr/>
        </p:nvSpPr>
        <p:spPr>
          <a:xfrm>
            <a:off x="3516312" y="3700938"/>
            <a:ext cx="328612" cy="182562"/>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6" name="Rectangle 25"/>
          <p:cNvSpPr/>
          <p:nvPr/>
        </p:nvSpPr>
        <p:spPr>
          <a:xfrm>
            <a:off x="3863181" y="3700938"/>
            <a:ext cx="328612" cy="182562"/>
          </a:xfrm>
          <a:prstGeom prst="rect">
            <a:avLst/>
          </a:prstGeom>
          <a:solidFill>
            <a:srgbClr val="FFFFFF"/>
          </a:solidFill>
          <a:ln w="762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7" name="Rectangle 26"/>
          <p:cNvSpPr/>
          <p:nvPr/>
        </p:nvSpPr>
        <p:spPr>
          <a:xfrm>
            <a:off x="4228306" y="3700938"/>
            <a:ext cx="200818" cy="182562"/>
          </a:xfrm>
          <a:prstGeom prst="rect">
            <a:avLst/>
          </a:prstGeom>
          <a:solidFill>
            <a:srgbClr val="FDEED2"/>
          </a:solidFill>
          <a:ln w="7620">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8" name="Rectangle 27"/>
          <p:cNvSpPr/>
          <p:nvPr/>
        </p:nvSpPr>
        <p:spPr>
          <a:xfrm>
            <a:off x="4447381" y="3700938"/>
            <a:ext cx="200818" cy="182562"/>
          </a:xfrm>
          <a:prstGeom prst="rect">
            <a:avLst/>
          </a:prstGeom>
          <a:solidFill>
            <a:srgbClr val="FDEED2"/>
          </a:solidFill>
          <a:ln w="7620">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29" name="Rectangle 28"/>
          <p:cNvSpPr/>
          <p:nvPr/>
        </p:nvSpPr>
        <p:spPr>
          <a:xfrm>
            <a:off x="577056" y="4412932"/>
            <a:ext cx="4162424" cy="438150"/>
          </a:xfrm>
          <a:prstGeom prst="rect">
            <a:avLst/>
          </a:prstGeom>
          <a:solidFill>
            <a:srgbClr val="F2F2F2"/>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0" name="Rectangle 29"/>
          <p:cNvSpPr/>
          <p:nvPr/>
        </p:nvSpPr>
        <p:spPr>
          <a:xfrm>
            <a:off x="3278982" y="4449445"/>
            <a:ext cx="1387475" cy="14605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1" name="Rectangle 30"/>
          <p:cNvSpPr/>
          <p:nvPr/>
        </p:nvSpPr>
        <p:spPr>
          <a:xfrm>
            <a:off x="577056" y="4942364"/>
            <a:ext cx="4162424" cy="693737"/>
          </a:xfrm>
          <a:prstGeom prst="rect">
            <a:avLst/>
          </a:prstGeom>
          <a:solidFill>
            <a:srgbClr val="FCE0E6"/>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2" name="Rectangle 31"/>
          <p:cNvSpPr/>
          <p:nvPr/>
        </p:nvSpPr>
        <p:spPr>
          <a:xfrm>
            <a:off x="577056" y="5727383"/>
            <a:ext cx="4162424" cy="273843"/>
          </a:xfrm>
          <a:prstGeom prst="rect">
            <a:avLst/>
          </a:prstGeom>
          <a:solidFill>
            <a:srgbClr val="F2F2F2"/>
          </a:solidFill>
          <a:ln w="9525">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33" name="Rectangle 32"/>
          <p:cNvSpPr/>
          <p:nvPr/>
        </p:nvSpPr>
        <p:spPr>
          <a:xfrm>
            <a:off x="577057" y="6092507"/>
            <a:ext cx="6353175" cy="292100"/>
          </a:xfrm>
          <a:prstGeom prst="rect">
            <a:avLst/>
          </a:prstGeom>
          <a:noFill/>
          <a:ln w="9525">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cxnSp>
        <p:nvCxnSpPr>
          <p:cNvPr id="34" name="Connector 33"/>
          <p:cNvCxnSpPr/>
          <p:nvPr/>
        </p:nvCxnSpPr>
        <p:spPr>
          <a:xfrm>
            <a:off x="2658268" y="2313464"/>
            <a:ext cx="0" cy="73025"/>
          </a:xfrm>
          <a:prstGeom prst="line">
            <a:avLst/>
          </a:prstGeom>
          <a:ln w="11429">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581150" y="2897663"/>
            <a:ext cx="73025" cy="0"/>
          </a:xfrm>
          <a:prstGeom prst="line">
            <a:avLst/>
          </a:prstGeom>
          <a:ln w="9525">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585244" y="2897663"/>
            <a:ext cx="73025" cy="0"/>
          </a:xfrm>
          <a:prstGeom prst="line">
            <a:avLst/>
          </a:prstGeom>
          <a:ln w="9525">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589338" y="2897663"/>
            <a:ext cx="73025" cy="0"/>
          </a:xfrm>
          <a:prstGeom prst="line">
            <a:avLst/>
          </a:prstGeom>
          <a:ln w="9525">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926137" y="2915921"/>
            <a:ext cx="0" cy="73025"/>
          </a:xfrm>
          <a:prstGeom prst="line">
            <a:avLst/>
          </a:prstGeom>
          <a:ln w="11429">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611687" y="3281046"/>
            <a:ext cx="292100" cy="219075"/>
          </a:xfrm>
          <a:prstGeom prst="line">
            <a:avLst/>
          </a:prstGeom>
          <a:ln w="9525">
            <a:solidFill>
              <a:srgbClr val="666666"/>
            </a:solidFill>
            <a:prstDash val="sysDot"/>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658268" y="3281046"/>
            <a:ext cx="0" cy="73025"/>
          </a:xfrm>
          <a:prstGeom prst="line">
            <a:avLst/>
          </a:prstGeom>
          <a:ln w="11429">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658268" y="4321652"/>
            <a:ext cx="0" cy="73025"/>
          </a:xfrm>
          <a:prstGeom prst="line">
            <a:avLst/>
          </a:prstGeom>
          <a:ln w="11429">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658268" y="4851083"/>
            <a:ext cx="0" cy="73025"/>
          </a:xfrm>
          <a:prstGeom prst="line">
            <a:avLst/>
          </a:prstGeom>
          <a:ln w="11429">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658268" y="5636102"/>
            <a:ext cx="0" cy="73025"/>
          </a:xfrm>
          <a:prstGeom prst="line">
            <a:avLst/>
          </a:prstGeom>
          <a:ln w="11429">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926137" y="3700939"/>
            <a:ext cx="0" cy="931069"/>
          </a:xfrm>
          <a:prstGeom prst="line">
            <a:avLst/>
          </a:prstGeom>
          <a:ln w="11429">
            <a:solidFill>
              <a:srgbClr val="1D1D1A"/>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a:cxnSpLocks/>
            <a:endCxn id="29" idx="3"/>
          </p:cNvCxnSpPr>
          <p:nvPr/>
        </p:nvCxnSpPr>
        <p:spPr>
          <a:xfrm flipH="1">
            <a:off x="4739480" y="4632007"/>
            <a:ext cx="1186658" cy="0"/>
          </a:xfrm>
          <a:prstGeom prst="line">
            <a:avLst/>
          </a:prstGeom>
          <a:ln w="11429">
            <a:solidFill>
              <a:srgbClr val="1D1D1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68338" y="2068831"/>
            <a:ext cx="1040349" cy="110479"/>
          </a:xfrm>
          <a:prstGeom prst="rect">
            <a:avLst/>
          </a:prstGeom>
          <a:noFill/>
        </p:spPr>
        <p:txBody>
          <a:bodyPr wrap="none" lIns="0" tIns="0" rIns="0" bIns="0" anchor="t">
            <a:spAutoFit/>
          </a:bodyPr>
          <a:lstStyle/>
          <a:p>
            <a:pPr defTabSz="457200"/>
            <a:r>
              <a:rPr sz="718" b="1">
                <a:solidFill>
                  <a:srgbClr val="1D1D1A"/>
                </a:solidFill>
                <a:latin typeface="微软雅黑"/>
                <a:ea typeface="微软雅黑"/>
              </a:rPr>
              <a:t>① 输入（每个 EP rank）</a:t>
            </a:r>
          </a:p>
        </p:txBody>
      </p:sp>
      <p:sp>
        <p:nvSpPr>
          <p:cNvPr id="47" name="TextBox 46"/>
          <p:cNvSpPr txBox="1"/>
          <p:nvPr/>
        </p:nvSpPr>
        <p:spPr>
          <a:xfrm>
            <a:off x="2206208" y="2052216"/>
            <a:ext cx="1016304" cy="99386"/>
          </a:xfrm>
          <a:prstGeom prst="rect">
            <a:avLst/>
          </a:prstGeom>
          <a:noFill/>
        </p:spPr>
        <p:txBody>
          <a:bodyPr wrap="none" lIns="0" tIns="0" rIns="0" bIns="0" anchor="t">
            <a:spAutoFit/>
          </a:bodyPr>
          <a:lstStyle/>
          <a:p>
            <a:pPr defTabSz="457200"/>
            <a:r>
              <a:rPr sz="646">
                <a:solidFill>
                  <a:srgbClr val="1D1D1A"/>
                </a:solidFill>
                <a:latin typeface="微软雅黑"/>
                <a:ea typeface="微软雅黑"/>
              </a:rPr>
              <a:t>token hidden states [S, H]</a:t>
            </a:r>
          </a:p>
        </p:txBody>
      </p:sp>
      <p:sp>
        <p:nvSpPr>
          <p:cNvPr id="48" name="TextBox 47"/>
          <p:cNvSpPr txBox="1"/>
          <p:nvPr/>
        </p:nvSpPr>
        <p:spPr>
          <a:xfrm>
            <a:off x="3750915" y="2052216"/>
            <a:ext cx="557845" cy="99386"/>
          </a:xfrm>
          <a:prstGeom prst="rect">
            <a:avLst/>
          </a:prstGeom>
          <a:noFill/>
        </p:spPr>
        <p:txBody>
          <a:bodyPr wrap="none" lIns="0" tIns="0" rIns="0" bIns="0" anchor="t">
            <a:spAutoFit/>
          </a:bodyPr>
          <a:lstStyle/>
          <a:p>
            <a:pPr defTabSz="457200"/>
            <a:r>
              <a:rPr sz="646">
                <a:solidFill>
                  <a:srgbClr val="1D1D1A"/>
                </a:solidFill>
                <a:latin typeface="微软雅黑"/>
                <a:ea typeface="微软雅黑"/>
              </a:rPr>
              <a:t>topk_idx [S, K]</a:t>
            </a:r>
          </a:p>
        </p:txBody>
      </p:sp>
      <p:sp>
        <p:nvSpPr>
          <p:cNvPr id="49" name="TextBox 48"/>
          <p:cNvSpPr txBox="1"/>
          <p:nvPr/>
        </p:nvSpPr>
        <p:spPr>
          <a:xfrm>
            <a:off x="2749549" y="2276677"/>
            <a:ext cx="351058" cy="93872"/>
          </a:xfrm>
          <a:prstGeom prst="rect">
            <a:avLst/>
          </a:prstGeom>
          <a:noFill/>
        </p:spPr>
        <p:txBody>
          <a:bodyPr wrap="none" lIns="0" tIns="0" rIns="0" bIns="0" anchor="t">
            <a:spAutoFit/>
          </a:bodyPr>
          <a:lstStyle/>
          <a:p>
            <a:pPr defTabSz="457200"/>
            <a:r>
              <a:rPr sz="610">
                <a:solidFill>
                  <a:srgbClr val="666666"/>
                </a:solidFill>
                <a:latin typeface="微软雅黑"/>
                <a:ea typeface="微软雅黑"/>
              </a:rPr>
              <a:t>topk 统计</a:t>
            </a:r>
          </a:p>
        </p:txBody>
      </p:sp>
      <p:sp>
        <p:nvSpPr>
          <p:cNvPr id="50" name="TextBox 49"/>
          <p:cNvSpPr txBox="1"/>
          <p:nvPr/>
        </p:nvSpPr>
        <p:spPr>
          <a:xfrm>
            <a:off x="668338" y="2432311"/>
            <a:ext cx="1814599" cy="121572"/>
          </a:xfrm>
          <a:prstGeom prst="rect">
            <a:avLst/>
          </a:prstGeom>
          <a:noFill/>
        </p:spPr>
        <p:txBody>
          <a:bodyPr wrap="none" lIns="0" tIns="0" rIns="0" bIns="0" anchor="t">
            <a:spAutoFit/>
          </a:bodyPr>
          <a:lstStyle/>
          <a:p>
            <a:pPr defTabSz="457200"/>
            <a:r>
              <a:rPr sz="790" b="1" dirty="0">
                <a:solidFill>
                  <a:srgbClr val="1D1D1A"/>
                </a:solidFill>
                <a:latin typeface="微软雅黑"/>
                <a:ea typeface="微软雅黑"/>
              </a:rPr>
              <a:t>② Planning：rank0 </a:t>
            </a:r>
            <a:r>
              <a:rPr sz="790" b="1" dirty="0" err="1">
                <a:solidFill>
                  <a:srgbClr val="1D1D1A"/>
                </a:solidFill>
                <a:latin typeface="微软雅黑"/>
                <a:ea typeface="微软雅黑"/>
              </a:rPr>
              <a:t>在线求解均衡方案</a:t>
            </a:r>
            <a:endParaRPr sz="790" b="1" dirty="0">
              <a:solidFill>
                <a:srgbClr val="1D1D1A"/>
              </a:solidFill>
              <a:latin typeface="微软雅黑"/>
              <a:ea typeface="微软雅黑"/>
            </a:endParaRPr>
          </a:p>
        </p:txBody>
      </p:sp>
      <p:sp>
        <p:nvSpPr>
          <p:cNvPr id="51" name="TextBox 50"/>
          <p:cNvSpPr txBox="1"/>
          <p:nvPr/>
        </p:nvSpPr>
        <p:spPr>
          <a:xfrm>
            <a:off x="3825538" y="2453854"/>
            <a:ext cx="607539" cy="99386"/>
          </a:xfrm>
          <a:prstGeom prst="rect">
            <a:avLst/>
          </a:prstGeom>
          <a:noFill/>
        </p:spPr>
        <p:txBody>
          <a:bodyPr wrap="none" lIns="0" tIns="0" rIns="0" bIns="0" anchor="t">
            <a:spAutoFit/>
          </a:bodyPr>
          <a:lstStyle/>
          <a:p>
            <a:pPr defTabSz="457200"/>
            <a:r>
              <a:rPr sz="646">
                <a:solidFill>
                  <a:srgbClr val="FFFFFF"/>
                </a:solidFill>
                <a:latin typeface="微软雅黑"/>
                <a:ea typeface="微软雅黑"/>
              </a:rPr>
              <a:t>优势① 动态冗余</a:t>
            </a:r>
          </a:p>
        </p:txBody>
      </p:sp>
      <p:sp>
        <p:nvSpPr>
          <p:cNvPr id="52" name="TextBox 51"/>
          <p:cNvSpPr txBox="1"/>
          <p:nvPr/>
        </p:nvSpPr>
        <p:spPr>
          <a:xfrm>
            <a:off x="817022" y="2660058"/>
            <a:ext cx="519373" cy="93872"/>
          </a:xfrm>
          <a:prstGeom prst="rect">
            <a:avLst/>
          </a:prstGeom>
          <a:noFill/>
        </p:spPr>
        <p:txBody>
          <a:bodyPr wrap="none" lIns="0" tIns="0" rIns="0" bIns="0" anchor="t">
            <a:spAutoFit/>
          </a:bodyPr>
          <a:lstStyle/>
          <a:p>
            <a:pPr defTabSz="457200"/>
            <a:r>
              <a:rPr sz="610" b="1">
                <a:solidFill>
                  <a:srgbClr val="1D1D1A"/>
                </a:solidFill>
                <a:latin typeface="微软雅黑"/>
                <a:ea typeface="微软雅黑"/>
              </a:rPr>
              <a:t>① tpe[E] 汇聚</a:t>
            </a:r>
          </a:p>
        </p:txBody>
      </p:sp>
      <p:sp>
        <p:nvSpPr>
          <p:cNvPr id="53" name="TextBox 52"/>
          <p:cNvSpPr txBox="1"/>
          <p:nvPr/>
        </p:nvSpPr>
        <p:spPr>
          <a:xfrm>
            <a:off x="782107" y="2778724"/>
            <a:ext cx="573875"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各专家 token 数</a:t>
            </a:r>
          </a:p>
        </p:txBody>
      </p:sp>
      <p:sp>
        <p:nvSpPr>
          <p:cNvPr id="54" name="TextBox 53"/>
          <p:cNvSpPr txBox="1"/>
          <p:nvPr/>
        </p:nvSpPr>
        <p:spPr>
          <a:xfrm>
            <a:off x="894610" y="2897389"/>
            <a:ext cx="341440"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allreduce</a:t>
            </a:r>
          </a:p>
        </p:txBody>
      </p:sp>
      <p:sp>
        <p:nvSpPr>
          <p:cNvPr id="55" name="TextBox 54"/>
          <p:cNvSpPr txBox="1"/>
          <p:nvPr/>
        </p:nvSpPr>
        <p:spPr>
          <a:xfrm>
            <a:off x="919827" y="3016055"/>
            <a:ext cx="312586"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到 rank0</a:t>
            </a:r>
          </a:p>
        </p:txBody>
      </p:sp>
      <p:sp>
        <p:nvSpPr>
          <p:cNvPr id="56" name="TextBox 55"/>
          <p:cNvSpPr txBox="1"/>
          <p:nvPr/>
        </p:nvSpPr>
        <p:spPr>
          <a:xfrm>
            <a:off x="1892886" y="2660058"/>
            <a:ext cx="416781" cy="93872"/>
          </a:xfrm>
          <a:prstGeom prst="rect">
            <a:avLst/>
          </a:prstGeom>
          <a:noFill/>
        </p:spPr>
        <p:txBody>
          <a:bodyPr wrap="none" lIns="0" tIns="0" rIns="0" bIns="0" anchor="t">
            <a:spAutoFit/>
          </a:bodyPr>
          <a:lstStyle/>
          <a:p>
            <a:pPr defTabSz="457200"/>
            <a:r>
              <a:rPr sz="610" b="1">
                <a:solidFill>
                  <a:srgbClr val="1D1D1A"/>
                </a:solidFill>
                <a:latin typeface="微软雅黑"/>
                <a:ea typeface="微软雅黑"/>
              </a:rPr>
              <a:t>② 贪心求解</a:t>
            </a:r>
          </a:p>
        </p:txBody>
      </p:sp>
      <p:sp>
        <p:nvSpPr>
          <p:cNvPr id="57" name="TextBox 56"/>
          <p:cNvSpPr txBox="1"/>
          <p:nvPr/>
        </p:nvSpPr>
        <p:spPr>
          <a:xfrm>
            <a:off x="1842453" y="2778724"/>
            <a:ext cx="468077"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balance 配额</a:t>
            </a:r>
          </a:p>
        </p:txBody>
      </p:sp>
      <p:sp>
        <p:nvSpPr>
          <p:cNvPr id="58" name="TextBox 57"/>
          <p:cNvSpPr txBox="1"/>
          <p:nvPr/>
        </p:nvSpPr>
        <p:spPr>
          <a:xfrm>
            <a:off x="1834694" y="2897389"/>
            <a:ext cx="439223"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 alloc[R,E]</a:t>
            </a:r>
          </a:p>
        </p:txBody>
      </p:sp>
      <p:sp>
        <p:nvSpPr>
          <p:cNvPr id="59" name="TextBox 58"/>
          <p:cNvSpPr txBox="1"/>
          <p:nvPr/>
        </p:nvSpPr>
        <p:spPr>
          <a:xfrm>
            <a:off x="1896764" y="3016055"/>
            <a:ext cx="392736"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盈余填缺口</a:t>
            </a:r>
          </a:p>
        </p:txBody>
      </p:sp>
      <p:sp>
        <p:nvSpPr>
          <p:cNvPr id="60" name="TextBox 59"/>
          <p:cNvSpPr txBox="1"/>
          <p:nvPr/>
        </p:nvSpPr>
        <p:spPr>
          <a:xfrm>
            <a:off x="2858184" y="2660058"/>
            <a:ext cx="495328" cy="93872"/>
          </a:xfrm>
          <a:prstGeom prst="rect">
            <a:avLst/>
          </a:prstGeom>
          <a:noFill/>
        </p:spPr>
        <p:txBody>
          <a:bodyPr wrap="none" lIns="0" tIns="0" rIns="0" bIns="0" anchor="t">
            <a:spAutoFit/>
          </a:bodyPr>
          <a:lstStyle/>
          <a:p>
            <a:pPr defTabSz="457200"/>
            <a:r>
              <a:rPr sz="610" b="1">
                <a:solidFill>
                  <a:srgbClr val="1D1D1A"/>
                </a:solidFill>
                <a:latin typeface="微软雅黑"/>
                <a:ea typeface="微软雅黑"/>
              </a:rPr>
              <a:t>③ 组播规划表</a:t>
            </a:r>
          </a:p>
        </p:txBody>
      </p:sp>
      <p:sp>
        <p:nvSpPr>
          <p:cNvPr id="61" name="TextBox 60"/>
          <p:cNvSpPr txBox="1"/>
          <p:nvPr/>
        </p:nvSpPr>
        <p:spPr>
          <a:xfrm>
            <a:off x="2838787" y="2778724"/>
            <a:ext cx="527388"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alloc_cumsum</a:t>
            </a:r>
          </a:p>
        </p:txBody>
      </p:sp>
      <p:sp>
        <p:nvSpPr>
          <p:cNvPr id="62" name="TextBox 61"/>
          <p:cNvSpPr txBox="1"/>
          <p:nvPr/>
        </p:nvSpPr>
        <p:spPr>
          <a:xfrm>
            <a:off x="2939653" y="2897389"/>
            <a:ext cx="314189"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一次广播</a:t>
            </a:r>
          </a:p>
        </p:txBody>
      </p:sp>
      <p:sp>
        <p:nvSpPr>
          <p:cNvPr id="63" name="TextBox 62"/>
          <p:cNvSpPr txBox="1"/>
          <p:nvPr/>
        </p:nvSpPr>
        <p:spPr>
          <a:xfrm>
            <a:off x="2871763" y="3016055"/>
            <a:ext cx="423193"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到全部 rank</a:t>
            </a:r>
          </a:p>
        </p:txBody>
      </p:sp>
      <p:sp>
        <p:nvSpPr>
          <p:cNvPr id="64" name="TextBox 63"/>
          <p:cNvSpPr txBox="1"/>
          <p:nvPr/>
        </p:nvSpPr>
        <p:spPr>
          <a:xfrm>
            <a:off x="3901073" y="2660058"/>
            <a:ext cx="416781" cy="93872"/>
          </a:xfrm>
          <a:prstGeom prst="rect">
            <a:avLst/>
          </a:prstGeom>
          <a:noFill/>
        </p:spPr>
        <p:txBody>
          <a:bodyPr wrap="none" lIns="0" tIns="0" rIns="0" bIns="0" anchor="t">
            <a:spAutoFit/>
          </a:bodyPr>
          <a:lstStyle/>
          <a:p>
            <a:pPr defTabSz="457200"/>
            <a:r>
              <a:rPr sz="610" b="1">
                <a:solidFill>
                  <a:srgbClr val="1D1D1A"/>
                </a:solidFill>
                <a:latin typeface="微软雅黑"/>
                <a:ea typeface="微软雅黑"/>
              </a:rPr>
              <a:t>④ 二分定址</a:t>
            </a:r>
          </a:p>
        </p:txBody>
      </p:sp>
      <p:sp>
        <p:nvSpPr>
          <p:cNvPr id="65" name="TextBox 64"/>
          <p:cNvSpPr txBox="1"/>
          <p:nvPr/>
        </p:nvSpPr>
        <p:spPr>
          <a:xfrm>
            <a:off x="3842881" y="2778724"/>
            <a:ext cx="503343"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dst=dest·NvS</a:t>
            </a:r>
          </a:p>
        </p:txBody>
      </p:sp>
      <p:sp>
        <p:nvSpPr>
          <p:cNvPr id="66" name="TextBox 65"/>
          <p:cNvSpPr txBox="1"/>
          <p:nvPr/>
        </p:nvSpPr>
        <p:spPr>
          <a:xfrm>
            <a:off x="3970902" y="2897389"/>
            <a:ext cx="205184"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 loff</a:t>
            </a:r>
          </a:p>
        </p:txBody>
      </p:sp>
      <p:sp>
        <p:nvSpPr>
          <p:cNvPr id="67" name="TextBox 66"/>
          <p:cNvSpPr txBox="1"/>
          <p:nvPr/>
        </p:nvSpPr>
        <p:spPr>
          <a:xfrm>
            <a:off x="3904952" y="3016055"/>
            <a:ext cx="392736"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得最终落位</a:t>
            </a:r>
          </a:p>
        </p:txBody>
      </p:sp>
      <p:sp>
        <p:nvSpPr>
          <p:cNvPr id="68" name="TextBox 67"/>
          <p:cNvSpPr txBox="1"/>
          <p:nvPr/>
        </p:nvSpPr>
        <p:spPr>
          <a:xfrm>
            <a:off x="668338" y="3152977"/>
            <a:ext cx="2638543" cy="93872"/>
          </a:xfrm>
          <a:prstGeom prst="rect">
            <a:avLst/>
          </a:prstGeom>
          <a:noFill/>
        </p:spPr>
        <p:txBody>
          <a:bodyPr wrap="none" lIns="0" tIns="0" rIns="0" bIns="0" anchor="t">
            <a:spAutoFit/>
          </a:bodyPr>
          <a:lstStyle/>
          <a:p>
            <a:pPr defTabSz="457200"/>
            <a:r>
              <a:rPr sz="610">
                <a:solidFill>
                  <a:srgbClr val="666666"/>
                </a:solidFill>
                <a:latin typeface="微软雅黑"/>
                <a:ea typeface="微软雅黑"/>
              </a:rPr>
              <a:t>产出：dst[N] · experts_to_copy[R,B] · cu_seqlens 段表 · 每 rank 恒收 S×K</a:t>
            </a:r>
          </a:p>
        </p:txBody>
      </p:sp>
      <p:sp>
        <p:nvSpPr>
          <p:cNvPr id="69" name="TextBox 68"/>
          <p:cNvSpPr txBox="1"/>
          <p:nvPr/>
        </p:nvSpPr>
        <p:spPr>
          <a:xfrm>
            <a:off x="5013325" y="2443084"/>
            <a:ext cx="548227" cy="110479"/>
          </a:xfrm>
          <a:prstGeom prst="rect">
            <a:avLst/>
          </a:prstGeom>
          <a:noFill/>
        </p:spPr>
        <p:txBody>
          <a:bodyPr wrap="none" lIns="0" tIns="0" rIns="0" bIns="0" anchor="t">
            <a:spAutoFit/>
          </a:bodyPr>
          <a:lstStyle/>
          <a:p>
            <a:pPr defTabSz="457200"/>
            <a:r>
              <a:rPr sz="718" b="1">
                <a:solidFill>
                  <a:srgbClr val="1D1D1A"/>
                </a:solidFill>
                <a:latin typeface="微软雅黑"/>
                <a:ea typeface="微软雅黑"/>
              </a:rPr>
              <a:t>对称权重内存</a:t>
            </a:r>
          </a:p>
        </p:txBody>
      </p:sp>
      <p:sp>
        <p:nvSpPr>
          <p:cNvPr id="70" name="TextBox 69"/>
          <p:cNvSpPr txBox="1"/>
          <p:nvPr/>
        </p:nvSpPr>
        <p:spPr>
          <a:xfrm>
            <a:off x="5013325" y="2587033"/>
            <a:ext cx="854401"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每 rank 持有 E/R 个专家</a:t>
            </a:r>
          </a:p>
        </p:txBody>
      </p:sp>
      <p:sp>
        <p:nvSpPr>
          <p:cNvPr id="71" name="TextBox 70"/>
          <p:cNvSpPr txBox="1"/>
          <p:nvPr/>
        </p:nvSpPr>
        <p:spPr>
          <a:xfrm>
            <a:off x="5013324" y="2714827"/>
            <a:ext cx="1074012"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所有 rank 互相可寻址（拉取）</a:t>
            </a:r>
          </a:p>
        </p:txBody>
      </p:sp>
      <p:sp>
        <p:nvSpPr>
          <p:cNvPr id="72" name="TextBox 71"/>
          <p:cNvSpPr txBox="1"/>
          <p:nvPr/>
        </p:nvSpPr>
        <p:spPr>
          <a:xfrm>
            <a:off x="5013325" y="3040154"/>
            <a:ext cx="947375" cy="116057"/>
          </a:xfrm>
          <a:prstGeom prst="rect">
            <a:avLst/>
          </a:prstGeom>
          <a:noFill/>
        </p:spPr>
        <p:txBody>
          <a:bodyPr wrap="none" lIns="0" tIns="0" rIns="0" bIns="0" anchor="t">
            <a:spAutoFit/>
          </a:bodyPr>
          <a:lstStyle/>
          <a:p>
            <a:pPr defTabSz="457200"/>
            <a:r>
              <a:rPr sz="754" b="1">
                <a:solidFill>
                  <a:srgbClr val="1D1D1A"/>
                </a:solidFill>
                <a:latin typeface="微软雅黑"/>
                <a:ea typeface="微软雅黑"/>
              </a:rPr>
              <a:t>③ Prefetch 权重预取</a:t>
            </a:r>
          </a:p>
        </p:txBody>
      </p:sp>
      <p:sp>
        <p:nvSpPr>
          <p:cNvPr id="73" name="TextBox 72"/>
          <p:cNvSpPr txBox="1"/>
          <p:nvPr/>
        </p:nvSpPr>
        <p:spPr>
          <a:xfrm>
            <a:off x="5013325" y="3189489"/>
            <a:ext cx="876843"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按 experts_to_copy[R,B]</a:t>
            </a:r>
          </a:p>
        </p:txBody>
      </p:sp>
      <p:sp>
        <p:nvSpPr>
          <p:cNvPr id="74" name="TextBox 73"/>
          <p:cNvSpPr txBox="1"/>
          <p:nvPr/>
        </p:nvSpPr>
        <p:spPr>
          <a:xfrm>
            <a:off x="5013324" y="3308155"/>
            <a:ext cx="916918"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从属主 rank 拉取热点专家</a:t>
            </a:r>
          </a:p>
        </p:txBody>
      </p:sp>
      <p:sp>
        <p:nvSpPr>
          <p:cNvPr id="75" name="TextBox 74"/>
          <p:cNvSpPr txBox="1"/>
          <p:nvPr/>
        </p:nvSpPr>
        <p:spPr>
          <a:xfrm>
            <a:off x="5013324" y="3426821"/>
            <a:ext cx="968214"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写入本 rank 冗余槽 [E,E+B)</a:t>
            </a:r>
          </a:p>
        </p:txBody>
      </p:sp>
      <p:sp>
        <p:nvSpPr>
          <p:cNvPr id="76" name="TextBox 75"/>
          <p:cNvSpPr txBox="1"/>
          <p:nvPr/>
        </p:nvSpPr>
        <p:spPr>
          <a:xfrm>
            <a:off x="5013324" y="3545486"/>
            <a:ext cx="984244"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与 Dispatch 并行 · 跨层复用</a:t>
            </a:r>
          </a:p>
        </p:txBody>
      </p:sp>
      <p:sp>
        <p:nvSpPr>
          <p:cNvPr id="77" name="TextBox 76"/>
          <p:cNvSpPr txBox="1"/>
          <p:nvPr/>
        </p:nvSpPr>
        <p:spPr>
          <a:xfrm>
            <a:off x="2749549" y="3238873"/>
            <a:ext cx="264496" cy="99386"/>
          </a:xfrm>
          <a:prstGeom prst="rect">
            <a:avLst/>
          </a:prstGeom>
          <a:noFill/>
        </p:spPr>
        <p:txBody>
          <a:bodyPr wrap="none" lIns="0" tIns="0" rIns="0" bIns="0" anchor="t">
            <a:spAutoFit/>
          </a:bodyPr>
          <a:lstStyle/>
          <a:p>
            <a:pPr defTabSz="457200"/>
            <a:r>
              <a:rPr sz="646" b="1">
                <a:solidFill>
                  <a:srgbClr val="C00000"/>
                </a:solidFill>
                <a:latin typeface="微软雅黑"/>
                <a:ea typeface="微软雅黑"/>
              </a:rPr>
              <a:t>dst[N]</a:t>
            </a:r>
          </a:p>
        </p:txBody>
      </p:sp>
      <p:sp>
        <p:nvSpPr>
          <p:cNvPr id="78" name="TextBox 77"/>
          <p:cNvSpPr txBox="1"/>
          <p:nvPr/>
        </p:nvSpPr>
        <p:spPr>
          <a:xfrm>
            <a:off x="668337" y="3399893"/>
            <a:ext cx="1524456" cy="121572"/>
          </a:xfrm>
          <a:prstGeom prst="rect">
            <a:avLst/>
          </a:prstGeom>
          <a:noFill/>
        </p:spPr>
        <p:txBody>
          <a:bodyPr wrap="none" lIns="0" tIns="0" rIns="0" bIns="0" anchor="t">
            <a:spAutoFit/>
          </a:bodyPr>
          <a:lstStyle/>
          <a:p>
            <a:pPr defTabSz="457200"/>
            <a:r>
              <a:rPr sz="790" b="1" dirty="0">
                <a:solidFill>
                  <a:srgbClr val="1D1D1A"/>
                </a:solidFill>
                <a:latin typeface="微软雅黑"/>
                <a:ea typeface="微软雅黑"/>
              </a:rPr>
              <a:t>④ </a:t>
            </a:r>
            <a:r>
              <a:rPr sz="790" b="1" dirty="0" err="1">
                <a:solidFill>
                  <a:srgbClr val="1D1D1A"/>
                </a:solidFill>
                <a:latin typeface="微软雅黑"/>
                <a:ea typeface="微软雅黑"/>
              </a:rPr>
              <a:t>Dispatch：零拷贝直写</a:t>
            </a:r>
            <a:r>
              <a:rPr sz="790" b="1" dirty="0">
                <a:solidFill>
                  <a:srgbClr val="1D1D1A"/>
                </a:solidFill>
                <a:latin typeface="微软雅黑"/>
                <a:ea typeface="微软雅黑"/>
              </a:rPr>
              <a:t> + </a:t>
            </a:r>
            <a:r>
              <a:rPr sz="790" b="1" dirty="0" err="1">
                <a:solidFill>
                  <a:srgbClr val="1D1D1A"/>
                </a:solidFill>
                <a:latin typeface="微软雅黑"/>
                <a:ea typeface="微软雅黑"/>
              </a:rPr>
              <a:t>去重</a:t>
            </a:r>
            <a:endParaRPr sz="790" b="1" dirty="0">
              <a:solidFill>
                <a:srgbClr val="1D1D1A"/>
              </a:solidFill>
              <a:latin typeface="微软雅黑"/>
              <a:ea typeface="微软雅黑"/>
            </a:endParaRPr>
          </a:p>
        </p:txBody>
      </p:sp>
      <p:sp>
        <p:nvSpPr>
          <p:cNvPr id="79" name="TextBox 78"/>
          <p:cNvSpPr txBox="1"/>
          <p:nvPr/>
        </p:nvSpPr>
        <p:spPr>
          <a:xfrm>
            <a:off x="3552379" y="3421435"/>
            <a:ext cx="758221" cy="99386"/>
          </a:xfrm>
          <a:prstGeom prst="rect">
            <a:avLst/>
          </a:prstGeom>
          <a:noFill/>
        </p:spPr>
        <p:txBody>
          <a:bodyPr wrap="none" lIns="0" tIns="0" rIns="0" bIns="0" anchor="t">
            <a:spAutoFit/>
          </a:bodyPr>
          <a:lstStyle/>
          <a:p>
            <a:pPr defTabSz="457200"/>
            <a:r>
              <a:rPr sz="646">
                <a:solidFill>
                  <a:srgbClr val="FFFFFF"/>
                </a:solidFill>
                <a:latin typeface="微软雅黑"/>
                <a:ea typeface="微软雅黑"/>
              </a:rPr>
              <a:t>优势② 零拷贝 · 去重</a:t>
            </a:r>
          </a:p>
        </p:txBody>
      </p:sp>
      <p:sp>
        <p:nvSpPr>
          <p:cNvPr id="80" name="TextBox 79"/>
          <p:cNvSpPr txBox="1"/>
          <p:nvPr/>
        </p:nvSpPr>
        <p:spPr>
          <a:xfrm>
            <a:off x="668337" y="3572871"/>
            <a:ext cx="1356140" cy="93872"/>
          </a:xfrm>
          <a:prstGeom prst="rect">
            <a:avLst/>
          </a:prstGeom>
          <a:noFill/>
        </p:spPr>
        <p:txBody>
          <a:bodyPr wrap="none" lIns="0" tIns="0" rIns="0" bIns="0" anchor="t">
            <a:spAutoFit/>
          </a:bodyPr>
          <a:lstStyle/>
          <a:p>
            <a:pPr defTabSz="457200"/>
            <a:r>
              <a:rPr sz="610" dirty="0" err="1">
                <a:solidFill>
                  <a:srgbClr val="1D1D1A"/>
                </a:solidFill>
                <a:latin typeface="微软雅黑"/>
                <a:ea typeface="微软雅黑"/>
              </a:rPr>
              <a:t>每个</a:t>
            </a:r>
            <a:r>
              <a:rPr sz="610" dirty="0">
                <a:solidFill>
                  <a:srgbClr val="1D1D1A"/>
                </a:solidFill>
                <a:latin typeface="微软雅黑"/>
                <a:ea typeface="微软雅黑"/>
              </a:rPr>
              <a:t> token </a:t>
            </a:r>
            <a:r>
              <a:rPr sz="610" dirty="0" err="1">
                <a:solidFill>
                  <a:srgbClr val="1D1D1A"/>
                </a:solidFill>
                <a:latin typeface="微软雅黑"/>
                <a:ea typeface="微软雅黑"/>
              </a:rPr>
              <a:t>副本按</a:t>
            </a:r>
            <a:r>
              <a:rPr sz="610" dirty="0">
                <a:solidFill>
                  <a:srgbClr val="1D1D1A"/>
                </a:solidFill>
                <a:latin typeface="微软雅黑"/>
                <a:ea typeface="微软雅黑"/>
              </a:rPr>
              <a:t> </a:t>
            </a:r>
            <a:r>
              <a:rPr sz="610" dirty="0" err="1">
                <a:solidFill>
                  <a:srgbClr val="1D1D1A"/>
                </a:solidFill>
                <a:latin typeface="微软雅黑"/>
                <a:ea typeface="微软雅黑"/>
              </a:rPr>
              <a:t>dst</a:t>
            </a:r>
            <a:r>
              <a:rPr sz="610" dirty="0">
                <a:solidFill>
                  <a:srgbClr val="1D1D1A"/>
                </a:solidFill>
                <a:latin typeface="微软雅黑"/>
                <a:ea typeface="微软雅黑"/>
              </a:rPr>
              <a:t>[i] </a:t>
            </a:r>
            <a:r>
              <a:rPr sz="610" dirty="0" err="1">
                <a:solidFill>
                  <a:srgbClr val="1D1D1A"/>
                </a:solidFill>
                <a:latin typeface="微软雅黑"/>
                <a:ea typeface="微软雅黑"/>
              </a:rPr>
              <a:t>一步写到目的</a:t>
            </a:r>
            <a:endParaRPr sz="610" dirty="0">
              <a:solidFill>
                <a:srgbClr val="1D1D1A"/>
              </a:solidFill>
              <a:latin typeface="微软雅黑"/>
              <a:ea typeface="微软雅黑"/>
            </a:endParaRPr>
          </a:p>
        </p:txBody>
      </p:sp>
      <p:sp>
        <p:nvSpPr>
          <p:cNvPr id="81" name="TextBox 80"/>
          <p:cNvSpPr txBox="1"/>
          <p:nvPr/>
        </p:nvSpPr>
        <p:spPr>
          <a:xfrm>
            <a:off x="668337" y="3691536"/>
            <a:ext cx="1428276"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rank 接收 buffer 的最终位置（按 expert</a:t>
            </a:r>
          </a:p>
        </p:txBody>
      </p:sp>
      <p:sp>
        <p:nvSpPr>
          <p:cNvPr id="82" name="TextBox 81"/>
          <p:cNvSpPr txBox="1"/>
          <p:nvPr/>
        </p:nvSpPr>
        <p:spPr>
          <a:xfrm>
            <a:off x="668338" y="3810202"/>
            <a:ext cx="1477969" cy="93872"/>
          </a:xfrm>
          <a:prstGeom prst="rect">
            <a:avLst/>
          </a:prstGeom>
          <a:noFill/>
        </p:spPr>
        <p:txBody>
          <a:bodyPr wrap="none" lIns="0" tIns="0" rIns="0" bIns="0" anchor="t">
            <a:spAutoFit/>
          </a:bodyPr>
          <a:lstStyle/>
          <a:p>
            <a:pPr defTabSz="457200"/>
            <a:r>
              <a:rPr sz="610" dirty="0" err="1">
                <a:solidFill>
                  <a:srgbClr val="1D1D1A"/>
                </a:solidFill>
                <a:latin typeface="微软雅黑"/>
                <a:ea typeface="微软雅黑"/>
              </a:rPr>
              <a:t>分组落位</a:t>
            </a:r>
            <a:r>
              <a:rPr sz="610" dirty="0">
                <a:solidFill>
                  <a:srgbClr val="1D1D1A"/>
                </a:solidFill>
                <a:latin typeface="微软雅黑"/>
                <a:ea typeface="微软雅黑"/>
              </a:rPr>
              <a:t>）—— 无 </a:t>
            </a:r>
            <a:r>
              <a:rPr sz="610" dirty="0" err="1">
                <a:solidFill>
                  <a:srgbClr val="1D1D1A"/>
                </a:solidFill>
                <a:latin typeface="微软雅黑"/>
                <a:ea typeface="微软雅黑"/>
              </a:rPr>
              <a:t>permute、无二次搬运</a:t>
            </a:r>
            <a:endParaRPr sz="610" dirty="0">
              <a:solidFill>
                <a:srgbClr val="1D1D1A"/>
              </a:solidFill>
              <a:latin typeface="微软雅黑"/>
              <a:ea typeface="微软雅黑"/>
            </a:endParaRPr>
          </a:p>
        </p:txBody>
      </p:sp>
      <p:sp>
        <p:nvSpPr>
          <p:cNvPr id="83" name="TextBox 82"/>
          <p:cNvSpPr txBox="1"/>
          <p:nvPr/>
        </p:nvSpPr>
        <p:spPr>
          <a:xfrm>
            <a:off x="668337" y="3928868"/>
            <a:ext cx="1412246"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去重：同一 token 发往同 rank 的多副本</a:t>
            </a:r>
          </a:p>
        </p:txBody>
      </p:sp>
      <p:sp>
        <p:nvSpPr>
          <p:cNvPr id="84" name="TextBox 83"/>
          <p:cNvSpPr txBox="1"/>
          <p:nvPr/>
        </p:nvSpPr>
        <p:spPr>
          <a:xfrm>
            <a:off x="668337" y="4047533"/>
            <a:ext cx="1543692" cy="93872"/>
          </a:xfrm>
          <a:prstGeom prst="rect">
            <a:avLst/>
          </a:prstGeom>
          <a:noFill/>
        </p:spPr>
        <p:txBody>
          <a:bodyPr wrap="none" lIns="0" tIns="0" rIns="0" bIns="0" anchor="t">
            <a:spAutoFit/>
          </a:bodyPr>
          <a:lstStyle/>
          <a:p>
            <a:pPr defTabSz="457200"/>
            <a:r>
              <a:rPr sz="610" dirty="0" err="1">
                <a:solidFill>
                  <a:srgbClr val="1D1D1A"/>
                </a:solidFill>
                <a:latin typeface="微软雅黑"/>
                <a:ea typeface="微软雅黑"/>
              </a:rPr>
              <a:t>只发一份，其余记</a:t>
            </a:r>
            <a:r>
              <a:rPr sz="610" dirty="0">
                <a:solidFill>
                  <a:srgbClr val="1D1D1A"/>
                </a:solidFill>
                <a:latin typeface="微软雅黑"/>
                <a:ea typeface="微软雅黑"/>
              </a:rPr>
              <a:t> -raw-1 待 Combine </a:t>
            </a:r>
            <a:r>
              <a:rPr sz="610" dirty="0" err="1">
                <a:solidFill>
                  <a:srgbClr val="1D1D1A"/>
                </a:solidFill>
                <a:latin typeface="微软雅黑"/>
                <a:ea typeface="微软雅黑"/>
              </a:rPr>
              <a:t>还原</a:t>
            </a:r>
            <a:endParaRPr sz="610" dirty="0">
              <a:solidFill>
                <a:srgbClr val="1D1D1A"/>
              </a:solidFill>
              <a:latin typeface="微软雅黑"/>
              <a:ea typeface="微软雅黑"/>
            </a:endParaRPr>
          </a:p>
        </p:txBody>
      </p:sp>
      <p:sp>
        <p:nvSpPr>
          <p:cNvPr id="85" name="TextBox 84"/>
          <p:cNvSpPr txBox="1"/>
          <p:nvPr/>
        </p:nvSpPr>
        <p:spPr>
          <a:xfrm>
            <a:off x="2822574" y="3554614"/>
            <a:ext cx="1319272" cy="93872"/>
          </a:xfrm>
          <a:prstGeom prst="rect">
            <a:avLst/>
          </a:prstGeom>
          <a:noFill/>
        </p:spPr>
        <p:txBody>
          <a:bodyPr wrap="none" lIns="0" tIns="0" rIns="0" bIns="0" anchor="t">
            <a:spAutoFit/>
          </a:bodyPr>
          <a:lstStyle/>
          <a:p>
            <a:pPr defTabSz="457200"/>
            <a:r>
              <a:rPr sz="610" b="1">
                <a:solidFill>
                  <a:srgbClr val="1D1D1A"/>
                </a:solidFill>
                <a:latin typeface="微软雅黑"/>
                <a:ea typeface="微软雅黑"/>
              </a:rPr>
              <a:t>接收 buffer [NvS,H] 按 expert 分组</a:t>
            </a:r>
          </a:p>
        </p:txBody>
      </p:sp>
      <p:sp>
        <p:nvSpPr>
          <p:cNvPr id="86" name="TextBox 85"/>
          <p:cNvSpPr txBox="1"/>
          <p:nvPr/>
        </p:nvSpPr>
        <p:spPr>
          <a:xfrm>
            <a:off x="2908617" y="3742563"/>
            <a:ext cx="84960" cy="88486"/>
          </a:xfrm>
          <a:prstGeom prst="rect">
            <a:avLst/>
          </a:prstGeom>
          <a:noFill/>
        </p:spPr>
        <p:txBody>
          <a:bodyPr wrap="none" lIns="0" tIns="0" rIns="0" bIns="0" anchor="t">
            <a:spAutoFit/>
          </a:bodyPr>
          <a:lstStyle/>
          <a:p>
            <a:pPr defTabSz="457200"/>
            <a:r>
              <a:rPr sz="575">
                <a:solidFill>
                  <a:srgbClr val="1D1D1A"/>
                </a:solidFill>
                <a:latin typeface="微软雅黑"/>
                <a:ea typeface="微软雅黑"/>
              </a:rPr>
              <a:t>e0</a:t>
            </a:r>
          </a:p>
        </p:txBody>
      </p:sp>
      <p:sp>
        <p:nvSpPr>
          <p:cNvPr id="87" name="TextBox 86"/>
          <p:cNvSpPr txBox="1"/>
          <p:nvPr/>
        </p:nvSpPr>
        <p:spPr>
          <a:xfrm>
            <a:off x="3255486" y="3742563"/>
            <a:ext cx="84960" cy="88486"/>
          </a:xfrm>
          <a:prstGeom prst="rect">
            <a:avLst/>
          </a:prstGeom>
          <a:noFill/>
        </p:spPr>
        <p:txBody>
          <a:bodyPr wrap="none" lIns="0" tIns="0" rIns="0" bIns="0" anchor="t">
            <a:spAutoFit/>
          </a:bodyPr>
          <a:lstStyle/>
          <a:p>
            <a:pPr defTabSz="457200"/>
            <a:r>
              <a:rPr sz="575">
                <a:solidFill>
                  <a:srgbClr val="1D1D1A"/>
                </a:solidFill>
                <a:latin typeface="微软雅黑"/>
                <a:ea typeface="微软雅黑"/>
              </a:rPr>
              <a:t>e1</a:t>
            </a:r>
          </a:p>
        </p:txBody>
      </p:sp>
      <p:sp>
        <p:nvSpPr>
          <p:cNvPr id="88" name="TextBox 87"/>
          <p:cNvSpPr txBox="1"/>
          <p:nvPr/>
        </p:nvSpPr>
        <p:spPr>
          <a:xfrm>
            <a:off x="3602354" y="3742563"/>
            <a:ext cx="84960" cy="88486"/>
          </a:xfrm>
          <a:prstGeom prst="rect">
            <a:avLst/>
          </a:prstGeom>
          <a:noFill/>
        </p:spPr>
        <p:txBody>
          <a:bodyPr wrap="none" lIns="0" tIns="0" rIns="0" bIns="0" anchor="t">
            <a:spAutoFit/>
          </a:bodyPr>
          <a:lstStyle/>
          <a:p>
            <a:pPr defTabSz="457200"/>
            <a:r>
              <a:rPr sz="575">
                <a:solidFill>
                  <a:srgbClr val="1D1D1A"/>
                </a:solidFill>
                <a:latin typeface="微软雅黑"/>
                <a:ea typeface="微软雅黑"/>
              </a:rPr>
              <a:t>e2</a:t>
            </a:r>
          </a:p>
        </p:txBody>
      </p:sp>
      <p:sp>
        <p:nvSpPr>
          <p:cNvPr id="89" name="TextBox 88"/>
          <p:cNvSpPr txBox="1"/>
          <p:nvPr/>
        </p:nvSpPr>
        <p:spPr>
          <a:xfrm>
            <a:off x="3949223" y="3742563"/>
            <a:ext cx="84960" cy="88486"/>
          </a:xfrm>
          <a:prstGeom prst="rect">
            <a:avLst/>
          </a:prstGeom>
          <a:noFill/>
        </p:spPr>
        <p:txBody>
          <a:bodyPr wrap="none" lIns="0" tIns="0" rIns="0" bIns="0" anchor="t">
            <a:spAutoFit/>
          </a:bodyPr>
          <a:lstStyle/>
          <a:p>
            <a:pPr defTabSz="457200"/>
            <a:r>
              <a:rPr sz="575">
                <a:solidFill>
                  <a:srgbClr val="1D1D1A"/>
                </a:solidFill>
                <a:latin typeface="微软雅黑"/>
                <a:ea typeface="微软雅黑"/>
              </a:rPr>
              <a:t>e3</a:t>
            </a:r>
          </a:p>
        </p:txBody>
      </p:sp>
      <p:sp>
        <p:nvSpPr>
          <p:cNvPr id="90" name="TextBox 89"/>
          <p:cNvSpPr txBox="1"/>
          <p:nvPr/>
        </p:nvSpPr>
        <p:spPr>
          <a:xfrm>
            <a:off x="4234021" y="3742563"/>
            <a:ext cx="190758" cy="88486"/>
          </a:xfrm>
          <a:prstGeom prst="rect">
            <a:avLst/>
          </a:prstGeom>
          <a:noFill/>
        </p:spPr>
        <p:txBody>
          <a:bodyPr wrap="none" lIns="0" tIns="0" rIns="0" bIns="0" anchor="t">
            <a:spAutoFit/>
          </a:bodyPr>
          <a:lstStyle/>
          <a:p>
            <a:pPr defTabSz="457200"/>
            <a:r>
              <a:rPr lang="zh-CN" altLang="en-US" sz="575" dirty="0">
                <a:solidFill>
                  <a:srgbClr val="C00000"/>
                </a:solidFill>
                <a:latin typeface="微软雅黑"/>
                <a:ea typeface="微软雅黑"/>
              </a:rPr>
              <a:t>冗余</a:t>
            </a:r>
            <a:r>
              <a:rPr sz="575" dirty="0">
                <a:solidFill>
                  <a:srgbClr val="C00000"/>
                </a:solidFill>
                <a:latin typeface="微软雅黑"/>
                <a:ea typeface="微软雅黑"/>
              </a:rPr>
              <a:t>0</a:t>
            </a:r>
          </a:p>
        </p:txBody>
      </p:sp>
      <p:sp>
        <p:nvSpPr>
          <p:cNvPr id="91" name="TextBox 90"/>
          <p:cNvSpPr txBox="1"/>
          <p:nvPr/>
        </p:nvSpPr>
        <p:spPr>
          <a:xfrm>
            <a:off x="4453096" y="3742563"/>
            <a:ext cx="190758" cy="88486"/>
          </a:xfrm>
          <a:prstGeom prst="rect">
            <a:avLst/>
          </a:prstGeom>
          <a:noFill/>
        </p:spPr>
        <p:txBody>
          <a:bodyPr wrap="none" lIns="0" tIns="0" rIns="0" bIns="0" anchor="t">
            <a:spAutoFit/>
          </a:bodyPr>
          <a:lstStyle/>
          <a:p>
            <a:pPr defTabSz="457200"/>
            <a:r>
              <a:rPr lang="zh-CN" altLang="en-US" sz="575" dirty="0">
                <a:solidFill>
                  <a:srgbClr val="C00000"/>
                </a:solidFill>
                <a:latin typeface="微软雅黑"/>
                <a:ea typeface="微软雅黑"/>
              </a:rPr>
              <a:t>冗余</a:t>
            </a:r>
            <a:r>
              <a:rPr sz="575" dirty="0">
                <a:solidFill>
                  <a:srgbClr val="C00000"/>
                </a:solidFill>
                <a:latin typeface="微软雅黑"/>
                <a:ea typeface="微软雅黑"/>
              </a:rPr>
              <a:t>1</a:t>
            </a:r>
          </a:p>
        </p:txBody>
      </p:sp>
      <p:sp>
        <p:nvSpPr>
          <p:cNvPr id="92" name="TextBox 91"/>
          <p:cNvSpPr txBox="1"/>
          <p:nvPr/>
        </p:nvSpPr>
        <p:spPr>
          <a:xfrm>
            <a:off x="2822575" y="3925125"/>
            <a:ext cx="1660711" cy="88486"/>
          </a:xfrm>
          <a:prstGeom prst="rect">
            <a:avLst/>
          </a:prstGeom>
          <a:noFill/>
        </p:spPr>
        <p:txBody>
          <a:bodyPr wrap="none" lIns="0" tIns="0" rIns="0" bIns="0" anchor="t">
            <a:spAutoFit/>
          </a:bodyPr>
          <a:lstStyle/>
          <a:p>
            <a:pPr defTabSz="457200"/>
            <a:r>
              <a:rPr sz="575">
                <a:solidFill>
                  <a:srgbClr val="666666"/>
                </a:solidFill>
                <a:latin typeface="微软雅黑"/>
                <a:ea typeface="微软雅黑"/>
              </a:rPr>
              <a:t>cu_seqlens[E+B] 段界 → grouped GEMM 按段算</a:t>
            </a:r>
          </a:p>
        </p:txBody>
      </p:sp>
      <p:sp>
        <p:nvSpPr>
          <p:cNvPr id="93" name="TextBox 92"/>
          <p:cNvSpPr txBox="1"/>
          <p:nvPr/>
        </p:nvSpPr>
        <p:spPr>
          <a:xfrm>
            <a:off x="2822575" y="4043791"/>
            <a:ext cx="1500411" cy="88486"/>
          </a:xfrm>
          <a:prstGeom prst="rect">
            <a:avLst/>
          </a:prstGeom>
          <a:noFill/>
        </p:spPr>
        <p:txBody>
          <a:bodyPr wrap="none" lIns="0" tIns="0" rIns="0" bIns="0" anchor="t">
            <a:spAutoFit/>
          </a:bodyPr>
          <a:lstStyle/>
          <a:p>
            <a:pPr defTabSz="457200"/>
            <a:r>
              <a:rPr sz="575">
                <a:solidFill>
                  <a:srgbClr val="666666"/>
                </a:solidFill>
                <a:latin typeface="微软雅黑"/>
                <a:ea typeface="微软雅黑"/>
              </a:rPr>
              <a:t>src_info[NvS] 记录每行来源（rank,token,k）</a:t>
            </a:r>
          </a:p>
        </p:txBody>
      </p:sp>
      <p:sp>
        <p:nvSpPr>
          <p:cNvPr id="94" name="TextBox 93"/>
          <p:cNvSpPr txBox="1"/>
          <p:nvPr/>
        </p:nvSpPr>
        <p:spPr>
          <a:xfrm>
            <a:off x="2822575" y="4162456"/>
            <a:ext cx="1471557" cy="88486"/>
          </a:xfrm>
          <a:prstGeom prst="rect">
            <a:avLst/>
          </a:prstGeom>
          <a:noFill/>
        </p:spPr>
        <p:txBody>
          <a:bodyPr wrap="none" lIns="0" tIns="0" rIns="0" bIns="0" anchor="t">
            <a:spAutoFit/>
          </a:bodyPr>
          <a:lstStyle/>
          <a:p>
            <a:pPr defTabSz="457200"/>
            <a:r>
              <a:rPr sz="575">
                <a:solidFill>
                  <a:srgbClr val="666666"/>
                </a:solidFill>
                <a:latin typeface="微软雅黑"/>
                <a:ea typeface="微软雅黑"/>
              </a:rPr>
              <a:t>冗余槽 [E,E+B)：B=E/R 为上界（数学可证）</a:t>
            </a:r>
          </a:p>
        </p:txBody>
      </p:sp>
      <p:sp>
        <p:nvSpPr>
          <p:cNvPr id="95" name="TextBox 94"/>
          <p:cNvSpPr txBox="1"/>
          <p:nvPr/>
        </p:nvSpPr>
        <p:spPr>
          <a:xfrm>
            <a:off x="2749550" y="4284864"/>
            <a:ext cx="966611" cy="93872"/>
          </a:xfrm>
          <a:prstGeom prst="rect">
            <a:avLst/>
          </a:prstGeom>
          <a:noFill/>
        </p:spPr>
        <p:txBody>
          <a:bodyPr wrap="none" lIns="0" tIns="0" rIns="0" bIns="0" anchor="t">
            <a:spAutoFit/>
          </a:bodyPr>
          <a:lstStyle/>
          <a:p>
            <a:pPr defTabSz="457200"/>
            <a:r>
              <a:rPr sz="610">
                <a:solidFill>
                  <a:srgbClr val="666666"/>
                </a:solidFill>
                <a:latin typeface="微软雅黑"/>
                <a:ea typeface="微软雅黑"/>
              </a:rPr>
              <a:t>recv [NvS,H] + cu_seqlens</a:t>
            </a:r>
          </a:p>
        </p:txBody>
      </p:sp>
      <p:sp>
        <p:nvSpPr>
          <p:cNvPr id="96" name="TextBox 95"/>
          <p:cNvSpPr txBox="1"/>
          <p:nvPr/>
        </p:nvSpPr>
        <p:spPr>
          <a:xfrm>
            <a:off x="668337" y="4440499"/>
            <a:ext cx="1952458" cy="121572"/>
          </a:xfrm>
          <a:prstGeom prst="rect">
            <a:avLst/>
          </a:prstGeom>
          <a:noFill/>
        </p:spPr>
        <p:txBody>
          <a:bodyPr wrap="none" lIns="0" tIns="0" rIns="0" bIns="0" anchor="t">
            <a:spAutoFit/>
          </a:bodyPr>
          <a:lstStyle/>
          <a:p>
            <a:pPr defTabSz="457200"/>
            <a:r>
              <a:rPr sz="790" b="1">
                <a:solidFill>
                  <a:srgbClr val="1D1D1A"/>
                </a:solidFill>
                <a:latin typeface="微软雅黑"/>
                <a:ea typeface="微软雅黑"/>
              </a:rPr>
              <a:t>⑤ 专家 GEMM（grouped，按段表计算）</a:t>
            </a:r>
          </a:p>
        </p:txBody>
      </p:sp>
      <p:sp>
        <p:nvSpPr>
          <p:cNvPr id="97" name="TextBox 96"/>
          <p:cNvSpPr txBox="1"/>
          <p:nvPr/>
        </p:nvSpPr>
        <p:spPr>
          <a:xfrm>
            <a:off x="3369815" y="4462041"/>
            <a:ext cx="1186222" cy="99386"/>
          </a:xfrm>
          <a:prstGeom prst="rect">
            <a:avLst/>
          </a:prstGeom>
          <a:noFill/>
        </p:spPr>
        <p:txBody>
          <a:bodyPr wrap="none" lIns="0" tIns="0" rIns="0" bIns="0" anchor="t">
            <a:spAutoFit/>
          </a:bodyPr>
          <a:lstStyle/>
          <a:p>
            <a:pPr defTabSz="457200"/>
            <a:r>
              <a:rPr sz="646" dirty="0" err="1">
                <a:solidFill>
                  <a:srgbClr val="FFFFFF"/>
                </a:solidFill>
                <a:latin typeface="微软雅黑"/>
                <a:ea typeface="微软雅黑"/>
              </a:rPr>
              <a:t>优势</a:t>
            </a:r>
            <a:r>
              <a:rPr sz="646" dirty="0">
                <a:solidFill>
                  <a:srgbClr val="FFFFFF"/>
                </a:solidFill>
                <a:latin typeface="微软雅黑"/>
                <a:ea typeface="微软雅黑"/>
              </a:rPr>
              <a:t>③ </a:t>
            </a:r>
            <a:r>
              <a:rPr sz="646" dirty="0" err="1">
                <a:solidFill>
                  <a:srgbClr val="FFFFFF"/>
                </a:solidFill>
                <a:latin typeface="微软雅黑"/>
                <a:ea typeface="微软雅黑"/>
              </a:rPr>
              <a:t>静态形状</a:t>
            </a:r>
            <a:r>
              <a:rPr sz="646" dirty="0">
                <a:solidFill>
                  <a:srgbClr val="FFFFFF"/>
                </a:solidFill>
                <a:latin typeface="微软雅黑"/>
                <a:ea typeface="微软雅黑"/>
              </a:rPr>
              <a:t> · </a:t>
            </a:r>
            <a:r>
              <a:rPr sz="646" dirty="0" err="1">
                <a:solidFill>
                  <a:srgbClr val="FFFFFF"/>
                </a:solidFill>
                <a:latin typeface="微软雅黑"/>
                <a:ea typeface="微软雅黑"/>
              </a:rPr>
              <a:t>零</a:t>
            </a:r>
            <a:r>
              <a:rPr lang="en-US" sz="646" dirty="0" err="1">
                <a:solidFill>
                  <a:srgbClr val="FFFFFF"/>
                </a:solidFill>
                <a:latin typeface="微软雅黑"/>
                <a:ea typeface="微软雅黑"/>
              </a:rPr>
              <a:t>host</a:t>
            </a:r>
            <a:r>
              <a:rPr lang="zh-CN" altLang="en-US" sz="646" dirty="0">
                <a:solidFill>
                  <a:srgbClr val="FFFFFF"/>
                </a:solidFill>
                <a:latin typeface="微软雅黑"/>
                <a:ea typeface="微软雅黑"/>
              </a:rPr>
              <a:t>侧</a:t>
            </a:r>
            <a:r>
              <a:rPr sz="646" dirty="0" err="1">
                <a:solidFill>
                  <a:srgbClr val="FFFFFF"/>
                </a:solidFill>
                <a:latin typeface="微软雅黑"/>
                <a:ea typeface="微软雅黑"/>
              </a:rPr>
              <a:t>同步</a:t>
            </a:r>
            <a:endParaRPr sz="646" dirty="0">
              <a:solidFill>
                <a:srgbClr val="FFFFFF"/>
              </a:solidFill>
              <a:latin typeface="微软雅黑"/>
              <a:ea typeface="微软雅黑"/>
            </a:endParaRPr>
          </a:p>
        </p:txBody>
      </p:sp>
      <p:sp>
        <p:nvSpPr>
          <p:cNvPr id="98" name="TextBox 97"/>
          <p:cNvSpPr txBox="1"/>
          <p:nvPr/>
        </p:nvSpPr>
        <p:spPr>
          <a:xfrm>
            <a:off x="668337" y="4595221"/>
            <a:ext cx="2115964"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段 [0,E) ＝ 本地专家权重 · 段 [E,E+B) ＝ 预取就位的冗余专家</a:t>
            </a:r>
          </a:p>
        </p:txBody>
      </p:sp>
      <p:sp>
        <p:nvSpPr>
          <p:cNvPr id="99" name="TextBox 98"/>
          <p:cNvSpPr txBox="1"/>
          <p:nvPr/>
        </p:nvSpPr>
        <p:spPr>
          <a:xfrm>
            <a:off x="668337" y="4713886"/>
            <a:ext cx="2627322" cy="93872"/>
          </a:xfrm>
          <a:prstGeom prst="rect">
            <a:avLst/>
          </a:prstGeom>
          <a:noFill/>
        </p:spPr>
        <p:txBody>
          <a:bodyPr wrap="none" lIns="0" tIns="0" rIns="0" bIns="0" anchor="t">
            <a:spAutoFit/>
          </a:bodyPr>
          <a:lstStyle/>
          <a:p>
            <a:pPr defTabSz="457200"/>
            <a:r>
              <a:rPr sz="610" dirty="0" err="1">
                <a:solidFill>
                  <a:srgbClr val="1D1D1A"/>
                </a:solidFill>
                <a:latin typeface="微软雅黑"/>
                <a:ea typeface="微软雅黑"/>
              </a:rPr>
              <a:t>输入恒为</a:t>
            </a:r>
            <a:r>
              <a:rPr sz="610" dirty="0">
                <a:solidFill>
                  <a:srgbClr val="1D1D1A"/>
                </a:solidFill>
                <a:latin typeface="微软雅黑"/>
                <a:ea typeface="微软雅黑"/>
              </a:rPr>
              <a:t> [</a:t>
            </a:r>
            <a:r>
              <a:rPr sz="610" dirty="0" err="1">
                <a:solidFill>
                  <a:srgbClr val="1D1D1A"/>
                </a:solidFill>
                <a:latin typeface="微软雅黑"/>
                <a:ea typeface="微软雅黑"/>
              </a:rPr>
              <a:t>NvS,H</a:t>
            </a:r>
            <a:r>
              <a:rPr sz="610" dirty="0">
                <a:solidFill>
                  <a:srgbClr val="1D1D1A"/>
                </a:solidFill>
                <a:latin typeface="微软雅黑"/>
                <a:ea typeface="微软雅黑"/>
              </a:rPr>
              <a:t>]，</a:t>
            </a:r>
            <a:r>
              <a:rPr sz="610" dirty="0" err="1">
                <a:solidFill>
                  <a:srgbClr val="1D1D1A"/>
                </a:solidFill>
                <a:latin typeface="微软雅黑"/>
                <a:ea typeface="微软雅黑"/>
              </a:rPr>
              <a:t>形状在</a:t>
            </a:r>
            <a:r>
              <a:rPr sz="610" dirty="0">
                <a:solidFill>
                  <a:srgbClr val="1D1D1A"/>
                </a:solidFill>
                <a:latin typeface="微软雅黑"/>
                <a:ea typeface="微软雅黑"/>
              </a:rPr>
              <a:t> Buffer </a:t>
            </a:r>
            <a:r>
              <a:rPr sz="610" dirty="0" err="1">
                <a:solidFill>
                  <a:srgbClr val="1D1D1A"/>
                </a:solidFill>
                <a:latin typeface="微软雅黑"/>
                <a:ea typeface="微软雅黑"/>
              </a:rPr>
              <a:t>构建时固定，</a:t>
            </a:r>
            <a:r>
              <a:rPr lang="en-US" sz="610" dirty="0" err="1">
                <a:solidFill>
                  <a:srgbClr val="1D1D1A"/>
                </a:solidFill>
                <a:latin typeface="微软雅黑"/>
                <a:ea typeface="微软雅黑"/>
              </a:rPr>
              <a:t>host</a:t>
            </a:r>
            <a:r>
              <a:rPr sz="610" dirty="0" err="1">
                <a:solidFill>
                  <a:srgbClr val="1D1D1A"/>
                </a:solidFill>
                <a:latin typeface="微软雅黑"/>
                <a:ea typeface="微软雅黑"/>
              </a:rPr>
              <a:t>启动</a:t>
            </a:r>
            <a:r>
              <a:rPr lang="en-US" altLang="zh-CN" sz="610" dirty="0" err="1">
                <a:solidFill>
                  <a:srgbClr val="1D1D1A"/>
                </a:solidFill>
                <a:latin typeface="微软雅黑"/>
                <a:ea typeface="微软雅黑"/>
              </a:rPr>
              <a:t>kernel</a:t>
            </a:r>
            <a:r>
              <a:rPr sz="610" dirty="0" err="1">
                <a:solidFill>
                  <a:srgbClr val="1D1D1A"/>
                </a:solidFill>
                <a:latin typeface="微软雅黑"/>
                <a:ea typeface="微软雅黑"/>
              </a:rPr>
              <a:t>无需问</a:t>
            </a:r>
            <a:r>
              <a:rPr sz="610" dirty="0">
                <a:solidFill>
                  <a:srgbClr val="1D1D1A"/>
                </a:solidFill>
                <a:latin typeface="微软雅黑"/>
                <a:ea typeface="微软雅黑"/>
              </a:rPr>
              <a:t> GPU</a:t>
            </a:r>
          </a:p>
        </p:txBody>
      </p:sp>
      <p:sp>
        <p:nvSpPr>
          <p:cNvPr id="100" name="TextBox 99"/>
          <p:cNvSpPr txBox="1"/>
          <p:nvPr/>
        </p:nvSpPr>
        <p:spPr>
          <a:xfrm>
            <a:off x="5999163" y="3998150"/>
            <a:ext cx="294953" cy="88486"/>
          </a:xfrm>
          <a:prstGeom prst="rect">
            <a:avLst/>
          </a:prstGeom>
          <a:noFill/>
        </p:spPr>
        <p:txBody>
          <a:bodyPr wrap="none" lIns="0" tIns="0" rIns="0" bIns="0" anchor="t">
            <a:spAutoFit/>
          </a:bodyPr>
          <a:lstStyle/>
          <a:p>
            <a:pPr defTabSz="457200"/>
            <a:r>
              <a:rPr sz="575">
                <a:solidFill>
                  <a:srgbClr val="666666"/>
                </a:solidFill>
                <a:latin typeface="微软雅黑"/>
                <a:ea typeface="微软雅黑"/>
              </a:rPr>
              <a:t>冗余专家</a:t>
            </a:r>
          </a:p>
        </p:txBody>
      </p:sp>
      <p:sp>
        <p:nvSpPr>
          <p:cNvPr id="101" name="TextBox 100"/>
          <p:cNvSpPr txBox="1"/>
          <p:nvPr/>
        </p:nvSpPr>
        <p:spPr>
          <a:xfrm>
            <a:off x="5999163" y="4107687"/>
            <a:ext cx="294953" cy="88486"/>
          </a:xfrm>
          <a:prstGeom prst="rect">
            <a:avLst/>
          </a:prstGeom>
          <a:noFill/>
        </p:spPr>
        <p:txBody>
          <a:bodyPr wrap="none" lIns="0" tIns="0" rIns="0" bIns="0" anchor="t">
            <a:spAutoFit/>
          </a:bodyPr>
          <a:lstStyle/>
          <a:p>
            <a:pPr defTabSz="457200"/>
            <a:r>
              <a:rPr sz="575">
                <a:solidFill>
                  <a:srgbClr val="666666"/>
                </a:solidFill>
                <a:latin typeface="微软雅黑"/>
                <a:ea typeface="微软雅黑"/>
              </a:rPr>
              <a:t>权重就绪</a:t>
            </a:r>
          </a:p>
        </p:txBody>
      </p:sp>
      <p:sp>
        <p:nvSpPr>
          <p:cNvPr id="102" name="TextBox 101"/>
          <p:cNvSpPr txBox="1"/>
          <p:nvPr/>
        </p:nvSpPr>
        <p:spPr>
          <a:xfrm>
            <a:off x="2749550" y="4814296"/>
            <a:ext cx="722955" cy="93872"/>
          </a:xfrm>
          <a:prstGeom prst="rect">
            <a:avLst/>
          </a:prstGeom>
          <a:noFill/>
        </p:spPr>
        <p:txBody>
          <a:bodyPr wrap="none" lIns="0" tIns="0" rIns="0" bIns="0" anchor="t">
            <a:spAutoFit/>
          </a:bodyPr>
          <a:lstStyle/>
          <a:p>
            <a:pPr defTabSz="457200"/>
            <a:r>
              <a:rPr sz="610">
                <a:solidFill>
                  <a:srgbClr val="666666"/>
                </a:solidFill>
                <a:latin typeface="微软雅黑"/>
                <a:ea typeface="微软雅黑"/>
              </a:rPr>
              <a:t>expert 输出 [NvS,H]</a:t>
            </a:r>
          </a:p>
        </p:txBody>
      </p:sp>
      <p:sp>
        <p:nvSpPr>
          <p:cNvPr id="103" name="TextBox 102"/>
          <p:cNvSpPr txBox="1"/>
          <p:nvPr/>
        </p:nvSpPr>
        <p:spPr>
          <a:xfrm>
            <a:off x="668337" y="4969930"/>
            <a:ext cx="2125582" cy="121572"/>
          </a:xfrm>
          <a:prstGeom prst="rect">
            <a:avLst/>
          </a:prstGeom>
          <a:noFill/>
        </p:spPr>
        <p:txBody>
          <a:bodyPr wrap="none" lIns="0" tIns="0" rIns="0" bIns="0" anchor="t">
            <a:spAutoFit/>
          </a:bodyPr>
          <a:lstStyle/>
          <a:p>
            <a:pPr defTabSz="457200"/>
            <a:r>
              <a:rPr sz="790" b="1" dirty="0">
                <a:solidFill>
                  <a:srgbClr val="1D1D1A"/>
                </a:solidFill>
                <a:latin typeface="微软雅黑"/>
                <a:ea typeface="微软雅黑"/>
              </a:rPr>
              <a:t>⑥ </a:t>
            </a:r>
            <a:r>
              <a:rPr sz="790" b="1" dirty="0" err="1">
                <a:solidFill>
                  <a:srgbClr val="1D1D1A"/>
                </a:solidFill>
                <a:latin typeface="微软雅黑"/>
                <a:ea typeface="微软雅黑"/>
              </a:rPr>
              <a:t>Combine：本地加和</a:t>
            </a:r>
            <a:r>
              <a:rPr sz="790" b="1" dirty="0">
                <a:solidFill>
                  <a:srgbClr val="1D1D1A"/>
                </a:solidFill>
                <a:latin typeface="微软雅黑"/>
                <a:ea typeface="微软雅黑"/>
              </a:rPr>
              <a:t> → </a:t>
            </a:r>
            <a:r>
              <a:rPr sz="790" b="1" dirty="0" err="1">
                <a:solidFill>
                  <a:srgbClr val="1D1D1A"/>
                </a:solidFill>
                <a:latin typeface="微软雅黑"/>
                <a:ea typeface="微软雅黑"/>
              </a:rPr>
              <a:t>远端取回</a:t>
            </a:r>
            <a:r>
              <a:rPr sz="790" b="1" dirty="0">
                <a:solidFill>
                  <a:srgbClr val="1D1D1A"/>
                </a:solidFill>
                <a:latin typeface="微软雅黑"/>
                <a:ea typeface="微软雅黑"/>
              </a:rPr>
              <a:t> → K </a:t>
            </a:r>
            <a:r>
              <a:rPr sz="790" b="1" dirty="0" err="1">
                <a:solidFill>
                  <a:srgbClr val="1D1D1A"/>
                </a:solidFill>
                <a:latin typeface="微软雅黑"/>
                <a:ea typeface="微软雅黑"/>
              </a:rPr>
              <a:t>求和</a:t>
            </a:r>
            <a:endParaRPr sz="790" b="1" dirty="0">
              <a:solidFill>
                <a:srgbClr val="1D1D1A"/>
              </a:solidFill>
              <a:latin typeface="微软雅黑"/>
              <a:ea typeface="微软雅黑"/>
            </a:endParaRPr>
          </a:p>
        </p:txBody>
      </p:sp>
      <p:sp>
        <p:nvSpPr>
          <p:cNvPr id="104" name="TextBox 103"/>
          <p:cNvSpPr txBox="1"/>
          <p:nvPr/>
        </p:nvSpPr>
        <p:spPr>
          <a:xfrm>
            <a:off x="668337" y="5142908"/>
            <a:ext cx="2370842"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① 冗余槽结果按 dup 三表（dup_groups/dup_loffs/dup_counts）</a:t>
            </a:r>
          </a:p>
        </p:txBody>
      </p:sp>
      <p:sp>
        <p:nvSpPr>
          <p:cNvPr id="105" name="TextBox 104"/>
          <p:cNvSpPr txBox="1"/>
          <p:nvPr/>
        </p:nvSpPr>
        <p:spPr>
          <a:xfrm>
            <a:off x="668337" y="5261574"/>
            <a:ext cx="1434688"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本地加和到 primary 槽（去重的逆过程）</a:t>
            </a:r>
          </a:p>
        </p:txBody>
      </p:sp>
      <p:sp>
        <p:nvSpPr>
          <p:cNvPr id="106" name="TextBox 105"/>
          <p:cNvSpPr txBox="1"/>
          <p:nvPr/>
        </p:nvSpPr>
        <p:spPr>
          <a:xfrm>
            <a:off x="668337" y="5380239"/>
            <a:ext cx="2354812" cy="93872"/>
          </a:xfrm>
          <a:prstGeom prst="rect">
            <a:avLst/>
          </a:prstGeom>
          <a:noFill/>
        </p:spPr>
        <p:txBody>
          <a:bodyPr wrap="none" lIns="0" tIns="0" rIns="0" bIns="0" anchor="t">
            <a:spAutoFit/>
          </a:bodyPr>
          <a:lstStyle/>
          <a:p>
            <a:pPr defTabSz="457200"/>
            <a:r>
              <a:rPr sz="610" dirty="0">
                <a:solidFill>
                  <a:srgbClr val="1D1D1A"/>
                </a:solidFill>
                <a:latin typeface="微软雅黑"/>
                <a:ea typeface="微软雅黑"/>
              </a:rPr>
              <a:t>② 按 </a:t>
            </a:r>
            <a:r>
              <a:rPr sz="610" dirty="0" err="1">
                <a:solidFill>
                  <a:srgbClr val="1D1D1A"/>
                </a:solidFill>
                <a:latin typeface="微软雅黑"/>
                <a:ea typeface="微软雅黑"/>
              </a:rPr>
              <a:t>dst</a:t>
            </a:r>
            <a:r>
              <a:rPr sz="610" dirty="0">
                <a:solidFill>
                  <a:srgbClr val="1D1D1A"/>
                </a:solidFill>
                <a:latin typeface="微软雅黑"/>
                <a:ea typeface="微软雅黑"/>
              </a:rPr>
              <a:t> </a:t>
            </a:r>
            <a:r>
              <a:rPr sz="610" dirty="0" err="1">
                <a:solidFill>
                  <a:srgbClr val="1D1D1A"/>
                </a:solidFill>
                <a:latin typeface="微软雅黑"/>
                <a:ea typeface="微软雅黑"/>
              </a:rPr>
              <a:t>表从各源</a:t>
            </a:r>
            <a:r>
              <a:rPr sz="610" dirty="0">
                <a:solidFill>
                  <a:srgbClr val="1D1D1A"/>
                </a:solidFill>
                <a:latin typeface="微软雅黑"/>
                <a:ea typeface="微软雅黑"/>
              </a:rPr>
              <a:t> rank </a:t>
            </a:r>
            <a:r>
              <a:rPr sz="610" dirty="0" err="1">
                <a:solidFill>
                  <a:srgbClr val="1D1D1A"/>
                </a:solidFill>
                <a:latin typeface="微软雅黑"/>
                <a:ea typeface="微软雅黑"/>
              </a:rPr>
              <a:t>取回</a:t>
            </a:r>
            <a:r>
              <a:rPr sz="610" dirty="0">
                <a:solidFill>
                  <a:srgbClr val="1D1D1A"/>
                </a:solidFill>
                <a:latin typeface="微软雅黑"/>
                <a:ea typeface="微软雅黑"/>
              </a:rPr>
              <a:t> primary </a:t>
            </a:r>
            <a:r>
              <a:rPr sz="610" dirty="0" err="1">
                <a:solidFill>
                  <a:srgbClr val="1D1D1A"/>
                </a:solidFill>
                <a:latin typeface="微软雅黑"/>
                <a:ea typeface="微软雅黑"/>
              </a:rPr>
              <a:t>结果</a:t>
            </a:r>
            <a:r>
              <a:rPr sz="610" dirty="0">
                <a:solidFill>
                  <a:srgbClr val="1D1D1A"/>
                </a:solidFill>
                <a:latin typeface="微软雅黑"/>
                <a:ea typeface="微软雅黑"/>
              </a:rPr>
              <a:t>（＝ Dispatch </a:t>
            </a:r>
            <a:r>
              <a:rPr sz="610" dirty="0" err="1">
                <a:solidFill>
                  <a:srgbClr val="1D1D1A"/>
                </a:solidFill>
                <a:latin typeface="微软雅黑"/>
                <a:ea typeface="微软雅黑"/>
              </a:rPr>
              <a:t>的逆向</a:t>
            </a:r>
            <a:r>
              <a:rPr sz="610" dirty="0">
                <a:solidFill>
                  <a:srgbClr val="1D1D1A"/>
                </a:solidFill>
                <a:latin typeface="微软雅黑"/>
                <a:ea typeface="微软雅黑"/>
              </a:rPr>
              <a:t>）</a:t>
            </a:r>
          </a:p>
        </p:txBody>
      </p:sp>
      <p:sp>
        <p:nvSpPr>
          <p:cNvPr id="107" name="TextBox 106"/>
          <p:cNvSpPr txBox="1"/>
          <p:nvPr/>
        </p:nvSpPr>
        <p:spPr>
          <a:xfrm>
            <a:off x="668337" y="5498905"/>
            <a:ext cx="2144818" cy="93872"/>
          </a:xfrm>
          <a:prstGeom prst="rect">
            <a:avLst/>
          </a:prstGeom>
          <a:noFill/>
        </p:spPr>
        <p:txBody>
          <a:bodyPr wrap="none" lIns="0" tIns="0" rIns="0" bIns="0" anchor="t">
            <a:spAutoFit/>
          </a:bodyPr>
          <a:lstStyle/>
          <a:p>
            <a:pPr defTabSz="457200"/>
            <a:r>
              <a:rPr sz="610" dirty="0">
                <a:solidFill>
                  <a:srgbClr val="1D1D1A"/>
                </a:solidFill>
                <a:latin typeface="微软雅黑"/>
                <a:ea typeface="微软雅黑"/>
              </a:rPr>
              <a:t>③ </a:t>
            </a:r>
            <a:r>
              <a:rPr sz="610" dirty="0" err="1">
                <a:solidFill>
                  <a:srgbClr val="1D1D1A"/>
                </a:solidFill>
                <a:latin typeface="微软雅黑"/>
                <a:ea typeface="微软雅黑"/>
              </a:rPr>
              <a:t>同一</a:t>
            </a:r>
            <a:r>
              <a:rPr sz="610" dirty="0">
                <a:solidFill>
                  <a:srgbClr val="1D1D1A"/>
                </a:solidFill>
                <a:latin typeface="微软雅黑"/>
                <a:ea typeface="微软雅黑"/>
              </a:rPr>
              <a:t> token 的 K </a:t>
            </a:r>
            <a:r>
              <a:rPr sz="610" dirty="0" err="1">
                <a:solidFill>
                  <a:srgbClr val="1D1D1A"/>
                </a:solidFill>
                <a:latin typeface="微软雅黑"/>
                <a:ea typeface="微软雅黑"/>
              </a:rPr>
              <a:t>个副本加权求和，还原</a:t>
            </a:r>
            <a:r>
              <a:rPr sz="610" dirty="0">
                <a:solidFill>
                  <a:srgbClr val="1D1D1A"/>
                </a:solidFill>
                <a:latin typeface="微软雅黑"/>
                <a:ea typeface="微软雅黑"/>
              </a:rPr>
              <a:t> token-major </a:t>
            </a:r>
            <a:r>
              <a:rPr sz="610" dirty="0" err="1">
                <a:solidFill>
                  <a:srgbClr val="1D1D1A"/>
                </a:solidFill>
                <a:latin typeface="微软雅黑"/>
                <a:ea typeface="微软雅黑"/>
              </a:rPr>
              <a:t>布局</a:t>
            </a:r>
            <a:endParaRPr sz="610" dirty="0">
              <a:solidFill>
                <a:srgbClr val="1D1D1A"/>
              </a:solidFill>
              <a:latin typeface="微软雅黑"/>
              <a:ea typeface="微软雅黑"/>
            </a:endParaRPr>
          </a:p>
        </p:txBody>
      </p:sp>
      <p:sp>
        <p:nvSpPr>
          <p:cNvPr id="108" name="TextBox 107"/>
          <p:cNvSpPr txBox="1"/>
          <p:nvPr/>
        </p:nvSpPr>
        <p:spPr>
          <a:xfrm>
            <a:off x="668338" y="5796848"/>
            <a:ext cx="317395" cy="116057"/>
          </a:xfrm>
          <a:prstGeom prst="rect">
            <a:avLst/>
          </a:prstGeom>
          <a:noFill/>
        </p:spPr>
        <p:txBody>
          <a:bodyPr wrap="none" lIns="0" tIns="0" rIns="0" bIns="0" anchor="t">
            <a:spAutoFit/>
          </a:bodyPr>
          <a:lstStyle/>
          <a:p>
            <a:pPr defTabSz="457200"/>
            <a:r>
              <a:rPr sz="754" b="1">
                <a:solidFill>
                  <a:srgbClr val="1D1D1A"/>
                </a:solidFill>
                <a:latin typeface="微软雅黑"/>
                <a:ea typeface="微软雅黑"/>
              </a:rPr>
              <a:t>⑦ 输出</a:t>
            </a:r>
          </a:p>
        </p:txBody>
      </p:sp>
      <p:sp>
        <p:nvSpPr>
          <p:cNvPr id="109" name="TextBox 108"/>
          <p:cNvSpPr txBox="1"/>
          <p:nvPr/>
        </p:nvSpPr>
        <p:spPr>
          <a:xfrm>
            <a:off x="1161256" y="5802234"/>
            <a:ext cx="2454198" cy="110479"/>
          </a:xfrm>
          <a:prstGeom prst="rect">
            <a:avLst/>
          </a:prstGeom>
          <a:noFill/>
        </p:spPr>
        <p:txBody>
          <a:bodyPr wrap="none" lIns="0" tIns="0" rIns="0" bIns="0" anchor="t">
            <a:spAutoFit/>
          </a:bodyPr>
          <a:lstStyle/>
          <a:p>
            <a:pPr defTabSz="457200"/>
            <a:r>
              <a:rPr sz="718">
                <a:solidFill>
                  <a:srgbClr val="1D1D1A"/>
                </a:solidFill>
                <a:latin typeface="微软雅黑"/>
                <a:ea typeface="微软雅黑"/>
              </a:rPr>
              <a:t>tokens [S, H] —— 与本层输入布局一致，直接送入后续计算</a:t>
            </a:r>
          </a:p>
        </p:txBody>
      </p:sp>
      <p:sp>
        <p:nvSpPr>
          <p:cNvPr id="110" name="TextBox 109"/>
          <p:cNvSpPr txBox="1"/>
          <p:nvPr/>
        </p:nvSpPr>
        <p:spPr>
          <a:xfrm>
            <a:off x="668338" y="6128746"/>
            <a:ext cx="1570943" cy="93872"/>
          </a:xfrm>
          <a:prstGeom prst="rect">
            <a:avLst/>
          </a:prstGeom>
          <a:noFill/>
        </p:spPr>
        <p:txBody>
          <a:bodyPr wrap="none" lIns="0" tIns="0" rIns="0" bIns="0" anchor="t">
            <a:spAutoFit/>
          </a:bodyPr>
          <a:lstStyle/>
          <a:p>
            <a:pPr defTabSz="457200"/>
            <a:r>
              <a:rPr sz="610" b="1">
                <a:solidFill>
                  <a:srgbClr val="C00000"/>
                </a:solidFill>
                <a:latin typeface="微软雅黑"/>
                <a:ea typeface="微软雅黑"/>
              </a:rPr>
              <a:t>训练反向（对称复用同一规划，零额外求解）</a:t>
            </a:r>
          </a:p>
        </p:txBody>
      </p:sp>
      <p:sp>
        <p:nvSpPr>
          <p:cNvPr id="111" name="TextBox 110"/>
          <p:cNvSpPr txBox="1"/>
          <p:nvPr/>
        </p:nvSpPr>
        <p:spPr>
          <a:xfrm>
            <a:off x="668338" y="6247411"/>
            <a:ext cx="5169685" cy="93872"/>
          </a:xfrm>
          <a:prstGeom prst="rect">
            <a:avLst/>
          </a:prstGeom>
          <a:noFill/>
        </p:spPr>
        <p:txBody>
          <a:bodyPr wrap="none" lIns="0" tIns="0" rIns="0" bIns="0" anchor="t">
            <a:spAutoFit/>
          </a:bodyPr>
          <a:lstStyle/>
          <a:p>
            <a:pPr defTabSz="457200"/>
            <a:r>
              <a:rPr sz="610">
                <a:solidFill>
                  <a:srgbClr val="1D1D1A"/>
                </a:solidFill>
                <a:latin typeface="微软雅黑"/>
                <a:ea typeface="微软雅黑"/>
              </a:rPr>
              <a:t>Combine 反向 ＝ Dispatch 前向（梯度按 dst 散布）· Dispatch 反向 ＝ Combine 前向 · Prefetch 反向 ＝ 冗余专家梯度归约回属主 rank、槽位清零</a:t>
            </a:r>
          </a:p>
        </p:txBody>
      </p:sp>
      <p:sp>
        <p:nvSpPr>
          <p:cNvPr id="112" name="Rectangle 111"/>
          <p:cNvSpPr/>
          <p:nvPr/>
        </p:nvSpPr>
        <p:spPr>
          <a:xfrm>
            <a:off x="7294786" y="898379"/>
            <a:ext cx="4572000" cy="1285283"/>
          </a:xfrm>
          <a:prstGeom prst="rect">
            <a:avLst/>
          </a:prstGeom>
          <a:noFill/>
          <a:ln w="1270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13" name="Rectangle 112"/>
          <p:cNvSpPr/>
          <p:nvPr/>
        </p:nvSpPr>
        <p:spPr>
          <a:xfrm>
            <a:off x="8945944" y="784078"/>
            <a:ext cx="1269682"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14" name="TextBox 113"/>
          <p:cNvSpPr txBox="1"/>
          <p:nvPr/>
        </p:nvSpPr>
        <p:spPr>
          <a:xfrm>
            <a:off x="9311481" y="817587"/>
            <a:ext cx="538609" cy="161583"/>
          </a:xfrm>
          <a:prstGeom prst="rect">
            <a:avLst/>
          </a:prstGeom>
          <a:noFill/>
        </p:spPr>
        <p:txBody>
          <a:bodyPr wrap="none" lIns="0" tIns="0" rIns="0" bIns="0" anchor="ctr">
            <a:spAutoFit/>
          </a:bodyPr>
          <a:lstStyle/>
          <a:p>
            <a:pPr algn="ctr" defTabSz="457200"/>
            <a:r>
              <a:rPr lang="zh-CN" altLang="en-US" sz="1050" b="1" dirty="0">
                <a:solidFill>
                  <a:srgbClr val="C00000"/>
                </a:solidFill>
                <a:latin typeface="微软雅黑"/>
                <a:ea typeface="微软雅黑"/>
              </a:rPr>
              <a:t>主体</a:t>
            </a:r>
            <a:r>
              <a:rPr sz="1050" b="1" dirty="0" err="1">
                <a:solidFill>
                  <a:srgbClr val="C00000"/>
                </a:solidFill>
                <a:latin typeface="微软雅黑"/>
                <a:ea typeface="微软雅黑"/>
              </a:rPr>
              <a:t>流程</a:t>
            </a:r>
            <a:endParaRPr sz="1050" b="1" dirty="0">
              <a:solidFill>
                <a:srgbClr val="C00000"/>
              </a:solidFill>
              <a:latin typeface="微软雅黑"/>
              <a:ea typeface="微软雅黑"/>
            </a:endParaRPr>
          </a:p>
        </p:txBody>
      </p:sp>
      <p:sp>
        <p:nvSpPr>
          <p:cNvPr id="115" name="TextBox 114"/>
          <p:cNvSpPr txBox="1"/>
          <p:nvPr/>
        </p:nvSpPr>
        <p:spPr>
          <a:xfrm>
            <a:off x="7447186" y="1102559"/>
            <a:ext cx="4305300" cy="1007840"/>
          </a:xfrm>
          <a:prstGeom prst="rect">
            <a:avLst/>
          </a:prstGeom>
          <a:noFill/>
        </p:spPr>
        <p:txBody>
          <a:bodyPr wrap="square" lIns="0" tIns="0" rIns="0" bIns="0" anchor="ctr">
            <a:spAutoFit/>
          </a:bodyPr>
          <a:lstStyle/>
          <a:p>
            <a:pPr defTabSz="457200">
              <a:lnSpc>
                <a:spcPct val="125000"/>
              </a:lnSpc>
              <a:spcAft>
                <a:spcPts val="400"/>
              </a:spcAft>
            </a:pPr>
            <a:r>
              <a:rPr sz="850" b="1" dirty="0">
                <a:solidFill>
                  <a:srgbClr val="C00000"/>
                </a:solidFill>
                <a:latin typeface="微软雅黑"/>
                <a:ea typeface="微软雅黑"/>
              </a:rPr>
              <a:t>① Planning　</a:t>
            </a:r>
            <a:r>
              <a:rPr sz="850" dirty="0">
                <a:solidFill>
                  <a:srgbClr val="1D1D1A"/>
                </a:solidFill>
                <a:latin typeface="微软雅黑"/>
                <a:ea typeface="微软雅黑"/>
              </a:rPr>
              <a:t>rank0 </a:t>
            </a:r>
            <a:r>
              <a:rPr sz="850" dirty="0" err="1">
                <a:solidFill>
                  <a:srgbClr val="1D1D1A"/>
                </a:solidFill>
                <a:latin typeface="微软雅黑"/>
                <a:ea typeface="微软雅黑"/>
              </a:rPr>
              <a:t>在线求解均衡方案，产出</a:t>
            </a:r>
            <a:r>
              <a:rPr sz="850" dirty="0">
                <a:solidFill>
                  <a:srgbClr val="1D1D1A"/>
                </a:solidFill>
                <a:latin typeface="微软雅黑"/>
                <a:ea typeface="微软雅黑"/>
              </a:rPr>
              <a:t> </a:t>
            </a:r>
            <a:r>
              <a:rPr sz="850" b="1" dirty="0" err="1">
                <a:solidFill>
                  <a:srgbClr val="1D1D1A"/>
                </a:solidFill>
                <a:latin typeface="微软雅黑"/>
                <a:ea typeface="微软雅黑"/>
              </a:rPr>
              <a:t>dst</a:t>
            </a:r>
            <a:r>
              <a:rPr sz="850" b="1" dirty="0">
                <a:solidFill>
                  <a:srgbClr val="1D1D1A"/>
                </a:solidFill>
                <a:latin typeface="微软雅黑"/>
                <a:ea typeface="微软雅黑"/>
              </a:rPr>
              <a:t> </a:t>
            </a:r>
            <a:r>
              <a:rPr sz="850" b="1" dirty="0" err="1">
                <a:solidFill>
                  <a:srgbClr val="1D1D1A"/>
                </a:solidFill>
                <a:latin typeface="微软雅黑"/>
                <a:ea typeface="微软雅黑"/>
              </a:rPr>
              <a:t>定址表</a:t>
            </a:r>
            <a:r>
              <a:rPr sz="850" dirty="0" err="1">
                <a:solidFill>
                  <a:srgbClr val="1D1D1A"/>
                </a:solidFill>
                <a:latin typeface="微软雅黑"/>
                <a:ea typeface="微软雅黑"/>
              </a:rPr>
              <a:t>与冗余专家预取表</a:t>
            </a:r>
            <a:endParaRPr sz="850" dirty="0">
              <a:solidFill>
                <a:srgbClr val="1D1D1A"/>
              </a:solidFill>
              <a:latin typeface="微软雅黑"/>
              <a:ea typeface="微软雅黑"/>
            </a:endParaRPr>
          </a:p>
          <a:p>
            <a:pPr defTabSz="457200">
              <a:lnSpc>
                <a:spcPct val="125000"/>
              </a:lnSpc>
              <a:spcAft>
                <a:spcPts val="400"/>
              </a:spcAft>
            </a:pPr>
            <a:r>
              <a:rPr sz="850" b="1" dirty="0">
                <a:solidFill>
                  <a:srgbClr val="C00000"/>
                </a:solidFill>
                <a:latin typeface="微软雅黑"/>
                <a:ea typeface="微软雅黑"/>
              </a:rPr>
              <a:t>② Prefetch　</a:t>
            </a:r>
            <a:r>
              <a:rPr sz="850" dirty="0" err="1">
                <a:solidFill>
                  <a:srgbClr val="1D1D1A"/>
                </a:solidFill>
                <a:latin typeface="微软雅黑"/>
                <a:ea typeface="微软雅黑"/>
              </a:rPr>
              <a:t>按表把热点专家权重拉入本</a:t>
            </a:r>
            <a:r>
              <a:rPr sz="850" dirty="0">
                <a:solidFill>
                  <a:srgbClr val="1D1D1A"/>
                </a:solidFill>
                <a:latin typeface="微软雅黑"/>
                <a:ea typeface="微软雅黑"/>
              </a:rPr>
              <a:t> rank </a:t>
            </a:r>
            <a:r>
              <a:rPr sz="850" dirty="0" err="1">
                <a:solidFill>
                  <a:srgbClr val="1D1D1A"/>
                </a:solidFill>
                <a:latin typeface="微软雅黑"/>
                <a:ea typeface="微软雅黑"/>
              </a:rPr>
              <a:t>冗余槽，与通信并行、跨层复用</a:t>
            </a:r>
            <a:endParaRPr sz="850" dirty="0">
              <a:solidFill>
                <a:srgbClr val="1D1D1A"/>
              </a:solidFill>
              <a:latin typeface="微软雅黑"/>
              <a:ea typeface="微软雅黑"/>
            </a:endParaRPr>
          </a:p>
          <a:p>
            <a:pPr defTabSz="457200">
              <a:lnSpc>
                <a:spcPct val="125000"/>
              </a:lnSpc>
              <a:spcAft>
                <a:spcPts val="400"/>
              </a:spcAft>
            </a:pPr>
            <a:r>
              <a:rPr sz="850" b="1" dirty="0">
                <a:solidFill>
                  <a:srgbClr val="C00000"/>
                </a:solidFill>
                <a:latin typeface="微软雅黑"/>
                <a:ea typeface="微软雅黑"/>
              </a:rPr>
              <a:t>③ Dispatch　</a:t>
            </a:r>
            <a:r>
              <a:rPr sz="850" dirty="0">
                <a:solidFill>
                  <a:srgbClr val="1D1D1A"/>
                </a:solidFill>
                <a:latin typeface="微软雅黑"/>
                <a:ea typeface="微软雅黑"/>
              </a:rPr>
              <a:t>token 按 </a:t>
            </a:r>
            <a:r>
              <a:rPr sz="850" dirty="0" err="1">
                <a:solidFill>
                  <a:srgbClr val="1D1D1A"/>
                </a:solidFill>
                <a:latin typeface="微软雅黑"/>
                <a:ea typeface="微软雅黑"/>
              </a:rPr>
              <a:t>dst</a:t>
            </a:r>
            <a:r>
              <a:rPr sz="850" dirty="0">
                <a:solidFill>
                  <a:srgbClr val="1D1D1A"/>
                </a:solidFill>
                <a:latin typeface="微软雅黑"/>
                <a:ea typeface="微软雅黑"/>
              </a:rPr>
              <a:t> </a:t>
            </a:r>
            <a:r>
              <a:rPr sz="850" b="1" dirty="0" err="1">
                <a:solidFill>
                  <a:srgbClr val="1D1D1A"/>
                </a:solidFill>
                <a:latin typeface="微软雅黑"/>
                <a:ea typeface="微软雅黑"/>
              </a:rPr>
              <a:t>一步写到</a:t>
            </a:r>
            <a:r>
              <a:rPr sz="850" dirty="0" err="1">
                <a:solidFill>
                  <a:srgbClr val="1D1D1A"/>
                </a:solidFill>
                <a:latin typeface="微软雅黑"/>
                <a:ea typeface="微软雅黑"/>
              </a:rPr>
              <a:t>对端最终位置（零拷贝</a:t>
            </a:r>
            <a:r>
              <a:rPr sz="850" dirty="0">
                <a:solidFill>
                  <a:srgbClr val="1D1D1A"/>
                </a:solidFill>
                <a:latin typeface="微软雅黑"/>
                <a:ea typeface="微软雅黑"/>
              </a:rPr>
              <a:t>），</a:t>
            </a:r>
            <a:r>
              <a:rPr sz="850" dirty="0" err="1">
                <a:solidFill>
                  <a:srgbClr val="1D1D1A"/>
                </a:solidFill>
                <a:latin typeface="微软雅黑"/>
                <a:ea typeface="微软雅黑"/>
              </a:rPr>
              <a:t>重复副本只发一份</a:t>
            </a:r>
            <a:endParaRPr sz="850" dirty="0">
              <a:solidFill>
                <a:srgbClr val="1D1D1A"/>
              </a:solidFill>
              <a:latin typeface="微软雅黑"/>
              <a:ea typeface="微软雅黑"/>
            </a:endParaRPr>
          </a:p>
          <a:p>
            <a:pPr defTabSz="457200">
              <a:lnSpc>
                <a:spcPct val="125000"/>
              </a:lnSpc>
              <a:spcAft>
                <a:spcPts val="400"/>
              </a:spcAft>
            </a:pPr>
            <a:r>
              <a:rPr sz="850" b="1" dirty="0">
                <a:solidFill>
                  <a:srgbClr val="C00000"/>
                </a:solidFill>
                <a:latin typeface="微软雅黑"/>
                <a:ea typeface="微软雅黑"/>
              </a:rPr>
              <a:t>④ </a:t>
            </a:r>
            <a:r>
              <a:rPr sz="850" b="1" dirty="0" err="1">
                <a:solidFill>
                  <a:srgbClr val="C00000"/>
                </a:solidFill>
                <a:latin typeface="微软雅黑"/>
                <a:ea typeface="微软雅黑"/>
              </a:rPr>
              <a:t>专家</a:t>
            </a:r>
            <a:r>
              <a:rPr sz="850" b="1" dirty="0">
                <a:solidFill>
                  <a:srgbClr val="C00000"/>
                </a:solidFill>
                <a:latin typeface="微软雅黑"/>
                <a:ea typeface="微软雅黑"/>
              </a:rPr>
              <a:t> GEMM　</a:t>
            </a:r>
            <a:r>
              <a:rPr sz="850" dirty="0" err="1">
                <a:solidFill>
                  <a:srgbClr val="1D1D1A"/>
                </a:solidFill>
                <a:latin typeface="微软雅黑"/>
                <a:ea typeface="微软雅黑"/>
              </a:rPr>
              <a:t>本地＋冗余专家按</a:t>
            </a:r>
            <a:r>
              <a:rPr sz="850" dirty="0">
                <a:solidFill>
                  <a:srgbClr val="1D1D1A"/>
                </a:solidFill>
                <a:latin typeface="微软雅黑"/>
                <a:ea typeface="微软雅黑"/>
              </a:rPr>
              <a:t> </a:t>
            </a:r>
            <a:r>
              <a:rPr sz="850" dirty="0" err="1">
                <a:solidFill>
                  <a:srgbClr val="1D1D1A"/>
                </a:solidFill>
                <a:latin typeface="微软雅黑"/>
                <a:ea typeface="微软雅黑"/>
              </a:rPr>
              <a:t>cu_seqlens</a:t>
            </a:r>
            <a:r>
              <a:rPr sz="850" dirty="0">
                <a:solidFill>
                  <a:srgbClr val="1D1D1A"/>
                </a:solidFill>
                <a:latin typeface="微软雅黑"/>
                <a:ea typeface="微软雅黑"/>
              </a:rPr>
              <a:t> </a:t>
            </a:r>
            <a:r>
              <a:rPr sz="850" dirty="0" err="1">
                <a:solidFill>
                  <a:srgbClr val="1D1D1A"/>
                </a:solidFill>
                <a:latin typeface="微软雅黑"/>
                <a:ea typeface="微软雅黑"/>
              </a:rPr>
              <a:t>分段计算，输入形状固定</a:t>
            </a:r>
            <a:endParaRPr sz="850" dirty="0">
              <a:solidFill>
                <a:srgbClr val="1D1D1A"/>
              </a:solidFill>
              <a:latin typeface="微软雅黑"/>
              <a:ea typeface="微软雅黑"/>
            </a:endParaRPr>
          </a:p>
          <a:p>
            <a:pPr defTabSz="457200">
              <a:lnSpc>
                <a:spcPct val="125000"/>
              </a:lnSpc>
              <a:spcAft>
                <a:spcPts val="400"/>
              </a:spcAft>
            </a:pPr>
            <a:r>
              <a:rPr sz="850" b="1" dirty="0">
                <a:solidFill>
                  <a:srgbClr val="C00000"/>
                </a:solidFill>
                <a:latin typeface="微软雅黑"/>
                <a:ea typeface="微软雅黑"/>
              </a:rPr>
              <a:t>⑤ Combine　</a:t>
            </a:r>
            <a:r>
              <a:rPr sz="850" dirty="0" err="1">
                <a:solidFill>
                  <a:srgbClr val="1D1D1A"/>
                </a:solidFill>
                <a:latin typeface="微软雅黑"/>
                <a:ea typeface="微软雅黑"/>
              </a:rPr>
              <a:t>冗余结果本地加和</a:t>
            </a:r>
            <a:r>
              <a:rPr sz="850" dirty="0">
                <a:solidFill>
                  <a:srgbClr val="1D1D1A"/>
                </a:solidFill>
                <a:latin typeface="微软雅黑"/>
                <a:ea typeface="微软雅黑"/>
              </a:rPr>
              <a:t> → 按 </a:t>
            </a:r>
            <a:r>
              <a:rPr sz="850" dirty="0" err="1">
                <a:solidFill>
                  <a:srgbClr val="1D1D1A"/>
                </a:solidFill>
                <a:latin typeface="微软雅黑"/>
                <a:ea typeface="微软雅黑"/>
              </a:rPr>
              <a:t>dst</a:t>
            </a:r>
            <a:r>
              <a:rPr sz="850" dirty="0">
                <a:solidFill>
                  <a:srgbClr val="1D1D1A"/>
                </a:solidFill>
                <a:latin typeface="微软雅黑"/>
                <a:ea typeface="微软雅黑"/>
              </a:rPr>
              <a:t> </a:t>
            </a:r>
            <a:r>
              <a:rPr sz="850" dirty="0" err="1">
                <a:solidFill>
                  <a:srgbClr val="1D1D1A"/>
                </a:solidFill>
                <a:latin typeface="微软雅黑"/>
                <a:ea typeface="微软雅黑"/>
              </a:rPr>
              <a:t>取回</a:t>
            </a:r>
            <a:r>
              <a:rPr sz="850" dirty="0">
                <a:solidFill>
                  <a:srgbClr val="1D1D1A"/>
                </a:solidFill>
                <a:latin typeface="微软雅黑"/>
                <a:ea typeface="微软雅黑"/>
              </a:rPr>
              <a:t> → K </a:t>
            </a:r>
            <a:r>
              <a:rPr sz="850" dirty="0" err="1">
                <a:solidFill>
                  <a:srgbClr val="1D1D1A"/>
                </a:solidFill>
                <a:latin typeface="微软雅黑"/>
                <a:ea typeface="微软雅黑"/>
              </a:rPr>
              <a:t>份求和，还原输出</a:t>
            </a:r>
            <a:endParaRPr sz="850" dirty="0">
              <a:solidFill>
                <a:srgbClr val="1D1D1A"/>
              </a:solidFill>
              <a:latin typeface="微软雅黑"/>
              <a:ea typeface="微软雅黑"/>
            </a:endParaRPr>
          </a:p>
        </p:txBody>
      </p:sp>
      <p:sp>
        <p:nvSpPr>
          <p:cNvPr id="116" name="Rectangle 115"/>
          <p:cNvSpPr/>
          <p:nvPr/>
        </p:nvSpPr>
        <p:spPr>
          <a:xfrm>
            <a:off x="7294786" y="2337110"/>
            <a:ext cx="4572000" cy="1332519"/>
          </a:xfrm>
          <a:prstGeom prst="rect">
            <a:avLst/>
          </a:prstGeom>
          <a:noFill/>
          <a:ln w="1270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17" name="Rectangle 116"/>
          <p:cNvSpPr/>
          <p:nvPr/>
        </p:nvSpPr>
        <p:spPr>
          <a:xfrm>
            <a:off x="8911892" y="2222809"/>
            <a:ext cx="1337786"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18" name="TextBox 117"/>
          <p:cNvSpPr txBox="1"/>
          <p:nvPr/>
        </p:nvSpPr>
        <p:spPr>
          <a:xfrm>
            <a:off x="9291444" y="2256318"/>
            <a:ext cx="578685" cy="161583"/>
          </a:xfrm>
          <a:prstGeom prst="rect">
            <a:avLst/>
          </a:prstGeom>
          <a:noFill/>
        </p:spPr>
        <p:txBody>
          <a:bodyPr wrap="none" lIns="0" tIns="0" rIns="0" bIns="0" anchor="ctr">
            <a:spAutoFit/>
          </a:bodyPr>
          <a:lstStyle/>
          <a:p>
            <a:pPr algn="ctr" defTabSz="457200"/>
            <a:r>
              <a:rPr lang="zh-CN" altLang="en-US" sz="1050" b="1" dirty="0">
                <a:solidFill>
                  <a:srgbClr val="C00000"/>
                </a:solidFill>
                <a:latin typeface="微软雅黑"/>
                <a:ea typeface="微软雅黑"/>
              </a:rPr>
              <a:t>技术要点</a:t>
            </a:r>
            <a:r>
              <a:rPr sz="1050" b="1" dirty="0">
                <a:solidFill>
                  <a:srgbClr val="C00000"/>
                </a:solidFill>
                <a:latin typeface="微软雅黑"/>
                <a:ea typeface="微软雅黑"/>
              </a:rPr>
              <a:t> </a:t>
            </a:r>
          </a:p>
        </p:txBody>
      </p:sp>
      <p:sp>
        <p:nvSpPr>
          <p:cNvPr id="119" name="TextBox 118"/>
          <p:cNvSpPr txBox="1"/>
          <p:nvPr/>
        </p:nvSpPr>
        <p:spPr>
          <a:xfrm>
            <a:off x="7428136" y="2425564"/>
            <a:ext cx="888064" cy="146194"/>
          </a:xfrm>
          <a:prstGeom prst="rect">
            <a:avLst/>
          </a:prstGeom>
          <a:noFill/>
        </p:spPr>
        <p:txBody>
          <a:bodyPr wrap="none" lIns="0" tIns="0" rIns="0" bIns="0" anchor="t">
            <a:spAutoFit/>
          </a:bodyPr>
          <a:lstStyle/>
          <a:p>
            <a:pPr defTabSz="457200"/>
            <a:r>
              <a:rPr sz="950" dirty="0">
                <a:solidFill>
                  <a:srgbClr val="1D1D1A"/>
                </a:solidFill>
                <a:latin typeface="微软雅黑"/>
                <a:ea typeface="微软雅黑"/>
              </a:rPr>
              <a:t>① </a:t>
            </a:r>
            <a:r>
              <a:rPr sz="950" dirty="0" err="1">
                <a:solidFill>
                  <a:srgbClr val="1D1D1A"/>
                </a:solidFill>
                <a:latin typeface="微软雅黑"/>
                <a:ea typeface="微软雅黑"/>
              </a:rPr>
              <a:t>动态冗余专家</a:t>
            </a:r>
            <a:endParaRPr sz="950" dirty="0">
              <a:solidFill>
                <a:srgbClr val="1D1D1A"/>
              </a:solidFill>
              <a:latin typeface="微软雅黑"/>
              <a:ea typeface="微软雅黑"/>
            </a:endParaRPr>
          </a:p>
        </p:txBody>
      </p:sp>
      <p:sp>
        <p:nvSpPr>
          <p:cNvPr id="120" name="TextBox 119"/>
          <p:cNvSpPr txBox="1"/>
          <p:nvPr/>
        </p:nvSpPr>
        <p:spPr>
          <a:xfrm>
            <a:off x="7428136" y="2577965"/>
            <a:ext cx="4343400" cy="135037"/>
          </a:xfrm>
          <a:prstGeom prst="rect">
            <a:avLst/>
          </a:prstGeom>
          <a:noFill/>
        </p:spPr>
        <p:txBody>
          <a:bodyPr wrap="square" lIns="0" tIns="0" rIns="0" bIns="0" anchor="t">
            <a:spAutoFit/>
          </a:bodyPr>
          <a:lstStyle/>
          <a:p>
            <a:pPr defTabSz="457200">
              <a:lnSpc>
                <a:spcPct val="120000"/>
              </a:lnSpc>
            </a:pPr>
            <a:r>
              <a:rPr sz="800" dirty="0" err="1">
                <a:solidFill>
                  <a:srgbClr val="1D1D1A"/>
                </a:solidFill>
                <a:latin typeface="微软雅黑"/>
                <a:ea typeface="微软雅黑"/>
              </a:rPr>
              <a:t>热点专家按需复制到空闲</a:t>
            </a:r>
            <a:r>
              <a:rPr sz="800" dirty="0">
                <a:solidFill>
                  <a:srgbClr val="1D1D1A"/>
                </a:solidFill>
                <a:latin typeface="微软雅黑"/>
                <a:ea typeface="微软雅黑"/>
              </a:rPr>
              <a:t> </a:t>
            </a:r>
            <a:r>
              <a:rPr sz="800" dirty="0" err="1">
                <a:solidFill>
                  <a:srgbClr val="1D1D1A"/>
                </a:solidFill>
                <a:latin typeface="微软雅黑"/>
                <a:ea typeface="微软雅黑"/>
              </a:rPr>
              <a:t>rank，每</a:t>
            </a:r>
            <a:r>
              <a:rPr sz="800" dirty="0">
                <a:solidFill>
                  <a:srgbClr val="1D1D1A"/>
                </a:solidFill>
                <a:latin typeface="微软雅黑"/>
                <a:ea typeface="微软雅黑"/>
              </a:rPr>
              <a:t> rank </a:t>
            </a:r>
            <a:r>
              <a:rPr sz="800" dirty="0" err="1">
                <a:solidFill>
                  <a:srgbClr val="1D1D1A"/>
                </a:solidFill>
                <a:latin typeface="微软雅黑"/>
                <a:ea typeface="微软雅黑"/>
              </a:rPr>
              <a:t>冗余</a:t>
            </a:r>
            <a:r>
              <a:rPr sz="800" dirty="0">
                <a:solidFill>
                  <a:srgbClr val="1D1D1A"/>
                </a:solidFill>
                <a:latin typeface="微软雅黑"/>
                <a:ea typeface="微软雅黑"/>
              </a:rPr>
              <a:t> </a:t>
            </a:r>
            <a:r>
              <a:rPr sz="800" b="1" dirty="0">
                <a:solidFill>
                  <a:srgbClr val="1D1D1A"/>
                </a:solidFill>
                <a:latin typeface="微软雅黑"/>
                <a:ea typeface="微软雅黑"/>
              </a:rPr>
              <a:t>≤E/R </a:t>
            </a:r>
            <a:r>
              <a:rPr sz="800" dirty="0">
                <a:solidFill>
                  <a:srgbClr val="1D1D1A"/>
                </a:solidFill>
                <a:latin typeface="微软雅黑"/>
                <a:ea typeface="微软雅黑"/>
              </a:rPr>
              <a:t>⇒ </a:t>
            </a:r>
            <a:r>
              <a:rPr sz="800" dirty="0" err="1">
                <a:solidFill>
                  <a:srgbClr val="1D1D1A"/>
                </a:solidFill>
                <a:latin typeface="微软雅黑"/>
                <a:ea typeface="微软雅黑"/>
              </a:rPr>
              <a:t>负载恒可均衡，每</a:t>
            </a:r>
            <a:r>
              <a:rPr sz="800" dirty="0">
                <a:solidFill>
                  <a:srgbClr val="1D1D1A"/>
                </a:solidFill>
                <a:latin typeface="微软雅黑"/>
                <a:ea typeface="微软雅黑"/>
              </a:rPr>
              <a:t> rank </a:t>
            </a:r>
            <a:r>
              <a:rPr sz="800" dirty="0" err="1">
                <a:solidFill>
                  <a:srgbClr val="1D1D1A"/>
                </a:solidFill>
                <a:latin typeface="微软雅黑"/>
                <a:ea typeface="微软雅黑"/>
              </a:rPr>
              <a:t>恒收</a:t>
            </a:r>
            <a:r>
              <a:rPr sz="800" dirty="0">
                <a:solidFill>
                  <a:srgbClr val="1D1D1A"/>
                </a:solidFill>
                <a:latin typeface="微软雅黑"/>
                <a:ea typeface="微软雅黑"/>
              </a:rPr>
              <a:t> S×K</a:t>
            </a:r>
          </a:p>
        </p:txBody>
      </p:sp>
      <p:sp>
        <p:nvSpPr>
          <p:cNvPr id="121" name="TextBox 120"/>
          <p:cNvSpPr txBox="1"/>
          <p:nvPr/>
        </p:nvSpPr>
        <p:spPr>
          <a:xfrm>
            <a:off x="7428137" y="2776135"/>
            <a:ext cx="644407" cy="146194"/>
          </a:xfrm>
          <a:prstGeom prst="rect">
            <a:avLst/>
          </a:prstGeom>
          <a:noFill/>
        </p:spPr>
        <p:txBody>
          <a:bodyPr wrap="none" lIns="0" tIns="0" rIns="0" bIns="0" anchor="t">
            <a:spAutoFit/>
          </a:bodyPr>
          <a:lstStyle/>
          <a:p>
            <a:pPr defTabSz="457200"/>
            <a:r>
              <a:rPr sz="950" dirty="0">
                <a:solidFill>
                  <a:srgbClr val="1D1D1A"/>
                </a:solidFill>
                <a:latin typeface="微软雅黑"/>
                <a:ea typeface="微软雅黑"/>
              </a:rPr>
              <a:t>② </a:t>
            </a:r>
            <a:r>
              <a:rPr sz="950" dirty="0" err="1">
                <a:solidFill>
                  <a:srgbClr val="1D1D1A"/>
                </a:solidFill>
                <a:latin typeface="微软雅黑"/>
                <a:ea typeface="微软雅黑"/>
              </a:rPr>
              <a:t>静态形状</a:t>
            </a:r>
            <a:endParaRPr sz="950" dirty="0">
              <a:solidFill>
                <a:srgbClr val="1D1D1A"/>
              </a:solidFill>
              <a:latin typeface="微软雅黑"/>
              <a:ea typeface="微软雅黑"/>
            </a:endParaRPr>
          </a:p>
        </p:txBody>
      </p:sp>
      <p:sp>
        <p:nvSpPr>
          <p:cNvPr id="122" name="TextBox 121"/>
          <p:cNvSpPr txBox="1"/>
          <p:nvPr/>
        </p:nvSpPr>
        <p:spPr>
          <a:xfrm>
            <a:off x="7428136" y="2928536"/>
            <a:ext cx="4343400" cy="135037"/>
          </a:xfrm>
          <a:prstGeom prst="rect">
            <a:avLst/>
          </a:prstGeom>
          <a:noFill/>
        </p:spPr>
        <p:txBody>
          <a:bodyPr wrap="square" lIns="0" tIns="0" rIns="0" bIns="0" anchor="t">
            <a:spAutoFit/>
          </a:bodyPr>
          <a:lstStyle/>
          <a:p>
            <a:pPr defTabSz="457200">
              <a:lnSpc>
                <a:spcPct val="120000"/>
              </a:lnSpc>
            </a:pPr>
            <a:r>
              <a:rPr sz="800" dirty="0" err="1">
                <a:solidFill>
                  <a:srgbClr val="1D1D1A"/>
                </a:solidFill>
                <a:latin typeface="微软雅黑"/>
                <a:ea typeface="微软雅黑"/>
              </a:rPr>
              <a:t>接收恒</a:t>
            </a:r>
            <a:r>
              <a:rPr sz="800" dirty="0">
                <a:solidFill>
                  <a:srgbClr val="1D1D1A"/>
                </a:solidFill>
                <a:latin typeface="微软雅黑"/>
                <a:ea typeface="微软雅黑"/>
              </a:rPr>
              <a:t> S×K ⇒ Buffer </a:t>
            </a:r>
            <a:r>
              <a:rPr sz="800" dirty="0" err="1">
                <a:solidFill>
                  <a:srgbClr val="1D1D1A"/>
                </a:solidFill>
                <a:latin typeface="微软雅黑"/>
                <a:ea typeface="微软雅黑"/>
              </a:rPr>
              <a:t>形状构建期固定：</a:t>
            </a:r>
            <a:r>
              <a:rPr lang="en-US" altLang="zh-CN" sz="800" b="1" dirty="0" err="1">
                <a:solidFill>
                  <a:srgbClr val="1D1D1A"/>
                </a:solidFill>
                <a:latin typeface="微软雅黑"/>
                <a:ea typeface="微软雅黑"/>
              </a:rPr>
              <a:t>host</a:t>
            </a:r>
            <a:r>
              <a:rPr lang="zh-CN" altLang="en-US" sz="800" b="1" dirty="0">
                <a:solidFill>
                  <a:srgbClr val="1D1D1A"/>
                </a:solidFill>
                <a:latin typeface="微软雅黑"/>
                <a:ea typeface="微软雅黑"/>
              </a:rPr>
              <a:t>侧</a:t>
            </a:r>
            <a:r>
              <a:rPr sz="800" b="1" dirty="0" err="1">
                <a:solidFill>
                  <a:srgbClr val="1D1D1A"/>
                </a:solidFill>
                <a:latin typeface="微软雅黑"/>
                <a:ea typeface="微软雅黑"/>
              </a:rPr>
              <a:t>零同步</a:t>
            </a:r>
            <a:r>
              <a:rPr sz="800" dirty="0" err="1">
                <a:solidFill>
                  <a:srgbClr val="1D1D1A"/>
                </a:solidFill>
                <a:latin typeface="微软雅黑"/>
                <a:ea typeface="微软雅黑"/>
              </a:rPr>
              <a:t>、显存无碎片、可静态调度</a:t>
            </a:r>
            <a:endParaRPr sz="800" dirty="0">
              <a:solidFill>
                <a:srgbClr val="1D1D1A"/>
              </a:solidFill>
              <a:latin typeface="微软雅黑"/>
              <a:ea typeface="微软雅黑"/>
            </a:endParaRPr>
          </a:p>
        </p:txBody>
      </p:sp>
      <p:sp>
        <p:nvSpPr>
          <p:cNvPr id="123" name="TextBox 122"/>
          <p:cNvSpPr txBox="1"/>
          <p:nvPr/>
        </p:nvSpPr>
        <p:spPr>
          <a:xfrm>
            <a:off x="7428137" y="3119421"/>
            <a:ext cx="522579" cy="146194"/>
          </a:xfrm>
          <a:prstGeom prst="rect">
            <a:avLst/>
          </a:prstGeom>
          <a:noFill/>
        </p:spPr>
        <p:txBody>
          <a:bodyPr wrap="none" lIns="0" tIns="0" rIns="0" bIns="0" anchor="t">
            <a:spAutoFit/>
          </a:bodyPr>
          <a:lstStyle/>
          <a:p>
            <a:pPr defTabSz="457200"/>
            <a:r>
              <a:rPr sz="950" dirty="0">
                <a:solidFill>
                  <a:srgbClr val="1D1D1A"/>
                </a:solidFill>
                <a:latin typeface="微软雅黑"/>
                <a:ea typeface="微软雅黑"/>
              </a:rPr>
              <a:t>③ </a:t>
            </a:r>
            <a:r>
              <a:rPr sz="950" dirty="0" err="1">
                <a:solidFill>
                  <a:srgbClr val="1D1D1A"/>
                </a:solidFill>
                <a:latin typeface="微软雅黑"/>
                <a:ea typeface="微软雅黑"/>
              </a:rPr>
              <a:t>零拷贝</a:t>
            </a:r>
            <a:endParaRPr sz="950" dirty="0">
              <a:solidFill>
                <a:srgbClr val="1D1D1A"/>
              </a:solidFill>
              <a:latin typeface="微软雅黑"/>
              <a:ea typeface="微软雅黑"/>
            </a:endParaRPr>
          </a:p>
        </p:txBody>
      </p:sp>
      <p:sp>
        <p:nvSpPr>
          <p:cNvPr id="124" name="TextBox 123"/>
          <p:cNvSpPr txBox="1"/>
          <p:nvPr/>
        </p:nvSpPr>
        <p:spPr>
          <a:xfrm>
            <a:off x="7428136" y="3271822"/>
            <a:ext cx="4343400" cy="282963"/>
          </a:xfrm>
          <a:prstGeom prst="rect">
            <a:avLst/>
          </a:prstGeom>
          <a:noFill/>
        </p:spPr>
        <p:txBody>
          <a:bodyPr wrap="square" lIns="0" tIns="0" rIns="0" bIns="0" anchor="t">
            <a:spAutoFit/>
          </a:bodyPr>
          <a:lstStyle/>
          <a:p>
            <a:pPr defTabSz="457200">
              <a:lnSpc>
                <a:spcPct val="120000"/>
              </a:lnSpc>
            </a:pPr>
            <a:r>
              <a:rPr sz="800" dirty="0" err="1">
                <a:solidFill>
                  <a:srgbClr val="1D1D1A"/>
                </a:solidFill>
                <a:latin typeface="微软雅黑"/>
                <a:ea typeface="微软雅黑"/>
              </a:rPr>
              <a:t>dst</a:t>
            </a:r>
            <a:r>
              <a:rPr sz="800" dirty="0">
                <a:solidFill>
                  <a:srgbClr val="1D1D1A"/>
                </a:solidFill>
                <a:latin typeface="微软雅黑"/>
                <a:ea typeface="微软雅黑"/>
              </a:rPr>
              <a:t> </a:t>
            </a:r>
            <a:r>
              <a:rPr sz="800" dirty="0" err="1">
                <a:solidFill>
                  <a:srgbClr val="1D1D1A"/>
                </a:solidFill>
                <a:latin typeface="微软雅黑"/>
                <a:ea typeface="微软雅黑"/>
              </a:rPr>
              <a:t>预计算使</a:t>
            </a:r>
            <a:r>
              <a:rPr sz="800" dirty="0">
                <a:solidFill>
                  <a:srgbClr val="1D1D1A"/>
                </a:solidFill>
                <a:latin typeface="微软雅黑"/>
                <a:ea typeface="微软雅黑"/>
              </a:rPr>
              <a:t> token </a:t>
            </a:r>
            <a:r>
              <a:rPr sz="800" dirty="0" err="1">
                <a:solidFill>
                  <a:srgbClr val="1D1D1A"/>
                </a:solidFill>
                <a:latin typeface="微软雅黑"/>
                <a:ea typeface="微软雅黑"/>
              </a:rPr>
              <a:t>一步落位</a:t>
            </a:r>
            <a:r>
              <a:rPr sz="800" dirty="0">
                <a:solidFill>
                  <a:srgbClr val="1D1D1A"/>
                </a:solidFill>
                <a:latin typeface="微软雅黑"/>
                <a:ea typeface="微软雅黑"/>
              </a:rPr>
              <a:t>：</a:t>
            </a:r>
            <a:r>
              <a:rPr lang="zh-CN" altLang="en-US" sz="800" dirty="0">
                <a:solidFill>
                  <a:srgbClr val="1D1D1A"/>
                </a:solidFill>
                <a:latin typeface="微软雅黑"/>
                <a:ea typeface="微软雅黑"/>
              </a:rPr>
              <a:t>对称内存直写</a:t>
            </a:r>
            <a:r>
              <a:rPr sz="800" dirty="0" err="1">
                <a:solidFill>
                  <a:srgbClr val="1D1D1A"/>
                </a:solidFill>
                <a:latin typeface="微软雅黑"/>
                <a:ea typeface="微软雅黑"/>
              </a:rPr>
              <a:t>省掉</a:t>
            </a:r>
            <a:r>
              <a:rPr sz="800" dirty="0">
                <a:solidFill>
                  <a:srgbClr val="1D1D1A"/>
                </a:solidFill>
                <a:latin typeface="微软雅黑"/>
                <a:ea typeface="微软雅黑"/>
              </a:rPr>
              <a:t> </a:t>
            </a:r>
            <a:r>
              <a:rPr sz="800" b="1" dirty="0">
                <a:solidFill>
                  <a:srgbClr val="1D1D1A"/>
                </a:solidFill>
                <a:latin typeface="微软雅黑"/>
                <a:ea typeface="微软雅黑"/>
              </a:rPr>
              <a:t>permute / </a:t>
            </a:r>
            <a:r>
              <a:rPr sz="800" b="1" dirty="0" err="1">
                <a:solidFill>
                  <a:srgbClr val="1D1D1A"/>
                </a:solidFill>
                <a:latin typeface="微软雅黑"/>
                <a:ea typeface="微软雅黑"/>
              </a:rPr>
              <a:t>unpermute</a:t>
            </a:r>
            <a:r>
              <a:rPr sz="800" dirty="0">
                <a:solidFill>
                  <a:srgbClr val="1D1D1A"/>
                </a:solidFill>
                <a:latin typeface="微软雅黑"/>
                <a:ea typeface="微软雅黑"/>
              </a:rPr>
              <a:t> </a:t>
            </a:r>
            <a:r>
              <a:rPr sz="800" dirty="0" err="1">
                <a:solidFill>
                  <a:srgbClr val="1D1D1A"/>
                </a:solidFill>
                <a:latin typeface="微软雅黑"/>
                <a:ea typeface="微软雅黑"/>
              </a:rPr>
              <a:t>与二次搬运，</a:t>
            </a:r>
            <a:r>
              <a:rPr lang="en-US" altLang="zh-CN" sz="800" dirty="0" err="1">
                <a:solidFill>
                  <a:srgbClr val="1D1D1A"/>
                </a:solidFill>
                <a:latin typeface="微软雅黑"/>
                <a:ea typeface="微软雅黑"/>
              </a:rPr>
              <a:t>token</a:t>
            </a:r>
            <a:r>
              <a:rPr sz="800" dirty="0" err="1">
                <a:solidFill>
                  <a:srgbClr val="1D1D1A"/>
                </a:solidFill>
                <a:latin typeface="微软雅黑"/>
                <a:ea typeface="微软雅黑"/>
              </a:rPr>
              <a:t>去重再减通信</a:t>
            </a:r>
            <a:r>
              <a:rPr lang="zh-CN" altLang="en-US" sz="800" dirty="0">
                <a:solidFill>
                  <a:srgbClr val="1D1D1A"/>
                </a:solidFill>
                <a:latin typeface="微软雅黑"/>
                <a:ea typeface="微软雅黑"/>
              </a:rPr>
              <a:t>量</a:t>
            </a:r>
            <a:endParaRPr sz="800" dirty="0">
              <a:solidFill>
                <a:srgbClr val="1D1D1A"/>
              </a:solidFill>
              <a:latin typeface="微软雅黑"/>
              <a:ea typeface="微软雅黑"/>
            </a:endParaRPr>
          </a:p>
        </p:txBody>
      </p:sp>
      <p:sp>
        <p:nvSpPr>
          <p:cNvPr id="128" name="Rectangle 127"/>
          <p:cNvSpPr/>
          <p:nvPr/>
        </p:nvSpPr>
        <p:spPr>
          <a:xfrm>
            <a:off x="7285290" y="3831049"/>
            <a:ext cx="4572000" cy="2722151"/>
          </a:xfrm>
          <a:prstGeom prst="rect">
            <a:avLst/>
          </a:prstGeom>
          <a:noFill/>
          <a:ln w="12700">
            <a:solidFill>
              <a:srgbClr val="1D1D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29" name="Rectangle 128"/>
          <p:cNvSpPr/>
          <p:nvPr/>
        </p:nvSpPr>
        <p:spPr>
          <a:xfrm>
            <a:off x="8261603" y="3733573"/>
            <a:ext cx="2619375" cy="228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30" name="TextBox 129"/>
          <p:cNvSpPr txBox="1"/>
          <p:nvPr/>
        </p:nvSpPr>
        <p:spPr>
          <a:xfrm>
            <a:off x="8983344" y="3735332"/>
            <a:ext cx="1184620" cy="161583"/>
          </a:xfrm>
          <a:prstGeom prst="rect">
            <a:avLst/>
          </a:prstGeom>
          <a:noFill/>
        </p:spPr>
        <p:txBody>
          <a:bodyPr wrap="none" lIns="0" tIns="0" rIns="0" bIns="0" anchor="ctr">
            <a:spAutoFit/>
          </a:bodyPr>
          <a:lstStyle/>
          <a:p>
            <a:pPr algn="ctr" defTabSz="457200"/>
            <a:r>
              <a:rPr lang="en-US" altLang="zh-CN" sz="1050" b="1" dirty="0" err="1">
                <a:solidFill>
                  <a:srgbClr val="C00000"/>
                </a:solidFill>
                <a:latin typeface="微软雅黑"/>
                <a:ea typeface="微软雅黑"/>
              </a:rPr>
              <a:t>MoonEP</a:t>
            </a:r>
            <a:r>
              <a:rPr lang="en-US" altLang="zh-CN" sz="1050" b="1" dirty="0">
                <a:solidFill>
                  <a:srgbClr val="C00000"/>
                </a:solidFill>
                <a:latin typeface="微软雅黑"/>
                <a:ea typeface="微软雅黑"/>
              </a:rPr>
              <a:t> </a:t>
            </a:r>
            <a:r>
              <a:rPr lang="zh-CN" altLang="en-US" sz="1050" b="1" dirty="0">
                <a:solidFill>
                  <a:srgbClr val="C00000"/>
                </a:solidFill>
                <a:latin typeface="微软雅黑"/>
                <a:ea typeface="微软雅黑"/>
              </a:rPr>
              <a:t> </a:t>
            </a:r>
            <a:r>
              <a:rPr sz="1050" b="1" dirty="0" err="1">
                <a:solidFill>
                  <a:srgbClr val="C00000"/>
                </a:solidFill>
                <a:latin typeface="微软雅黑"/>
                <a:ea typeface="微软雅黑"/>
              </a:rPr>
              <a:t>推理</a:t>
            </a:r>
            <a:r>
              <a:rPr lang="zh-CN" altLang="en-US" sz="1050" b="1" dirty="0">
                <a:solidFill>
                  <a:srgbClr val="C00000"/>
                </a:solidFill>
                <a:latin typeface="微软雅黑"/>
                <a:ea typeface="微软雅黑"/>
              </a:rPr>
              <a:t>优化</a:t>
            </a:r>
            <a:endParaRPr sz="1050" b="1" dirty="0">
              <a:solidFill>
                <a:srgbClr val="C00000"/>
              </a:solidFill>
              <a:latin typeface="微软雅黑"/>
              <a:ea typeface="微软雅黑"/>
            </a:endParaRPr>
          </a:p>
        </p:txBody>
      </p:sp>
      <p:sp>
        <p:nvSpPr>
          <p:cNvPr id="131" name="TextBox 130"/>
          <p:cNvSpPr txBox="1"/>
          <p:nvPr/>
        </p:nvSpPr>
        <p:spPr>
          <a:xfrm>
            <a:off x="7378699" y="4587123"/>
            <a:ext cx="4305300" cy="1774075"/>
          </a:xfrm>
          <a:prstGeom prst="rect">
            <a:avLst/>
          </a:prstGeom>
          <a:noFill/>
        </p:spPr>
        <p:txBody>
          <a:bodyPr wrap="square" lIns="0" tIns="0" rIns="0" bIns="0" anchor="ctr">
            <a:spAutoFit/>
          </a:bodyPr>
          <a:lstStyle/>
          <a:p>
            <a:pPr defTabSz="457200">
              <a:lnSpc>
                <a:spcPct val="125000"/>
              </a:lnSpc>
              <a:spcAft>
                <a:spcPts val="400"/>
              </a:spcAft>
            </a:pPr>
            <a:r>
              <a:rPr lang="zh-CN" altLang="en-US" sz="850" b="1" dirty="0">
                <a:solidFill>
                  <a:srgbClr val="C00000"/>
                </a:solidFill>
                <a:latin typeface="微软雅黑"/>
                <a:ea typeface="微软雅黑"/>
              </a:rPr>
              <a:t>昇腾亲和的</a:t>
            </a:r>
            <a:r>
              <a:rPr lang="en-US" altLang="zh-CN" sz="850" b="1" dirty="0" err="1">
                <a:solidFill>
                  <a:srgbClr val="C00000"/>
                </a:solidFill>
                <a:latin typeface="微软雅黑"/>
                <a:ea typeface="微软雅黑"/>
              </a:rPr>
              <a:t>MoonEP</a:t>
            </a:r>
            <a:r>
              <a:rPr lang="zh-CN" altLang="en-US" sz="850" b="1" dirty="0">
                <a:solidFill>
                  <a:srgbClr val="C00000"/>
                </a:solidFill>
                <a:latin typeface="微软雅黑"/>
                <a:ea typeface="微软雅黑"/>
              </a:rPr>
              <a:t>算子　</a:t>
            </a:r>
            <a:r>
              <a:rPr lang="zh-CN" altLang="en-US" sz="850" dirty="0">
                <a:solidFill>
                  <a:srgbClr val="1D1D1A"/>
                </a:solidFill>
                <a:latin typeface="微软雅黑"/>
                <a:ea typeface="微软雅黑"/>
              </a:rPr>
              <a:t>亲和昇腾硬件的</a:t>
            </a:r>
            <a:r>
              <a:rPr lang="en-US" altLang="zh-CN" sz="850" dirty="0">
                <a:solidFill>
                  <a:srgbClr val="1D1D1A"/>
                </a:solidFill>
                <a:latin typeface="微软雅黑"/>
                <a:ea typeface="微软雅黑"/>
              </a:rPr>
              <a:t>planning/dispatch/prefetch/combine</a:t>
            </a:r>
            <a:r>
              <a:rPr lang="zh-CN" altLang="en-US" sz="850" dirty="0">
                <a:solidFill>
                  <a:srgbClr val="1D1D1A"/>
                </a:solidFill>
                <a:latin typeface="微软雅黑"/>
                <a:ea typeface="微软雅黑"/>
              </a:rPr>
              <a:t>算子，</a:t>
            </a:r>
            <a:r>
              <a:rPr lang="en-US" altLang="zh-CN" sz="850" dirty="0">
                <a:solidFill>
                  <a:srgbClr val="1D1D1A"/>
                </a:solidFill>
                <a:latin typeface="微软雅黑"/>
                <a:ea typeface="微软雅黑"/>
              </a:rPr>
              <a:t>dispatch</a:t>
            </a:r>
            <a:r>
              <a:rPr lang="zh-CN" altLang="en-US" sz="850" dirty="0">
                <a:solidFill>
                  <a:srgbClr val="1D1D1A"/>
                </a:solidFill>
                <a:latin typeface="微软雅黑"/>
                <a:ea typeface="微软雅黑"/>
              </a:rPr>
              <a:t>与</a:t>
            </a:r>
            <a:r>
              <a:rPr lang="en-US" altLang="zh-CN" sz="850" dirty="0">
                <a:solidFill>
                  <a:srgbClr val="1D1D1A"/>
                </a:solidFill>
                <a:latin typeface="微软雅黑"/>
                <a:ea typeface="微软雅黑"/>
              </a:rPr>
              <a:t>prefetch</a:t>
            </a:r>
            <a:r>
              <a:rPr lang="zh-CN" altLang="en-US" sz="850" dirty="0">
                <a:solidFill>
                  <a:srgbClr val="1D1D1A"/>
                </a:solidFill>
                <a:latin typeface="微软雅黑"/>
                <a:ea typeface="微软雅黑"/>
              </a:rPr>
              <a:t>掩盖减少算子耗时</a:t>
            </a:r>
            <a:endParaRPr lang="en-US" altLang="zh-CN" sz="850" b="1" dirty="0">
              <a:solidFill>
                <a:srgbClr val="C00000"/>
              </a:solidFill>
              <a:latin typeface="微软雅黑"/>
              <a:ea typeface="微软雅黑"/>
            </a:endParaRPr>
          </a:p>
          <a:p>
            <a:pPr defTabSz="457200">
              <a:lnSpc>
                <a:spcPct val="125000"/>
              </a:lnSpc>
              <a:spcAft>
                <a:spcPts val="400"/>
              </a:spcAft>
            </a:pPr>
            <a:r>
              <a:rPr lang="zh-CN" altLang="en-US" sz="850" b="1" dirty="0">
                <a:solidFill>
                  <a:srgbClr val="C00000"/>
                </a:solidFill>
                <a:latin typeface="微软雅黑"/>
                <a:ea typeface="微软雅黑"/>
              </a:rPr>
              <a:t>容量池　</a:t>
            </a:r>
            <a:r>
              <a:rPr lang="zh-CN" altLang="en-US" sz="850" dirty="0">
                <a:solidFill>
                  <a:srgbClr val="1D1D1A"/>
                </a:solidFill>
                <a:latin typeface="微软雅黑"/>
                <a:ea typeface="微软雅黑"/>
              </a:rPr>
              <a:t>预定义不同档位容量（</a:t>
            </a:r>
            <a:r>
              <a:rPr lang="en-US" altLang="zh-CN" sz="850" dirty="0">
                <a:solidFill>
                  <a:srgbClr val="1D1D1A"/>
                </a:solidFill>
                <a:latin typeface="微软雅黑"/>
                <a:ea typeface="微软雅黑"/>
              </a:rPr>
              <a:t>1K/4K…</a:t>
            </a:r>
            <a:r>
              <a:rPr lang="zh-CN" altLang="en-US" sz="850" dirty="0">
                <a:solidFill>
                  <a:srgbClr val="1D1D1A"/>
                </a:solidFill>
                <a:latin typeface="微软雅黑"/>
                <a:ea typeface="微软雅黑"/>
              </a:rPr>
              <a:t>），首次用到才分配、用后复用不释放；档位选择各 </a:t>
            </a:r>
            <a:r>
              <a:rPr lang="en-US" altLang="zh-CN" sz="850" dirty="0">
                <a:solidFill>
                  <a:srgbClr val="1D1D1A"/>
                </a:solidFill>
                <a:latin typeface="微软雅黑"/>
                <a:ea typeface="微软雅黑"/>
              </a:rPr>
              <a:t>rank </a:t>
            </a:r>
            <a:r>
              <a:rPr lang="zh-CN" altLang="en-US" sz="850" dirty="0">
                <a:solidFill>
                  <a:srgbClr val="1D1D1A"/>
                </a:solidFill>
                <a:latin typeface="微软雅黑"/>
                <a:ea typeface="微软雅黑"/>
              </a:rPr>
              <a:t>一致</a:t>
            </a:r>
            <a:r>
              <a:rPr lang="en-US" altLang="zh-CN" sz="850" dirty="0">
                <a:solidFill>
                  <a:srgbClr val="1D1D1A"/>
                </a:solidFill>
                <a:latin typeface="微软雅黑"/>
                <a:ea typeface="微软雅黑"/>
              </a:rPr>
              <a:t>——</a:t>
            </a:r>
            <a:r>
              <a:rPr lang="zh-CN" altLang="en-US" sz="850" dirty="0">
                <a:solidFill>
                  <a:srgbClr val="1D1D1A"/>
                </a:solidFill>
                <a:latin typeface="微软雅黑"/>
                <a:ea typeface="微软雅黑"/>
              </a:rPr>
              <a:t>活跃显存随负载伸缩，无碎片、无重复分配开销；每档位仍是固定形状，静态形状语义保留</a:t>
            </a:r>
          </a:p>
          <a:p>
            <a:pPr defTabSz="457200">
              <a:lnSpc>
                <a:spcPct val="125000"/>
              </a:lnSpc>
              <a:spcAft>
                <a:spcPts val="400"/>
              </a:spcAft>
            </a:pPr>
            <a:r>
              <a:rPr lang="zh-CN" altLang="en-US" sz="850" b="1" dirty="0">
                <a:solidFill>
                  <a:srgbClr val="C00000"/>
                </a:solidFill>
                <a:latin typeface="微软雅黑"/>
                <a:ea typeface="微软雅黑"/>
              </a:rPr>
              <a:t>真实负载均衡　</a:t>
            </a:r>
            <a:r>
              <a:rPr lang="en-US" altLang="zh-CN" sz="800" dirty="0">
                <a:solidFill>
                  <a:srgbClr val="1D1D1A"/>
                </a:solidFill>
                <a:latin typeface="微软雅黑"/>
                <a:ea typeface="微软雅黑"/>
              </a:rPr>
              <a:t> </a:t>
            </a:r>
            <a:r>
              <a:rPr lang="en-US" altLang="zh-CN" sz="850" dirty="0">
                <a:solidFill>
                  <a:srgbClr val="1D1D1A"/>
                </a:solidFill>
                <a:latin typeface="微软雅黑"/>
                <a:ea typeface="微软雅黑"/>
              </a:rPr>
              <a:t>padding </a:t>
            </a:r>
            <a:r>
              <a:rPr lang="en-US" altLang="zh-CN" sz="850" dirty="0" err="1">
                <a:solidFill>
                  <a:srgbClr val="1D1D1A"/>
                </a:solidFill>
                <a:latin typeface="微软雅黑"/>
                <a:ea typeface="微软雅黑"/>
              </a:rPr>
              <a:t>topk</a:t>
            </a:r>
            <a:r>
              <a:rPr lang="en-US" altLang="zh-CN" sz="850" dirty="0">
                <a:solidFill>
                  <a:srgbClr val="1D1D1A"/>
                </a:solidFill>
                <a:latin typeface="微软雅黑"/>
                <a:ea typeface="微软雅黑"/>
              </a:rPr>
              <a:t> </a:t>
            </a:r>
            <a:r>
              <a:rPr lang="zh-CN" altLang="en-US" sz="850" dirty="0">
                <a:solidFill>
                  <a:srgbClr val="1D1D1A"/>
                </a:solidFill>
                <a:latin typeface="微软雅黑"/>
                <a:ea typeface="微软雅黑"/>
              </a:rPr>
              <a:t>设 </a:t>
            </a:r>
            <a:r>
              <a:rPr lang="en-US" altLang="zh-CN" sz="850" dirty="0">
                <a:solidFill>
                  <a:srgbClr val="1D1D1A"/>
                </a:solidFill>
                <a:latin typeface="微软雅黑"/>
                <a:ea typeface="微软雅黑"/>
              </a:rPr>
              <a:t>-1</a:t>
            </a:r>
            <a:r>
              <a:rPr lang="zh-CN" altLang="en-US" sz="850" dirty="0">
                <a:solidFill>
                  <a:srgbClr val="1D1D1A"/>
                </a:solidFill>
                <a:latin typeface="微软雅黑"/>
                <a:ea typeface="微软雅黑"/>
              </a:rPr>
              <a:t>，</a:t>
            </a:r>
            <a:r>
              <a:rPr lang="en-US" altLang="zh-CN" sz="850" dirty="0">
                <a:solidFill>
                  <a:srgbClr val="1D1D1A"/>
                </a:solidFill>
                <a:latin typeface="微软雅黑"/>
                <a:ea typeface="微软雅黑"/>
              </a:rPr>
              <a:t>planning </a:t>
            </a:r>
            <a:r>
              <a:rPr lang="zh-CN" altLang="en-US" sz="850" dirty="0">
                <a:solidFill>
                  <a:srgbClr val="1D1D1A"/>
                </a:solidFill>
                <a:latin typeface="微软雅黑"/>
                <a:ea typeface="微软雅黑"/>
              </a:rPr>
              <a:t>跳过不计数（不入 </a:t>
            </a:r>
            <a:r>
              <a:rPr lang="en-US" altLang="zh-CN" sz="850" dirty="0" err="1">
                <a:solidFill>
                  <a:srgbClr val="1D1D1A"/>
                </a:solidFill>
                <a:latin typeface="微软雅黑"/>
                <a:ea typeface="微软雅黑"/>
              </a:rPr>
              <a:t>tpe</a:t>
            </a:r>
            <a:r>
              <a:rPr lang="en-US" altLang="zh-CN" sz="850" dirty="0">
                <a:solidFill>
                  <a:srgbClr val="1D1D1A"/>
                </a:solidFill>
                <a:latin typeface="微软雅黑"/>
                <a:ea typeface="微软雅黑"/>
              </a:rPr>
              <a:t>/</a:t>
            </a:r>
            <a:r>
              <a:rPr lang="en-US" altLang="zh-CN" sz="850" dirty="0" err="1">
                <a:solidFill>
                  <a:srgbClr val="1D1D1A"/>
                </a:solidFill>
                <a:latin typeface="微软雅黑"/>
                <a:ea typeface="微软雅黑"/>
              </a:rPr>
              <a:t>alloc</a:t>
            </a:r>
            <a:r>
              <a:rPr lang="zh-CN" altLang="en-US" sz="850" dirty="0">
                <a:solidFill>
                  <a:srgbClr val="1D1D1A"/>
                </a:solidFill>
                <a:latin typeface="微软雅黑"/>
                <a:ea typeface="微软雅黑"/>
              </a:rPr>
              <a:t>），</a:t>
            </a:r>
            <a:r>
              <a:rPr lang="en-US" altLang="zh-CN" sz="850" dirty="0">
                <a:solidFill>
                  <a:srgbClr val="1D1D1A"/>
                </a:solidFill>
                <a:latin typeface="微软雅黑"/>
                <a:ea typeface="微软雅黑"/>
              </a:rPr>
              <a:t>dispatch </a:t>
            </a:r>
            <a:r>
              <a:rPr lang="zh-CN" altLang="en-US" sz="850" dirty="0">
                <a:solidFill>
                  <a:srgbClr val="1D1D1A"/>
                </a:solidFill>
                <a:latin typeface="微软雅黑"/>
                <a:ea typeface="微软雅黑"/>
              </a:rPr>
              <a:t>跳过不发送（不搬 </a:t>
            </a:r>
            <a:r>
              <a:rPr lang="en-US" altLang="zh-CN" sz="850" dirty="0">
                <a:solidFill>
                  <a:srgbClr val="1D1D1A"/>
                </a:solidFill>
                <a:latin typeface="微软雅黑"/>
                <a:ea typeface="微软雅黑"/>
              </a:rPr>
              <a:t>payload</a:t>
            </a:r>
            <a:r>
              <a:rPr lang="zh-CN" altLang="en-US" sz="850" dirty="0">
                <a:solidFill>
                  <a:srgbClr val="1D1D1A"/>
                </a:solidFill>
                <a:latin typeface="微软雅黑"/>
                <a:ea typeface="微软雅黑"/>
              </a:rPr>
              <a:t>、不发权重）</a:t>
            </a:r>
            <a:r>
              <a:rPr lang="en-US" altLang="zh-CN" sz="850" dirty="0">
                <a:solidFill>
                  <a:srgbClr val="1D1D1A"/>
                </a:solidFill>
                <a:latin typeface="微软雅黑"/>
                <a:ea typeface="微软雅黑"/>
              </a:rPr>
              <a:t> ——</a:t>
            </a:r>
            <a:r>
              <a:rPr lang="zh-CN" altLang="en-US" sz="850" dirty="0">
                <a:solidFill>
                  <a:srgbClr val="1D1D1A"/>
                </a:solidFill>
                <a:latin typeface="微软雅黑"/>
                <a:ea typeface="微软雅黑"/>
              </a:rPr>
              <a:t>真实 </a:t>
            </a:r>
            <a:r>
              <a:rPr lang="en-US" sz="850" dirty="0">
                <a:solidFill>
                  <a:srgbClr val="1D1D1A"/>
                </a:solidFill>
                <a:latin typeface="微软雅黑"/>
                <a:ea typeface="微软雅黑"/>
              </a:rPr>
              <a:t>token </a:t>
            </a:r>
            <a:r>
              <a:rPr lang="zh-CN" altLang="en-US" sz="850" dirty="0">
                <a:solidFill>
                  <a:srgbClr val="1D1D1A"/>
                </a:solidFill>
                <a:latin typeface="微软雅黑"/>
                <a:ea typeface="微软雅黑"/>
              </a:rPr>
              <a:t>计算量均摊到全部 </a:t>
            </a:r>
            <a:r>
              <a:rPr lang="en-US" altLang="zh-CN" sz="850" dirty="0">
                <a:solidFill>
                  <a:srgbClr val="1D1D1A"/>
                </a:solidFill>
                <a:latin typeface="微软雅黑"/>
                <a:ea typeface="微软雅黑"/>
              </a:rPr>
              <a:t>rank</a:t>
            </a:r>
            <a:r>
              <a:rPr lang="en-US" sz="850" dirty="0">
                <a:solidFill>
                  <a:srgbClr val="1D1D1A"/>
                </a:solidFill>
                <a:latin typeface="微软雅黑"/>
                <a:ea typeface="微软雅黑"/>
              </a:rPr>
              <a:t>（</a:t>
            </a:r>
            <a:r>
              <a:rPr lang="el-GR" sz="850" dirty="0">
                <a:solidFill>
                  <a:srgbClr val="1D1D1A"/>
                </a:solidFill>
                <a:latin typeface="微软雅黑"/>
                <a:ea typeface="微软雅黑"/>
              </a:rPr>
              <a:t>τ=</a:t>
            </a:r>
            <a:r>
              <a:rPr lang="en-US" sz="850" dirty="0" err="1">
                <a:solidFill>
                  <a:srgbClr val="1D1D1A"/>
                </a:solidFill>
                <a:latin typeface="微软雅黑"/>
                <a:ea typeface="微软雅黑"/>
              </a:rPr>
              <a:t>total_real</a:t>
            </a:r>
            <a:r>
              <a:rPr lang="en-US" sz="850" dirty="0">
                <a:solidFill>
                  <a:srgbClr val="1D1D1A"/>
                </a:solidFill>
                <a:latin typeface="微软雅黑"/>
                <a:ea typeface="微软雅黑"/>
              </a:rPr>
              <a:t>/R）</a:t>
            </a:r>
            <a:r>
              <a:rPr lang="zh-CN" altLang="en-US" sz="850" dirty="0">
                <a:solidFill>
                  <a:srgbClr val="1D1D1A"/>
                </a:solidFill>
                <a:latin typeface="微软雅黑"/>
                <a:ea typeface="微软雅黑"/>
              </a:rPr>
              <a:t>，以 </a:t>
            </a:r>
            <a:r>
              <a:rPr lang="el-GR" altLang="zh-CN" sz="850" dirty="0">
                <a:solidFill>
                  <a:srgbClr val="1D1D1A"/>
                </a:solidFill>
                <a:latin typeface="微软雅黑"/>
                <a:ea typeface="微软雅黑"/>
              </a:rPr>
              <a:t>τ </a:t>
            </a:r>
            <a:r>
              <a:rPr lang="zh-CN" altLang="en-US" sz="850" dirty="0">
                <a:solidFill>
                  <a:srgbClr val="1D1D1A"/>
                </a:solidFill>
                <a:latin typeface="微软雅黑"/>
                <a:ea typeface="微软雅黑"/>
              </a:rPr>
              <a:t>为每 </a:t>
            </a:r>
            <a:r>
              <a:rPr lang="en-US" altLang="zh-CN" sz="850" dirty="0">
                <a:solidFill>
                  <a:srgbClr val="1D1D1A"/>
                </a:solidFill>
                <a:latin typeface="微软雅黑"/>
                <a:ea typeface="微软雅黑"/>
              </a:rPr>
              <a:t>rank </a:t>
            </a:r>
            <a:r>
              <a:rPr lang="zh-CN" altLang="en-US" sz="850" dirty="0">
                <a:solidFill>
                  <a:srgbClr val="1D1D1A"/>
                </a:solidFill>
                <a:latin typeface="微软雅黑"/>
                <a:ea typeface="微软雅黑"/>
              </a:rPr>
              <a:t>接收目标，</a:t>
            </a:r>
            <a:r>
              <a:rPr lang="en-US" altLang="zh-CN" sz="850" dirty="0">
                <a:solidFill>
                  <a:srgbClr val="1D1D1A"/>
                </a:solidFill>
                <a:latin typeface="微软雅黑"/>
                <a:ea typeface="微软雅黑"/>
              </a:rPr>
              <a:t>padding </a:t>
            </a:r>
            <a:r>
              <a:rPr lang="zh-CN" altLang="en-US" sz="850" dirty="0">
                <a:solidFill>
                  <a:srgbClr val="1D1D1A"/>
                </a:solidFill>
                <a:latin typeface="微软雅黑"/>
                <a:ea typeface="微软雅黑"/>
              </a:rPr>
              <a:t>形状对齐但资源浪费归零</a:t>
            </a:r>
            <a:endParaRPr lang="en-US" altLang="zh-CN" sz="850" dirty="0">
              <a:solidFill>
                <a:srgbClr val="1D1D1A"/>
              </a:solidFill>
              <a:latin typeface="微软雅黑"/>
              <a:ea typeface="微软雅黑"/>
            </a:endParaRPr>
          </a:p>
          <a:p>
            <a:pPr defTabSz="457200">
              <a:lnSpc>
                <a:spcPct val="125000"/>
              </a:lnSpc>
              <a:spcAft>
                <a:spcPts val="400"/>
              </a:spcAft>
            </a:pPr>
            <a:r>
              <a:rPr lang="zh-CN" altLang="en-US" sz="850" b="1" dirty="0">
                <a:solidFill>
                  <a:srgbClr val="C00000"/>
                </a:solidFill>
                <a:latin typeface="微软雅黑"/>
                <a:ea typeface="微软雅黑"/>
              </a:rPr>
              <a:t>热点专家权重预取　</a:t>
            </a:r>
            <a:r>
              <a:rPr lang="en-US" altLang="zh-CN" sz="800" dirty="0">
                <a:solidFill>
                  <a:srgbClr val="1D1D1A"/>
                </a:solidFill>
                <a:latin typeface="微软雅黑"/>
                <a:ea typeface="微软雅黑"/>
              </a:rPr>
              <a:t> </a:t>
            </a:r>
            <a:r>
              <a:rPr lang="zh-CN" altLang="en-US" sz="850" dirty="0">
                <a:solidFill>
                  <a:srgbClr val="1D1D1A"/>
                </a:solidFill>
                <a:latin typeface="微软雅黑"/>
                <a:ea typeface="微软雅黑"/>
              </a:rPr>
              <a:t>提前预取热点专家到本地 </a:t>
            </a:r>
            <a:r>
              <a:rPr lang="en-US" altLang="zh-CN" sz="850" dirty="0">
                <a:solidFill>
                  <a:srgbClr val="1D1D1A"/>
                </a:solidFill>
                <a:latin typeface="微软雅黑"/>
                <a:ea typeface="微软雅黑"/>
              </a:rPr>
              <a:t>rank</a:t>
            </a:r>
            <a:r>
              <a:rPr lang="zh-CN" altLang="en-US" sz="850" dirty="0">
                <a:solidFill>
                  <a:srgbClr val="1D1D1A"/>
                </a:solidFill>
                <a:latin typeface="微软雅黑"/>
                <a:ea typeface="微软雅黑"/>
              </a:rPr>
              <a:t>，与本层注意力计算掩盖</a:t>
            </a:r>
            <a:r>
              <a:rPr lang="en-US" altLang="zh-CN" sz="850" dirty="0">
                <a:solidFill>
                  <a:srgbClr val="1D1D1A"/>
                </a:solidFill>
                <a:latin typeface="微软雅黑"/>
                <a:ea typeface="微软雅黑"/>
              </a:rPr>
              <a:t>——</a:t>
            </a:r>
            <a:r>
              <a:rPr lang="zh-CN" altLang="en-US" sz="850" dirty="0">
                <a:solidFill>
                  <a:srgbClr val="1D1D1A"/>
                </a:solidFill>
                <a:latin typeface="微软雅黑"/>
                <a:ea typeface="微软雅黑"/>
              </a:rPr>
              <a:t>预取的热点专家与本层实际路由专家重合时，可掩盖本层冗余专家搬运时间</a:t>
            </a:r>
          </a:p>
        </p:txBody>
      </p:sp>
      <p:sp>
        <p:nvSpPr>
          <p:cNvPr id="132" name="TextBox 131"/>
          <p:cNvSpPr txBox="1"/>
          <p:nvPr/>
        </p:nvSpPr>
        <p:spPr>
          <a:xfrm>
            <a:off x="354806" y="6629401"/>
            <a:ext cx="492122" cy="138499"/>
          </a:xfrm>
          <a:prstGeom prst="rect">
            <a:avLst/>
          </a:prstGeom>
          <a:noFill/>
        </p:spPr>
        <p:txBody>
          <a:bodyPr wrap="none" lIns="0" tIns="0" rIns="0" bIns="0" anchor="t">
            <a:spAutoFit/>
          </a:bodyPr>
          <a:lstStyle/>
          <a:p>
            <a:pPr defTabSz="457200"/>
            <a:r>
              <a:rPr sz="900" dirty="0">
                <a:solidFill>
                  <a:srgbClr val="666666"/>
                </a:solidFill>
                <a:latin typeface="微软雅黑"/>
                <a:ea typeface="微软雅黑"/>
              </a:rPr>
              <a:t>Page 1/</a:t>
            </a:r>
            <a:r>
              <a:rPr lang="en-US" sz="900" dirty="0">
                <a:solidFill>
                  <a:srgbClr val="666666"/>
                </a:solidFill>
                <a:latin typeface="微软雅黑"/>
                <a:ea typeface="微软雅黑"/>
              </a:rPr>
              <a:t>1</a:t>
            </a:r>
            <a:endParaRPr sz="900" dirty="0">
              <a:solidFill>
                <a:srgbClr val="666666"/>
              </a:solidFill>
              <a:latin typeface="微软雅黑"/>
              <a:ea typeface="微软雅黑"/>
            </a:endParaRPr>
          </a:p>
        </p:txBody>
      </p:sp>
      <p:sp>
        <p:nvSpPr>
          <p:cNvPr id="133" name="TextBox 132"/>
          <p:cNvSpPr txBox="1"/>
          <p:nvPr/>
        </p:nvSpPr>
        <p:spPr>
          <a:xfrm>
            <a:off x="1050130" y="6629401"/>
            <a:ext cx="1115690" cy="138499"/>
          </a:xfrm>
          <a:prstGeom prst="rect">
            <a:avLst/>
          </a:prstGeom>
          <a:noFill/>
        </p:spPr>
        <p:txBody>
          <a:bodyPr wrap="none" lIns="0" tIns="0" rIns="0" bIns="0" anchor="t">
            <a:spAutoFit/>
          </a:bodyPr>
          <a:lstStyle/>
          <a:p>
            <a:pPr defTabSz="457200"/>
            <a:r>
              <a:rPr sz="900">
                <a:solidFill>
                  <a:srgbClr val="666666"/>
                </a:solidFill>
                <a:latin typeface="微软雅黑"/>
                <a:ea typeface="微软雅黑"/>
              </a:rPr>
              <a:t>Huawei Confidential</a:t>
            </a:r>
          </a:p>
        </p:txBody>
      </p:sp>
      <p:pic>
        <p:nvPicPr>
          <p:cNvPr id="134" name="Picture 133" descr="huawei-logo.png"/>
          <p:cNvPicPr>
            <a:picLocks noChangeAspect="1"/>
          </p:cNvPicPr>
          <p:nvPr/>
        </p:nvPicPr>
        <p:blipFill>
          <a:blip r:embed="rId3"/>
          <a:stretch>
            <a:fillRect/>
          </a:stretch>
        </p:blipFill>
        <p:spPr>
          <a:xfrm>
            <a:off x="10965657" y="6572250"/>
            <a:ext cx="966061" cy="209550"/>
          </a:xfrm>
          <a:prstGeom prst="rect">
            <a:avLst/>
          </a:prstGeom>
        </p:spPr>
      </p:pic>
      <p:sp>
        <p:nvSpPr>
          <p:cNvPr id="136" name="Rectangle 4">
            <a:extLst>
              <a:ext uri="{FF2B5EF4-FFF2-40B4-BE49-F238E27FC236}">
                <a16:creationId xmlns:a16="http://schemas.microsoft.com/office/drawing/2014/main" id="{001BCE0F-03ED-7D10-068E-95CC45E9F4F2}"/>
              </a:ext>
            </a:extLst>
          </p:cNvPr>
          <p:cNvSpPr/>
          <p:nvPr/>
        </p:nvSpPr>
        <p:spPr>
          <a:xfrm>
            <a:off x="7369208" y="4006111"/>
            <a:ext cx="4404237" cy="498121"/>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a:solidFill>
                <a:prstClr val="white"/>
              </a:solidFill>
              <a:latin typeface="Calibri"/>
            </a:endParaRPr>
          </a:p>
        </p:txBody>
      </p:sp>
      <p:sp>
        <p:nvSpPr>
          <p:cNvPr id="137" name="TextBox 5">
            <a:extLst>
              <a:ext uri="{FF2B5EF4-FFF2-40B4-BE49-F238E27FC236}">
                <a16:creationId xmlns:a16="http://schemas.microsoft.com/office/drawing/2014/main" id="{AE981F60-6379-8C87-3DC2-8458F4425FEE}"/>
              </a:ext>
            </a:extLst>
          </p:cNvPr>
          <p:cNvSpPr txBox="1"/>
          <p:nvPr/>
        </p:nvSpPr>
        <p:spPr>
          <a:xfrm>
            <a:off x="7483508" y="4082309"/>
            <a:ext cx="4244190" cy="367152"/>
          </a:xfrm>
          <a:prstGeom prst="rect">
            <a:avLst/>
          </a:prstGeom>
          <a:noFill/>
        </p:spPr>
        <p:txBody>
          <a:bodyPr wrap="square" lIns="0" tIns="0" rIns="0" bIns="0" anchor="t">
            <a:spAutoFit/>
          </a:bodyPr>
          <a:lstStyle/>
          <a:p>
            <a:pPr defTabSz="457200">
              <a:lnSpc>
                <a:spcPct val="125000"/>
              </a:lnSpc>
              <a:spcAft>
                <a:spcPts val="300"/>
              </a:spcAft>
            </a:pPr>
            <a:r>
              <a:rPr lang="zh-CN" altLang="en-US" sz="1000" b="1" dirty="0">
                <a:solidFill>
                  <a:srgbClr val="1D1D1A"/>
                </a:solidFill>
                <a:latin typeface="微软雅黑"/>
                <a:ea typeface="微软雅黑"/>
              </a:rPr>
              <a:t>推理与训练差异</a:t>
            </a:r>
            <a:r>
              <a:rPr sz="1000" b="1" dirty="0">
                <a:solidFill>
                  <a:srgbClr val="1D1D1A"/>
                </a:solidFill>
                <a:latin typeface="微软雅黑"/>
                <a:ea typeface="微软雅黑"/>
              </a:rPr>
              <a:t>：</a:t>
            </a:r>
            <a:r>
              <a:rPr lang="zh-CN" altLang="en-US" sz="1000" dirty="0">
                <a:solidFill>
                  <a:srgbClr val="1D1D1A"/>
                </a:solidFill>
                <a:latin typeface="微软雅黑"/>
                <a:ea typeface="微软雅黑"/>
              </a:rPr>
              <a:t>静态形状是训练优势，但推理负载动态变化，</a:t>
            </a:r>
            <a:r>
              <a:rPr sz="1000" dirty="0" err="1">
                <a:solidFill>
                  <a:srgbClr val="1D1D1A"/>
                </a:solidFill>
                <a:latin typeface="微软雅黑"/>
                <a:ea typeface="微软雅黑"/>
              </a:rPr>
              <a:t>推理</a:t>
            </a:r>
            <a:r>
              <a:rPr sz="1000" dirty="0">
                <a:solidFill>
                  <a:srgbClr val="1D1D1A"/>
                </a:solidFill>
                <a:latin typeface="微软雅黑"/>
                <a:ea typeface="微软雅黑"/>
              </a:rPr>
              <a:t> batch </a:t>
            </a:r>
            <a:r>
              <a:rPr sz="1000" dirty="0" err="1">
                <a:solidFill>
                  <a:srgbClr val="1D1D1A"/>
                </a:solidFill>
                <a:latin typeface="微软雅黑"/>
                <a:ea typeface="微软雅黑"/>
              </a:rPr>
              <a:t>波动、各</a:t>
            </a:r>
            <a:r>
              <a:rPr sz="1000" dirty="0">
                <a:solidFill>
                  <a:srgbClr val="1D1D1A"/>
                </a:solidFill>
                <a:latin typeface="微软雅黑"/>
                <a:ea typeface="微软雅黑"/>
              </a:rPr>
              <a:t> DP rank token </a:t>
            </a:r>
            <a:r>
              <a:rPr sz="1000" dirty="0" err="1">
                <a:solidFill>
                  <a:srgbClr val="1D1D1A"/>
                </a:solidFill>
                <a:latin typeface="微软雅黑"/>
                <a:ea typeface="微软雅黑"/>
              </a:rPr>
              <a:t>数不</a:t>
            </a:r>
            <a:r>
              <a:rPr lang="zh-CN" altLang="en-US" sz="1000" dirty="0">
                <a:solidFill>
                  <a:srgbClr val="1D1D1A"/>
                </a:solidFill>
                <a:latin typeface="微软雅黑"/>
                <a:ea typeface="微软雅黑"/>
              </a:rPr>
              <a:t>一致等因素</a:t>
            </a:r>
            <a:r>
              <a:rPr sz="1000" dirty="0">
                <a:solidFill>
                  <a:srgbClr val="1D1D1A"/>
                </a:solidFill>
                <a:latin typeface="微软雅黑"/>
                <a:ea typeface="微软雅黑"/>
              </a:rPr>
              <a:t>，</a:t>
            </a:r>
            <a:r>
              <a:rPr lang="zh-CN" altLang="en-US" sz="1000" dirty="0">
                <a:solidFill>
                  <a:srgbClr val="1D1D1A"/>
                </a:solidFill>
                <a:latin typeface="微软雅黑"/>
                <a:ea typeface="微软雅黑"/>
              </a:rPr>
              <a:t>无法保证每步输入定长 </a:t>
            </a:r>
            <a:r>
              <a:rPr lang="en-US" altLang="zh-CN" sz="1000" dirty="0">
                <a:solidFill>
                  <a:srgbClr val="1D1D1A"/>
                </a:solidFill>
                <a:latin typeface="微软雅黑"/>
                <a:ea typeface="微软雅黑"/>
              </a:rPr>
              <a:t>S×K</a:t>
            </a:r>
            <a:endParaRPr lang="zh-CN" altLang="en-US" sz="1000" dirty="0">
              <a:solidFill>
                <a:srgbClr val="1D1D1A"/>
              </a:solidFill>
              <a:latin typeface="微软雅黑"/>
              <a:ea typeface="微软雅黑"/>
            </a:endParaRPr>
          </a:p>
        </p:txBody>
      </p:sp>
      <p:sp>
        <p:nvSpPr>
          <p:cNvPr id="135" name="文本框 134">
            <a:extLst>
              <a:ext uri="{FF2B5EF4-FFF2-40B4-BE49-F238E27FC236}">
                <a16:creationId xmlns:a16="http://schemas.microsoft.com/office/drawing/2014/main" id="{62A13481-C49F-4504-BAAF-48909F670203}"/>
              </a:ext>
            </a:extLst>
          </p:cNvPr>
          <p:cNvSpPr txBox="1"/>
          <p:nvPr/>
        </p:nvSpPr>
        <p:spPr>
          <a:xfrm>
            <a:off x="9449093" y="6481617"/>
            <a:ext cx="1944763" cy="369332"/>
          </a:xfrm>
          <a:prstGeom prst="rect">
            <a:avLst/>
          </a:prstGeom>
          <a:noFill/>
        </p:spPr>
        <p:txBody>
          <a:bodyPr wrap="none" rtlCol="0">
            <a:spAutoFit/>
          </a:bodyPr>
          <a:lstStyle/>
          <a:p>
            <a:r>
              <a:rPr lang="zh-CN" altLang="en-US" b="1" i="0" dirty="0">
                <a:solidFill>
                  <a:srgbClr val="FF0000"/>
                </a:solidFill>
                <a:effectLst/>
                <a:highlight>
                  <a:srgbClr val="FFFF00"/>
                </a:highlight>
                <a:latin typeface="Microsoft Yahei" panose="020B0503020204020204" pitchFamily="34" charset="-122"/>
                <a:ea typeface="Microsoft Yahei" panose="020B0503020204020204" pitchFamily="34" charset="-122"/>
              </a:rPr>
              <a:t>夏志祥 </a:t>
            </a:r>
            <a:r>
              <a:rPr lang="en-US" altLang="zh-CN" b="1" i="0" dirty="0">
                <a:solidFill>
                  <a:srgbClr val="FF0000"/>
                </a:solidFill>
                <a:effectLst/>
                <a:highlight>
                  <a:srgbClr val="FFFF00"/>
                </a:highlight>
                <a:latin typeface="Microsoft Yahei" panose="020B0503020204020204" pitchFamily="34" charset="-122"/>
                <a:ea typeface="Microsoft Yahei" panose="020B0503020204020204" pitchFamily="34" charset="-122"/>
              </a:rPr>
              <a:t>0089389</a:t>
            </a:r>
            <a:endParaRPr lang="zh-CN" altLang="en-US" dirty="0">
              <a:solidFill>
                <a:srgbClr val="FF0000"/>
              </a:solidFill>
              <a:highlight>
                <a:srgbClr val="FFFF00"/>
              </a:highligh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FkYWQzYThhZTUwOTllOWY2NjM4OTNhZmIyMWEzZGIifQ=="/>
</p:tagLst>
</file>

<file path=ppt/tags/tag2.xml><?xml version="1.0" encoding="utf-8"?>
<p:tagLst xmlns:a="http://schemas.openxmlformats.org/drawingml/2006/main" xmlns:r="http://schemas.openxmlformats.org/officeDocument/2006/relationships" xmlns:p="http://schemas.openxmlformats.org/presentationml/2006/main">
  <p:tag name="AS_UNIQUEID" val="2990"/>
</p:tagLst>
</file>

<file path=ppt/tags/tag3.xml><?xml version="1.0" encoding="utf-8"?>
<p:tagLst xmlns:a="http://schemas.openxmlformats.org/drawingml/2006/main" xmlns:r="http://schemas.openxmlformats.org/officeDocument/2006/relationships" xmlns:p="http://schemas.openxmlformats.org/presentationml/2006/main">
  <p:tag name="AS_UNIQUEID" val="2991"/>
</p:tagLst>
</file>

<file path=ppt/tags/tag4.xml><?xml version="1.0" encoding="utf-8"?>
<p:tagLst xmlns:a="http://schemas.openxmlformats.org/drawingml/2006/main" xmlns:r="http://schemas.openxmlformats.org/officeDocument/2006/relationships" xmlns:p="http://schemas.openxmlformats.org/presentationml/2006/main">
  <p:tag name="AS_UNIQUEID" val="2992"/>
</p:tagLst>
</file>

<file path=ppt/tags/tag5.xml><?xml version="1.0" encoding="utf-8"?>
<p:tagLst xmlns:a="http://schemas.openxmlformats.org/drawingml/2006/main" xmlns:r="http://schemas.openxmlformats.org/officeDocument/2006/relationships" xmlns:p="http://schemas.openxmlformats.org/presentationml/2006/main">
  <p:tag name="AS_UNIQUEID" val="2993"/>
</p:tagLst>
</file>

<file path=ppt/tags/tag6.xml><?xml version="1.0" encoding="utf-8"?>
<p:tagLst xmlns:a="http://schemas.openxmlformats.org/drawingml/2006/main" xmlns:r="http://schemas.openxmlformats.org/officeDocument/2006/relationships" xmlns:p="http://schemas.openxmlformats.org/presentationml/2006/main">
  <p:tag name="AS_UNIQUEID" val="2998"/>
</p:tagLst>
</file>

<file path=ppt/tags/tag7.xml><?xml version="1.0" encoding="utf-8"?>
<p:tagLst xmlns:a="http://schemas.openxmlformats.org/drawingml/2006/main" xmlns:r="http://schemas.openxmlformats.org/officeDocument/2006/relationships" xmlns:p="http://schemas.openxmlformats.org/presentationml/2006/main">
  <p:tag name="AS_UNIQUEID" val="2999"/>
</p:tagLst>
</file>

<file path=ppt/tags/tag8.xml><?xml version="1.0" encoding="utf-8"?>
<p:tagLst xmlns:a="http://schemas.openxmlformats.org/drawingml/2006/main" xmlns:r="http://schemas.openxmlformats.org/officeDocument/2006/relationships" xmlns:p="http://schemas.openxmlformats.org/presentationml/2006/main">
  <p:tag name="AS_UNIQUEID" val="3000"/>
</p:tagLst>
</file>

<file path=ppt/tags/tag9.xml><?xml version="1.0" encoding="utf-8"?>
<p:tagLst xmlns:a="http://schemas.openxmlformats.org/drawingml/2006/main" xmlns:r="http://schemas.openxmlformats.org/officeDocument/2006/relationships" xmlns:p="http://schemas.openxmlformats.org/presentationml/2006/main">
  <p:tag name="AS_UNIQUEID" val="3001"/>
</p:tagLst>
</file>

<file path=ppt/tags/tag10.xml><?xml version="1.0" encoding="utf-8"?>
<p:tagLst xmlns:a="http://schemas.openxmlformats.org/drawingml/2006/main" xmlns:r="http://schemas.openxmlformats.org/officeDocument/2006/relationships" xmlns:p="http://schemas.openxmlformats.org/presentationml/2006/main">
  <p:tag name="AS_UNIQUEID" val="3002"/>
</p:tagLst>
</file>

<file path=ppt/tags/tag11.xml><?xml version="1.0" encoding="utf-8"?>
<p:tagLst xmlns:a="http://schemas.openxmlformats.org/drawingml/2006/main" xmlns:r="http://schemas.openxmlformats.org/officeDocument/2006/relationships" xmlns:p="http://schemas.openxmlformats.org/presentationml/2006/main">
  <p:tag name="AS_UNIQUEID" val="3003"/>
</p:tagLst>
</file>

<file path=ppt/tags/tag12.xml><?xml version="1.0" encoding="utf-8"?>
<p:tagLst xmlns:a="http://schemas.openxmlformats.org/drawingml/2006/main" xmlns:r="http://schemas.openxmlformats.org/officeDocument/2006/relationships" xmlns:p="http://schemas.openxmlformats.org/presentationml/2006/main">
  <p:tag name="AS_UNIQUEID" val="2990"/>
</p:tagLst>
</file>

<file path=ppt/tags/tag13.xml><?xml version="1.0" encoding="utf-8"?>
<p:tagLst xmlns:a="http://schemas.openxmlformats.org/drawingml/2006/main" xmlns:r="http://schemas.openxmlformats.org/officeDocument/2006/relationships" xmlns:p="http://schemas.openxmlformats.org/presentationml/2006/main">
  <p:tag name="AS_UNIQUEID" val="2991"/>
</p:tagLst>
</file>

<file path=ppt/tags/tag14.xml><?xml version="1.0" encoding="utf-8"?>
<p:tagLst xmlns:a="http://schemas.openxmlformats.org/drawingml/2006/main" xmlns:r="http://schemas.openxmlformats.org/officeDocument/2006/relationships" xmlns:p="http://schemas.openxmlformats.org/presentationml/2006/main">
  <p:tag name="AS_UNIQUEID" val="2992"/>
</p:tagLst>
</file>

<file path=ppt/tags/tag15.xml><?xml version="1.0" encoding="utf-8"?>
<p:tagLst xmlns:a="http://schemas.openxmlformats.org/drawingml/2006/main" xmlns:r="http://schemas.openxmlformats.org/officeDocument/2006/relationships" xmlns:p="http://schemas.openxmlformats.org/presentationml/2006/main">
  <p:tag name="AS_UNIQUEID" val="2993"/>
</p:tagLst>
</file>

<file path=ppt/tags/tag16.xml><?xml version="1.0" encoding="utf-8"?>
<p:tagLst xmlns:a="http://schemas.openxmlformats.org/drawingml/2006/main" xmlns:r="http://schemas.openxmlformats.org/officeDocument/2006/relationships" xmlns:p="http://schemas.openxmlformats.org/presentationml/2006/main">
  <p:tag name="AS_UNIQUEID" val="2998"/>
</p:tagLst>
</file>

<file path=ppt/tags/tag17.xml><?xml version="1.0" encoding="utf-8"?>
<p:tagLst xmlns:a="http://schemas.openxmlformats.org/drawingml/2006/main" xmlns:r="http://schemas.openxmlformats.org/officeDocument/2006/relationships" xmlns:p="http://schemas.openxmlformats.org/presentationml/2006/main">
  <p:tag name="AS_UNIQUEID" val="2999"/>
</p:tagLst>
</file>

<file path=ppt/tags/tag18.xml><?xml version="1.0" encoding="utf-8"?>
<p:tagLst xmlns:a="http://schemas.openxmlformats.org/drawingml/2006/main" xmlns:r="http://schemas.openxmlformats.org/officeDocument/2006/relationships" xmlns:p="http://schemas.openxmlformats.org/presentationml/2006/main">
  <p:tag name="AS_UNIQUEID" val="3000"/>
</p:tagLst>
</file>

<file path=ppt/tags/tag19.xml><?xml version="1.0" encoding="utf-8"?>
<p:tagLst xmlns:a="http://schemas.openxmlformats.org/drawingml/2006/main" xmlns:r="http://schemas.openxmlformats.org/officeDocument/2006/relationships" xmlns:p="http://schemas.openxmlformats.org/presentationml/2006/main">
  <p:tag name="AS_UNIQUEID" val="3001"/>
</p:tagLst>
</file>

<file path=ppt/tags/tag20.xml><?xml version="1.0" encoding="utf-8"?>
<p:tagLst xmlns:a="http://schemas.openxmlformats.org/drawingml/2006/main" xmlns:r="http://schemas.openxmlformats.org/officeDocument/2006/relationships" xmlns:p="http://schemas.openxmlformats.org/presentationml/2006/main">
  <p:tag name="AS_UNIQUEID" val="3002"/>
</p:tagLst>
</file>

<file path=ppt/tags/tag21.xml><?xml version="1.0" encoding="utf-8"?>
<p:tagLst xmlns:a="http://schemas.openxmlformats.org/drawingml/2006/main" xmlns:r="http://schemas.openxmlformats.org/officeDocument/2006/relationships" xmlns:p="http://schemas.openxmlformats.org/presentationml/2006/main">
  <p:tag name="AS_UNIQUEID" val="3003"/>
</p:tagLst>
</file>

<file path=ppt/tags/tag22.xml><?xml version="1.0" encoding="utf-8"?>
<p:tagLst xmlns:a="http://schemas.openxmlformats.org/drawingml/2006/main" xmlns:r="http://schemas.openxmlformats.org/officeDocument/2006/relationships" xmlns:p="http://schemas.openxmlformats.org/presentationml/2006/main">
  <p:tag name="AS_UNIQUEID" val="2990"/>
</p:tagLst>
</file>

<file path=ppt/tags/tag23.xml><?xml version="1.0" encoding="utf-8"?>
<p:tagLst xmlns:a="http://schemas.openxmlformats.org/drawingml/2006/main" xmlns:r="http://schemas.openxmlformats.org/officeDocument/2006/relationships" xmlns:p="http://schemas.openxmlformats.org/presentationml/2006/main">
  <p:tag name="AS_UNIQUEID" val="2991"/>
</p:tagLst>
</file>

<file path=ppt/tags/tag24.xml><?xml version="1.0" encoding="utf-8"?>
<p:tagLst xmlns:a="http://schemas.openxmlformats.org/drawingml/2006/main" xmlns:r="http://schemas.openxmlformats.org/officeDocument/2006/relationships" xmlns:p="http://schemas.openxmlformats.org/presentationml/2006/main">
  <p:tag name="AS_UNIQUEID" val="2992"/>
</p:tagLst>
</file>

<file path=ppt/tags/tag25.xml><?xml version="1.0" encoding="utf-8"?>
<p:tagLst xmlns:a="http://schemas.openxmlformats.org/drawingml/2006/main" xmlns:r="http://schemas.openxmlformats.org/officeDocument/2006/relationships" xmlns:p="http://schemas.openxmlformats.org/presentationml/2006/main">
  <p:tag name="AS_UNIQUEID" val="2993"/>
</p:tagLst>
</file>

<file path=ppt/tags/tag26.xml><?xml version="1.0" encoding="utf-8"?>
<p:tagLst xmlns:a="http://schemas.openxmlformats.org/drawingml/2006/main" xmlns:r="http://schemas.openxmlformats.org/officeDocument/2006/relationships" xmlns:p="http://schemas.openxmlformats.org/presentationml/2006/main">
  <p:tag name="AS_UNIQUEID" val="2998"/>
</p:tagLst>
</file>

<file path=ppt/tags/tag27.xml><?xml version="1.0" encoding="utf-8"?>
<p:tagLst xmlns:a="http://schemas.openxmlformats.org/drawingml/2006/main" xmlns:r="http://schemas.openxmlformats.org/officeDocument/2006/relationships" xmlns:p="http://schemas.openxmlformats.org/presentationml/2006/main">
  <p:tag name="AS_UNIQUEID" val="2999"/>
</p:tagLst>
</file>

<file path=ppt/tags/tag28.xml><?xml version="1.0" encoding="utf-8"?>
<p:tagLst xmlns:a="http://schemas.openxmlformats.org/drawingml/2006/main" xmlns:r="http://schemas.openxmlformats.org/officeDocument/2006/relationships" xmlns:p="http://schemas.openxmlformats.org/presentationml/2006/main">
  <p:tag name="AS_UNIQUEID" val="3000"/>
</p:tagLst>
</file>

<file path=ppt/tags/tag29.xml><?xml version="1.0" encoding="utf-8"?>
<p:tagLst xmlns:a="http://schemas.openxmlformats.org/drawingml/2006/main" xmlns:r="http://schemas.openxmlformats.org/officeDocument/2006/relationships" xmlns:p="http://schemas.openxmlformats.org/presentationml/2006/main">
  <p:tag name="AS_UNIQUEID" val="3001"/>
</p:tagLst>
</file>

<file path=ppt/tags/tag30.xml><?xml version="1.0" encoding="utf-8"?>
<p:tagLst xmlns:a="http://schemas.openxmlformats.org/drawingml/2006/main" xmlns:r="http://schemas.openxmlformats.org/officeDocument/2006/relationships" xmlns:p="http://schemas.openxmlformats.org/presentationml/2006/main">
  <p:tag name="AS_UNIQUEID" val="3002"/>
</p:tagLst>
</file>

<file path=ppt/tags/tag31.xml><?xml version="1.0" encoding="utf-8"?>
<p:tagLst xmlns:a="http://schemas.openxmlformats.org/drawingml/2006/main" xmlns:r="http://schemas.openxmlformats.org/officeDocument/2006/relationships" xmlns:p="http://schemas.openxmlformats.org/presentationml/2006/main">
  <p:tag name="AS_UNIQUEID" val="3003"/>
</p:tagLst>
</file>

<file path=ppt/tags/tag32.xml><?xml version="1.0" encoding="utf-8"?>
<p:tagLst xmlns:a="http://schemas.openxmlformats.org/drawingml/2006/main" xmlns:r="http://schemas.openxmlformats.org/officeDocument/2006/relationships" xmlns:p="http://schemas.openxmlformats.org/presentationml/2006/main">
  <p:tag name="TABLE_ENDDRAG_ORIGIN_RECT" val="467*177"/>
  <p:tag name="TABLE_ENDDRAG_RECT" val="461*106*467*177"/>
</p:tagLst>
</file>

<file path=ppt/tags/tag33.xml><?xml version="1.0" encoding="utf-8"?>
<p:tagLst xmlns:a="http://schemas.openxmlformats.org/drawingml/2006/main" xmlns:r="http://schemas.openxmlformats.org/officeDocument/2006/relationships" xmlns:p="http://schemas.openxmlformats.org/presentationml/2006/main">
  <p:tag name="TABLE_ENDDRAG_ORIGIN_RECT" val="468*193"/>
  <p:tag name="TABLE_ENDDRAG_RECT" val="461*317*468*193"/>
</p:tagLst>
</file>

<file path=ppt/tags/tag34.xml><?xml version="1.0" encoding="utf-8"?>
<p:tagLst xmlns:a="http://schemas.openxmlformats.org/drawingml/2006/main" xmlns:r="http://schemas.openxmlformats.org/officeDocument/2006/relationships" xmlns:p="http://schemas.openxmlformats.org/presentationml/2006/main">
  <p:tag name="TABLE_ENDDRAG_ORIGIN_RECT" val="416*235"/>
  <p:tag name="TABLE_ENDDRAG_RECT" val="481*109*416*235"/>
</p:tagLst>
</file>

<file path=ppt/tags/tag35.xml><?xml version="1.0" encoding="utf-8"?>
<p:tagLst xmlns:a="http://schemas.openxmlformats.org/drawingml/2006/main" xmlns:r="http://schemas.openxmlformats.org/officeDocument/2006/relationships" xmlns:p="http://schemas.openxmlformats.org/presentationml/2006/main">
  <p:tag name="TABLE_ENDDRAG_ORIGIN_RECT" val="416*123"/>
  <p:tag name="TABLE_ENDDRAG_RECT" val="481*387*416*123"/>
</p:tagLst>
</file>

<file path=ppt/theme/theme1.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结束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Title Slid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fidpmvyv">
      <a:majorFont>
        <a:latin typeface="Huawei Sans"/>
        <a:ea typeface="微软雅黑"/>
        <a:cs typeface=""/>
      </a:majorFont>
      <a:minorFont>
        <a:latin typeface="Huawei Sans"/>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3200" dirty="0" smtClean="0">
            <a:solidFill>
              <a:srgbClr val="575756"/>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8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flat" cmpd="sng" algn="ctr">
          <a:solidFill>
            <a:sysClr val="windowText" lastClr="000000"/>
          </a:solidFill>
          <a:prstDash val="solid"/>
        </a:ln>
      </a:spPr>
      <a:bodyPr rtlCol="0" anchor="ctr"/>
      <a:lstStyle>
        <a:defPPr algn="ctr" defTabSz="1219200">
          <a:defRPr sz="1100" b="1" kern="0" dirty="0" smtClean="0">
            <a:latin typeface="微软雅黑" panose="020B0503020204020204" pitchFamily="34" charset="-122"/>
            <a:ea typeface="微软雅黑" panose="020B0503020204020204" pitchFamily="34" charset="-122"/>
          </a:defRPr>
        </a:defPPr>
      </a:lstStyle>
    </a:spDef>
    <a:lnDef>
      <a:spPr>
        <a:ln>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ln>
          <a:noFill/>
          <a:prstDash val="dash"/>
        </a:ln>
      </a:spPr>
      <a:bodyPr wrap="square" lIns="36000" tIns="36000" rIns="36000" bIns="36000" rtlCol="0">
        <a:noAutofit/>
      </a:bodyPr>
      <a:lstStyle>
        <a:defPPr algn="l">
          <a:defRPr kumimoji="1" sz="1200"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8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151515"/>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none" rtlCol="0">
        <a:spAutoFit/>
      </a:bodyPr>
      <a:lstStyle>
        <a:defPPr algn="l">
          <a:lnSpc>
            <a:spcPts val="3440"/>
          </a:lnSpc>
          <a:defRPr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9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9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43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ejifg51g">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Chart page">
  <a:themeElements>
    <a:clrScheme name="updated">
      <a:dk1>
        <a:srgbClr val="1D1D1A"/>
      </a:dk1>
      <a:lt1>
        <a:srgbClr val="1D1D1A"/>
      </a:lt1>
      <a:dk2>
        <a:srgbClr val="FFFFFF"/>
      </a:dk2>
      <a:lt2>
        <a:srgbClr val="FFFFFF"/>
      </a:lt2>
      <a:accent1>
        <a:srgbClr val="C7000A"/>
      </a:accent1>
      <a:accent2>
        <a:srgbClr val="C8102E"/>
      </a:accent2>
      <a:accent3>
        <a:srgbClr val="EA594F"/>
      </a:accent3>
      <a:accent4>
        <a:srgbClr val="F8B53C"/>
      </a:accent4>
      <a:accent5>
        <a:srgbClr val="231815"/>
      </a:accent5>
      <a:accent6>
        <a:srgbClr val="595757"/>
      </a:accent6>
      <a:hlink>
        <a:srgbClr val="898989"/>
      </a:hlink>
      <a:folHlink>
        <a:srgbClr val="B5B5B5"/>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7000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800" dirty="0" smtClean="0">
            <a:solidFill>
              <a:schemeClr val="accent2"/>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4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le0gjcjy">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64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6350">
          <a:solidFill>
            <a:schemeClr val="bg2"/>
          </a:solidFill>
        </a:ln>
      </a:spPr>
      <a:bodyPr rot="0" spcFirstLastPara="0" vertOverflow="overflow" horzOverflow="overflow" vert="horz" wrap="square" lIns="91440" tIns="45720" rIns="91440" bIns="45720" numCol="1" spcCol="0" rtlCol="0" fromWordArt="0" anchor="ctr" anchorCtr="0" forceAA="0" compatLnSpc="1">
        <a:noAutofit/>
      </a:bodyPr>
      <a:lstStyle>
        <a:defPPr algn="l">
          <a:defRPr sz="1000" dirty="0">
            <a:solidFill>
              <a:schemeClr val="tx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65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48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sz="12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ts val="3440"/>
          </a:lnSpc>
          <a:defRPr sz="3200"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2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5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le0gjcjy">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6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le0gjcjy">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3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1_章节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a:solidFill>
            <a:schemeClr val="accent1"/>
          </a:solidFill>
          <a:prstDash val="solid"/>
        </a:ln>
        <a:ln w="12700">
          <a:solidFill>
            <a:schemeClr val="accent1"/>
          </a:solidFill>
          <a:prstDash val="solid"/>
        </a:ln>
        <a:ln w="19050">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objectDefaults/>
  <a:extraClrSchemeLst/>
</a:theme>
</file>

<file path=ppt/theme/theme22.xml><?xml version="1.0" encoding="utf-8"?>
<a:theme xmlns:a="http://schemas.openxmlformats.org/drawingml/2006/main" name="5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ustom 2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3.xml><?xml version="1.0" encoding="utf-8"?>
<a:theme xmlns:a="http://schemas.openxmlformats.org/drawingml/2006/main" name="4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11714</Words>
  <Application>Microsoft Office PowerPoint</Application>
  <PresentationFormat>自定义</PresentationFormat>
  <Paragraphs>1144</Paragraphs>
  <Slides>25</Slides>
  <Notes>19</Notes>
  <HiddenSlides>0</HiddenSlides>
  <MMClips>0</MMClips>
  <ScaleCrop>false</ScaleCrop>
  <HeadingPairs>
    <vt:vector size="6" baseType="variant">
      <vt:variant>
        <vt:lpstr>已用的字体</vt:lpstr>
      </vt:variant>
      <vt:variant>
        <vt:i4>14</vt:i4>
      </vt:variant>
      <vt:variant>
        <vt:lpstr>主题</vt:lpstr>
      </vt:variant>
      <vt:variant>
        <vt:i4>24</vt:i4>
      </vt:variant>
      <vt:variant>
        <vt:lpstr>幻灯片标题</vt:lpstr>
      </vt:variant>
      <vt:variant>
        <vt:i4>25</vt:i4>
      </vt:variant>
    </vt:vector>
  </HeadingPairs>
  <TitlesOfParts>
    <vt:vector size="63" baseType="lpstr">
      <vt:lpstr>.AppleSystemUIFont</vt:lpstr>
      <vt:lpstr>-apple-system</vt:lpstr>
      <vt:lpstr>FrutigerNext LT Regular</vt:lpstr>
      <vt:lpstr>MiSans</vt:lpstr>
      <vt:lpstr>等线</vt:lpstr>
      <vt:lpstr>等线 Light</vt:lpstr>
      <vt:lpstr>Microsoft Yahei</vt:lpstr>
      <vt:lpstr>Microsoft Yahei</vt:lpstr>
      <vt:lpstr>Microsoft Yahei</vt:lpstr>
      <vt:lpstr>Arial</vt:lpstr>
      <vt:lpstr>Calibri</vt:lpstr>
      <vt:lpstr>Calibri Light</vt:lpstr>
      <vt:lpstr>Consolas</vt:lpstr>
      <vt:lpstr>Wingdings</vt:lpstr>
      <vt:lpstr>章节页</vt:lpstr>
      <vt:lpstr>结束页</vt:lpstr>
      <vt:lpstr>2_Title Slide</vt:lpstr>
      <vt:lpstr>18_章节页</vt:lpstr>
      <vt:lpstr>8_Chart page</vt:lpstr>
      <vt:lpstr>49_章节页</vt:lpstr>
      <vt:lpstr>19_章节页</vt:lpstr>
      <vt:lpstr>43_章节页</vt:lpstr>
      <vt:lpstr>Chart page</vt:lpstr>
      <vt:lpstr>14_章节页</vt:lpstr>
      <vt:lpstr>64_章节页</vt:lpstr>
      <vt:lpstr>65_章节页</vt:lpstr>
      <vt:lpstr>48_章节页</vt:lpstr>
      <vt:lpstr>4_Chart page</vt:lpstr>
      <vt:lpstr>1_章节页</vt:lpstr>
      <vt:lpstr>2_章节页</vt:lpstr>
      <vt:lpstr>15_章节页</vt:lpstr>
      <vt:lpstr>16_章节页</vt:lpstr>
      <vt:lpstr>3_章节页</vt:lpstr>
      <vt:lpstr>21_章节页</vt:lpstr>
      <vt:lpstr>PPTD</vt:lpstr>
      <vt:lpstr>5_Chart page</vt:lpstr>
      <vt:lpstr>4_章节页</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Minimax模型洞察</dc:title>
  <dc:creator>lijun (DH)</dc:creator>
  <cp:lastModifiedBy>guanyingchen</cp:lastModifiedBy>
  <cp:revision>70</cp:revision>
  <dcterms:created xsi:type="dcterms:W3CDTF">2026-10-11T04:30:13Z</dcterms:created>
  <dcterms:modified xsi:type="dcterms:W3CDTF">2026-10-12T02:58:26Z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(3)VXXKR1BJTvsxJMfSzaGvZ9TWd3dGGu5HJxwT2Qbi2iDifN3X2X9mt6jwnmwbxhVep9YVax8o
x3ZNZOPxo1hMqtnoz3FnvtRfvyA41mJtI7mJbGUSs/Pe4ckhFn60wIIhOI8pW22vz+GWC8yd
o8w59dqWAuIK2yJ7l28Z2/oUshWIpaOqSKkHAroBiiPOtgvVlAYYZEiFq36zWGSjLTSoAjHG
WSQjYiEyz3UMVx3BPg</vt:lpwstr>
  </property>
  <property fmtid="{D5CDD505-2E9C-101B-9397-08002B2CF9AE}" pid="3" name="_2015_ms_pID_7253431">
    <vt:lpwstr>CIH8RxNjWjQkNEXqSqgn9AbYrVXQgnsSzRv1/DftYsOiPPocIvifux
5yytRZYh9yc8LkZnwkn6I/HLR0qKyX2Ry+IlalI8Mz4zvTYRAzsfGk7038GvuBSGliObiP2Y
PBm0D+vF1ogDJCMXCIOaPxTsFd6pLBs1vo3l6Juv7jqVoDg1kM2ewoMsKoJwaiY0b/2Wpt0D
mlA+dDj2se/NlH5Ag4/e3CMn0NDouwDaN//X</vt:lpwstr>
  </property>
  <property fmtid="{D5CDD505-2E9C-101B-9397-08002B2CF9AE}" pid="4" name="_2015_ms_pID_7253432">
    <vt:lpwstr>Hkg2XTWV636RXWEli0k6I/E=</vt:lpwstr>
  </property>
  <property fmtid="{D5CDD505-2E9C-101B-9397-08002B2CF9AE}" pid="5" name="ICV">
    <vt:lpwstr>5499D3B76E2137422B00CA6A2B27C041_43</vt:lpwstr>
  </property>
  <property fmtid="{D5CDD505-2E9C-101B-9397-08002B2CF9AE}" pid="6" name="KSOProductBuildVer">
    <vt:lpwstr>2052-12.1.28496.28496</vt:lpwstr>
  </property>
  <property fmtid="{D5CDD505-2E9C-101B-9397-08002B2CF9AE}" pid="7" name="_readonly">
    <vt:lpwstr/>
  </property>
  <property fmtid="{D5CDD505-2E9C-101B-9397-08002B2CF9AE}" pid="8" name="_change">
    <vt:lpwstr/>
  </property>
  <property fmtid="{D5CDD505-2E9C-101B-9397-08002B2CF9AE}" pid="9" name="_full-control">
    <vt:lpwstr/>
  </property>
  <property fmtid="{D5CDD505-2E9C-101B-9397-08002B2CF9AE}" pid="10" name="sflag">
    <vt:lpwstr>1742387002</vt:lpwstr>
  </property>
</Properties>
</file>