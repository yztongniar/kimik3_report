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5147f35a9541b6" /><Relationship Type="http://schemas.openxmlformats.org/officeDocument/2006/relationships/extended-properties" Target="/docProps/app.xml" Id="R6fa8920b459046d8" /><Relationship Type="http://schemas.openxmlformats.org/officeDocument/2006/relationships/officeDocument" Target="/ppt/presentation.xml" Id="R5e3d95f20d08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dde5b5f83245d3"/>
  </p:sldMasterIdLst>
  <p:notesMasterIdLst>
    <p:notesMasterId xmlns:r="http://schemas.openxmlformats.org/officeDocument/2006/relationships" r:id="R342209b4a0984c36"/>
  </p:notesMasterIdLst>
  <p:sldIdLst>
    <p:sldId xmlns:r="http://schemas.openxmlformats.org/officeDocument/2006/relationships" id="256" r:id="R1e07b56ded7f4822"/>
    <p:sldId xmlns:r="http://schemas.openxmlformats.org/officeDocument/2006/relationships" id="257" r:id="Re3ed469ce1e44df9"/>
    <p:sldId xmlns:r="http://schemas.openxmlformats.org/officeDocument/2006/relationships" id="258" r:id="Rc1e636023caa44dd"/>
    <p:sldId xmlns:r="http://schemas.openxmlformats.org/officeDocument/2006/relationships" id="259" r:id="R16585ddad2c64795"/>
    <p:sldId xmlns:r="http://schemas.openxmlformats.org/officeDocument/2006/relationships" id="260" r:id="Rd7be314313254784"/>
    <p:sldId xmlns:r="http://schemas.openxmlformats.org/officeDocument/2006/relationships" id="261" r:id="R807e8622108a48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d7c7057a64d9e" /><Relationship Type="http://schemas.openxmlformats.org/officeDocument/2006/relationships/slideMaster" Target="/ppt/slideMasters/slideMaster1.xml" Id="R8adde5b5f83245d3" /><Relationship Type="http://schemas.openxmlformats.org/officeDocument/2006/relationships/notesMaster" Target="/ppt/notesMasters/notesMaster1.xml" Id="R342209b4a0984c36" /><Relationship Type="http://schemas.openxmlformats.org/officeDocument/2006/relationships/presProps" Target="/ppt/presProps.xml" Id="R4e9d0f80515447ff" /><Relationship Type="http://schemas.openxmlformats.org/officeDocument/2006/relationships/viewProps" Target="/ppt/viewProps.xml" Id="R093e3eded6734a1a" /><Relationship Type="http://schemas.openxmlformats.org/officeDocument/2006/relationships/tableStyles" Target="/ppt/tableStyles.xml" Id="R37b054f1755145a8" /><Relationship Type="http://schemas.openxmlformats.org/officeDocument/2006/relationships/slide" Target="/ppt/slides/slide1.xml" Id="R1e07b56ded7f4822" /><Relationship Type="http://schemas.openxmlformats.org/officeDocument/2006/relationships/slide" Target="/ppt/slides/slide2.xml" Id="Re3ed469ce1e44df9" /><Relationship Type="http://schemas.openxmlformats.org/officeDocument/2006/relationships/slide" Target="/ppt/slides/slide3.xml" Id="Rc1e636023caa44dd" /><Relationship Type="http://schemas.openxmlformats.org/officeDocument/2006/relationships/slide" Target="/ppt/slides/slide4.xml" Id="R16585ddad2c64795" /><Relationship Type="http://schemas.openxmlformats.org/officeDocument/2006/relationships/slide" Target="/ppt/slides/slide5.xml" Id="Rd7be314313254784" /><Relationship Type="http://schemas.openxmlformats.org/officeDocument/2006/relationships/slide" Target="/ppt/slides/slide6.xml" Id="R807e8622108a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4630b2d6f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1d9b1f96b456b" /><Relationship Type="http://schemas.openxmlformats.org/officeDocument/2006/relationships/notesMaster" Target="/ppt/notesMasters/notesMaster1.xml" Id="Rd74fd06b4260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f44fe99f464a48" /><Relationship Type="http://schemas.openxmlformats.org/officeDocument/2006/relationships/notesMaster" Target="/ppt/notesMasters/notesMaster1.xml" Id="Re1a6dd2d6ad6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0b55bcfc474d26" /><Relationship Type="http://schemas.openxmlformats.org/officeDocument/2006/relationships/notesMaster" Target="/ppt/notesMasters/notesMaster1.xml" Id="R004799ba241946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8067691bae4429" /><Relationship Type="http://schemas.openxmlformats.org/officeDocument/2006/relationships/notesMaster" Target="/ppt/notesMasters/notesMaster1.xml" Id="R4a6e30c691a543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a5c7e0af6e4552" /><Relationship Type="http://schemas.openxmlformats.org/officeDocument/2006/relationships/notesMaster" Target="/ppt/notesMasters/notesMaster1.xml" Id="R93f640956a6247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ae8939a4941ec" /><Relationship Type="http://schemas.openxmlformats.org/officeDocument/2006/relationships/notesMaster" Target="/ppt/notesMasters/notesMaster1.xml" Id="R666a431326aa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§2.1.2/§2.5 校准；vLLM-Ascend Kimi-K3 指南仅将 A3 W4A8 作为当前部署基线，A5为亲和性评估。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§5.1 与 vllm-ascend csrc/attention/chunk_kda_fwd/README.md 校准；CUBE/Vector 划分是 NPU 实现假设，需实测确认。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§5.4.2、vLLM use_kda_recoverssm 与 Kimi-K3 DSpark 部署说明校准。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§2.2/§5.4.2 与 vllm-ascend attn_res_fwd README 校准；A3 支持状态需要专项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§2.3/§5.4.2 与 Kimi-K3 A3 W4A8 指南校准；1.49TB 是权重存储需求，不等于运行时 HBM。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33ca070a14e78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1a2049f12a4974" /><Relationship Type="http://schemas.openxmlformats.org/officeDocument/2006/relationships/slideLayout" Target="/ppt/slideLayouts/slideLayout1.xml" Id="Rd92a8ff61fe7451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2a8ff61fe7451a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988d815fa4095" /><Relationship Type="http://schemas.openxmlformats.org/officeDocument/2006/relationships/image" Target="/ppt/media/image.png" Id="R4abb2e5c4660425f" /><Relationship Type="http://schemas.openxmlformats.org/officeDocument/2006/relationships/notesSlide" Target="/ppt/notesSlides/notesSlide1.xml" Id="R9a65c83b0f2949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b97cb326a4a9c" /><Relationship Type="http://schemas.openxmlformats.org/officeDocument/2006/relationships/image" Target="/ppt/media/image2.png" Id="R3de4118559f74baa" /><Relationship Type="http://schemas.openxmlformats.org/officeDocument/2006/relationships/notesSlide" Target="/ppt/notesSlides/notesSlide2.xml" Id="R9964455d7bf8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56836348943eb" /><Relationship Type="http://schemas.openxmlformats.org/officeDocument/2006/relationships/image" Target="/ppt/media/image3.png" Id="Rfcff1cf3cab241c1" /><Relationship Type="http://schemas.openxmlformats.org/officeDocument/2006/relationships/notesSlide" Target="/ppt/notesSlides/notesSlide3.xml" Id="R75071c32c4de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106bca87449f9" /><Relationship Type="http://schemas.openxmlformats.org/officeDocument/2006/relationships/image" Target="/ppt/media/image4.png" Id="R64147f15f9354ce8" /><Relationship Type="http://schemas.openxmlformats.org/officeDocument/2006/relationships/notesSlide" Target="/ppt/notesSlides/notesSlide4.xml" Id="R7f181fdec24b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2805c66b4df6" /><Relationship Type="http://schemas.openxmlformats.org/officeDocument/2006/relationships/image" Target="/ppt/media/image5.png" Id="Rb3b27ef0e7024197" /><Relationship Type="http://schemas.openxmlformats.org/officeDocument/2006/relationships/notesSlide" Target="/ppt/notesSlides/notesSlide5.xml" Id="Rcd85a001295d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538a2e45746b3" /><Relationship Type="http://schemas.openxmlformats.org/officeDocument/2006/relationships/image" Target="/ppt/media/image6.png" Id="R0384fc87ba1a4b05" /><Relationship Type="http://schemas.openxmlformats.org/officeDocument/2006/relationships/notesSlide" Target="/ppt/notesSlides/notesSlide6.xml" Id="R24a82c8680584c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结构定位：开源 config 校准为 93 层注意力（69 KDA + 24 MLA）：23 个模式块×(3 KDA+1 MLA)再加末端 Gated MLA；每层后接 Stable LatentMoE。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数值稳定：g=gmin·σ(e^A·z)，gmin=−5；16-token tile 的累计 log-decay∈(−80,0)，BF16 可保持稳定。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推理负载：prefill 在 C=64 chunk 内并行，decode 以 S 原地更新；若 dk=dv=128，单层状态约3.0MB、69层约217MB，状态不随 L 增长。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硬件含义：全秩门控引入 d→d GEMM，CUBE 占比上升；Vector 的 gate/cumsum/归一化需与 CUBE 片上流水。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b2e5c4660425f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q,k∈R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Tril((Q⊙Γ)(K/Γ)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⊤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dk×dv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H×dk×dv×2B；69层≈217MB/序列（dk/dv=128假设，以 checkpoint config 为准）；MLA: 24×512×2B=24.6KB/token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KDA: 2C²(dk+dv)+2Cdkdv/chunk；C=64；dk=dv=128 时主项≈2.1M FLOPs/head/chunk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chunk matmul；Vector: α/β、sigmoid、RMSNorm；L1/UB 驻留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支持 safe_gate/gmin、BSND 与 FP32 中间值。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调度：prefill 走 chunk 64/128 + L1/UB 双缓冲，decode 走状态驻留 + 小窗口 replay；状态池纳入 KV cache 预算。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趋势：KDA 长上下文瓶颈转为状态带宽/同步；验收同时看 CUBE 利用率、Vector overlap、L1 命中率和每 token launch 数。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结构定位：93 层中 24 层为 Gated MLA；K3 MLA 采用 NoPE，由 KDA 提供位置与 recency，保留全局内容检索。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缓存账本：kv_lora_rank=512、q_lora_rank=1536；仅 cₖᵥ 入 KV cache，24×512×2B=24.6KB/token，1M token≈24.6GB。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推理负载：prefill 受 QKᵀ/AV 的序列长度影响；decode 受 latent page、K/V 重建和 Wo/gate GEMM 影响，NoPE 不含 RoPE 分量。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A3 基线：4 节点 DP4/TP16/EP64，max_model_len=133120，max_num_batched_tokens=8192；A5 仍是亲和性评估。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4118559f74baa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H·dh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cₖᵥ 入 KV：24.6KB/token，1M≈24.6GB；KDA 状态≈217MB/序列（config 假设）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压缩/重建≈2d·dc；QKᵀ/AV 随 L 线性增长；gate≈2d²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QKV/up-proj/Wo/gate；Vector: sigmoid/scale；KV page 与 KDA checkpoint 统一回收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框架：AscendMLABackend、MLA no-rope cache、PCP/DCP；KDA-aware prefix cache 同时索引 latent page 与 state checkpoint。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部署：A3 指南固定 TP16/DP4/EP64、max_num_seqs=16、max_num_batched_tokens=8192、FULL_DECODE_ONLY；需按 prefill/decode 分开压测。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趋势：MLA 层数少但 KV 带宽大，优先固化 graph shape、缓存回收、HCCL 拓扑和 PD 分离策略。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把 chunk 内 matmul 与跨 chunk 状态递归流水化：CUBE 处理 A·V，Vector 处理衰减、cumsum 和小矩阵更新。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代码约束：chunk_size=64/128；K/V=128（V 可到256）；支持 raw/activated log gate、safe_gate 与最多1024条逻辑序列。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量化账本：dk=dv=128 时，单 head、单 C=64 chunk 的 intra/state 主项均约2.1M FLOPs；递归只需一次 state handoff。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昇腾路线：当前以 Triton 参考路径为主；A3/A5 Ascend C/CATLASS 融合 kernel 需分别 benchmark 验收。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1cf3cab241c1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S≈32KB/head；96 heads≈3MB/layer；69 KDA层≈217MB（dk/dv=128假设）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intra≈2C²(dk+dv)；state≈2Cdkdv；C=64 时主项≈2.1M FLOPs/head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A·V；Vector: decay/mask；chunk 64/128；L1/UB 双缓冲隐藏递归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算子：把 gate、prepare、post-Wu、FwdH、Finalize 合并进单个物理 L0；避免 Python/多 L0 staging。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运行时：暴露 initial_state/final_state/gk，支持最多1024逻辑序列和 BSND layout；prefill/decode 采用不同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趋势：以 A3/A5 分别 benchmark；验收项包括 2.1M FLOPs/head/chunk 的有效吞吐、CUBE/Vector overlap、L1 命中率和 HBM 往返。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将卷积、归一化、门控、递归状态和输出投影合并，减少每 token 的 kernel launch 与状态往返。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RecoverSSM：拒绝的 draft token 只回滚到已验证位置的 S；状态快照必须与 speculative block 绑定，避免重复重算。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推理协同：DSpark 使用 7-token speculative window（Block5 使用5）；vLLM upstream 通过 use_kda_recoverssm 恢复 K3 状态。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昇腾诉求：FULL_DECODE_ONLY 固化 decode shape；D=4 快照约24MB/layer/step，片上 SRAM 决定 replay window。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47f15f9354ce8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完整状态≈3.0MB/layer（config 假设）；D=4 快照读写约24MB/layer/step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 replay；HBM 仅 checkpoint/flush；DSpark 7/5 token 与 FULL_DECODE_ONLY 需联调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框架：vLLM cache.use_kda_recoverssm 与 DSpark 拒绝回滚打通；snapshot 粒度与 speculative block 对齐。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图编译：FULL_DECODE_ONLY ACL Graph 固定 decode shapes；7-token/5-token draft 分别评测接受率、replay 开销、24MB 快照流量和 SRAM 占用。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趋势：从“每 token 重算”转向“状态恢复+小窗口 replay”，以 HBM bytes/token 和 launch 数作为核心指标。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 93 层深度残差变成 8 个 block 的可学习检索：w 生成伪查询，α=softmax(w·RMSNorm(b))，输出为各 block 表征的加权和。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复杂度：全量深度注意力 O(L²d)，block 化后 O(Nd)，N≈8；嵌入加 8 个 block 共 9 个表示，约 126–129KB/token（BF16）。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可拆为 RS+AG 与 intra-block kernel；decode 用 side stream 交错 inter-block 计算，隐藏 HCCL 延迟。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实现边界：attn_res_fwd 合并 BF16 add、residual mix、RMSNorm、writeback；A5 目标路径，A3 性能需实测。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27ef0e7024197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93层→8个 block 表示 + embedding，共9项；约126–129KB/token（BF16）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inter-block；A3 需实测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算子：attn_res_fwd 合并 BF16 add、bank mix、RMSNorm、writeback；提供 RESIDENT/RELOAD、prefill/decode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通信：Prefill 用 RS+AG，decode 用 side stream；9 个 block 表示的缓存生命周期需与 PP/TP 切分联动。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趋势：先在 A3 建立 126–129KB/token 的带宽基线，再迁移 A5 resident bank；不能把 A5 规划指标当作 A3 现状。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LatentMoE 先将 d=7168 压到 latent ℓ=3584，再做 896 路由专家中的 top-16，并叠加2个 shared expert；W↑恢复到 d。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通信变化：EP dispatch/combine 在 latent 域，all-to-all payload 约为 d 域 50%；小 batch decode 仍受专家权重流式读取限制。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参数账本：单 expert 约33.0M 参数；BF16≈66MB，W4≈16.5MB；16 routed 激活权重约1.06/0.26GB。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部署边界：A3 W4A8 为4节点 DP4/TP16/EP64、约1.49TB权重存储；HCCL_BUFFSIZE=1024、EP=2048，存储值不等于运行时 HBM。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406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4fc87ba1a4b05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routed≈1.06/0.26GB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top-k/SiTU；EP64 latent all-to-all≈50% payload；W4A8 约1.49TB存储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算子：latent router、top-k、SiTU-GLU、group GEMM、epilogue combine；token-centric WarpDecode 适配小 batch。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框架：EP64 与 latent-width all-to-all；权重预取、W4A8 解量化、HBM 分片、HCCL buffer 要可观测。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趋势：通信约减半但权重带宽主导 decode；联合优化 HBM、CUBE、HCCL，并以 payload/token、tokens/s 和尾延迟验收。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2026-10-09T22:00:20.5020000Z</dcterms:created>
  <dcterms:modified xsi:type="dcterms:W3CDTF">2026-10-09T22:00:20.5020000Z</dcterms:modified>
</coreProperties>
</file>